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88" r:id="rId3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878b0c4-837c-79f6-1e6a-34a400e0d9d5}">
          <p14:sldIdLst>
            <p14:sldId id="256"/>
            <p14:sldId id="257"/>
          </p14:sldIdLst>
        </p14:section>
        <p14:section name="Fundamentals" id="{9749401a-5714-d84d-081b-35278f04d5aa}">
          <p14:sldIdLst>
            <p14:sldId id="258"/>
            <p14:sldId id="259"/>
            <p14:sldId id="260"/>
            <p14:sldId id="261"/>
            <p14:sldId id="262"/>
            <p14:sldId id="263"/>
            <p14:sldId id="264"/>
            <p14:sldId id="265"/>
            <p14:sldId id="266"/>
            <p14:sldId id="267"/>
          </p14:sldIdLst>
        </p14:section>
        <p14:section name="The dashboard" id="{44fb6ccb-abdd-36e7-bf38-3de32a0c8a91}">
          <p14:sldIdLst>
            <p14:sldId id="268"/>
            <p14:sldId id="269"/>
          </p14:sldIdLst>
        </p14:section>
        <p14:section name="What's new in 13.5" id="{4712ae32-0196-a44d-282b-b72ec3010dcc}">
          <p14:sldIdLst>
            <p14:sldId id="270"/>
            <p14:sldId id="271"/>
            <p14:sldId id="272"/>
          </p14:sldIdLst>
        </p14:section>
        <p14:section name="Code" id="{d89f633e-095f-1811-d523-f5f560d53719}">
          <p14:sldIdLst>
            <p14:sldId id="273"/>
            <p14:sldId id="274"/>
            <p14:sldId id="275"/>
            <p14:sldId id="276"/>
            <p14:sldId id="277"/>
            <p14:sldId id="278"/>
            <p14:sldId id="279"/>
            <p14:sldId id="280"/>
            <p14:sldId id="281"/>
            <p14:sldId id="282"/>
            <p14:sldId id="283"/>
          </p14:sldIdLst>
        </p14:section>
        <p14:section name="Wrap-up" id="{a016a735-b9af-3a38-2750-7a4a1ad86620}">
          <p14:sldIdLst>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the Aspire dashboard and the new features announced in the 'Aspire 13.5 is here!' video. Every code sample comes from the official 'What's new in Aspire 13.5' page on aspire.dev. Note: Aspire 13.6 shipped on September 29, 2026, so 13.5 is no longer the newest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new to Aspire, so we start with the fundamentals before looking at the dashboard and the 13.5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audience: how long did it take you to get a new project running on your laptop? That pain is what Aspire targets. A connection string is the text an app uses to find and log in to a database, such as its host, port, user and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steps are how aspire.dev itself describes Aspire. 'Code-first' means you describe the app in normal code (C# or TypeScript) instead of YAML or config files. Kubernetes is a popular system for running containers in production. Source: https://aspire.dev/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terms come up on every following slide. Service discovery means a service can find another by name (like 'catalogservice') instead of a hard-coded address. Glossary: https://aspire.dev/hub/glossary/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sample app from the aspire.dev home page: a front end, a catalog API, a Postgres database and a Redis cache. Arrows show references: the front end needs the API and the cache, and the API needs the database. Aspire gives each part what it needs to reach the others, and all of them report telemetry to the dashboard. A container is a packaged, ready-to-run app; Postgres and Redis run as containers here, so you need Docker or Podman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short file replaces the manual setup from the 'problem' slide. The names in quotes (catalogdb, basketcache, catalogservice, frontend) are what you see in the dashboard. Code from https://aspire.dev/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TypeScript AppHosts became generally available in Aspire 13.5. Vite is a popular tool for building and serving JavaScript front ends. Code from https://aspire.dev/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values shown are examples; the actual connection string also includes the generated user name and password. The double underscore (__) is how .NET configuration represents nesting in environment variables. AddNpgsqlDataSource comes from the Aspire.Npgsql client integration package. The port 7099 matches the example on aspire.dev.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Aspire solutions include a ServiceDefaults project; each .NET service calls AddServiceDefaults() once. OpenTelemetry (OTel) is the open standard for app telemetry. By default the /health and /alive endpoints are only mapped in development. This is why the dashboard has data 'for free' from the first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 commands from https://aspire.dev/ and https://aspire.dev/get-started/install-cli/. 'aspire new' asks which template to use. The CLI comment lines use // only so the slide's code coloring stays consistent; in a real terminal, type just the commands. A good first tutorial: https://aspire.dev/get-started/first-app/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AppHost is the small program (C# or TypeScript) where you describe your app's services, containers and databases. When it runs, it starts the dashboard for you. Sources: microsoft/aspire repo README for Aspire.Dashboard; standalone ports from Milan Jovanovic's standalone dashboard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means you can rely on the API. Experimental means it may change, and C# code must suppress a diagnostic warning to use it. Also in 13.5: the VS Code extension can open the dashboard in a side panel, and the dashboard's AI Assistant chat was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Screenshot: the refreshed Aspire 13.5 dashboard (Stress playground), from the Aspire 13.5 release blog post (devblogs.microsoft.com/aspire/whats-new-aspire-13-5/). These are UI changes, so there is no code to write: upgrade to 13.5 and they appear. The refresh is built on a new design-token system (shared named values for colors and spacing). Also new: friendlier health-check failures instead of raw exception stacks, and telemetry streams correctly while resource filters are active. Sources: Aspire 13.5 blog; aspire.dev What's new in 13.5; 13.5 changelog on the microsoft/aspire wiki.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from aspire.dev 'What's new in Aspire 13.5'. TerminalOptions exposes Columns (default 120), Rows (default 30) and ShowTerminalHost. In 13.5, Columns and Rows throw if set to zero or less, and the old Shell property was removed. Docs: https://aspire.dev/app-host/with-terminal/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Real screenshot from the Aspire 13.5 release blog post (devblogs.microsoft.com/aspire/whats-new-aspire-13-5/). It shows the guessing-game playground, a JavaScript resource from a TypeScript AppHost, not the postgres example on the previous slide. Note the terminal is shown on the Console logs page, with the resource picked from the Resource dropdown. Per the blog: you can type into it, switch between replicas, and move back to the normal console logs without stopping the session; multiple viewers can attach at once.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 feature flag command is from the official 13.5 release notes. A feature flag is a setting that switches on a feature that is still being tested. Docs: https://aspire.dev/app-host/with-terminal/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WithCommand adds a button to the resource in the dashboard. When clicked, this one shows a dropdown with two regions. Always check IsAvailable: commands invoked from the CLI run non-interactively and PromptInputsAsync would throw. Docs: https://aspire.dev/extensibility/interaction-service/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from the demo video in the Aspire 13.5 release blog post (devblogs.microsoft.com/aspire/whats-new-aspire-13-5/). It shows a sample "Deploy application" command from the Aspire Stress playground, not the configure-region code on the previous slide, but a Choice input renders the same way: a dropdown with the options. In our code, OK returns the chosen value ("us" or "eu") in result.Data["region"].Value, and Cancel returns CommandResults.Canceled().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Trimmed from the official sample: the full version continues into a progress dialog, shown on the next slide. Docs: https://aspire.dev/extensibility/interaction-service/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Real screenshot from the Aspire 13.5 release blog post (devblogs.microsoft.com/aspire/whats-new-aspire-13-5/). The blog describes an "Import configuration" command that opens a file picker accepting JSON or YAML, enforces a size limit, sends the file to the AppHost and gives the command a stream to read. Our code on the previous slide uses "Import data"; the dialog looks the same. After OK, the code reads the file; if no file was chosen, it returns CommandResults.Failure.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Task.Delay with your real processing. A CancellationToken is how .NET tells running code to stop early, for example when the user clicks Cancel. Docs: https://aspire.dev/extensibility/interaction-service/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from the demo video in the Aspire 13.5 release blog post (devblogs.microsoft.com/aspire/whats-new-aspire-13-5/). The real dialog shows a spinner, not a progress bar. In our code the message would use the uploaded file's size via bytes.Length. Progress dialogs are still experimental (ASPIREINTERACTION001) in 13.5. Cancel support is optional; when shown, clicking it cancels progress.CancellationToken. In the video, a result dialog ("Deployment completed") appears after the work finishes.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values in the callback from ctx.Arguments. TypeScript AppHosts get the same feature via commandOptions.arguments. Docs: https://aspire.dev/fundamentals/custom-resource-commands/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from the demo video in the Aspire 13.5 release blog post (devblogs.microsoft.com/aspire/whats-new-aspire-13-5/). The sample "Deploy application" command declares three arguments: Environment (choice), Release version (text) and Run health checks (checkbox). The description appears under the title, and the main button is labelled with the command name. Our Echo command would show a single required Message text box; the callback reads it with ctx.Arguments["message"].Value. From the CLI, the same argument is passed as a --message option.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Upgrade commands and breaking changes from aspire.dev 'What's new in Aspire 13.5'. The full list has 12 breaking changes, including PublishAsConnectionString becoming obsolete and aspire ps --resources being removed in favor of aspire describe. Aspire 13.6 info from the Aspire dev blog post 'Aspire 13.6: Your dashboard gets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https://aspire.dev/languages-and-runtimes/ (checked October 4, 2026). That page lists Java and Rust under the Community Toolkit, but the Aspire 13.6 announcement says Java and Rust hosting are now first-party, so the docs page may lag behind. Check the page for the latest status. Containers, databases, caches and cloud services are covered separately under Integrations.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links checked on October 4,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from the BingoBoard demo AppHost (apphost.cs, lines 68 to 70) and its producerconsole.cs file. AddCSharpApp runs a C# file-based app: a single .cs file with no project file. It is experimental (diagnostic ASPIRECSHARPAPPS001) and needs the .NET 10 SDK. Docs: https://aspire.dev/integrations/dotnet/csharp-file-based-apps/. WaitFor(admin) delays the console until the admin service is running. The console is a read-eval loop on Console.ReadLine(), which is exactly the kind of app WithTerminal() is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2B1A6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035040" cy="14630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640080" y="3611880"/>
            <a:ext cx="5852160" cy="1280160"/>
          </a:xfrm>
          <a:prstGeom prst="rect">
            <a:avLst/>
          </a:prstGeom>
          <a:noFill/>
          <a:ln/>
        </p:spPr>
        <p:txBody>
          <a:bodyPr wrap="square" rtlCol="0"/>
          <a:lstStyle>
            <a:lvl1pPr algn="l" indent="0" marL="0">
              <a:buNone/>
              <a:defRPr lang="en-US" sz="2000" dirty="0">
                <a:solidFill>
                  <a:srgbClr val="D9CCFF"/>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Aspire Dashboard  ·  Fundamentals &amp; what's new in 13.5</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2B1A6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Dark">
    <p:bg>
      <p:bgPr>
        <a:solidFill>
          <a:srgbClr val="2B1A6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10515600" cy="10972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3794760"/>
            <a:ext cx="10058400" cy="914400"/>
          </a:xfrm>
          <a:prstGeom prst="rect">
            <a:avLst/>
          </a:prstGeom>
          <a:noFill/>
          <a:ln/>
        </p:spPr>
        <p:txBody>
          <a:bodyPr wrap="square" rtlCol="0"/>
          <a:lstStyle>
            <a:lvl1pPr algn="l" indent="0" marL="0">
              <a:buNone/>
              <a:defRPr lang="en-US" sz="2000" dirty="0">
                <a:solidFill>
                  <a:srgbClr val="D9CCFF"/>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 Id="rId7" Type="http://schemas.openxmlformats.org/officeDocument/2006/relationships/image" Target="../media/image6.jp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jpg"/></Relationships>
</file>

<file path=ppt/slides/_rels/slide26.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3.xml"/><Relationship Id="rId6"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hyperlink" Target="https://aspire.dev/languages-and-runtimes/" TargetMode="External"/><Relationship Id="rId3" Type="http://schemas.openxmlformats.org/officeDocument/2006/relationships/slideLayout" Target="../slideLayouts/slideLayout3.xml"/><Relationship Id="rId4"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hyperlink" Target="https://youtu.be/pEbo-qKif1U" TargetMode="External"/><Relationship Id="rId3" Type="http://schemas.openxmlformats.org/officeDocument/2006/relationships/image" Target="../media/image-32-2.png"/><Relationship Id="rId4" Type="http://schemas.openxmlformats.org/officeDocument/2006/relationships/hyperlink" Target="https://aspire.dev/whats-new/aspire-13-5/" TargetMode="External"/><Relationship Id="rId5" Type="http://schemas.openxmlformats.org/officeDocument/2006/relationships/image" Target="../media/image-32-3.png"/><Relationship Id="rId6" Type="http://schemas.openxmlformats.org/officeDocument/2006/relationships/hyperlink" Target="https://aspire.dev/languages-and-runtimes/" TargetMode="External"/><Relationship Id="rId7" Type="http://schemas.openxmlformats.org/officeDocument/2006/relationships/image" Target="../media/image-32-4.png"/><Relationship Id="rId8" Type="http://schemas.openxmlformats.org/officeDocument/2006/relationships/hyperlink" Target="https://aspire.dev/dashboard/" TargetMode="External"/><Relationship Id="rId9" Type="http://schemas.openxmlformats.org/officeDocument/2006/relationships/image" Target="../media/image-32-5.png"/><Relationship Id="rId10" Type="http://schemas.openxmlformats.org/officeDocument/2006/relationships/hyperlink" Target="https://aspire.dev/app-host/with-terminal/" TargetMode="External"/><Relationship Id="rId11" Type="http://schemas.openxmlformats.org/officeDocument/2006/relationships/image" Target="../media/image-32-6.png"/><Relationship Id="rId12" Type="http://schemas.openxmlformats.org/officeDocument/2006/relationships/hyperlink" Target="https://aspire.dev/extensibility/interaction-service/" TargetMode="External"/><Relationship Id="rId13" Type="http://schemas.openxmlformats.org/officeDocument/2006/relationships/image" Target="../media/image-32-7.png"/><Relationship Id="rId14" Type="http://schemas.openxmlformats.org/officeDocument/2006/relationships/hyperlink" Target="https://aspire.dev/fundamentals/custom-resource-commands/" TargetMode="External"/><Relationship Id="rId15" Type="http://schemas.openxmlformats.org/officeDocument/2006/relationships/image" Target="../media/image-32-8.png"/><Relationship Id="rId16" Type="http://schemas.openxmlformats.org/officeDocument/2006/relationships/hyperlink" Target="https://aspire.dev/get-started/first-app/" TargetMode="External"/><Relationship Id="rId17" Type="http://schemas.openxmlformats.org/officeDocument/2006/relationships/slideLayout" Target="../slideLayouts/slideLayout4.xml"/><Relationship Id="rId18"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03504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Aspire Dashboard</a:t>
            </a:r>
            <a:endParaRPr lang="en-US" sz="4800" dirty="0"/>
          </a:p>
        </p:txBody>
      </p:sp>
      <p:sp>
        <p:nvSpPr>
          <p:cNvPr id="3" name="Text 0"/>
          <p:cNvSpPr/>
          <p:nvPr>
            <p:ph idx="101" type="body" hasCustomPrompt="1"/>
          </p:nvPr>
        </p:nvSpPr>
        <p:spPr>
          <a:xfrm>
            <a:off x="640080" y="3611880"/>
            <a:ext cx="5852160" cy="128016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From the fundamentals to what's new in Aspire 13.5</a:t>
            </a:r>
            <a:endParaRPr lang="en-US" sz="2000" dirty="0"/>
          </a:p>
        </p:txBody>
      </p:sp>
      <p:sp>
        <p:nvSpPr>
          <p:cNvPr id="4" name="Source line"/>
          <p:cNvSpPr txBox="1"/>
          <p:nvPr/>
        </p:nvSpPr>
        <p:spPr>
          <a:xfrm>
            <a:off x="640080" y="5394960"/>
            <a:ext cx="5852160" cy="548640"/>
          </a:xfrm>
          <a:prstGeom prst="rect">
            <a:avLst/>
          </a:prstGeom>
          <a:noFill/>
          <a:ln/>
        </p:spPr>
        <p:txBody>
          <a:bodyPr wrap="square" lIns="0" tIns="0" rIns="0" bIns="0" rtlCol="0" anchor="ctr"/>
          <a:lstStyle/>
          <a:p>
            <a:pPr indent="0" marL="0">
              <a:buNone/>
            </a:pPr>
            <a:r>
              <a:rPr lang="en-US" sz="1200" dirty="0">
                <a:solidFill>
                  <a:srgbClr val="B9A8F0"/>
                </a:solidFill>
              </a:rPr>
              <a:t>Based on aspire.dev, the video “Aspire 13.5 is here!” and the official 13.5 release notes</a:t>
            </a:r>
            <a:endParaRPr lang="en-US" sz="1200" dirty="0"/>
          </a:p>
        </p:txBody>
      </p:sp>
      <p:sp>
        <p:nvSpPr>
          <p:cNvPr id="5" name="Mock window"/>
          <p:cNvSpPr/>
          <p:nvPr/>
        </p:nvSpPr>
        <p:spPr>
          <a:xfrm>
            <a:off x="7223760" y="1280160"/>
            <a:ext cx="4389120" cy="4297680"/>
          </a:xfrm>
          <a:prstGeom prst="roundRect">
            <a:avLst>
              <a:gd name="adj" fmla="val 2553"/>
            </a:avLst>
          </a:prstGeom>
          <a:solidFill>
            <a:srgbClr val="3A2680"/>
          </a:solidFill>
          <a:ln w="12700">
            <a:solidFill>
              <a:srgbClr val="5236B0"/>
            </a:solidFill>
            <a:prstDash val="solid"/>
          </a:ln>
        </p:spPr>
      </p:sp>
      <p:sp>
        <p:nvSpPr>
          <p:cNvPr id="6" name="Mock sidebar"/>
          <p:cNvSpPr/>
          <p:nvPr/>
        </p:nvSpPr>
        <p:spPr>
          <a:xfrm>
            <a:off x="7406640" y="1463040"/>
            <a:ext cx="1005840" cy="3931920"/>
          </a:xfrm>
          <a:prstGeom prst="roundRect">
            <a:avLst>
              <a:gd name="adj" fmla="val 5455"/>
            </a:avLst>
          </a:prstGeom>
          <a:solidFill>
            <a:srgbClr val="2B1A63"/>
          </a:solidFill>
          <a:ln w="12700">
            <a:solidFill>
              <a:srgbClr val="2B1A63"/>
            </a:solidFill>
            <a:prstDash val="solid"/>
          </a:ln>
        </p:spPr>
      </p:sp>
      <p:sp>
        <p:nvSpPr>
          <p:cNvPr id="7" name="Mock nav 0"/>
          <p:cNvSpPr/>
          <p:nvPr/>
        </p:nvSpPr>
        <p:spPr>
          <a:xfrm>
            <a:off x="7543800" y="1691640"/>
            <a:ext cx="731520" cy="201168"/>
          </a:xfrm>
          <a:prstGeom prst="roundRect">
            <a:avLst>
              <a:gd name="adj" fmla="val 22727"/>
            </a:avLst>
          </a:prstGeom>
          <a:solidFill>
            <a:srgbClr val="A78BFA"/>
          </a:solidFill>
          <a:ln w="12700">
            <a:solidFill>
              <a:srgbClr val="A78BFA"/>
            </a:solidFill>
            <a:prstDash val="solid"/>
          </a:ln>
        </p:spPr>
      </p:sp>
      <p:sp>
        <p:nvSpPr>
          <p:cNvPr id="8" name="Mock nav 1"/>
          <p:cNvSpPr/>
          <p:nvPr/>
        </p:nvSpPr>
        <p:spPr>
          <a:xfrm>
            <a:off x="7543800" y="2194560"/>
            <a:ext cx="731520" cy="201168"/>
          </a:xfrm>
          <a:prstGeom prst="roundRect">
            <a:avLst>
              <a:gd name="adj" fmla="val 22727"/>
            </a:avLst>
          </a:prstGeom>
          <a:solidFill>
            <a:srgbClr val="4B3596"/>
          </a:solidFill>
          <a:ln w="12700">
            <a:solidFill>
              <a:srgbClr val="4B3596"/>
            </a:solidFill>
            <a:prstDash val="solid"/>
          </a:ln>
        </p:spPr>
      </p:sp>
      <p:sp>
        <p:nvSpPr>
          <p:cNvPr id="9" name="Mock nav 2"/>
          <p:cNvSpPr/>
          <p:nvPr/>
        </p:nvSpPr>
        <p:spPr>
          <a:xfrm>
            <a:off x="7543800" y="2697480"/>
            <a:ext cx="731520" cy="201168"/>
          </a:xfrm>
          <a:prstGeom prst="roundRect">
            <a:avLst>
              <a:gd name="adj" fmla="val 22727"/>
            </a:avLst>
          </a:prstGeom>
          <a:solidFill>
            <a:srgbClr val="4B3596"/>
          </a:solidFill>
          <a:ln w="12700">
            <a:solidFill>
              <a:srgbClr val="4B3596"/>
            </a:solidFill>
            <a:prstDash val="solid"/>
          </a:ln>
        </p:spPr>
      </p:sp>
      <p:sp>
        <p:nvSpPr>
          <p:cNvPr id="10" name="Mock nav 3"/>
          <p:cNvSpPr/>
          <p:nvPr/>
        </p:nvSpPr>
        <p:spPr>
          <a:xfrm>
            <a:off x="7543800" y="3200400"/>
            <a:ext cx="731520" cy="201168"/>
          </a:xfrm>
          <a:prstGeom prst="roundRect">
            <a:avLst>
              <a:gd name="adj" fmla="val 22727"/>
            </a:avLst>
          </a:prstGeom>
          <a:solidFill>
            <a:srgbClr val="4B3596"/>
          </a:solidFill>
          <a:ln w="12700">
            <a:solidFill>
              <a:srgbClr val="4B3596"/>
            </a:solidFill>
            <a:prstDash val="solid"/>
          </a:ln>
        </p:spPr>
      </p:sp>
      <p:sp>
        <p:nvSpPr>
          <p:cNvPr id="11" name="Mock nav 4"/>
          <p:cNvSpPr/>
          <p:nvPr/>
        </p:nvSpPr>
        <p:spPr>
          <a:xfrm>
            <a:off x="7543800" y="3703320"/>
            <a:ext cx="731520" cy="201168"/>
          </a:xfrm>
          <a:prstGeom prst="roundRect">
            <a:avLst>
              <a:gd name="adj" fmla="val 22727"/>
            </a:avLst>
          </a:prstGeom>
          <a:solidFill>
            <a:srgbClr val="4B3596"/>
          </a:solidFill>
          <a:ln w="12700">
            <a:solidFill>
              <a:srgbClr val="4B3596"/>
            </a:solidFill>
            <a:prstDash val="solid"/>
          </a:ln>
        </p:spPr>
      </p:sp>
      <p:sp>
        <p:nvSpPr>
          <p:cNvPr id="12" name="Mock row 0"/>
          <p:cNvSpPr/>
          <p:nvPr/>
        </p:nvSpPr>
        <p:spPr>
          <a:xfrm>
            <a:off x="8595360" y="1554480"/>
            <a:ext cx="2834640" cy="329184"/>
          </a:xfrm>
          <a:prstGeom prst="roundRect">
            <a:avLst>
              <a:gd name="adj" fmla="val 13889"/>
            </a:avLst>
          </a:prstGeom>
          <a:solidFill>
            <a:srgbClr val="4B3596"/>
          </a:solidFill>
          <a:ln w="12700">
            <a:solidFill>
              <a:srgbClr val="4B3596"/>
            </a:solidFill>
            <a:prstDash val="solid"/>
          </a:ln>
        </p:spPr>
      </p:sp>
      <p:sp>
        <p:nvSpPr>
          <p:cNvPr id="13" name="Mock status 0"/>
          <p:cNvSpPr/>
          <p:nvPr/>
        </p:nvSpPr>
        <p:spPr>
          <a:xfrm>
            <a:off x="8705088" y="1655064"/>
            <a:ext cx="128016" cy="128016"/>
          </a:xfrm>
          <a:prstGeom prst="ellipse">
            <a:avLst/>
          </a:prstGeom>
          <a:solidFill>
            <a:srgbClr val="34D399"/>
          </a:solidFill>
          <a:ln w="12700">
            <a:solidFill>
              <a:srgbClr val="34D399"/>
            </a:solidFill>
            <a:prstDash val="solid"/>
          </a:ln>
        </p:spPr>
      </p:sp>
      <p:sp>
        <p:nvSpPr>
          <p:cNvPr id="14" name="Mock row 1"/>
          <p:cNvSpPr/>
          <p:nvPr/>
        </p:nvSpPr>
        <p:spPr>
          <a:xfrm>
            <a:off x="8595360" y="2011680"/>
            <a:ext cx="2834640" cy="329184"/>
          </a:xfrm>
          <a:prstGeom prst="roundRect">
            <a:avLst>
              <a:gd name="adj" fmla="val 13889"/>
            </a:avLst>
          </a:prstGeom>
          <a:solidFill>
            <a:srgbClr val="4B3596"/>
          </a:solidFill>
          <a:ln w="12700">
            <a:solidFill>
              <a:srgbClr val="4B3596"/>
            </a:solidFill>
            <a:prstDash val="solid"/>
          </a:ln>
        </p:spPr>
      </p:sp>
      <p:sp>
        <p:nvSpPr>
          <p:cNvPr id="15" name="Mock status 1"/>
          <p:cNvSpPr/>
          <p:nvPr/>
        </p:nvSpPr>
        <p:spPr>
          <a:xfrm>
            <a:off x="8705088" y="2112264"/>
            <a:ext cx="128016" cy="128016"/>
          </a:xfrm>
          <a:prstGeom prst="ellipse">
            <a:avLst/>
          </a:prstGeom>
          <a:solidFill>
            <a:srgbClr val="34D399"/>
          </a:solidFill>
          <a:ln w="12700">
            <a:solidFill>
              <a:srgbClr val="34D399"/>
            </a:solidFill>
            <a:prstDash val="solid"/>
          </a:ln>
        </p:spPr>
      </p:sp>
      <p:sp>
        <p:nvSpPr>
          <p:cNvPr id="16" name="Mock row 2"/>
          <p:cNvSpPr/>
          <p:nvPr/>
        </p:nvSpPr>
        <p:spPr>
          <a:xfrm>
            <a:off x="8595360" y="2468880"/>
            <a:ext cx="2834640" cy="329184"/>
          </a:xfrm>
          <a:prstGeom prst="roundRect">
            <a:avLst>
              <a:gd name="adj" fmla="val 13889"/>
            </a:avLst>
          </a:prstGeom>
          <a:solidFill>
            <a:srgbClr val="4B3596"/>
          </a:solidFill>
          <a:ln w="12700">
            <a:solidFill>
              <a:srgbClr val="4B3596"/>
            </a:solidFill>
            <a:prstDash val="solid"/>
          </a:ln>
        </p:spPr>
      </p:sp>
      <p:sp>
        <p:nvSpPr>
          <p:cNvPr id="17" name="Mock status 2"/>
          <p:cNvSpPr/>
          <p:nvPr/>
        </p:nvSpPr>
        <p:spPr>
          <a:xfrm>
            <a:off x="8705088" y="2569464"/>
            <a:ext cx="128016" cy="128016"/>
          </a:xfrm>
          <a:prstGeom prst="ellipse">
            <a:avLst/>
          </a:prstGeom>
          <a:solidFill>
            <a:srgbClr val="34D399"/>
          </a:solidFill>
          <a:ln w="12700">
            <a:solidFill>
              <a:srgbClr val="34D399"/>
            </a:solidFill>
            <a:prstDash val="solid"/>
          </a:ln>
        </p:spPr>
      </p:sp>
      <p:sp>
        <p:nvSpPr>
          <p:cNvPr id="18" name="Mock row 3"/>
          <p:cNvSpPr/>
          <p:nvPr/>
        </p:nvSpPr>
        <p:spPr>
          <a:xfrm>
            <a:off x="8595360" y="2926080"/>
            <a:ext cx="2834640" cy="329184"/>
          </a:xfrm>
          <a:prstGeom prst="roundRect">
            <a:avLst>
              <a:gd name="adj" fmla="val 13889"/>
            </a:avLst>
          </a:prstGeom>
          <a:solidFill>
            <a:srgbClr val="4B3596"/>
          </a:solidFill>
          <a:ln w="12700">
            <a:solidFill>
              <a:srgbClr val="4B3596"/>
            </a:solidFill>
            <a:prstDash val="solid"/>
          </a:ln>
        </p:spPr>
      </p:sp>
      <p:sp>
        <p:nvSpPr>
          <p:cNvPr id="19" name="Mock status 3"/>
          <p:cNvSpPr/>
          <p:nvPr/>
        </p:nvSpPr>
        <p:spPr>
          <a:xfrm>
            <a:off x="8705088" y="3026664"/>
            <a:ext cx="128016" cy="128016"/>
          </a:xfrm>
          <a:prstGeom prst="ellipse">
            <a:avLst/>
          </a:prstGeom>
          <a:solidFill>
            <a:srgbClr val="D97706"/>
          </a:solidFill>
          <a:ln w="12700">
            <a:solidFill>
              <a:srgbClr val="D97706"/>
            </a:solidFill>
            <a:prstDash val="solid"/>
          </a:ln>
        </p:spPr>
      </p:sp>
      <p:sp>
        <p:nvSpPr>
          <p:cNvPr id="20" name="Mock row 4"/>
          <p:cNvSpPr/>
          <p:nvPr/>
        </p:nvSpPr>
        <p:spPr>
          <a:xfrm>
            <a:off x="8595360" y="3383280"/>
            <a:ext cx="2834640" cy="329184"/>
          </a:xfrm>
          <a:prstGeom prst="roundRect">
            <a:avLst>
              <a:gd name="adj" fmla="val 13889"/>
            </a:avLst>
          </a:prstGeom>
          <a:solidFill>
            <a:srgbClr val="4B3596"/>
          </a:solidFill>
          <a:ln w="12700">
            <a:solidFill>
              <a:srgbClr val="4B3596"/>
            </a:solidFill>
            <a:prstDash val="solid"/>
          </a:ln>
        </p:spPr>
      </p:sp>
      <p:sp>
        <p:nvSpPr>
          <p:cNvPr id="21" name="Mock status 4"/>
          <p:cNvSpPr/>
          <p:nvPr/>
        </p:nvSpPr>
        <p:spPr>
          <a:xfrm>
            <a:off x="8705088" y="3483864"/>
            <a:ext cx="128016" cy="128016"/>
          </a:xfrm>
          <a:prstGeom prst="ellipse">
            <a:avLst/>
          </a:prstGeom>
          <a:solidFill>
            <a:srgbClr val="34D399"/>
          </a:solidFill>
          <a:ln w="12700">
            <a:solidFill>
              <a:srgbClr val="34D399"/>
            </a:solidFill>
            <a:prstDash val="solid"/>
          </a:ln>
        </p:spPr>
      </p:sp>
      <p:sp>
        <p:nvSpPr>
          <p:cNvPr id="22" name="Mock row 5"/>
          <p:cNvSpPr/>
          <p:nvPr/>
        </p:nvSpPr>
        <p:spPr>
          <a:xfrm>
            <a:off x="8595360" y="3840480"/>
            <a:ext cx="2834640" cy="329184"/>
          </a:xfrm>
          <a:prstGeom prst="roundRect">
            <a:avLst>
              <a:gd name="adj" fmla="val 13889"/>
            </a:avLst>
          </a:prstGeom>
          <a:solidFill>
            <a:srgbClr val="4B3596"/>
          </a:solidFill>
          <a:ln w="12700">
            <a:solidFill>
              <a:srgbClr val="4B3596"/>
            </a:solidFill>
            <a:prstDash val="solid"/>
          </a:ln>
        </p:spPr>
      </p:sp>
      <p:sp>
        <p:nvSpPr>
          <p:cNvPr id="23" name="Mock status 5"/>
          <p:cNvSpPr/>
          <p:nvPr/>
        </p:nvSpPr>
        <p:spPr>
          <a:xfrm>
            <a:off x="8705088" y="3941064"/>
            <a:ext cx="128016" cy="128016"/>
          </a:xfrm>
          <a:prstGeom prst="ellipse">
            <a:avLst/>
          </a:prstGeom>
          <a:solidFill>
            <a:srgbClr val="34D399"/>
          </a:solidFill>
          <a:ln w="12700">
            <a:solidFill>
              <a:srgbClr val="34D399"/>
            </a:solidFill>
            <a:prstDash val="solid"/>
          </a:ln>
        </p:spPr>
      </p:sp>
      <p:sp>
        <p:nvSpPr>
          <p:cNvPr id="24" name="Mock terminal"/>
          <p:cNvSpPr/>
          <p:nvPr/>
        </p:nvSpPr>
        <p:spPr>
          <a:xfrm>
            <a:off x="8595360" y="4389120"/>
            <a:ext cx="2834640" cy="1005840"/>
          </a:xfrm>
          <a:prstGeom prst="roundRect">
            <a:avLst>
              <a:gd name="adj" fmla="val 5455"/>
            </a:avLst>
          </a:prstGeom>
          <a:solidFill>
            <a:srgbClr val="1C1830"/>
          </a:solidFill>
          <a:ln w="12700">
            <a:solidFill>
              <a:srgbClr val="1C1830"/>
            </a:solidFill>
            <a:prstDash val="solid"/>
          </a:ln>
        </p:spPr>
      </p:sp>
      <p:sp>
        <p:nvSpPr>
          <p:cNvPr id="25" name="Mock terminal text"/>
          <p:cNvSpPr txBox="1"/>
          <p:nvPr/>
        </p:nvSpPr>
        <p:spPr>
          <a:xfrm>
            <a:off x="8732520" y="4480560"/>
            <a:ext cx="2560320" cy="822960"/>
          </a:xfrm>
          <a:prstGeom prst="rect">
            <a:avLst/>
          </a:prstGeom>
          <a:noFill/>
          <a:ln/>
        </p:spPr>
        <p:txBody>
          <a:bodyPr wrap="square" lIns="0" tIns="0" rIns="0" bIns="0" rtlCol="0" anchor="t"/>
          <a:lstStyle/>
          <a:p>
            <a:pPr indent="0" marL="0">
              <a:buNone/>
            </a:pPr>
            <a:r>
              <a:rPr lang="en-US" sz="1200" dirty="0">
                <a:solidFill>
                  <a:srgbClr val="8FE3B0"/>
                </a:solidFill>
                <a:latin typeface="Courier New" pitchFamily="34" charset="0"/>
                <a:ea typeface="Courier New" pitchFamily="34" charset="-122"/>
                <a:cs typeface="Courier New" pitchFamily="34" charset="-120"/>
              </a:rPr>
              <a:t>$ psql -U postgres</a:t>
            </a:r>
            <a:endParaRPr lang="en-US" sz="1200" dirty="0"/>
          </a:p>
          <a:p>
            <a:pPr indent="0" marL="0">
              <a:buNone/>
            </a:pPr>
            <a:r>
              <a:rPr lang="en-US" sz="1200" dirty="0">
                <a:solidFill>
                  <a:srgbClr val="8FE3B0"/>
                </a:solidFill>
                <a:latin typeface="Courier New" pitchFamily="34" charset="0"/>
                <a:ea typeface="Courier New" pitchFamily="34" charset="-122"/>
                <a:cs typeface="Courier New" pitchFamily="34" charset="-120"/>
              </a:rPr>
              <a:t>postgres=# _</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Today's journey</a:t>
            </a:r>
            <a:endParaRPr lang="en-US" sz="3400" dirty="0"/>
          </a:p>
        </p:txBody>
      </p:sp>
      <p:sp>
        <p:nvSpPr>
          <p:cNvPr id="3" name="Agenda card 1"/>
          <p:cNvSpPr/>
          <p:nvPr/>
        </p:nvSpPr>
        <p:spPr>
          <a:xfrm>
            <a:off x="548640"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4" name="Agenda number circle 1"/>
          <p:cNvSpPr/>
          <p:nvPr/>
        </p:nvSpPr>
        <p:spPr>
          <a:xfrm>
            <a:off x="822960" y="1783080"/>
            <a:ext cx="731520" cy="731520"/>
          </a:xfrm>
          <a:prstGeom prst="ellipse">
            <a:avLst/>
          </a:prstGeom>
          <a:solidFill>
            <a:schemeClr val="accent1"/>
          </a:solidFill>
          <a:ln w="12700">
            <a:solidFill>
              <a:schemeClr val="accent1"/>
            </a:solidFill>
            <a:prstDash val="solid"/>
          </a:ln>
        </p:spPr>
      </p:sp>
      <p:sp>
        <p:nvSpPr>
          <p:cNvPr id="5" name="Agenda number 1"/>
          <p:cNvSpPr txBox="1"/>
          <p:nvPr/>
        </p:nvSpPr>
        <p:spPr>
          <a:xfrm>
            <a:off x="822960"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Agenda title 1"/>
          <p:cNvSpPr txBox="1"/>
          <p:nvPr/>
        </p:nvSpPr>
        <p:spPr>
          <a:xfrm>
            <a:off x="822960"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Aspire fundamentals</a:t>
            </a:r>
            <a:endParaRPr lang="en-US" sz="2000" dirty="0"/>
          </a:p>
        </p:txBody>
      </p:sp>
      <p:sp>
        <p:nvSpPr>
          <p:cNvPr id="7" name="Agenda body 1"/>
          <p:cNvSpPr txBox="1"/>
          <p:nvPr/>
        </p:nvSpPr>
        <p:spPr>
          <a:xfrm>
            <a:off x="822960"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What Aspire is, the problem it solves, and the key ideas: AppHost, resources and references</a:t>
            </a:r>
            <a:endParaRPr lang="en-US" sz="1500" dirty="0"/>
          </a:p>
        </p:txBody>
      </p:sp>
      <p:sp>
        <p:nvSpPr>
          <p:cNvPr id="8" name="Agenda card 2"/>
          <p:cNvSpPr/>
          <p:nvPr/>
        </p:nvSpPr>
        <p:spPr>
          <a:xfrm>
            <a:off x="3364992"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9" name="Agenda number circle 2"/>
          <p:cNvSpPr/>
          <p:nvPr/>
        </p:nvSpPr>
        <p:spPr>
          <a:xfrm>
            <a:off x="3639312" y="1783080"/>
            <a:ext cx="731520" cy="731520"/>
          </a:xfrm>
          <a:prstGeom prst="ellipse">
            <a:avLst/>
          </a:prstGeom>
          <a:solidFill>
            <a:schemeClr val="accent1"/>
          </a:solidFill>
          <a:ln w="12700">
            <a:solidFill>
              <a:schemeClr val="accent1"/>
            </a:solidFill>
            <a:prstDash val="solid"/>
          </a:ln>
        </p:spPr>
      </p:sp>
      <p:sp>
        <p:nvSpPr>
          <p:cNvPr id="10" name="Agenda number 2"/>
          <p:cNvSpPr txBox="1"/>
          <p:nvPr/>
        </p:nvSpPr>
        <p:spPr>
          <a:xfrm>
            <a:off x="3639312"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1" name="Agenda title 2"/>
          <p:cNvSpPr txBox="1"/>
          <p:nvPr/>
        </p:nvSpPr>
        <p:spPr>
          <a:xfrm>
            <a:off x="3639312"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The dashboard</a:t>
            </a:r>
            <a:endParaRPr lang="en-US" sz="2000" dirty="0"/>
          </a:p>
        </p:txBody>
      </p:sp>
      <p:sp>
        <p:nvSpPr>
          <p:cNvPr id="12" name="Agenda body 2"/>
          <p:cNvSpPr txBox="1"/>
          <p:nvPr/>
        </p:nvSpPr>
        <p:spPr>
          <a:xfrm>
            <a:off x="3639312"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The one place to see every service's logs, traces and metrics</a:t>
            </a:r>
            <a:endParaRPr lang="en-US" sz="1500" dirty="0"/>
          </a:p>
        </p:txBody>
      </p:sp>
      <p:sp>
        <p:nvSpPr>
          <p:cNvPr id="13" name="Agenda card 3"/>
          <p:cNvSpPr/>
          <p:nvPr/>
        </p:nvSpPr>
        <p:spPr>
          <a:xfrm>
            <a:off x="6181344"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4" name="Agenda number circle 3"/>
          <p:cNvSpPr/>
          <p:nvPr/>
        </p:nvSpPr>
        <p:spPr>
          <a:xfrm>
            <a:off x="6455664" y="1783080"/>
            <a:ext cx="731520" cy="731520"/>
          </a:xfrm>
          <a:prstGeom prst="ellipse">
            <a:avLst/>
          </a:prstGeom>
          <a:solidFill>
            <a:schemeClr val="accent1"/>
          </a:solidFill>
          <a:ln w="12700">
            <a:solidFill>
              <a:schemeClr val="accent1"/>
            </a:solidFill>
            <a:prstDash val="solid"/>
          </a:ln>
        </p:spPr>
      </p:sp>
      <p:sp>
        <p:nvSpPr>
          <p:cNvPr id="15" name="Agenda number 3"/>
          <p:cNvSpPr txBox="1"/>
          <p:nvPr/>
        </p:nvSpPr>
        <p:spPr>
          <a:xfrm>
            <a:off x="6455664"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6" name="Agenda title 3"/>
          <p:cNvSpPr txBox="1"/>
          <p:nvPr/>
        </p:nvSpPr>
        <p:spPr>
          <a:xfrm>
            <a:off x="6455664"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What's new in 13.5</a:t>
            </a:r>
            <a:endParaRPr lang="en-US" sz="2000" dirty="0"/>
          </a:p>
        </p:txBody>
      </p:sp>
      <p:sp>
        <p:nvSpPr>
          <p:cNvPr id="17" name="Agenda body 3"/>
          <p:cNvSpPr txBox="1"/>
          <p:nvPr/>
        </p:nvSpPr>
        <p:spPr>
          <a:xfrm>
            <a:off x="6455664"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The new dashboard features, with code and what each looks like on screen</a:t>
            </a:r>
            <a:endParaRPr lang="en-US" sz="1500" dirty="0"/>
          </a:p>
        </p:txBody>
      </p:sp>
      <p:sp>
        <p:nvSpPr>
          <p:cNvPr id="18" name="Agenda card 4"/>
          <p:cNvSpPr/>
          <p:nvPr/>
        </p:nvSpPr>
        <p:spPr>
          <a:xfrm>
            <a:off x="8997696"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9" name="Agenda number circle 4"/>
          <p:cNvSpPr/>
          <p:nvPr/>
        </p:nvSpPr>
        <p:spPr>
          <a:xfrm>
            <a:off x="9272016" y="1783080"/>
            <a:ext cx="731520" cy="731520"/>
          </a:xfrm>
          <a:prstGeom prst="ellipse">
            <a:avLst/>
          </a:prstGeom>
          <a:solidFill>
            <a:schemeClr val="accent1"/>
          </a:solidFill>
          <a:ln w="12700">
            <a:solidFill>
              <a:schemeClr val="accent1"/>
            </a:solidFill>
            <a:prstDash val="solid"/>
          </a:ln>
        </p:spPr>
      </p:sp>
      <p:sp>
        <p:nvSpPr>
          <p:cNvPr id="20" name="Agenda number 4"/>
          <p:cNvSpPr txBox="1"/>
          <p:nvPr/>
        </p:nvSpPr>
        <p:spPr>
          <a:xfrm>
            <a:off x="9272016"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21" name="Agenda title 4"/>
          <p:cNvSpPr txBox="1"/>
          <p:nvPr/>
        </p:nvSpPr>
        <p:spPr>
          <a:xfrm>
            <a:off x="9272016"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Wrap-up</a:t>
            </a:r>
            <a:endParaRPr lang="en-US" sz="2000" dirty="0"/>
          </a:p>
        </p:txBody>
      </p:sp>
      <p:sp>
        <p:nvSpPr>
          <p:cNvPr id="22" name="Agenda body 4"/>
          <p:cNvSpPr txBox="1"/>
          <p:nvPr/>
        </p:nvSpPr>
        <p:spPr>
          <a:xfrm>
            <a:off x="9272016"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Upgrading, supported languages, and where to learn more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1</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Aspire fundamentals</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What it is, why it exists, and how the pieces fit together</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problem: running a distributed app is hard</a:t>
            </a:r>
            <a:endParaRPr lang="en-US" sz="3400" dirty="0"/>
          </a:p>
        </p:txBody>
      </p:sp>
      <p:sp>
        <p:nvSpPr>
          <p:cNvPr id="3" name="Problem intro"/>
          <p:cNvSpPr txBox="1"/>
          <p:nvPr/>
        </p:nvSpPr>
        <p:spPr>
          <a:xfrm>
            <a:off x="548640" y="1188720"/>
            <a:ext cx="11064240" cy="594360"/>
          </a:xfrm>
          <a:prstGeom prst="rect">
            <a:avLst/>
          </a:prstGeom>
          <a:noFill/>
          <a:ln/>
        </p:spPr>
        <p:txBody>
          <a:bodyPr wrap="square" lIns="0" tIns="0" rIns="0" bIns="0" rtlCol="0" anchor="ctr"/>
          <a:lstStyle/>
          <a:p>
            <a:pPr indent="0" marL="0">
              <a:buNone/>
            </a:pPr>
            <a:r>
              <a:rPr lang="en-US" sz="1600" dirty="0">
                <a:solidFill>
                  <a:schemeClr val="tx1"/>
                </a:solidFill>
              </a:rPr>
              <a:t>A distributed app is one app split into several parts that talk over the network: for example a website, an API, a database and a cache.</a:t>
            </a:r>
            <a:endParaRPr lang="en-US" sz="1600" dirty="0"/>
          </a:p>
        </p:txBody>
      </p:sp>
      <p:sp>
        <p:nvSpPr>
          <p:cNvPr id="4" name="Without Aspire panel"/>
          <p:cNvSpPr/>
          <p:nvPr/>
        </p:nvSpPr>
        <p:spPr>
          <a:xfrm>
            <a:off x="548640" y="1965960"/>
            <a:ext cx="5394960" cy="4206240"/>
          </a:xfrm>
          <a:prstGeom prst="roundRect">
            <a:avLst>
              <a:gd name="adj" fmla="val 2174"/>
            </a:avLst>
          </a:prstGeom>
          <a:solidFill>
            <a:srgbClr val="FDECEC"/>
          </a:solidFill>
          <a:ln w="12700">
            <a:solidFill>
              <a:srgbClr val="FDECEC"/>
            </a:solidFill>
            <a:prstDash val="solid"/>
          </a:ln>
        </p:spPr>
      </p:sp>
      <p:pic>
        <p:nvPicPr>
          <p:cNvPr id="5" name="Without Aspire icon" descr="preencoded.png">    </p:cNvPr>
          <p:cNvPicPr>
            <a:picLocks noChangeAspect="1"/>
          </p:cNvPicPr>
          <p:nvPr/>
        </p:nvPicPr>
        <p:blipFill>
          <a:blip r:embed="rId1"/>
          <a:stretch>
            <a:fillRect/>
          </a:stretch>
        </p:blipFill>
        <p:spPr>
          <a:xfrm>
            <a:off x="822960" y="2240280"/>
            <a:ext cx="457200" cy="457200"/>
          </a:xfrm>
          <a:prstGeom prst="rect">
            <a:avLst/>
          </a:prstGeom>
        </p:spPr>
      </p:pic>
      <p:sp>
        <p:nvSpPr>
          <p:cNvPr id="6" name="Without Aspire title"/>
          <p:cNvSpPr txBox="1"/>
          <p:nvPr/>
        </p:nvSpPr>
        <p:spPr>
          <a:xfrm>
            <a:off x="1417320" y="2240280"/>
            <a:ext cx="4297680" cy="457200"/>
          </a:xfrm>
          <a:prstGeom prst="rect">
            <a:avLst/>
          </a:prstGeom>
          <a:noFill/>
          <a:ln/>
        </p:spPr>
        <p:txBody>
          <a:bodyPr wrap="square" lIns="0" tIns="0" rIns="0" bIns="0" rtlCol="0" anchor="ctr"/>
          <a:lstStyle/>
          <a:p>
            <a:pPr indent="0" marL="0">
              <a:buNone/>
            </a:pPr>
            <a:r>
              <a:rPr lang="en-US" sz="2200" b="1" dirty="0">
                <a:solidFill>
                  <a:schemeClr val="tx2"/>
                </a:solidFill>
              </a:rPr>
              <a:t>Without Aspire</a:t>
            </a:r>
            <a:endParaRPr lang="en-US" sz="2200" dirty="0"/>
          </a:p>
        </p:txBody>
      </p:sp>
      <p:sp>
        <p:nvSpPr>
          <p:cNvPr id="7" name="Without Aspire list"/>
          <p:cNvSpPr txBox="1"/>
          <p:nvPr/>
        </p:nvSpPr>
        <p:spPr>
          <a:xfrm>
            <a:off x="868680" y="2971800"/>
            <a:ext cx="4754880" cy="297180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chemeClr val="tx1"/>
                </a:solidFill>
              </a:rPr>
              <a:t>Start each service by hand, in the right order</a:t>
            </a:r>
            <a:endParaRPr lang="en-US" sz="1800" dirty="0"/>
          </a:p>
          <a:p>
            <a:pPr marL="342900" indent="-342900">
              <a:spcAft>
                <a:spcPts val="1800"/>
              </a:spcAft>
              <a:buSzPct val="100000"/>
              <a:buChar char="•"/>
            </a:pPr>
            <a:r>
              <a:rPr lang="en-US" sz="1800" dirty="0">
                <a:solidFill>
                  <a:schemeClr val="tx1"/>
                </a:solidFill>
              </a:rPr>
              <a:t>Run the database and cache containers yourself</a:t>
            </a:r>
            <a:endParaRPr lang="en-US" sz="1800" dirty="0"/>
          </a:p>
          <a:p>
            <a:pPr marL="342900" indent="-342900">
              <a:spcAft>
                <a:spcPts val="1800"/>
              </a:spcAft>
              <a:buSzPct val="100000"/>
              <a:buChar char="•"/>
            </a:pPr>
            <a:r>
              <a:rPr lang="en-US" sz="1800" dirty="0">
                <a:solidFill>
                  <a:schemeClr val="tx1"/>
                </a:solidFill>
              </a:rPr>
              <a:t>Copy ports and connection strings into config files</a:t>
            </a:r>
            <a:endParaRPr lang="en-US" sz="1800" dirty="0"/>
          </a:p>
          <a:p>
            <a:pPr marL="342900" indent="-342900">
              <a:spcAft>
                <a:spcPts val="1800"/>
              </a:spcAft>
              <a:buSzPct val="100000"/>
              <a:buChar char="•"/>
            </a:pPr>
            <a:r>
              <a:rPr lang="en-US" sz="1800" dirty="0">
                <a:solidFill>
                  <a:schemeClr val="tx1"/>
                </a:solidFill>
              </a:rPr>
              <a:t>Logs scattered across many terminal windows</a:t>
            </a:r>
            <a:endParaRPr lang="en-US" sz="1800" dirty="0"/>
          </a:p>
          <a:p>
            <a:pPr marL="342900" indent="-342900">
              <a:spcAft>
                <a:spcPts val="1800"/>
              </a:spcAft>
              <a:buSzPct val="100000"/>
              <a:buChar char="•"/>
            </a:pPr>
            <a:r>
              <a:rPr lang="en-US" sz="1800" dirty="0">
                <a:solidFill>
                  <a:schemeClr val="tx1"/>
                </a:solidFill>
              </a:rPr>
              <a:t>New teammates spend days on setup</a:t>
            </a:r>
            <a:endParaRPr lang="en-US" sz="1800" dirty="0"/>
          </a:p>
        </p:txBody>
      </p:sp>
      <p:sp>
        <p:nvSpPr>
          <p:cNvPr id="8" name="With Aspire panel"/>
          <p:cNvSpPr/>
          <p:nvPr/>
        </p:nvSpPr>
        <p:spPr>
          <a:xfrm>
            <a:off x="6217920" y="1965960"/>
            <a:ext cx="5394960" cy="4206240"/>
          </a:xfrm>
          <a:prstGeom prst="roundRect">
            <a:avLst>
              <a:gd name="adj" fmla="val 2174"/>
            </a:avLst>
          </a:prstGeom>
          <a:solidFill>
            <a:srgbClr val="E8F6EE"/>
          </a:solidFill>
          <a:ln w="12700">
            <a:solidFill>
              <a:srgbClr val="E8F6EE"/>
            </a:solidFill>
            <a:prstDash val="solid"/>
          </a:ln>
        </p:spPr>
      </p:sp>
      <p:pic>
        <p:nvPicPr>
          <p:cNvPr id="9" name="With Aspire icon" descr="preencoded.png">    </p:cNvPr>
          <p:cNvPicPr>
            <a:picLocks noChangeAspect="1"/>
          </p:cNvPicPr>
          <p:nvPr/>
        </p:nvPicPr>
        <p:blipFill>
          <a:blip r:embed="rId2"/>
          <a:stretch>
            <a:fillRect/>
          </a:stretch>
        </p:blipFill>
        <p:spPr>
          <a:xfrm>
            <a:off x="6492240" y="2240280"/>
            <a:ext cx="457200" cy="457200"/>
          </a:xfrm>
          <a:prstGeom prst="rect">
            <a:avLst/>
          </a:prstGeom>
        </p:spPr>
      </p:pic>
      <p:sp>
        <p:nvSpPr>
          <p:cNvPr id="10" name="With Aspire title"/>
          <p:cNvSpPr txBox="1"/>
          <p:nvPr/>
        </p:nvSpPr>
        <p:spPr>
          <a:xfrm>
            <a:off x="7086600" y="2240280"/>
            <a:ext cx="4297680" cy="457200"/>
          </a:xfrm>
          <a:prstGeom prst="rect">
            <a:avLst/>
          </a:prstGeom>
          <a:noFill/>
          <a:ln/>
        </p:spPr>
        <p:txBody>
          <a:bodyPr wrap="square" lIns="0" tIns="0" rIns="0" bIns="0" rtlCol="0" anchor="ctr"/>
          <a:lstStyle/>
          <a:p>
            <a:pPr indent="0" marL="0">
              <a:buNone/>
            </a:pPr>
            <a:r>
              <a:rPr lang="en-US" sz="2200" b="1" dirty="0">
                <a:solidFill>
                  <a:schemeClr val="tx2"/>
                </a:solidFill>
              </a:rPr>
              <a:t>With Aspire</a:t>
            </a:r>
            <a:endParaRPr lang="en-US" sz="2200" dirty="0"/>
          </a:p>
        </p:txBody>
      </p:sp>
      <p:sp>
        <p:nvSpPr>
          <p:cNvPr id="11" name="With Aspire list"/>
          <p:cNvSpPr txBox="1"/>
          <p:nvPr/>
        </p:nvSpPr>
        <p:spPr>
          <a:xfrm>
            <a:off x="6537960" y="2971800"/>
            <a:ext cx="4754880" cy="297180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chemeClr val="tx1"/>
                </a:solidFill>
              </a:rPr>
              <a:t>Describe the whole app once, in code</a:t>
            </a:r>
            <a:endParaRPr lang="en-US" sz="1800" dirty="0"/>
          </a:p>
          <a:p>
            <a:pPr marL="342900" indent="-342900">
              <a:spcAft>
                <a:spcPts val="1800"/>
              </a:spcAft>
              <a:buSzPct val="100000"/>
              <a:buChar char="•"/>
            </a:pPr>
            <a:r>
              <a:rPr lang="en-US" sz="1800" dirty="0">
                <a:solidFill>
                  <a:schemeClr val="tx1"/>
                </a:solidFill>
              </a:rPr>
              <a:t>One command, aspire run, starts everything</a:t>
            </a:r>
            <a:endParaRPr lang="en-US" sz="1800" dirty="0"/>
          </a:p>
          <a:p>
            <a:pPr marL="342900" indent="-342900">
              <a:spcAft>
                <a:spcPts val="1800"/>
              </a:spcAft>
              <a:buSzPct val="100000"/>
              <a:buChar char="•"/>
            </a:pPr>
            <a:r>
              <a:rPr lang="en-US" sz="1800" dirty="0">
                <a:solidFill>
                  <a:schemeClr val="tx1"/>
                </a:solidFill>
              </a:rPr>
              <a:t>Aspire passes addresses and connection strings for you</a:t>
            </a:r>
            <a:endParaRPr lang="en-US" sz="1800" dirty="0"/>
          </a:p>
          <a:p>
            <a:pPr marL="342900" indent="-342900">
              <a:spcAft>
                <a:spcPts val="1800"/>
              </a:spcAft>
              <a:buSzPct val="100000"/>
              <a:buChar char="•"/>
            </a:pPr>
            <a:r>
              <a:rPr lang="en-US" sz="1800" dirty="0">
                <a:solidFill>
                  <a:schemeClr val="tx1"/>
                </a:solidFill>
              </a:rPr>
              <a:t>One dashboard shows every log, trace and metric</a:t>
            </a:r>
            <a:endParaRPr lang="en-US" sz="1800" dirty="0"/>
          </a:p>
          <a:p>
            <a:pPr marL="342900" indent="-342900">
              <a:spcAft>
                <a:spcPts val="1800"/>
              </a:spcAft>
              <a:buSzPct val="100000"/>
              <a:buChar char="•"/>
            </a:pPr>
            <a:r>
              <a:rPr lang="en-US" sz="1800" dirty="0">
                <a:solidFill>
                  <a:schemeClr val="tx1"/>
                </a:solidFill>
              </a:rPr>
              <a:t>Clone the repo, run one command, start coding</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is Aspire?</a:t>
            </a:r>
            <a:endParaRPr lang="en-US" sz="3400" dirty="0"/>
          </a:p>
        </p:txBody>
      </p:sp>
      <p:sp>
        <p:nvSpPr>
          <p:cNvPr id="3" name="Definition panel"/>
          <p:cNvSpPr/>
          <p:nvPr/>
        </p:nvSpPr>
        <p:spPr>
          <a:xfrm>
            <a:off x="548640" y="1234440"/>
            <a:ext cx="11064240" cy="1143000"/>
          </a:xfrm>
          <a:prstGeom prst="roundRect">
            <a:avLst>
              <a:gd name="adj" fmla="val 8000"/>
            </a:avLst>
          </a:prstGeom>
          <a:solidFill>
            <a:schemeClr val="tx2"/>
          </a:solidFill>
          <a:ln w="12700">
            <a:solidFill>
              <a:schemeClr val="tx2"/>
            </a:solidFill>
            <a:prstDash val="solid"/>
          </a:ln>
        </p:spPr>
      </p:sp>
      <p:sp>
        <p:nvSpPr>
          <p:cNvPr id="4" name="Definition text"/>
          <p:cNvSpPr txBox="1"/>
          <p:nvPr/>
        </p:nvSpPr>
        <p:spPr>
          <a:xfrm>
            <a:off x="868680" y="1280160"/>
            <a:ext cx="10515600" cy="1051560"/>
          </a:xfrm>
          <a:prstGeom prst="rect">
            <a:avLst/>
          </a:prstGeom>
          <a:noFill/>
          <a:ln/>
        </p:spPr>
        <p:txBody>
          <a:bodyPr wrap="square" lIns="0" tIns="0" rIns="0" bIns="0" rtlCol="0" anchor="ctr"/>
          <a:lstStyle/>
          <a:p>
            <a:pPr indent="0" marL="0">
              <a:buNone/>
            </a:pPr>
            <a:r>
              <a:rPr lang="en-US" sz="1800" b="1" dirty="0">
                <a:solidFill>
                  <a:schemeClr val="bg1"/>
                </a:solidFill>
              </a:rPr>
              <a:t>A free, open-source, code-first tool for composing, running, debugging and deploying distributed apps.</a:t>
            </a:r>
            <a:endParaRPr lang="en-US" sz="1800" dirty="0"/>
          </a:p>
          <a:p>
            <a:pPr indent="0" marL="0">
              <a:buNone/>
            </a:pPr>
            <a:r>
              <a:rPr lang="en-US" sz="1500" dirty="0">
                <a:solidFill>
                  <a:srgbClr val="D9CCFF"/>
                </a:solidFill>
              </a:rPr>
              <a:t>Made by Microsoft. Formerly called .NET Aspire, it now works with many languages, not only .NET.</a:t>
            </a:r>
            <a:endParaRPr lang="en-US" sz="1800" dirty="0"/>
          </a:p>
        </p:txBody>
      </p:sp>
      <p:sp>
        <p:nvSpPr>
          <p:cNvPr id="5" name="Loop card 0"/>
          <p:cNvSpPr/>
          <p:nvPr/>
        </p:nvSpPr>
        <p:spPr>
          <a:xfrm>
            <a:off x="548640"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6" name="Loop 0 circle"/>
          <p:cNvSpPr/>
          <p:nvPr/>
        </p:nvSpPr>
        <p:spPr>
          <a:xfrm>
            <a:off x="822960" y="2971800"/>
            <a:ext cx="731520" cy="731520"/>
          </a:xfrm>
          <a:prstGeom prst="ellipse">
            <a:avLst/>
          </a:prstGeom>
          <a:solidFill>
            <a:schemeClr val="bg2"/>
          </a:solidFill>
          <a:ln w="12700">
            <a:solidFill>
              <a:schemeClr val="bg2"/>
            </a:solidFill>
            <a:prstDash val="solid"/>
          </a:ln>
        </p:spPr>
      </p:sp>
      <p:pic>
        <p:nvPicPr>
          <p:cNvPr id="7" name="Loop 0 icon" descr="preencoded.png">    </p:cNvPr>
          <p:cNvPicPr>
            <a:picLocks noChangeAspect="1"/>
          </p:cNvPicPr>
          <p:nvPr/>
        </p:nvPicPr>
        <p:blipFill>
          <a:blip r:embed="rId1"/>
          <a:stretch>
            <a:fillRect/>
          </a:stretch>
        </p:blipFill>
        <p:spPr>
          <a:xfrm>
            <a:off x="1005840" y="3154680"/>
            <a:ext cx="365760" cy="365760"/>
          </a:xfrm>
          <a:prstGeom prst="rect">
            <a:avLst/>
          </a:prstGeom>
        </p:spPr>
      </p:pic>
      <p:sp>
        <p:nvSpPr>
          <p:cNvPr id="8" name="Loop title 0"/>
          <p:cNvSpPr txBox="1"/>
          <p:nvPr/>
        </p:nvSpPr>
        <p:spPr>
          <a:xfrm>
            <a:off x="822960"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1  Compose</a:t>
            </a:r>
            <a:endParaRPr lang="en-US" sz="2000" dirty="0"/>
          </a:p>
        </p:txBody>
      </p:sp>
      <p:sp>
        <p:nvSpPr>
          <p:cNvPr id="9" name="Loop body 0"/>
          <p:cNvSpPr txBox="1"/>
          <p:nvPr/>
        </p:nvSpPr>
        <p:spPr>
          <a:xfrm>
            <a:off x="822960"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Describe services, containers, databases and how they connect, in an AppHost file.</a:t>
            </a:r>
            <a:endParaRPr lang="en-US" sz="1600" dirty="0"/>
          </a:p>
        </p:txBody>
      </p:sp>
      <p:sp>
        <p:nvSpPr>
          <p:cNvPr id="10" name="Loop arrow 0"/>
          <p:cNvSpPr txBox="1"/>
          <p:nvPr/>
        </p:nvSpPr>
        <p:spPr>
          <a:xfrm>
            <a:off x="3163824" y="4069080"/>
            <a:ext cx="219456"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1" name="Loop card 1"/>
          <p:cNvSpPr/>
          <p:nvPr/>
        </p:nvSpPr>
        <p:spPr>
          <a:xfrm>
            <a:off x="3364992"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2" name="Loop 1 circle"/>
          <p:cNvSpPr/>
          <p:nvPr/>
        </p:nvSpPr>
        <p:spPr>
          <a:xfrm>
            <a:off x="3639312" y="2971800"/>
            <a:ext cx="731520" cy="731520"/>
          </a:xfrm>
          <a:prstGeom prst="ellipse">
            <a:avLst/>
          </a:prstGeom>
          <a:solidFill>
            <a:schemeClr val="bg2"/>
          </a:solidFill>
          <a:ln w="12700">
            <a:solidFill>
              <a:schemeClr val="bg2"/>
            </a:solidFill>
            <a:prstDash val="solid"/>
          </a:ln>
        </p:spPr>
      </p:sp>
      <p:pic>
        <p:nvPicPr>
          <p:cNvPr id="13" name="Loop 1 icon" descr="preencoded.png">    </p:cNvPr>
          <p:cNvPicPr>
            <a:picLocks noChangeAspect="1"/>
          </p:cNvPicPr>
          <p:nvPr/>
        </p:nvPicPr>
        <p:blipFill>
          <a:blip r:embed="rId2"/>
          <a:stretch>
            <a:fillRect/>
          </a:stretch>
        </p:blipFill>
        <p:spPr>
          <a:xfrm>
            <a:off x="3822192" y="3154680"/>
            <a:ext cx="365760" cy="365760"/>
          </a:xfrm>
          <a:prstGeom prst="rect">
            <a:avLst/>
          </a:prstGeom>
        </p:spPr>
      </p:pic>
      <p:sp>
        <p:nvSpPr>
          <p:cNvPr id="14" name="Loop title 1"/>
          <p:cNvSpPr txBox="1"/>
          <p:nvPr/>
        </p:nvSpPr>
        <p:spPr>
          <a:xfrm>
            <a:off x="3639312"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2  Run</a:t>
            </a:r>
            <a:endParaRPr lang="en-US" sz="2000" dirty="0"/>
          </a:p>
        </p:txBody>
      </p:sp>
      <p:sp>
        <p:nvSpPr>
          <p:cNvPr id="15" name="Loop body 1"/>
          <p:cNvSpPr txBox="1"/>
          <p:nvPr/>
        </p:nvSpPr>
        <p:spPr>
          <a:xfrm>
            <a:off x="3639312"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aspire run starts everything together, already wired up.</a:t>
            </a:r>
            <a:endParaRPr lang="en-US" sz="1600" dirty="0"/>
          </a:p>
        </p:txBody>
      </p:sp>
      <p:sp>
        <p:nvSpPr>
          <p:cNvPr id="16" name="Loop arrow 1"/>
          <p:cNvSpPr txBox="1"/>
          <p:nvPr/>
        </p:nvSpPr>
        <p:spPr>
          <a:xfrm>
            <a:off x="5980176" y="4069080"/>
            <a:ext cx="219456"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7" name="Loop card 2"/>
          <p:cNvSpPr/>
          <p:nvPr/>
        </p:nvSpPr>
        <p:spPr>
          <a:xfrm>
            <a:off x="6181344"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8" name="Loop 2 circle"/>
          <p:cNvSpPr/>
          <p:nvPr/>
        </p:nvSpPr>
        <p:spPr>
          <a:xfrm>
            <a:off x="6455664" y="2971800"/>
            <a:ext cx="731520" cy="731520"/>
          </a:xfrm>
          <a:prstGeom prst="ellipse">
            <a:avLst/>
          </a:prstGeom>
          <a:solidFill>
            <a:schemeClr val="bg2"/>
          </a:solidFill>
          <a:ln w="12700">
            <a:solidFill>
              <a:schemeClr val="bg2"/>
            </a:solidFill>
            <a:prstDash val="solid"/>
          </a:ln>
        </p:spPr>
      </p:sp>
      <p:pic>
        <p:nvPicPr>
          <p:cNvPr id="19" name="Loop 2 icon" descr="preencoded.png">    </p:cNvPr>
          <p:cNvPicPr>
            <a:picLocks noChangeAspect="1"/>
          </p:cNvPicPr>
          <p:nvPr/>
        </p:nvPicPr>
        <p:blipFill>
          <a:blip r:embed="rId3"/>
          <a:stretch>
            <a:fillRect/>
          </a:stretch>
        </p:blipFill>
        <p:spPr>
          <a:xfrm>
            <a:off x="6638544" y="3154680"/>
            <a:ext cx="365760" cy="365760"/>
          </a:xfrm>
          <a:prstGeom prst="rect">
            <a:avLst/>
          </a:prstGeom>
        </p:spPr>
      </p:pic>
      <p:sp>
        <p:nvSpPr>
          <p:cNvPr id="20" name="Loop title 2"/>
          <p:cNvSpPr txBox="1"/>
          <p:nvPr/>
        </p:nvSpPr>
        <p:spPr>
          <a:xfrm>
            <a:off x="6455664"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3  Observe</a:t>
            </a:r>
            <a:endParaRPr lang="en-US" sz="2000" dirty="0"/>
          </a:p>
        </p:txBody>
      </p:sp>
      <p:sp>
        <p:nvSpPr>
          <p:cNvPr id="21" name="Loop body 2"/>
          <p:cNvSpPr txBox="1"/>
          <p:nvPr/>
        </p:nvSpPr>
        <p:spPr>
          <a:xfrm>
            <a:off x="6455664"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The dashboard shows logs, traces, metrics and health from the first request.</a:t>
            </a:r>
            <a:endParaRPr lang="en-US" sz="1600" dirty="0"/>
          </a:p>
        </p:txBody>
      </p:sp>
      <p:sp>
        <p:nvSpPr>
          <p:cNvPr id="22" name="Loop arrow 2"/>
          <p:cNvSpPr txBox="1"/>
          <p:nvPr/>
        </p:nvSpPr>
        <p:spPr>
          <a:xfrm>
            <a:off x="8796528" y="4069080"/>
            <a:ext cx="219456"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23" name="Loop card 3"/>
          <p:cNvSpPr/>
          <p:nvPr/>
        </p:nvSpPr>
        <p:spPr>
          <a:xfrm>
            <a:off x="8997696"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4" name="Loop 3 circle"/>
          <p:cNvSpPr/>
          <p:nvPr/>
        </p:nvSpPr>
        <p:spPr>
          <a:xfrm>
            <a:off x="9272016" y="2971800"/>
            <a:ext cx="731520" cy="731520"/>
          </a:xfrm>
          <a:prstGeom prst="ellipse">
            <a:avLst/>
          </a:prstGeom>
          <a:solidFill>
            <a:schemeClr val="bg2"/>
          </a:solidFill>
          <a:ln w="12700">
            <a:solidFill>
              <a:schemeClr val="bg2"/>
            </a:solidFill>
            <a:prstDash val="solid"/>
          </a:ln>
        </p:spPr>
      </p:sp>
      <p:pic>
        <p:nvPicPr>
          <p:cNvPr id="25" name="Loop 3 icon" descr="preencoded.png">    </p:cNvPr>
          <p:cNvPicPr>
            <a:picLocks noChangeAspect="1"/>
          </p:cNvPicPr>
          <p:nvPr/>
        </p:nvPicPr>
        <p:blipFill>
          <a:blip r:embed="rId4"/>
          <a:stretch>
            <a:fillRect/>
          </a:stretch>
        </p:blipFill>
        <p:spPr>
          <a:xfrm>
            <a:off x="9454896" y="3154680"/>
            <a:ext cx="365760" cy="365760"/>
          </a:xfrm>
          <a:prstGeom prst="rect">
            <a:avLst/>
          </a:prstGeom>
        </p:spPr>
      </p:pic>
      <p:sp>
        <p:nvSpPr>
          <p:cNvPr id="26" name="Loop title 3"/>
          <p:cNvSpPr txBox="1"/>
          <p:nvPr/>
        </p:nvSpPr>
        <p:spPr>
          <a:xfrm>
            <a:off x="9272016"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4  Deploy</a:t>
            </a:r>
            <a:endParaRPr lang="en-US" sz="2000" dirty="0"/>
          </a:p>
        </p:txBody>
      </p:sp>
      <p:sp>
        <p:nvSpPr>
          <p:cNvPr id="27" name="Loop body 3"/>
          <p:cNvSpPr txBox="1"/>
          <p:nvPr/>
        </p:nvSpPr>
        <p:spPr>
          <a:xfrm>
            <a:off x="9272016"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Use the same model to produce deployment files for the cloud, containers or Kubernetes.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Six words you need to know</a:t>
            </a:r>
            <a:endParaRPr lang="en-US" sz="3400" dirty="0"/>
          </a:p>
        </p:txBody>
      </p:sp>
      <p:sp>
        <p:nvSpPr>
          <p:cNvPr id="3" name="Term card AppHost"/>
          <p:cNvSpPr/>
          <p:nvPr/>
        </p:nvSpPr>
        <p:spPr>
          <a:xfrm>
            <a:off x="548640" y="12801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4" name="AppHost circle"/>
          <p:cNvSpPr/>
          <p:nvPr/>
        </p:nvSpPr>
        <p:spPr>
          <a:xfrm>
            <a:off x="822960" y="1554480"/>
            <a:ext cx="640080" cy="640080"/>
          </a:xfrm>
          <a:prstGeom prst="ellipse">
            <a:avLst/>
          </a:prstGeom>
          <a:solidFill>
            <a:schemeClr val="bg2"/>
          </a:solidFill>
          <a:ln w="12700">
            <a:solidFill>
              <a:schemeClr val="bg2"/>
            </a:solidFill>
            <a:prstDash val="solid"/>
          </a:ln>
        </p:spPr>
      </p:sp>
      <p:pic>
        <p:nvPicPr>
          <p:cNvPr id="5" name="AppHost icon" descr="preencoded.png">    </p:cNvPr>
          <p:cNvPicPr>
            <a:picLocks noChangeAspect="1"/>
          </p:cNvPicPr>
          <p:nvPr/>
        </p:nvPicPr>
        <p:blipFill>
          <a:blip r:embed="rId1"/>
          <a:stretch>
            <a:fillRect/>
          </a:stretch>
        </p:blipFill>
        <p:spPr>
          <a:xfrm>
            <a:off x="982980" y="1714500"/>
            <a:ext cx="320040" cy="320040"/>
          </a:xfrm>
          <a:prstGeom prst="rect">
            <a:avLst/>
          </a:prstGeom>
        </p:spPr>
      </p:pic>
      <p:sp>
        <p:nvSpPr>
          <p:cNvPr id="6" name="AppHost term"/>
          <p:cNvSpPr txBox="1"/>
          <p:nvPr/>
        </p:nvSpPr>
        <p:spPr>
          <a:xfrm>
            <a:off x="1600200" y="15544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AppHost</a:t>
            </a:r>
            <a:endParaRPr lang="en-US" sz="2000" dirty="0"/>
          </a:p>
        </p:txBody>
      </p:sp>
      <p:sp>
        <p:nvSpPr>
          <p:cNvPr id="7" name="AppHost definition"/>
          <p:cNvSpPr txBox="1"/>
          <p:nvPr/>
        </p:nvSpPr>
        <p:spPr>
          <a:xfrm>
            <a:off x="822960" y="2331720"/>
            <a:ext cx="3017520" cy="1188720"/>
          </a:xfrm>
          <a:prstGeom prst="rect">
            <a:avLst/>
          </a:prstGeom>
          <a:noFill/>
          <a:ln/>
        </p:spPr>
        <p:txBody>
          <a:bodyPr wrap="square" lIns="0" tIns="0" rIns="0" bIns="0" rtlCol="0" anchor="t"/>
          <a:lstStyle/>
          <a:p>
            <a:pPr indent="0" marL="0">
              <a:buNone/>
            </a:pPr>
            <a:r>
              <a:rPr lang="en-US" sz="1400" dirty="0">
                <a:solidFill>
                  <a:schemeClr val="tx1"/>
                </a:solidFill>
              </a:rPr>
              <a:t>A small program (C# or TypeScript) that describes your whole app: what to run and how parts connect. It is the 'source of truth'.</a:t>
            </a:r>
            <a:endParaRPr lang="en-US" sz="1400" dirty="0"/>
          </a:p>
        </p:txBody>
      </p:sp>
      <p:sp>
        <p:nvSpPr>
          <p:cNvPr id="8" name="Term card Resource"/>
          <p:cNvSpPr/>
          <p:nvPr/>
        </p:nvSpPr>
        <p:spPr>
          <a:xfrm>
            <a:off x="4297680" y="12801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9" name="Resource circle"/>
          <p:cNvSpPr/>
          <p:nvPr/>
        </p:nvSpPr>
        <p:spPr>
          <a:xfrm>
            <a:off x="4572000" y="1554480"/>
            <a:ext cx="640080" cy="640080"/>
          </a:xfrm>
          <a:prstGeom prst="ellipse">
            <a:avLst/>
          </a:prstGeom>
          <a:solidFill>
            <a:schemeClr val="bg2"/>
          </a:solidFill>
          <a:ln w="12700">
            <a:solidFill>
              <a:schemeClr val="bg2"/>
            </a:solidFill>
            <a:prstDash val="solid"/>
          </a:ln>
        </p:spPr>
      </p:sp>
      <p:pic>
        <p:nvPicPr>
          <p:cNvPr id="10" name="Resource icon" descr="preencoded.png">    </p:cNvPr>
          <p:cNvPicPr>
            <a:picLocks noChangeAspect="1"/>
          </p:cNvPicPr>
          <p:nvPr/>
        </p:nvPicPr>
        <p:blipFill>
          <a:blip r:embed="rId2"/>
          <a:stretch>
            <a:fillRect/>
          </a:stretch>
        </p:blipFill>
        <p:spPr>
          <a:xfrm>
            <a:off x="4732020" y="1714500"/>
            <a:ext cx="320040" cy="320040"/>
          </a:xfrm>
          <a:prstGeom prst="rect">
            <a:avLst/>
          </a:prstGeom>
        </p:spPr>
      </p:pic>
      <p:sp>
        <p:nvSpPr>
          <p:cNvPr id="11" name="Resource term"/>
          <p:cNvSpPr txBox="1"/>
          <p:nvPr/>
        </p:nvSpPr>
        <p:spPr>
          <a:xfrm>
            <a:off x="5349240" y="15544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Resource</a:t>
            </a:r>
            <a:endParaRPr lang="en-US" sz="2000" dirty="0"/>
          </a:p>
        </p:txBody>
      </p:sp>
      <p:sp>
        <p:nvSpPr>
          <p:cNvPr id="12" name="Resource definition"/>
          <p:cNvSpPr txBox="1"/>
          <p:nvPr/>
        </p:nvSpPr>
        <p:spPr>
          <a:xfrm>
            <a:off x="4572000" y="2331720"/>
            <a:ext cx="3017520" cy="1188720"/>
          </a:xfrm>
          <a:prstGeom prst="rect">
            <a:avLst/>
          </a:prstGeom>
          <a:noFill/>
          <a:ln/>
        </p:spPr>
        <p:txBody>
          <a:bodyPr wrap="square" lIns="0" tIns="0" rIns="0" bIns="0" rtlCol="0" anchor="t"/>
          <a:lstStyle/>
          <a:p>
            <a:pPr indent="0" marL="0">
              <a:buNone/>
            </a:pPr>
            <a:r>
              <a:rPr lang="en-US" sz="1400" dirty="0">
                <a:solidFill>
                  <a:schemeClr val="tx1"/>
                </a:solidFill>
              </a:rPr>
              <a:t>Anything the AppHost runs or manages: a project, a container (like Postgres or Redis), an executable, or a cloud service.</a:t>
            </a:r>
            <a:endParaRPr lang="en-US" sz="1400" dirty="0"/>
          </a:p>
        </p:txBody>
      </p:sp>
      <p:sp>
        <p:nvSpPr>
          <p:cNvPr id="13" name="Term card Reference"/>
          <p:cNvSpPr/>
          <p:nvPr/>
        </p:nvSpPr>
        <p:spPr>
          <a:xfrm>
            <a:off x="8046720" y="12801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4" name="Reference circle"/>
          <p:cNvSpPr/>
          <p:nvPr/>
        </p:nvSpPr>
        <p:spPr>
          <a:xfrm>
            <a:off x="8321040" y="1554480"/>
            <a:ext cx="640080" cy="640080"/>
          </a:xfrm>
          <a:prstGeom prst="ellipse">
            <a:avLst/>
          </a:prstGeom>
          <a:solidFill>
            <a:schemeClr val="bg2"/>
          </a:solidFill>
          <a:ln w="12700">
            <a:solidFill>
              <a:schemeClr val="bg2"/>
            </a:solidFill>
            <a:prstDash val="solid"/>
          </a:ln>
        </p:spPr>
      </p:sp>
      <p:pic>
        <p:nvPicPr>
          <p:cNvPr id="15" name="Reference icon" descr="preencoded.png">    </p:cNvPr>
          <p:cNvPicPr>
            <a:picLocks noChangeAspect="1"/>
          </p:cNvPicPr>
          <p:nvPr/>
        </p:nvPicPr>
        <p:blipFill>
          <a:blip r:embed="rId3"/>
          <a:stretch>
            <a:fillRect/>
          </a:stretch>
        </p:blipFill>
        <p:spPr>
          <a:xfrm>
            <a:off x="8481060" y="1714500"/>
            <a:ext cx="320040" cy="320040"/>
          </a:xfrm>
          <a:prstGeom prst="rect">
            <a:avLst/>
          </a:prstGeom>
        </p:spPr>
      </p:pic>
      <p:sp>
        <p:nvSpPr>
          <p:cNvPr id="16" name="Reference term"/>
          <p:cNvSpPr txBox="1"/>
          <p:nvPr/>
        </p:nvSpPr>
        <p:spPr>
          <a:xfrm>
            <a:off x="9098280" y="15544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Reference</a:t>
            </a:r>
            <a:endParaRPr lang="en-US" sz="2000" dirty="0"/>
          </a:p>
        </p:txBody>
      </p:sp>
      <p:sp>
        <p:nvSpPr>
          <p:cNvPr id="17" name="Reference definition"/>
          <p:cNvSpPr txBox="1"/>
          <p:nvPr/>
        </p:nvSpPr>
        <p:spPr>
          <a:xfrm>
            <a:off x="8321040" y="2331720"/>
            <a:ext cx="3017520" cy="1188720"/>
          </a:xfrm>
          <a:prstGeom prst="rect">
            <a:avLst/>
          </a:prstGeom>
          <a:noFill/>
          <a:ln/>
        </p:spPr>
        <p:txBody>
          <a:bodyPr wrap="square" lIns="0" tIns="0" rIns="0" bIns="0" rtlCol="0" anchor="t"/>
          <a:lstStyle/>
          <a:p>
            <a:pPr indent="0" marL="0">
              <a:buNone/>
            </a:pPr>
            <a:r>
              <a:rPr lang="en-US" sz="1400" dirty="0">
                <a:solidFill>
                  <a:schemeClr val="tx1"/>
                </a:solidFill>
              </a:rPr>
              <a:t>WithReference() says 'this part needs that part'. Aspire then gives it the address or connection string automatically.</a:t>
            </a:r>
            <a:endParaRPr lang="en-US" sz="1400" dirty="0"/>
          </a:p>
        </p:txBody>
      </p:sp>
      <p:sp>
        <p:nvSpPr>
          <p:cNvPr id="18" name="Term card Integration"/>
          <p:cNvSpPr/>
          <p:nvPr/>
        </p:nvSpPr>
        <p:spPr>
          <a:xfrm>
            <a:off x="548640" y="37947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9" name="Integration circle"/>
          <p:cNvSpPr/>
          <p:nvPr/>
        </p:nvSpPr>
        <p:spPr>
          <a:xfrm>
            <a:off x="822960" y="4069080"/>
            <a:ext cx="640080" cy="640080"/>
          </a:xfrm>
          <a:prstGeom prst="ellipse">
            <a:avLst/>
          </a:prstGeom>
          <a:solidFill>
            <a:schemeClr val="bg2"/>
          </a:solidFill>
          <a:ln w="12700">
            <a:solidFill>
              <a:schemeClr val="bg2"/>
            </a:solidFill>
            <a:prstDash val="solid"/>
          </a:ln>
        </p:spPr>
      </p:sp>
      <p:pic>
        <p:nvPicPr>
          <p:cNvPr id="20" name="Integration icon" descr="preencoded.png">    </p:cNvPr>
          <p:cNvPicPr>
            <a:picLocks noChangeAspect="1"/>
          </p:cNvPicPr>
          <p:nvPr/>
        </p:nvPicPr>
        <p:blipFill>
          <a:blip r:embed="rId4"/>
          <a:stretch>
            <a:fillRect/>
          </a:stretch>
        </p:blipFill>
        <p:spPr>
          <a:xfrm>
            <a:off x="982980" y="4229100"/>
            <a:ext cx="320040" cy="320040"/>
          </a:xfrm>
          <a:prstGeom prst="rect">
            <a:avLst/>
          </a:prstGeom>
        </p:spPr>
      </p:pic>
      <p:sp>
        <p:nvSpPr>
          <p:cNvPr id="21" name="Integration term"/>
          <p:cNvSpPr txBox="1"/>
          <p:nvPr/>
        </p:nvSpPr>
        <p:spPr>
          <a:xfrm>
            <a:off x="1600200" y="40690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Integration</a:t>
            </a:r>
            <a:endParaRPr lang="en-US" sz="2000" dirty="0"/>
          </a:p>
        </p:txBody>
      </p:sp>
      <p:sp>
        <p:nvSpPr>
          <p:cNvPr id="22" name="Integration definition"/>
          <p:cNvSpPr txBox="1"/>
          <p:nvPr/>
        </p:nvSpPr>
        <p:spPr>
          <a:xfrm>
            <a:off x="822960" y="4846320"/>
            <a:ext cx="3017520" cy="1188720"/>
          </a:xfrm>
          <a:prstGeom prst="rect">
            <a:avLst/>
          </a:prstGeom>
          <a:noFill/>
          <a:ln/>
        </p:spPr>
        <p:txBody>
          <a:bodyPr wrap="square" lIns="0" tIns="0" rIns="0" bIns="0" rtlCol="0" anchor="t"/>
          <a:lstStyle/>
          <a:p>
            <a:pPr indent="0" marL="0">
              <a:buNone/>
            </a:pPr>
            <a:r>
              <a:rPr lang="en-US" sz="1400" dirty="0">
                <a:solidFill>
                  <a:schemeClr val="tx1"/>
                </a:solidFill>
              </a:rPr>
              <a:t>A ready-made package that adds a technology, such as AddPostgres() or AddRedis(), so you don't configure it by hand.</a:t>
            </a:r>
            <a:endParaRPr lang="en-US" sz="1400" dirty="0"/>
          </a:p>
        </p:txBody>
      </p:sp>
      <p:sp>
        <p:nvSpPr>
          <p:cNvPr id="23" name="Term card Service defaults"/>
          <p:cNvSpPr/>
          <p:nvPr/>
        </p:nvSpPr>
        <p:spPr>
          <a:xfrm>
            <a:off x="4297680" y="37947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4" name="Service defaults circle"/>
          <p:cNvSpPr/>
          <p:nvPr/>
        </p:nvSpPr>
        <p:spPr>
          <a:xfrm>
            <a:off x="4572000" y="4069080"/>
            <a:ext cx="640080" cy="640080"/>
          </a:xfrm>
          <a:prstGeom prst="ellipse">
            <a:avLst/>
          </a:prstGeom>
          <a:solidFill>
            <a:schemeClr val="bg2"/>
          </a:solidFill>
          <a:ln w="12700">
            <a:solidFill>
              <a:schemeClr val="bg2"/>
            </a:solidFill>
            <a:prstDash val="solid"/>
          </a:ln>
        </p:spPr>
      </p:sp>
      <p:pic>
        <p:nvPicPr>
          <p:cNvPr id="25" name="Service defaults icon" descr="preencoded.png">    </p:cNvPr>
          <p:cNvPicPr>
            <a:picLocks noChangeAspect="1"/>
          </p:cNvPicPr>
          <p:nvPr/>
        </p:nvPicPr>
        <p:blipFill>
          <a:blip r:embed="rId5"/>
          <a:stretch>
            <a:fillRect/>
          </a:stretch>
        </p:blipFill>
        <p:spPr>
          <a:xfrm>
            <a:off x="4732020" y="4229100"/>
            <a:ext cx="320040" cy="320040"/>
          </a:xfrm>
          <a:prstGeom prst="rect">
            <a:avLst/>
          </a:prstGeom>
        </p:spPr>
      </p:pic>
      <p:sp>
        <p:nvSpPr>
          <p:cNvPr id="26" name="Service defaults term"/>
          <p:cNvSpPr txBox="1"/>
          <p:nvPr/>
        </p:nvSpPr>
        <p:spPr>
          <a:xfrm>
            <a:off x="5349240" y="40690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Service defaults</a:t>
            </a:r>
            <a:endParaRPr lang="en-US" sz="2000" dirty="0"/>
          </a:p>
        </p:txBody>
      </p:sp>
      <p:sp>
        <p:nvSpPr>
          <p:cNvPr id="27" name="Service defaults definition"/>
          <p:cNvSpPr txBox="1"/>
          <p:nvPr/>
        </p:nvSpPr>
        <p:spPr>
          <a:xfrm>
            <a:off x="4572000" y="4846320"/>
            <a:ext cx="3017520" cy="1188720"/>
          </a:xfrm>
          <a:prstGeom prst="rect">
            <a:avLst/>
          </a:prstGeom>
          <a:noFill/>
          <a:ln/>
        </p:spPr>
        <p:txBody>
          <a:bodyPr wrap="square" lIns="0" tIns="0" rIns="0" bIns="0" rtlCol="0" anchor="t"/>
          <a:lstStyle/>
          <a:p>
            <a:pPr indent="0" marL="0">
              <a:buNone/>
            </a:pPr>
            <a:r>
              <a:rPr lang="en-US" sz="1400" dirty="0">
                <a:solidFill>
                  <a:schemeClr val="tx1"/>
                </a:solidFill>
              </a:rPr>
              <a:t>Shared setup for .NET services: telemetry, health checks, service discovery and retries, added with one line.</a:t>
            </a:r>
            <a:endParaRPr lang="en-US" sz="1400" dirty="0"/>
          </a:p>
        </p:txBody>
      </p:sp>
      <p:sp>
        <p:nvSpPr>
          <p:cNvPr id="28" name="Term card Dashboard"/>
          <p:cNvSpPr/>
          <p:nvPr/>
        </p:nvSpPr>
        <p:spPr>
          <a:xfrm>
            <a:off x="8046720" y="37947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9" name="Dashboard circle"/>
          <p:cNvSpPr/>
          <p:nvPr/>
        </p:nvSpPr>
        <p:spPr>
          <a:xfrm>
            <a:off x="8321040" y="4069080"/>
            <a:ext cx="640080" cy="640080"/>
          </a:xfrm>
          <a:prstGeom prst="ellipse">
            <a:avLst/>
          </a:prstGeom>
          <a:solidFill>
            <a:schemeClr val="bg2"/>
          </a:solidFill>
          <a:ln w="12700">
            <a:solidFill>
              <a:schemeClr val="bg2"/>
            </a:solidFill>
            <a:prstDash val="solid"/>
          </a:ln>
        </p:spPr>
      </p:sp>
      <p:pic>
        <p:nvPicPr>
          <p:cNvPr id="30" name="Dashboard icon" descr="preencoded.png">    </p:cNvPr>
          <p:cNvPicPr>
            <a:picLocks noChangeAspect="1"/>
          </p:cNvPicPr>
          <p:nvPr/>
        </p:nvPicPr>
        <p:blipFill>
          <a:blip r:embed="rId6"/>
          <a:stretch>
            <a:fillRect/>
          </a:stretch>
        </p:blipFill>
        <p:spPr>
          <a:xfrm>
            <a:off x="8481060" y="4229100"/>
            <a:ext cx="320040" cy="320040"/>
          </a:xfrm>
          <a:prstGeom prst="rect">
            <a:avLst/>
          </a:prstGeom>
        </p:spPr>
      </p:pic>
      <p:sp>
        <p:nvSpPr>
          <p:cNvPr id="31" name="Dashboard term"/>
          <p:cNvSpPr txBox="1"/>
          <p:nvPr/>
        </p:nvSpPr>
        <p:spPr>
          <a:xfrm>
            <a:off x="9098280" y="40690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Dashboard</a:t>
            </a:r>
            <a:endParaRPr lang="en-US" sz="2000" dirty="0"/>
          </a:p>
        </p:txBody>
      </p:sp>
      <p:sp>
        <p:nvSpPr>
          <p:cNvPr id="32" name="Dashboard definition"/>
          <p:cNvSpPr txBox="1"/>
          <p:nvPr/>
        </p:nvSpPr>
        <p:spPr>
          <a:xfrm>
            <a:off x="8321040" y="4846320"/>
            <a:ext cx="3017520" cy="1188720"/>
          </a:xfrm>
          <a:prstGeom prst="rect">
            <a:avLst/>
          </a:prstGeom>
          <a:noFill/>
          <a:ln/>
        </p:spPr>
        <p:txBody>
          <a:bodyPr wrap="square" lIns="0" tIns="0" rIns="0" bIns="0" rtlCol="0" anchor="t"/>
          <a:lstStyle/>
          <a:p>
            <a:pPr indent="0" marL="0">
              <a:buNone/>
            </a:pPr>
            <a:r>
              <a:rPr lang="en-US" sz="1400" dirty="0">
                <a:solidFill>
                  <a:schemeClr val="tx1"/>
                </a:solidFill>
              </a:rPr>
              <a:t>The web page that opens with aspire run, showing every resource, log, trace and metric in one place.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How the pieces fit together</a:t>
            </a:r>
            <a:endParaRPr lang="en-US" sz="3400" dirty="0"/>
          </a:p>
        </p:txBody>
      </p:sp>
      <p:sp>
        <p:nvSpPr>
          <p:cNvPr id="3" name="AppHost box"/>
          <p:cNvSpPr/>
          <p:nvPr/>
        </p:nvSpPr>
        <p:spPr>
          <a:xfrm>
            <a:off x="548640" y="1371600"/>
            <a:ext cx="2468880" cy="3520440"/>
          </a:xfrm>
          <a:prstGeom prst="roundRect">
            <a:avLst>
              <a:gd name="adj" fmla="val 4444"/>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4" name="AppHost text"/>
          <p:cNvSpPr txBox="1"/>
          <p:nvPr/>
        </p:nvSpPr>
        <p:spPr>
          <a:xfrm>
            <a:off x="777240" y="1463040"/>
            <a:ext cx="2057400" cy="3337560"/>
          </a:xfrm>
          <a:prstGeom prst="rect">
            <a:avLst/>
          </a:prstGeom>
          <a:noFill/>
          <a:ln/>
        </p:spPr>
        <p:txBody>
          <a:bodyPr wrap="square" lIns="0" tIns="0" rIns="0" bIns="0" rtlCol="0" anchor="ctr"/>
          <a:lstStyle/>
          <a:p>
            <a:pPr indent="0" marL="0">
              <a:buNone/>
            </a:pPr>
            <a:r>
              <a:rPr lang="en-US" sz="2200" b="1" dirty="0">
                <a:solidFill>
                  <a:schemeClr val="bg1"/>
                </a:solidFill>
              </a:rPr>
              <a:t>AppHost</a:t>
            </a:r>
            <a:endParaRPr lang="en-US" sz="2200" dirty="0"/>
          </a:p>
          <a:p>
            <a:pPr indent="0" marL="0">
              <a:buNone/>
            </a:pPr>
            <a:r>
              <a:rPr lang="en-US" sz="1200" dirty="0">
                <a:solidFill>
                  <a:srgbClr val="E4DAFF"/>
                </a:solidFill>
                <a:latin typeface="Courier New" pitchFamily="34" charset="0"/>
                <a:ea typeface="Courier New" pitchFamily="34" charset="-122"/>
                <a:cs typeface="Courier New" pitchFamily="34" charset="-120"/>
              </a:rPr>
              <a:t>AppHost.cs or apphost.mts</a:t>
            </a:r>
            <a:endParaRPr lang="en-US" sz="2200" dirty="0"/>
          </a:p>
          <a:p>
            <a:pPr indent="0" marL="0">
              <a:buNone/>
            </a:pPr>
            <a:r>
              <a:rPr lang="en-US" sz="800" dirty="0">
                <a:solidFill>
                  <a:srgbClr val="000000"/>
                </a:solidFill>
              </a:rPr>
              <a:t> </a:t>
            </a:r>
            <a:endParaRPr lang="en-US" sz="2200" dirty="0"/>
          </a:p>
          <a:p>
            <a:pPr indent="0" marL="0">
              <a:buNone/>
            </a:pPr>
            <a:r>
              <a:rPr lang="en-US" sz="1400" dirty="0">
                <a:solidFill>
                  <a:schemeClr val="bg1"/>
                </a:solidFill>
              </a:rPr>
              <a:t>Describes every resource and every connection.</a:t>
            </a:r>
            <a:endParaRPr lang="en-US" sz="2200" dirty="0"/>
          </a:p>
        </p:txBody>
      </p:sp>
      <p:sp>
        <p:nvSpPr>
          <p:cNvPr id="5" name="Running app group"/>
          <p:cNvSpPr/>
          <p:nvPr/>
        </p:nvSpPr>
        <p:spPr>
          <a:xfrm>
            <a:off x="3566160" y="1234440"/>
            <a:ext cx="8046720" cy="3794760"/>
          </a:xfrm>
          <a:prstGeom prst="roundRect">
            <a:avLst>
              <a:gd name="adj" fmla="val 2410"/>
            </a:avLst>
          </a:prstGeom>
          <a:solidFill>
            <a:schemeClr val="bg2"/>
          </a:solidFill>
          <a:ln w="15875">
            <a:solidFill>
              <a:schemeClr val="accent2"/>
            </a:solidFill>
            <a:prstDash val="dash"/>
          </a:ln>
        </p:spPr>
      </p:sp>
      <p:sp>
        <p:nvSpPr>
          <p:cNvPr id="6" name="Group label"/>
          <p:cNvSpPr txBox="1"/>
          <p:nvPr/>
        </p:nvSpPr>
        <p:spPr>
          <a:xfrm>
            <a:off x="3794760" y="1325880"/>
            <a:ext cx="3657600" cy="320040"/>
          </a:xfrm>
          <a:prstGeom prst="rect">
            <a:avLst/>
          </a:prstGeom>
          <a:noFill/>
          <a:ln/>
        </p:spPr>
        <p:txBody>
          <a:bodyPr wrap="square" lIns="0" tIns="0" rIns="0" bIns="0" rtlCol="0" anchor="ctr"/>
          <a:lstStyle/>
          <a:p>
            <a:pPr indent="0" marL="0">
              <a:buNone/>
            </a:pPr>
            <a:r>
              <a:rPr lang="en-US" sz="1300" b="1" dirty="0">
                <a:solidFill>
                  <a:schemeClr val="accent1"/>
                </a:solidFill>
              </a:rPr>
              <a:t>What aspire run starts</a:t>
            </a:r>
            <a:endParaRPr lang="en-US" sz="1300" dirty="0"/>
          </a:p>
        </p:txBody>
      </p:sp>
      <p:sp>
        <p:nvSpPr>
          <p:cNvPr id="7" name="AppHost to group arrow"/>
          <p:cNvSpPr/>
          <p:nvPr/>
        </p:nvSpPr>
        <p:spPr>
          <a:xfrm>
            <a:off x="3017520" y="3127248"/>
            <a:ext cx="548640" cy="914"/>
          </a:xfrm>
          <a:prstGeom prst="line">
            <a:avLst/>
          </a:prstGeom>
          <a:noFill/>
          <a:ln w="25400">
            <a:solidFill>
              <a:srgbClr val="6B3FE0"/>
            </a:solidFill>
            <a:prstDash val="solid"/>
            <a:tailEnd type="triangle"/>
          </a:ln>
        </p:spPr>
      </p:sp>
      <p:sp>
        <p:nvSpPr>
          <p:cNvPr id="8" name="frontend box"/>
          <p:cNvSpPr/>
          <p:nvPr/>
        </p:nvSpPr>
        <p:spPr>
          <a:xfrm>
            <a:off x="3840480" y="2697480"/>
            <a:ext cx="228600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sp>
      <p:sp>
        <p:nvSpPr>
          <p:cNvPr id="9" name="frontend text"/>
          <p:cNvSpPr txBox="1"/>
          <p:nvPr/>
        </p:nvSpPr>
        <p:spPr>
          <a:xfrm>
            <a:off x="4023360" y="2697480"/>
            <a:ext cx="192024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frontend</a:t>
            </a:r>
            <a:endParaRPr lang="en-US" sz="1600" dirty="0"/>
          </a:p>
          <a:p>
            <a:pPr indent="0" marL="0">
              <a:buNone/>
            </a:pPr>
            <a:r>
              <a:rPr lang="en-US" sz="1250" dirty="0">
                <a:solidFill>
                  <a:schemeClr val="tx1"/>
                </a:solidFill>
              </a:rPr>
              <a:t>Web front end · process</a:t>
            </a:r>
            <a:endParaRPr lang="en-US" sz="1600" dirty="0"/>
          </a:p>
        </p:txBody>
      </p:sp>
      <p:sp>
        <p:nvSpPr>
          <p:cNvPr id="10" name="catalogservice box"/>
          <p:cNvSpPr/>
          <p:nvPr/>
        </p:nvSpPr>
        <p:spPr>
          <a:xfrm>
            <a:off x="6675120" y="1783080"/>
            <a:ext cx="219456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sp>
      <p:sp>
        <p:nvSpPr>
          <p:cNvPr id="11" name="catalogservice text"/>
          <p:cNvSpPr txBox="1"/>
          <p:nvPr/>
        </p:nvSpPr>
        <p:spPr>
          <a:xfrm>
            <a:off x="6858000" y="1783080"/>
            <a:ext cx="182880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catalogservice</a:t>
            </a:r>
            <a:endParaRPr lang="en-US" sz="1600" dirty="0"/>
          </a:p>
          <a:p>
            <a:pPr indent="0" marL="0">
              <a:buNone/>
            </a:pPr>
            <a:r>
              <a:rPr lang="en-US" sz="1250" dirty="0">
                <a:solidFill>
                  <a:schemeClr val="tx1"/>
                </a:solidFill>
              </a:rPr>
              <a:t>API · process</a:t>
            </a:r>
            <a:endParaRPr lang="en-US" sz="1600" dirty="0"/>
          </a:p>
        </p:txBody>
      </p:sp>
      <p:sp>
        <p:nvSpPr>
          <p:cNvPr id="12" name="basketcache box"/>
          <p:cNvSpPr/>
          <p:nvPr/>
        </p:nvSpPr>
        <p:spPr>
          <a:xfrm>
            <a:off x="6675120" y="3703320"/>
            <a:ext cx="219456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sp>
      <p:sp>
        <p:nvSpPr>
          <p:cNvPr id="13" name="basketcache text"/>
          <p:cNvSpPr txBox="1"/>
          <p:nvPr/>
        </p:nvSpPr>
        <p:spPr>
          <a:xfrm>
            <a:off x="6858000" y="3703320"/>
            <a:ext cx="182880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basketcache</a:t>
            </a:r>
            <a:endParaRPr lang="en-US" sz="1600" dirty="0"/>
          </a:p>
          <a:p>
            <a:pPr indent="0" marL="0">
              <a:buNone/>
            </a:pPr>
            <a:r>
              <a:rPr lang="en-US" sz="1250" dirty="0">
                <a:solidFill>
                  <a:schemeClr val="tx1"/>
                </a:solidFill>
              </a:rPr>
              <a:t>Redis · container</a:t>
            </a:r>
            <a:endParaRPr lang="en-US" sz="1600" dirty="0"/>
          </a:p>
        </p:txBody>
      </p:sp>
      <p:sp>
        <p:nvSpPr>
          <p:cNvPr id="14" name="catalogdb box"/>
          <p:cNvSpPr/>
          <p:nvPr/>
        </p:nvSpPr>
        <p:spPr>
          <a:xfrm>
            <a:off x="9326880" y="1783080"/>
            <a:ext cx="210312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sp>
      <p:sp>
        <p:nvSpPr>
          <p:cNvPr id="15" name="catalogdb text"/>
          <p:cNvSpPr txBox="1"/>
          <p:nvPr/>
        </p:nvSpPr>
        <p:spPr>
          <a:xfrm>
            <a:off x="9509760" y="1783080"/>
            <a:ext cx="173736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catalogdb</a:t>
            </a:r>
            <a:endParaRPr lang="en-US" sz="1600" dirty="0"/>
          </a:p>
          <a:p>
            <a:pPr indent="0" marL="0">
              <a:buNone/>
            </a:pPr>
            <a:r>
              <a:rPr lang="en-US" sz="1250" dirty="0">
                <a:solidFill>
                  <a:schemeClr val="tx1"/>
                </a:solidFill>
              </a:rPr>
              <a:t>Postgres · container</a:t>
            </a:r>
            <a:endParaRPr lang="en-US" sz="1600" dirty="0"/>
          </a:p>
        </p:txBody>
      </p:sp>
      <p:sp>
        <p:nvSpPr>
          <p:cNvPr id="16" name="frontend to catalogservice"/>
          <p:cNvSpPr/>
          <p:nvPr/>
        </p:nvSpPr>
        <p:spPr>
          <a:xfrm flipV="1">
            <a:off x="6126480" y="2377440"/>
            <a:ext cx="548640" cy="640080"/>
          </a:xfrm>
          <a:prstGeom prst="line">
            <a:avLst/>
          </a:prstGeom>
          <a:noFill/>
          <a:ln w="25400">
            <a:solidFill>
              <a:srgbClr val="6B3FE0"/>
            </a:solidFill>
            <a:prstDash val="solid"/>
            <a:tailEnd type="triangle"/>
          </a:ln>
        </p:spPr>
      </p:sp>
      <p:sp>
        <p:nvSpPr>
          <p:cNvPr id="17" name="frontend to basketcache"/>
          <p:cNvSpPr/>
          <p:nvPr/>
        </p:nvSpPr>
        <p:spPr>
          <a:xfrm>
            <a:off x="6126480" y="3291840"/>
            <a:ext cx="548640" cy="640080"/>
          </a:xfrm>
          <a:prstGeom prst="line">
            <a:avLst/>
          </a:prstGeom>
          <a:noFill/>
          <a:ln w="25400">
            <a:solidFill>
              <a:srgbClr val="6B3FE0"/>
            </a:solidFill>
            <a:prstDash val="solid"/>
            <a:tailEnd type="triangle"/>
          </a:ln>
        </p:spPr>
      </p:sp>
      <p:sp>
        <p:nvSpPr>
          <p:cNvPr id="18" name="catalogservice to catalogdb"/>
          <p:cNvSpPr/>
          <p:nvPr/>
        </p:nvSpPr>
        <p:spPr>
          <a:xfrm>
            <a:off x="8869680" y="2240280"/>
            <a:ext cx="457200" cy="914"/>
          </a:xfrm>
          <a:prstGeom prst="line">
            <a:avLst/>
          </a:prstGeom>
          <a:noFill/>
          <a:ln w="25400">
            <a:solidFill>
              <a:srgbClr val="6B3FE0"/>
            </a:solidFill>
            <a:prstDash val="solid"/>
            <a:tailEnd type="triangle"/>
          </a:ln>
        </p:spPr>
      </p:sp>
      <p:sp>
        <p:nvSpPr>
          <p:cNvPr id="19" name="SD label"/>
          <p:cNvSpPr txBox="1"/>
          <p:nvPr/>
        </p:nvSpPr>
        <p:spPr>
          <a:xfrm>
            <a:off x="5394960" y="2103120"/>
            <a:ext cx="14630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service discovery</a:t>
            </a:r>
            <a:endParaRPr lang="en-US" sz="1100" dirty="0"/>
          </a:p>
        </p:txBody>
      </p:sp>
      <p:sp>
        <p:nvSpPr>
          <p:cNvPr id="20" name="CS label"/>
          <p:cNvSpPr txBox="1"/>
          <p:nvPr/>
        </p:nvSpPr>
        <p:spPr>
          <a:xfrm>
            <a:off x="5486400" y="4160520"/>
            <a:ext cx="1463040" cy="256032"/>
          </a:xfrm>
          <a:prstGeom prst="rect">
            <a:avLst/>
          </a:prstGeom>
          <a:noFill/>
          <a:ln/>
        </p:spPr>
        <p:txBody>
          <a:bodyPr wrap="square" lIns="0" tIns="0" rIns="0" bIns="0" rtlCol="0" anchor="ctr"/>
          <a:lstStyle/>
          <a:p>
            <a:pPr algn="ctr" indent="0" marL="0">
              <a:buNone/>
            </a:pPr>
            <a:r>
              <a:rPr lang="en-US" sz="1100" i="1" dirty="0">
                <a:solidFill>
                  <a:schemeClr val="accent6"/>
                </a:solidFill>
              </a:rPr>
              <a:t>connection string</a:t>
            </a:r>
            <a:endParaRPr lang="en-US" sz="1100" dirty="0"/>
          </a:p>
        </p:txBody>
      </p:sp>
      <p:sp>
        <p:nvSpPr>
          <p:cNvPr id="21" name="CS label 2"/>
          <p:cNvSpPr txBox="1"/>
          <p:nvPr/>
        </p:nvSpPr>
        <p:spPr>
          <a:xfrm>
            <a:off x="8778240" y="2788920"/>
            <a:ext cx="1463040" cy="256032"/>
          </a:xfrm>
          <a:prstGeom prst="rect">
            <a:avLst/>
          </a:prstGeom>
          <a:noFill/>
          <a:ln/>
        </p:spPr>
        <p:txBody>
          <a:bodyPr wrap="square" lIns="0" tIns="0" rIns="0" bIns="0" rtlCol="0" anchor="ctr"/>
          <a:lstStyle/>
          <a:p>
            <a:pPr algn="ctr" indent="0" marL="0">
              <a:buNone/>
            </a:pPr>
            <a:r>
              <a:rPr lang="en-US" sz="1100" i="1" dirty="0">
                <a:solidFill>
                  <a:schemeClr val="accent6"/>
                </a:solidFill>
              </a:rPr>
              <a:t>connection string</a:t>
            </a:r>
            <a:endParaRPr lang="en-US" sz="1100" dirty="0"/>
          </a:p>
        </p:txBody>
      </p:sp>
      <p:sp>
        <p:nvSpPr>
          <p:cNvPr id="22" name="Dashboard bar"/>
          <p:cNvSpPr/>
          <p:nvPr/>
        </p:nvSpPr>
        <p:spPr>
          <a:xfrm>
            <a:off x="3566160" y="5349240"/>
            <a:ext cx="8046720" cy="822960"/>
          </a:xfrm>
          <a:prstGeom prst="roundRect">
            <a:avLst>
              <a:gd name="adj" fmla="val 11111"/>
            </a:avLst>
          </a:prstGeom>
          <a:solidFill>
            <a:schemeClr val="tx2"/>
          </a:solidFill>
          <a:ln w="12700">
            <a:solidFill>
              <a:schemeClr val="tx2"/>
            </a:solidFill>
            <a:prstDash val="solid"/>
          </a:ln>
        </p:spPr>
      </p:sp>
      <p:pic>
        <p:nvPicPr>
          <p:cNvPr id="23" name="Dashboard icon" descr="preencoded.png">    </p:cNvPr>
          <p:cNvPicPr>
            <a:picLocks noChangeAspect="1"/>
          </p:cNvPicPr>
          <p:nvPr/>
        </p:nvPicPr>
        <p:blipFill>
          <a:blip r:embed="rId1"/>
          <a:stretch>
            <a:fillRect/>
          </a:stretch>
        </p:blipFill>
        <p:spPr>
          <a:xfrm>
            <a:off x="3794760" y="5559552"/>
            <a:ext cx="411480" cy="411480"/>
          </a:xfrm>
          <a:prstGeom prst="rect">
            <a:avLst/>
          </a:prstGeom>
        </p:spPr>
      </p:pic>
      <p:sp>
        <p:nvSpPr>
          <p:cNvPr id="24" name="Dashboard text"/>
          <p:cNvSpPr txBox="1"/>
          <p:nvPr/>
        </p:nvSpPr>
        <p:spPr>
          <a:xfrm>
            <a:off x="4343400" y="5349240"/>
            <a:ext cx="7132320" cy="822960"/>
          </a:xfrm>
          <a:prstGeom prst="rect">
            <a:avLst/>
          </a:prstGeom>
          <a:noFill/>
          <a:ln/>
        </p:spPr>
        <p:txBody>
          <a:bodyPr wrap="square" lIns="0" tIns="0" rIns="0" bIns="0" rtlCol="0" anchor="ctr"/>
          <a:lstStyle/>
          <a:p>
            <a:pPr indent="0" marL="0">
              <a:buNone/>
            </a:pPr>
            <a:r>
              <a:rPr lang="en-US" sz="1800" b="1" dirty="0">
                <a:solidFill>
                  <a:schemeClr val="bg1"/>
                </a:solidFill>
              </a:rPr>
              <a:t>Dashboard  </a:t>
            </a:r>
            <a:pPr indent="0" marL="0">
              <a:buNone/>
            </a:pPr>
            <a:r>
              <a:rPr lang="en-US" sz="1400" dirty="0">
                <a:solidFill>
                  <a:srgbClr val="D9CCFF"/>
                </a:solidFill>
              </a:rPr>
              <a:t>every resource sends logs, traces and metrics here (OpenTelemetry)</a:t>
            </a:r>
            <a:endParaRPr lang="en-US" sz="1800" dirty="0"/>
          </a:p>
        </p:txBody>
      </p:sp>
      <p:sp>
        <p:nvSpPr>
          <p:cNvPr id="25" name="Telemetry arrow"/>
          <p:cNvSpPr/>
          <p:nvPr/>
        </p:nvSpPr>
        <p:spPr>
          <a:xfrm>
            <a:off x="7589520" y="5029200"/>
            <a:ext cx="914" cy="320040"/>
          </a:xfrm>
          <a:prstGeom prst="line">
            <a:avLst/>
          </a:prstGeom>
          <a:noFill/>
          <a:ln w="25400">
            <a:solidFill>
              <a:srgbClr val="A78BFA"/>
            </a:solidFill>
            <a:prstDash val="solid"/>
            <a:tailEnd type="triangle"/>
          </a:ln>
        </p:spPr>
      </p:sp>
      <p:sp>
        <p:nvSpPr>
          <p:cNvPr id="26" name="Key panel"/>
          <p:cNvSpPr/>
          <p:nvPr/>
        </p:nvSpPr>
        <p:spPr>
          <a:xfrm>
            <a:off x="548640" y="5120640"/>
            <a:ext cx="2468880" cy="1051560"/>
          </a:xfrm>
          <a:prstGeom prst="roundRect">
            <a:avLst>
              <a:gd name="adj" fmla="val 8696"/>
            </a:avLst>
          </a:prstGeom>
          <a:solidFill>
            <a:schemeClr val="bg2"/>
          </a:solidFill>
          <a:ln w="12700">
            <a:solidFill>
              <a:schemeClr val="bg2"/>
            </a:solidFill>
            <a:prstDash val="solid"/>
          </a:ln>
        </p:spPr>
      </p:sp>
      <p:sp>
        <p:nvSpPr>
          <p:cNvPr id="27" name="Key text"/>
          <p:cNvSpPr txBox="1"/>
          <p:nvPr/>
        </p:nvSpPr>
        <p:spPr>
          <a:xfrm>
            <a:off x="731520" y="5166360"/>
            <a:ext cx="2194560" cy="960120"/>
          </a:xfrm>
          <a:prstGeom prst="rect">
            <a:avLst/>
          </a:prstGeom>
          <a:noFill/>
          <a:ln/>
        </p:spPr>
        <p:txBody>
          <a:bodyPr wrap="square" lIns="0" tIns="0" rIns="0" bIns="0" rtlCol="0" anchor="ctr"/>
          <a:lstStyle/>
          <a:p>
            <a:pPr indent="0" marL="0">
              <a:buNone/>
            </a:pPr>
            <a:r>
              <a:rPr lang="en-US" sz="1150" b="1" dirty="0">
                <a:solidFill>
                  <a:schemeClr val="tx1"/>
                </a:solidFill>
              </a:rPr>
              <a:t>Process</a:t>
            </a:r>
            <a:endParaRPr lang="en-US" sz="1150" dirty="0"/>
          </a:p>
          <a:p>
            <a:pPr indent="0" marL="0">
              <a:buNone/>
            </a:pPr>
            <a:r>
              <a:rPr lang="en-US" sz="1150" dirty="0">
                <a:solidFill>
                  <a:schemeClr val="tx1"/>
                </a:solidFill>
              </a:rPr>
              <a:t>runs your code directly</a:t>
            </a:r>
            <a:endParaRPr lang="en-US" sz="1150" dirty="0"/>
          </a:p>
          <a:p>
            <a:pPr indent="0" marL="0">
              <a:buNone/>
            </a:pPr>
            <a:r>
              <a:rPr lang="en-US" sz="1150" b="1" dirty="0">
                <a:solidFill>
                  <a:schemeClr val="tx1"/>
                </a:solidFill>
              </a:rPr>
              <a:t>Container</a:t>
            </a:r>
            <a:endParaRPr lang="en-US" sz="1150" dirty="0"/>
          </a:p>
          <a:p>
            <a:pPr indent="0" marL="0">
              <a:buNone/>
            </a:pPr>
            <a:r>
              <a:rPr lang="en-US" sz="1150" dirty="0">
                <a:solidFill>
                  <a:schemeClr val="tx1"/>
                </a:solidFill>
              </a:rPr>
              <a:t>a packaged app, like a database</a:t>
            </a:r>
            <a:endParaRPr lang="en-US" sz="11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AppHost in code (C#)</a:t>
            </a:r>
            <a:endParaRPr lang="en-US" sz="3400" dirty="0"/>
          </a:p>
        </p:txBody>
      </p:sp>
      <p:sp>
        <p:nvSpPr>
          <p:cNvPr id="3" name="AppHost CS panel"/>
          <p:cNvSpPr/>
          <p:nvPr/>
        </p:nvSpPr>
        <p:spPr>
          <a:xfrm>
            <a:off x="548640" y="1280160"/>
            <a:ext cx="6949440" cy="4892040"/>
          </a:xfrm>
          <a:prstGeom prst="roundRect">
            <a:avLst>
              <a:gd name="adj" fmla="val 1495"/>
            </a:avLst>
          </a:prstGeom>
          <a:solidFill>
            <a:srgbClr val="1C1830"/>
          </a:solidFill>
          <a:ln w="12700">
            <a:solidFill>
              <a:srgbClr val="1C1830"/>
            </a:solidFill>
            <a:prstDash val="solid"/>
          </a:ln>
        </p:spPr>
      </p:sp>
      <p:sp>
        <p:nvSpPr>
          <p:cNvPr id="4" name="AppHost CS label"/>
          <p:cNvSpPr txBox="1"/>
          <p:nvPr/>
        </p:nvSpPr>
        <p:spPr>
          <a:xfrm>
            <a:off x="777240" y="137160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AppHost CS text"/>
          <p:cNvSpPr txBox="1"/>
          <p:nvPr/>
        </p:nvSpPr>
        <p:spPr>
          <a:xfrm>
            <a:off x="777240" y="1691640"/>
            <a:ext cx="6492240" cy="4389120"/>
          </a:xfrm>
          <a:prstGeom prst="rect">
            <a:avLst/>
          </a:prstGeom>
          <a:noFill/>
          <a:ln/>
        </p:spPr>
        <p:txBody>
          <a:bodyPr wrap="square" lIns="0" tIns="0" rIns="0" bIns="0" rtlCol="0" anchor="t"/>
          <a:lstStyle/>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CreateBuilder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args</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postgres</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AddPostgres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8FE3B0"/>
                </a:solidFill>
                <a:latin typeface="Courier New" pitchFamily="34" charset="0"/>
                <a:ea typeface="Courier New" pitchFamily="34" charset="-122"/>
                <a:cs typeface="Courier New" pitchFamily="34" charset="-120"/>
              </a:rPr>
              <a:t>"postgres"</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AddDatabase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8FE3B0"/>
                </a:solidFill>
                <a:latin typeface="Courier New" pitchFamily="34" charset="0"/>
                <a:ea typeface="Courier New" pitchFamily="34" charset="-122"/>
                <a:cs typeface="Courier New" pitchFamily="34" charset="-120"/>
              </a:rPr>
              <a:t>"catalogdb"</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cache</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AddRedis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8FE3B0"/>
                </a:solidFill>
                <a:latin typeface="Courier New" pitchFamily="34" charset="0"/>
                <a:ea typeface="Courier New" pitchFamily="34" charset="-122"/>
                <a:cs typeface="Courier New" pitchFamily="34" charset="-120"/>
              </a:rPr>
              <a:t>"basketcache"</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catalog</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AddProject</a:t>
            </a:r>
            <a:pPr indent="0" marL="0">
              <a:buNone/>
            </a:pPr>
            <a:r>
              <a:rPr lang="en-US" sz="1400" dirty="0">
                <a:solidFill>
                  <a:srgbClr val="E8E6F0"/>
                </a:solidFill>
                <a:latin typeface="Courier New" pitchFamily="34" charset="0"/>
                <a:ea typeface="Courier New" pitchFamily="34" charset="-122"/>
                <a:cs typeface="Courier New" pitchFamily="34" charset="-120"/>
              </a:rPr>
              <a:t>&lt;</a:t>
            </a:r>
            <a:pPr indent="0" marL="0">
              <a:buNone/>
            </a:pPr>
            <a:r>
              <a:rPr lang="en-US" sz="1400" dirty="0">
                <a:solidFill>
                  <a:srgbClr val="E8E6F0"/>
                </a:solidFill>
                <a:latin typeface="Courier New" pitchFamily="34" charset="0"/>
                <a:ea typeface="Courier New" pitchFamily="34" charset="-122"/>
                <a:cs typeface="Courier New" pitchFamily="34" charset="-120"/>
              </a:rPr>
              <a:t>Projects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CatalogService</a:t>
            </a:r>
            <a:pPr indent="0" marL="0">
              <a:buNone/>
            </a:pPr>
            <a:r>
              <a:rPr lang="en-US" sz="1400" dirty="0">
                <a:solidFill>
                  <a:srgbClr val="E8E6F0"/>
                </a:solidFill>
                <a:latin typeface="Courier New" pitchFamily="34" charset="0"/>
                <a:ea typeface="Courier New" pitchFamily="34" charset="-122"/>
                <a:cs typeface="Courier New" pitchFamily="34" charset="-120"/>
              </a:rPr>
              <a:t>&gt;(</a:t>
            </a:r>
            <a:pPr indent="0" marL="0">
              <a:buNone/>
            </a:pPr>
            <a:r>
              <a:rPr lang="en-US" sz="1400" dirty="0">
                <a:solidFill>
                  <a:srgbClr val="8FE3B0"/>
                </a:solidFill>
                <a:latin typeface="Courier New" pitchFamily="34" charset="0"/>
                <a:ea typeface="Courier New" pitchFamily="34" charset="-122"/>
                <a:cs typeface="Courier New" pitchFamily="34" charset="-120"/>
              </a:rPr>
              <a:t>"catalogservice"</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WithReference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postgres</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AddProject</a:t>
            </a:r>
            <a:pPr indent="0" marL="0">
              <a:buNone/>
            </a:pPr>
            <a:r>
              <a:rPr lang="en-US" sz="1400" dirty="0">
                <a:solidFill>
                  <a:srgbClr val="E8E6F0"/>
                </a:solidFill>
                <a:latin typeface="Courier New" pitchFamily="34" charset="0"/>
                <a:ea typeface="Courier New" pitchFamily="34" charset="-122"/>
                <a:cs typeface="Courier New" pitchFamily="34" charset="-120"/>
              </a:rPr>
              <a:t>&lt;</a:t>
            </a:r>
            <a:pPr indent="0" marL="0">
              <a:buNone/>
            </a:pPr>
            <a:r>
              <a:rPr lang="en-US" sz="1400" dirty="0">
                <a:solidFill>
                  <a:srgbClr val="E8E6F0"/>
                </a:solidFill>
                <a:latin typeface="Courier New" pitchFamily="34" charset="0"/>
                <a:ea typeface="Courier New" pitchFamily="34" charset="-122"/>
                <a:cs typeface="Courier New" pitchFamily="34" charset="-120"/>
              </a:rPr>
              <a:t>Projects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Frontend</a:t>
            </a:r>
            <a:pPr indent="0" marL="0">
              <a:buNone/>
            </a:pPr>
            <a:r>
              <a:rPr lang="en-US" sz="1400" dirty="0">
                <a:solidFill>
                  <a:srgbClr val="E8E6F0"/>
                </a:solidFill>
                <a:latin typeface="Courier New" pitchFamily="34" charset="0"/>
                <a:ea typeface="Courier New" pitchFamily="34" charset="-122"/>
                <a:cs typeface="Courier New" pitchFamily="34" charset="-120"/>
              </a:rPr>
              <a:t>&gt;(</a:t>
            </a:r>
            <a:pPr indent="0" marL="0">
              <a:buNone/>
            </a:pPr>
            <a:r>
              <a:rPr lang="en-US" sz="1400" dirty="0">
                <a:solidFill>
                  <a:srgbClr val="8FE3B0"/>
                </a:solidFill>
                <a:latin typeface="Courier New" pitchFamily="34" charset="0"/>
                <a:ea typeface="Courier New" pitchFamily="34" charset="-122"/>
                <a:cs typeface="Courier New" pitchFamily="34" charset="-120"/>
              </a:rPr>
              <a:t>"frontend"</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WithReference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catalog</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WithReference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cache</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Build</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Run</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p:txBody>
      </p:sp>
      <p:sp>
        <p:nvSpPr>
          <p:cNvPr id="6" name="AppHost CS notes panel"/>
          <p:cNvSpPr/>
          <p:nvPr/>
        </p:nvSpPr>
        <p:spPr>
          <a:xfrm>
            <a:off x="7772400" y="1280160"/>
            <a:ext cx="3840480" cy="4892040"/>
          </a:xfrm>
          <a:prstGeom prst="roundRect">
            <a:avLst>
              <a:gd name="adj" fmla="val 2381"/>
            </a:avLst>
          </a:prstGeom>
          <a:solidFill>
            <a:schemeClr val="bg2"/>
          </a:solidFill>
          <a:ln w="12700">
            <a:solidFill>
              <a:schemeClr val="bg2"/>
            </a:solidFill>
            <a:prstDash val="solid"/>
          </a:ln>
        </p:spPr>
      </p:sp>
      <p:sp>
        <p:nvSpPr>
          <p:cNvPr id="7" name="AppHost CS notes text"/>
          <p:cNvSpPr txBox="1"/>
          <p:nvPr/>
        </p:nvSpPr>
        <p:spPr>
          <a:xfrm>
            <a:off x="8046720" y="1508760"/>
            <a:ext cx="3291840" cy="4434840"/>
          </a:xfrm>
          <a:prstGeom prst="rect">
            <a:avLst/>
          </a:prstGeom>
          <a:noFill/>
          <a:ln/>
        </p:spPr>
        <p:txBody>
          <a:bodyPr wrap="square" lIns="0" tIns="0" rIns="0" bIns="0" rtlCol="0" anchor="t"/>
          <a:lstStyle/>
          <a:p>
            <a:pPr indent="0" marL="0">
              <a:buNone/>
            </a:pPr>
            <a:r>
              <a:rPr lang="en-US" sz="1500" b="1" dirty="0">
                <a:solidFill>
                  <a:schemeClr val="tx2"/>
                </a:solidFill>
              </a:rPr>
              <a:t>AddPostgres / AddDatabase</a:t>
            </a:r>
            <a:endParaRPr lang="en-US" sz="1500" dirty="0"/>
          </a:p>
          <a:p>
            <a:pPr indent="0" marL="0">
              <a:spcAft>
                <a:spcPts val="1200"/>
              </a:spcAft>
              <a:buNone/>
            </a:pPr>
            <a:r>
              <a:rPr lang="en-US" sz="1400" dirty="0">
                <a:solidFill>
                  <a:schemeClr val="tx1"/>
                </a:solidFill>
              </a:rPr>
              <a:t>Runs a Postgres container and creates a database named catalogdb.</a:t>
            </a:r>
            <a:endParaRPr lang="en-US" sz="1500" dirty="0"/>
          </a:p>
          <a:p>
            <a:pPr indent="0" marL="0">
              <a:buNone/>
            </a:pPr>
            <a:r>
              <a:rPr lang="en-US" sz="1500" b="1" dirty="0">
                <a:solidFill>
                  <a:schemeClr val="tx2"/>
                </a:solidFill>
              </a:rPr>
              <a:t>AddRedis</a:t>
            </a:r>
            <a:endParaRPr lang="en-US" sz="1500" dirty="0"/>
          </a:p>
          <a:p>
            <a:pPr indent="0" marL="0">
              <a:spcAft>
                <a:spcPts val="1200"/>
              </a:spcAft>
              <a:buNone/>
            </a:pPr>
            <a:r>
              <a:rPr lang="en-US" sz="1400" dirty="0">
                <a:solidFill>
                  <a:schemeClr val="tx1"/>
                </a:solidFill>
              </a:rPr>
              <a:t>Runs a Redis cache container.</a:t>
            </a:r>
            <a:endParaRPr lang="en-US" sz="1500" dirty="0"/>
          </a:p>
          <a:p>
            <a:pPr indent="0" marL="0">
              <a:buNone/>
            </a:pPr>
            <a:r>
              <a:rPr lang="en-US" sz="1500" b="1" dirty="0">
                <a:solidFill>
                  <a:schemeClr val="tx2"/>
                </a:solidFill>
              </a:rPr>
              <a:t>AddProject&lt;…&gt;</a:t>
            </a:r>
            <a:endParaRPr lang="en-US" sz="1500" dirty="0"/>
          </a:p>
          <a:p>
            <a:pPr indent="0" marL="0">
              <a:spcAft>
                <a:spcPts val="1200"/>
              </a:spcAft>
              <a:buNone/>
            </a:pPr>
            <a:r>
              <a:rPr lang="en-US" sz="1400" dirty="0">
                <a:solidFill>
                  <a:schemeClr val="tx1"/>
                </a:solidFill>
              </a:rPr>
              <a:t>Runs one of your .NET projects as a service.</a:t>
            </a:r>
            <a:endParaRPr lang="en-US" sz="1500" dirty="0"/>
          </a:p>
          <a:p>
            <a:pPr indent="0" marL="0">
              <a:buNone/>
            </a:pPr>
            <a:r>
              <a:rPr lang="en-US" sz="1500" b="1" dirty="0">
                <a:solidFill>
                  <a:schemeClr val="tx2"/>
                </a:solidFill>
              </a:rPr>
              <a:t>WithReference</a:t>
            </a:r>
            <a:endParaRPr lang="en-US" sz="1500" dirty="0"/>
          </a:p>
          <a:p>
            <a:pPr indent="0" marL="0">
              <a:spcAft>
                <a:spcPts val="1200"/>
              </a:spcAft>
              <a:buNone/>
            </a:pPr>
            <a:r>
              <a:rPr lang="en-US" sz="1400" dirty="0">
                <a:solidFill>
                  <a:schemeClr val="tx1"/>
                </a:solidFill>
              </a:rPr>
              <a:t>Gives that service what it needs to reach the other resource.</a:t>
            </a:r>
            <a:endParaRPr lang="en-US" sz="1500" dirty="0"/>
          </a:p>
          <a:p>
            <a:pPr indent="0" marL="0">
              <a:buNone/>
            </a:pPr>
            <a:r>
              <a:rPr lang="en-US" sz="1500" b="1" dirty="0">
                <a:solidFill>
                  <a:schemeClr val="tx2"/>
                </a:solidFill>
              </a:rPr>
              <a:t>Build().Run()</a:t>
            </a:r>
            <a:endParaRPr lang="en-US" sz="1500" dirty="0"/>
          </a:p>
          <a:p>
            <a:pPr indent="0" marL="0">
              <a:spcAft>
                <a:spcPts val="1200"/>
              </a:spcAft>
              <a:buNone/>
            </a:pPr>
            <a:r>
              <a:rPr lang="en-US" sz="1400" dirty="0">
                <a:solidFill>
                  <a:schemeClr val="tx1"/>
                </a:solidFill>
              </a:rPr>
              <a:t>Starts everything and opens the dashboard.</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same AppHost in TypeScript</a:t>
            </a:r>
            <a:endParaRPr lang="en-US" sz="3400" dirty="0"/>
          </a:p>
        </p:txBody>
      </p:sp>
      <p:sp>
        <p:nvSpPr>
          <p:cNvPr id="3" name="AppHost TS panel"/>
          <p:cNvSpPr/>
          <p:nvPr/>
        </p:nvSpPr>
        <p:spPr>
          <a:xfrm>
            <a:off x="548640" y="1280160"/>
            <a:ext cx="6949440" cy="4892040"/>
          </a:xfrm>
          <a:prstGeom prst="roundRect">
            <a:avLst>
              <a:gd name="adj" fmla="val 1495"/>
            </a:avLst>
          </a:prstGeom>
          <a:solidFill>
            <a:srgbClr val="1C1830"/>
          </a:solidFill>
          <a:ln w="12700">
            <a:solidFill>
              <a:srgbClr val="1C1830"/>
            </a:solidFill>
            <a:prstDash val="solid"/>
          </a:ln>
        </p:spPr>
      </p:sp>
      <p:sp>
        <p:nvSpPr>
          <p:cNvPr id="4" name="AppHost TS label"/>
          <p:cNvSpPr txBox="1"/>
          <p:nvPr/>
        </p:nvSpPr>
        <p:spPr>
          <a:xfrm>
            <a:off x="777240" y="137160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TYPESCRIPT  ·  apphost.mts</a:t>
            </a:r>
            <a:endParaRPr lang="en-US" sz="1000" dirty="0"/>
          </a:p>
        </p:txBody>
      </p:sp>
      <p:sp>
        <p:nvSpPr>
          <p:cNvPr id="5" name="AppHost TS text"/>
          <p:cNvSpPr txBox="1"/>
          <p:nvPr/>
        </p:nvSpPr>
        <p:spPr>
          <a:xfrm>
            <a:off x="777240" y="1691640"/>
            <a:ext cx="6492240" cy="4389120"/>
          </a:xfrm>
          <a:prstGeom prst="rect">
            <a:avLst/>
          </a:prstGeom>
          <a:noFill/>
          <a:ln/>
        </p:spPr>
        <p:txBody>
          <a:bodyPr wrap="square" lIns="0" tIns="0" rIns="0" bIns="0" rtlCol="0" anchor="t"/>
          <a:lstStyle/>
          <a:p>
            <a:pPr indent="0" marL="0">
              <a:buNone/>
            </a:pPr>
            <a:r>
              <a:rPr lang="en-US" sz="1300" dirty="0">
                <a:solidFill>
                  <a:srgbClr val="C4A7FF"/>
                </a:solidFill>
                <a:latin typeface="Courier New" pitchFamily="34" charset="0"/>
                <a:ea typeface="Courier New" pitchFamily="34" charset="-122"/>
                <a:cs typeface="Courier New" pitchFamily="34" charset="-120"/>
              </a:rPr>
              <a:t>import</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from</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"./.aspire/modules/aspire.mjs"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addPostgres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addDatabase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"catalogdb"</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cache</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addRedis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"basketcache"</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catalog</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addNodeApp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"catalogservice"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"./catalog"</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"src/index.ts"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withReference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addViteApp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"frontend"</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"./frontend"</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withReference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catalog</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withReference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cache</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AppHost TS notes panel"/>
          <p:cNvSpPr/>
          <p:nvPr/>
        </p:nvSpPr>
        <p:spPr>
          <a:xfrm>
            <a:off x="7772400" y="1280160"/>
            <a:ext cx="3840480" cy="4892040"/>
          </a:xfrm>
          <a:prstGeom prst="roundRect">
            <a:avLst>
              <a:gd name="adj" fmla="val 2381"/>
            </a:avLst>
          </a:prstGeom>
          <a:solidFill>
            <a:schemeClr val="bg2"/>
          </a:solidFill>
          <a:ln w="12700">
            <a:solidFill>
              <a:schemeClr val="bg2"/>
            </a:solidFill>
            <a:prstDash val="solid"/>
          </a:ln>
        </p:spPr>
      </p:sp>
      <p:sp>
        <p:nvSpPr>
          <p:cNvPr id="7" name="AppHost TS notes text"/>
          <p:cNvSpPr txBox="1"/>
          <p:nvPr/>
        </p:nvSpPr>
        <p:spPr>
          <a:xfrm>
            <a:off x="8046720" y="1508760"/>
            <a:ext cx="3291840" cy="4434840"/>
          </a:xfrm>
          <a:prstGeom prst="rect">
            <a:avLst/>
          </a:prstGeom>
          <a:noFill/>
          <a:ln/>
        </p:spPr>
        <p:txBody>
          <a:bodyPr wrap="square" lIns="0" tIns="0" rIns="0" bIns="0" rtlCol="0" anchor="t"/>
          <a:lstStyle/>
          <a:p>
            <a:pPr indent="0" marL="0">
              <a:buNone/>
            </a:pPr>
            <a:r>
              <a:rPr lang="en-US" sz="1500" b="1" dirty="0">
                <a:solidFill>
                  <a:schemeClr val="tx2"/>
                </a:solidFill>
              </a:rPr>
              <a:t>Same model, different language</a:t>
            </a:r>
            <a:endParaRPr lang="en-US" sz="1500" dirty="0"/>
          </a:p>
          <a:p>
            <a:pPr indent="0" marL="0">
              <a:spcAft>
                <a:spcPts val="1200"/>
              </a:spcAft>
              <a:buNone/>
            </a:pPr>
            <a:r>
              <a:rPr lang="en-US" sz="1400" dirty="0">
                <a:solidFill>
                  <a:schemeClr val="tx1"/>
                </a:solidFill>
              </a:rPr>
              <a:t>Method names match the C# version, in camelCase.</a:t>
            </a:r>
            <a:endParaRPr lang="en-US" sz="1500" dirty="0"/>
          </a:p>
          <a:p>
            <a:pPr indent="0" marL="0">
              <a:buNone/>
            </a:pPr>
            <a:r>
              <a:rPr lang="en-US" sz="1500" b="1" dirty="0">
                <a:solidFill>
                  <a:schemeClr val="tx2"/>
                </a:solidFill>
              </a:rPr>
              <a:t>addNodeApp</a:t>
            </a:r>
            <a:endParaRPr lang="en-US" sz="1500" dirty="0"/>
          </a:p>
          <a:p>
            <a:pPr indent="0" marL="0">
              <a:spcAft>
                <a:spcPts val="1200"/>
              </a:spcAft>
              <a:buNone/>
            </a:pPr>
            <a:r>
              <a:rPr lang="en-US" sz="1400" dirty="0">
                <a:solidFill>
                  <a:schemeClr val="tx1"/>
                </a:solidFill>
              </a:rPr>
              <a:t>Runs a Node.js service from a folder and entry file.</a:t>
            </a:r>
            <a:endParaRPr lang="en-US" sz="1500" dirty="0"/>
          </a:p>
          <a:p>
            <a:pPr indent="0" marL="0">
              <a:buNone/>
            </a:pPr>
            <a:r>
              <a:rPr lang="en-US" sz="1500" b="1" dirty="0">
                <a:solidFill>
                  <a:schemeClr val="tx2"/>
                </a:solidFill>
              </a:rPr>
              <a:t>addViteApp</a:t>
            </a:r>
            <a:endParaRPr lang="en-US" sz="1500" dirty="0"/>
          </a:p>
          <a:p>
            <a:pPr indent="0" marL="0">
              <a:spcAft>
                <a:spcPts val="1200"/>
              </a:spcAft>
              <a:buNone/>
            </a:pPr>
            <a:r>
              <a:rPr lang="en-US" sz="1400" dirty="0">
                <a:solidFill>
                  <a:schemeClr val="tx1"/>
                </a:solidFill>
              </a:rPr>
              <a:t>Runs a Vite web front end, such as a React app.</a:t>
            </a:r>
            <a:endParaRPr lang="en-US" sz="1500" dirty="0"/>
          </a:p>
          <a:p>
            <a:pPr indent="0" marL="0">
              <a:buNone/>
            </a:pPr>
            <a:r>
              <a:rPr lang="en-US" sz="1500" b="1" dirty="0">
                <a:solidFill>
                  <a:schemeClr val="tx2"/>
                </a:solidFill>
              </a:rPr>
              <a:t>Mix and match</a:t>
            </a:r>
            <a:endParaRPr lang="en-US" sz="1500" dirty="0"/>
          </a:p>
          <a:p>
            <a:pPr indent="0" marL="0">
              <a:spcAft>
                <a:spcPts val="1200"/>
              </a:spcAft>
              <a:buNone/>
            </a:pPr>
            <a:r>
              <a:rPr lang="en-US" sz="1400" dirty="0">
                <a:solidFill>
                  <a:schemeClr val="tx1"/>
                </a:solidFill>
              </a:rPr>
              <a:t>The AppHost language doesn't limit what your services are written in.</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WithReference() actually does</a:t>
            </a:r>
            <a:endParaRPr lang="en-US" sz="3400" dirty="0"/>
          </a:p>
        </p:txBody>
      </p:sp>
      <p:sp>
        <p:nvSpPr>
          <p:cNvPr id="3" name="Ref intro"/>
          <p:cNvSpPr txBox="1"/>
          <p:nvPr/>
        </p:nvSpPr>
        <p:spPr>
          <a:xfrm>
            <a:off x="548640" y="1188720"/>
            <a:ext cx="11064240" cy="594360"/>
          </a:xfrm>
          <a:prstGeom prst="rect">
            <a:avLst/>
          </a:prstGeom>
          <a:noFill/>
          <a:ln/>
        </p:spPr>
        <p:txBody>
          <a:bodyPr wrap="square" lIns="0" tIns="0" rIns="0" bIns="0" rtlCol="0" anchor="ctr"/>
          <a:lstStyle/>
          <a:p>
            <a:pPr indent="0" marL="0">
              <a:buNone/>
            </a:pPr>
            <a:r>
              <a:rPr lang="en-US" sz="1600" dirty="0">
                <a:solidFill>
                  <a:schemeClr val="tx1"/>
                </a:solidFill>
              </a:rPr>
              <a:t>Aspire passes connection details to each service as environment variables (settings an app reads when it starts). No more copying them by hand.</a:t>
            </a:r>
            <a:endParaRPr lang="en-US" sz="1600" dirty="0"/>
          </a:p>
        </p:txBody>
      </p:sp>
      <p:sp>
        <p:nvSpPr>
          <p:cNvPr id="4" name="Env vars panel"/>
          <p:cNvSpPr/>
          <p:nvPr/>
        </p:nvSpPr>
        <p:spPr>
          <a:xfrm>
            <a:off x="548640" y="1965960"/>
            <a:ext cx="5943600" cy="2103120"/>
          </a:xfrm>
          <a:prstGeom prst="roundRect">
            <a:avLst>
              <a:gd name="adj" fmla="val 3478"/>
            </a:avLst>
          </a:prstGeom>
          <a:solidFill>
            <a:srgbClr val="1C1830"/>
          </a:solidFill>
          <a:ln w="12700">
            <a:solidFill>
              <a:srgbClr val="1C1830"/>
            </a:solidFill>
            <a:prstDash val="solid"/>
          </a:ln>
        </p:spPr>
      </p:sp>
      <p:sp>
        <p:nvSpPr>
          <p:cNvPr id="5" name="Env vars label"/>
          <p:cNvSpPr txBox="1"/>
          <p:nvPr/>
        </p:nvSpPr>
        <p:spPr>
          <a:xfrm>
            <a:off x="777240" y="2057400"/>
            <a:ext cx="548640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ENVIRONMENT VARIABLES SET BY ASPIRE</a:t>
            </a:r>
            <a:endParaRPr lang="en-US" sz="1000" dirty="0"/>
          </a:p>
        </p:txBody>
      </p:sp>
      <p:sp>
        <p:nvSpPr>
          <p:cNvPr id="6" name="Env vars text"/>
          <p:cNvSpPr txBox="1"/>
          <p:nvPr/>
        </p:nvSpPr>
        <p:spPr>
          <a:xfrm>
            <a:off x="777240" y="2377440"/>
            <a:ext cx="5486400" cy="1600200"/>
          </a:xfrm>
          <a:prstGeom prst="rect">
            <a:avLst/>
          </a:prstGeom>
          <a:noFill/>
          <a:ln/>
        </p:spPr>
        <p:txBody>
          <a:bodyPr wrap="square" lIns="0" tIns="0" rIns="0" bIns="0" rtlCol="0" anchor="t"/>
          <a:lstStyle/>
          <a:p>
            <a:pPr indent="0" marL="0">
              <a:buNone/>
            </a:pPr>
            <a:r>
              <a:rPr lang="en-US" sz="1100" i="1" dirty="0">
                <a:solidFill>
                  <a:srgbClr val="8B87A3"/>
                </a:solidFill>
                <a:latin typeface="Courier New" pitchFamily="34" charset="0"/>
                <a:ea typeface="Courier New" pitchFamily="34" charset="-122"/>
                <a:cs typeface="Courier New" pitchFamily="34" charset="-120"/>
              </a:rPr>
              <a:t>// catalogservice receives (example):</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ConnectionStrings__catalogdb</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Host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localhost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Port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F8C77A"/>
                </a:solidFill>
                <a:latin typeface="Courier New" pitchFamily="34" charset="0"/>
                <a:ea typeface="Courier New" pitchFamily="34" charset="-122"/>
                <a:cs typeface="Courier New" pitchFamily="34" charset="-120"/>
              </a:rPr>
              <a:t>5432</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8B87A3"/>
                </a:solidFill>
                <a:latin typeface="Courier New" pitchFamily="34" charset="0"/>
                <a:ea typeface="Courier New" pitchFamily="34" charset="-122"/>
                <a:cs typeface="Courier New" pitchFamily="34" charset="-120"/>
              </a:rPr>
              <a:t>// frontend receives (example):</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services__catalogservice__https__0</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https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localhost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F8C77A"/>
                </a:solidFill>
                <a:latin typeface="Courier New" pitchFamily="34" charset="0"/>
                <a:ea typeface="Courier New" pitchFamily="34" charset="-122"/>
                <a:cs typeface="Courier New" pitchFamily="34" charset="-120"/>
              </a:rPr>
              <a:t>7099</a:t>
            </a:r>
            <a:endParaRPr lang="en-US" sz="1100" dirty="0"/>
          </a:p>
        </p:txBody>
      </p:sp>
      <p:sp>
        <p:nvSpPr>
          <p:cNvPr id="7" name="Client code panel"/>
          <p:cNvSpPr/>
          <p:nvPr/>
        </p:nvSpPr>
        <p:spPr>
          <a:xfrm>
            <a:off x="6675120" y="1965960"/>
            <a:ext cx="4937760" cy="2103120"/>
          </a:xfrm>
          <a:prstGeom prst="roundRect">
            <a:avLst>
              <a:gd name="adj" fmla="val 3478"/>
            </a:avLst>
          </a:prstGeom>
          <a:solidFill>
            <a:srgbClr val="1C1830"/>
          </a:solidFill>
          <a:ln w="12700">
            <a:solidFill>
              <a:srgbClr val="1C1830"/>
            </a:solidFill>
            <a:prstDash val="solid"/>
          </a:ln>
        </p:spPr>
      </p:sp>
      <p:sp>
        <p:nvSpPr>
          <p:cNvPr id="8" name="Client code label"/>
          <p:cNvSpPr txBox="1"/>
          <p:nvPr/>
        </p:nvSpPr>
        <p:spPr>
          <a:xfrm>
            <a:off x="6903720" y="2057400"/>
            <a:ext cx="448056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INSIDE THE SERVICE</a:t>
            </a:r>
            <a:endParaRPr lang="en-US" sz="1000" dirty="0"/>
          </a:p>
        </p:txBody>
      </p:sp>
      <p:sp>
        <p:nvSpPr>
          <p:cNvPr id="9" name="Client code text"/>
          <p:cNvSpPr txBox="1"/>
          <p:nvPr/>
        </p:nvSpPr>
        <p:spPr>
          <a:xfrm>
            <a:off x="6903720" y="2377440"/>
            <a:ext cx="4480560" cy="1600200"/>
          </a:xfrm>
          <a:prstGeom prst="rect">
            <a:avLst/>
          </a:prstGeom>
          <a:noFill/>
          <a:ln/>
        </p:spPr>
        <p:txBody>
          <a:bodyPr wrap="square" lIns="0" tIns="0" rIns="0" bIns="0" rtlCol="0" anchor="t"/>
          <a:lstStyle/>
          <a:p>
            <a:pPr indent="0" marL="0">
              <a:buNone/>
            </a:pPr>
            <a:r>
              <a:rPr lang="en-US" sz="1100" i="1" dirty="0">
                <a:solidFill>
                  <a:srgbClr val="8B87A3"/>
                </a:solidFill>
                <a:latin typeface="Courier New" pitchFamily="34" charset="0"/>
                <a:ea typeface="Courier New" pitchFamily="34" charset="-122"/>
                <a:cs typeface="Courier New" pitchFamily="34" charset="-120"/>
              </a:rPr>
              <a:t>// CatalogService/Program.cs</a:t>
            </a:r>
            <a:endParaRPr lang="en-US" sz="1100" dirty="0"/>
          </a:p>
          <a:p>
            <a:pPr indent="0" marL="0">
              <a:buNone/>
            </a:pPr>
            <a:r>
              <a:rPr lang="en-US" sz="1100" dirty="0">
                <a:solidFill>
                  <a:srgbClr val="C4A7FF"/>
                </a:solidFill>
                <a:latin typeface="Courier New" pitchFamily="34" charset="0"/>
                <a:ea typeface="Courier New" pitchFamily="34" charset="-122"/>
                <a:cs typeface="Courier New" pitchFamily="34" charset="-120"/>
              </a:rPr>
              <a:t>var</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E8E6F0"/>
                </a:solidFill>
                <a:latin typeface="Courier New" pitchFamily="34" charset="0"/>
                <a:ea typeface="Courier New" pitchFamily="34" charset="-122"/>
                <a:cs typeface="Courier New" pitchFamily="34" charset="-120"/>
              </a:rPr>
              <a:t>WebApplication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CreateBuilder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args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AddServiceDefaults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8B87A3"/>
                </a:solidFill>
                <a:latin typeface="Courier New" pitchFamily="34" charset="0"/>
                <a:ea typeface="Courier New" pitchFamily="34" charset="-122"/>
                <a:cs typeface="Courier New" pitchFamily="34" charset="-120"/>
              </a:rPr>
              <a:t>// Reads ConnectionStrings__catalogdb for you</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AddNpgsqlDataSource</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8FE3B0"/>
                </a:solidFill>
                <a:latin typeface="Courier New" pitchFamily="34" charset="0"/>
                <a:ea typeface="Courier New" pitchFamily="34" charset="-122"/>
                <a:cs typeface="Courier New" pitchFamily="34" charset="-120"/>
              </a:rPr>
              <a:t>"catalogdb"</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p:txBody>
      </p:sp>
      <p:sp>
        <p:nvSpPr>
          <p:cNvPr id="10" name="Ref card 0"/>
          <p:cNvSpPr/>
          <p:nvPr/>
        </p:nvSpPr>
        <p:spPr>
          <a:xfrm>
            <a:off x="548640" y="4297680"/>
            <a:ext cx="3566160" cy="1874520"/>
          </a:xfrm>
          <a:prstGeom prst="roundRect">
            <a:avLst>
              <a:gd name="adj" fmla="val 4878"/>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1" name="Ref 0 circle"/>
          <p:cNvSpPr/>
          <p:nvPr/>
        </p:nvSpPr>
        <p:spPr>
          <a:xfrm>
            <a:off x="777240" y="4526280"/>
            <a:ext cx="548640" cy="548640"/>
          </a:xfrm>
          <a:prstGeom prst="ellipse">
            <a:avLst/>
          </a:prstGeom>
          <a:solidFill>
            <a:schemeClr val="bg2"/>
          </a:solidFill>
          <a:ln w="12700">
            <a:solidFill>
              <a:schemeClr val="bg2"/>
            </a:solidFill>
            <a:prstDash val="solid"/>
          </a:ln>
        </p:spPr>
      </p:sp>
      <p:pic>
        <p:nvPicPr>
          <p:cNvPr id="12" name="Ref 0 icon" descr="preencoded.png">    </p:cNvPr>
          <p:cNvPicPr>
            <a:picLocks noChangeAspect="1"/>
          </p:cNvPicPr>
          <p:nvPr/>
        </p:nvPicPr>
        <p:blipFill>
          <a:blip r:embed="rId1"/>
          <a:stretch>
            <a:fillRect/>
          </a:stretch>
        </p:blipFill>
        <p:spPr>
          <a:xfrm>
            <a:off x="914400" y="4663440"/>
            <a:ext cx="274320" cy="274320"/>
          </a:xfrm>
          <a:prstGeom prst="rect">
            <a:avLst/>
          </a:prstGeom>
        </p:spPr>
      </p:pic>
      <p:sp>
        <p:nvSpPr>
          <p:cNvPr id="13" name="Ref title 0"/>
          <p:cNvSpPr txBox="1"/>
          <p:nvPr/>
        </p:nvSpPr>
        <p:spPr>
          <a:xfrm>
            <a:off x="1463040" y="4526280"/>
            <a:ext cx="2468880" cy="548640"/>
          </a:xfrm>
          <a:prstGeom prst="rect">
            <a:avLst/>
          </a:prstGeom>
          <a:noFill/>
          <a:ln/>
        </p:spPr>
        <p:txBody>
          <a:bodyPr wrap="square" lIns="0" tIns="0" rIns="0" bIns="0" rtlCol="0" anchor="ctr"/>
          <a:lstStyle/>
          <a:p>
            <a:pPr indent="0" marL="0">
              <a:buNone/>
            </a:pPr>
            <a:r>
              <a:rPr lang="en-US" sz="1600" b="1" dirty="0">
                <a:solidFill>
                  <a:schemeClr val="tx2"/>
                </a:solidFill>
              </a:rPr>
              <a:t>Find services by name</a:t>
            </a:r>
            <a:endParaRPr lang="en-US" sz="1600" dirty="0"/>
          </a:p>
        </p:txBody>
      </p:sp>
      <p:sp>
        <p:nvSpPr>
          <p:cNvPr id="14" name="Ref body 0"/>
          <p:cNvSpPr txBox="1"/>
          <p:nvPr/>
        </p:nvSpPr>
        <p:spPr>
          <a:xfrm>
            <a:off x="777240" y="5166360"/>
            <a:ext cx="3108960" cy="914400"/>
          </a:xfrm>
          <a:prstGeom prst="rect">
            <a:avLst/>
          </a:prstGeom>
          <a:noFill/>
          <a:ln/>
        </p:spPr>
        <p:txBody>
          <a:bodyPr wrap="square" lIns="0" tIns="0" rIns="0" bIns="0" rtlCol="0" anchor="t"/>
          <a:lstStyle/>
          <a:p>
            <a:pPr indent="0" marL="0">
              <a:buNone/>
            </a:pPr>
            <a:r>
              <a:rPr lang="en-US" sz="1350" dirty="0">
                <a:solidFill>
                  <a:schemeClr val="tx1"/>
                </a:solidFill>
              </a:rPr>
              <a:t>The front end calls "catalogservice" instead of a hard-coded port. Ports can change; names don't.</a:t>
            </a:r>
            <a:endParaRPr lang="en-US" sz="1350" dirty="0"/>
          </a:p>
        </p:txBody>
      </p:sp>
      <p:sp>
        <p:nvSpPr>
          <p:cNvPr id="15" name="Ref card 1"/>
          <p:cNvSpPr/>
          <p:nvPr/>
        </p:nvSpPr>
        <p:spPr>
          <a:xfrm>
            <a:off x="4297680" y="4297680"/>
            <a:ext cx="3566160" cy="1874520"/>
          </a:xfrm>
          <a:prstGeom prst="roundRect">
            <a:avLst>
              <a:gd name="adj" fmla="val 4878"/>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6" name="Ref 1 circle"/>
          <p:cNvSpPr/>
          <p:nvPr/>
        </p:nvSpPr>
        <p:spPr>
          <a:xfrm>
            <a:off x="4526280" y="4526280"/>
            <a:ext cx="548640" cy="548640"/>
          </a:xfrm>
          <a:prstGeom prst="ellipse">
            <a:avLst/>
          </a:prstGeom>
          <a:solidFill>
            <a:schemeClr val="bg2"/>
          </a:solidFill>
          <a:ln w="12700">
            <a:solidFill>
              <a:schemeClr val="bg2"/>
            </a:solidFill>
            <a:prstDash val="solid"/>
          </a:ln>
        </p:spPr>
      </p:sp>
      <p:pic>
        <p:nvPicPr>
          <p:cNvPr id="17" name="Ref 1 icon" descr="preencoded.png">    </p:cNvPr>
          <p:cNvPicPr>
            <a:picLocks noChangeAspect="1"/>
          </p:cNvPicPr>
          <p:nvPr/>
        </p:nvPicPr>
        <p:blipFill>
          <a:blip r:embed="rId2"/>
          <a:stretch>
            <a:fillRect/>
          </a:stretch>
        </p:blipFill>
        <p:spPr>
          <a:xfrm>
            <a:off x="4663440" y="4663440"/>
            <a:ext cx="274320" cy="274320"/>
          </a:xfrm>
          <a:prstGeom prst="rect">
            <a:avLst/>
          </a:prstGeom>
        </p:spPr>
      </p:pic>
      <p:sp>
        <p:nvSpPr>
          <p:cNvPr id="18" name="Ref title 1"/>
          <p:cNvSpPr txBox="1"/>
          <p:nvPr/>
        </p:nvSpPr>
        <p:spPr>
          <a:xfrm>
            <a:off x="5212080" y="4526280"/>
            <a:ext cx="2468880" cy="548640"/>
          </a:xfrm>
          <a:prstGeom prst="rect">
            <a:avLst/>
          </a:prstGeom>
          <a:noFill/>
          <a:ln/>
        </p:spPr>
        <p:txBody>
          <a:bodyPr wrap="square" lIns="0" tIns="0" rIns="0" bIns="0" rtlCol="0" anchor="ctr"/>
          <a:lstStyle/>
          <a:p>
            <a:pPr indent="0" marL="0">
              <a:buNone/>
            </a:pPr>
            <a:r>
              <a:rPr lang="en-US" sz="1600" b="1" dirty="0">
                <a:solidFill>
                  <a:schemeClr val="tx2"/>
                </a:solidFill>
              </a:rPr>
              <a:t>Connect to databases</a:t>
            </a:r>
            <a:endParaRPr lang="en-US" sz="1600" dirty="0"/>
          </a:p>
        </p:txBody>
      </p:sp>
      <p:sp>
        <p:nvSpPr>
          <p:cNvPr id="19" name="Ref body 1"/>
          <p:cNvSpPr txBox="1"/>
          <p:nvPr/>
        </p:nvSpPr>
        <p:spPr>
          <a:xfrm>
            <a:off x="4526280" y="5166360"/>
            <a:ext cx="3108960" cy="914400"/>
          </a:xfrm>
          <a:prstGeom prst="rect">
            <a:avLst/>
          </a:prstGeom>
          <a:noFill/>
          <a:ln/>
        </p:spPr>
        <p:txBody>
          <a:bodyPr wrap="square" lIns="0" tIns="0" rIns="0" bIns="0" rtlCol="0" anchor="t"/>
          <a:lstStyle/>
          <a:p>
            <a:pPr indent="0" marL="0">
              <a:buNone/>
            </a:pPr>
            <a:r>
              <a:rPr lang="en-US" sz="1350" dirty="0">
                <a:solidFill>
                  <a:schemeClr val="tx1"/>
                </a:solidFill>
              </a:rPr>
              <a:t>Each service gets the right connection string for the database or cache it references.</a:t>
            </a:r>
            <a:endParaRPr lang="en-US" sz="1350" dirty="0"/>
          </a:p>
        </p:txBody>
      </p:sp>
      <p:sp>
        <p:nvSpPr>
          <p:cNvPr id="20" name="Ref card 2"/>
          <p:cNvSpPr/>
          <p:nvPr/>
        </p:nvSpPr>
        <p:spPr>
          <a:xfrm>
            <a:off x="8046720" y="4297680"/>
            <a:ext cx="3566160" cy="1874520"/>
          </a:xfrm>
          <a:prstGeom prst="roundRect">
            <a:avLst>
              <a:gd name="adj" fmla="val 4878"/>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1" name="Ref 2 circle"/>
          <p:cNvSpPr/>
          <p:nvPr/>
        </p:nvSpPr>
        <p:spPr>
          <a:xfrm>
            <a:off x="8275320" y="4526280"/>
            <a:ext cx="548640" cy="548640"/>
          </a:xfrm>
          <a:prstGeom prst="ellipse">
            <a:avLst/>
          </a:prstGeom>
          <a:solidFill>
            <a:schemeClr val="bg2"/>
          </a:solidFill>
          <a:ln w="12700">
            <a:solidFill>
              <a:schemeClr val="bg2"/>
            </a:solidFill>
            <a:prstDash val="solid"/>
          </a:ln>
        </p:spPr>
      </p:sp>
      <p:pic>
        <p:nvPicPr>
          <p:cNvPr id="22" name="Ref 2 icon" descr="preencoded.png">    </p:cNvPr>
          <p:cNvPicPr>
            <a:picLocks noChangeAspect="1"/>
          </p:cNvPicPr>
          <p:nvPr/>
        </p:nvPicPr>
        <p:blipFill>
          <a:blip r:embed="rId3"/>
          <a:stretch>
            <a:fillRect/>
          </a:stretch>
        </p:blipFill>
        <p:spPr>
          <a:xfrm>
            <a:off x="8412480" y="4663440"/>
            <a:ext cx="274320" cy="274320"/>
          </a:xfrm>
          <a:prstGeom prst="rect">
            <a:avLst/>
          </a:prstGeom>
        </p:spPr>
      </p:pic>
      <p:sp>
        <p:nvSpPr>
          <p:cNvPr id="23" name="Ref title 2"/>
          <p:cNvSpPr txBox="1"/>
          <p:nvPr/>
        </p:nvSpPr>
        <p:spPr>
          <a:xfrm>
            <a:off x="8961120" y="4526280"/>
            <a:ext cx="2468880" cy="548640"/>
          </a:xfrm>
          <a:prstGeom prst="rect">
            <a:avLst/>
          </a:prstGeom>
          <a:noFill/>
          <a:ln/>
        </p:spPr>
        <p:txBody>
          <a:bodyPr wrap="square" lIns="0" tIns="0" rIns="0" bIns="0" rtlCol="0" anchor="ctr"/>
          <a:lstStyle/>
          <a:p>
            <a:pPr indent="0" marL="0">
              <a:buNone/>
            </a:pPr>
            <a:r>
              <a:rPr lang="en-US" sz="1600" b="1" dirty="0">
                <a:solidFill>
                  <a:schemeClr val="tx2"/>
                </a:solidFill>
              </a:rPr>
              <a:t>Works in any language</a:t>
            </a:r>
            <a:endParaRPr lang="en-US" sz="1600" dirty="0"/>
          </a:p>
        </p:txBody>
      </p:sp>
      <p:sp>
        <p:nvSpPr>
          <p:cNvPr id="24" name="Ref body 2"/>
          <p:cNvSpPr txBox="1"/>
          <p:nvPr/>
        </p:nvSpPr>
        <p:spPr>
          <a:xfrm>
            <a:off x="8275320" y="5166360"/>
            <a:ext cx="3108960" cy="914400"/>
          </a:xfrm>
          <a:prstGeom prst="rect">
            <a:avLst/>
          </a:prstGeom>
          <a:noFill/>
          <a:ln/>
        </p:spPr>
        <p:txBody>
          <a:bodyPr wrap="square" lIns="0" tIns="0" rIns="0" bIns="0" rtlCol="0" anchor="t"/>
          <a:lstStyle/>
          <a:p>
            <a:pPr indent="0" marL="0">
              <a:buNone/>
            </a:pPr>
            <a:r>
              <a:rPr lang="en-US" sz="1350" dirty="0">
                <a:solidFill>
                  <a:schemeClr val="tx1"/>
                </a:solidFill>
              </a:rPr>
              <a:t>Environment variables can be read from Node.js, Python, Go, Java and more.</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Service defaults: telemetry with one line</a:t>
            </a:r>
            <a:endParaRPr lang="en-US" sz="3400" dirty="0"/>
          </a:p>
        </p:txBody>
      </p:sp>
      <p:sp>
        <p:nvSpPr>
          <p:cNvPr id="3" name="Service defaults panel"/>
          <p:cNvSpPr/>
          <p:nvPr/>
        </p:nvSpPr>
        <p:spPr>
          <a:xfrm>
            <a:off x="548640" y="1280160"/>
            <a:ext cx="5852160" cy="3657600"/>
          </a:xfrm>
          <a:prstGeom prst="roundRect">
            <a:avLst>
              <a:gd name="adj" fmla="val 2000"/>
            </a:avLst>
          </a:prstGeom>
          <a:solidFill>
            <a:srgbClr val="1C1830"/>
          </a:solidFill>
          <a:ln w="12700">
            <a:solidFill>
              <a:srgbClr val="1C1830"/>
            </a:solidFill>
            <a:prstDash val="solid"/>
          </a:ln>
        </p:spPr>
      </p:sp>
      <p:sp>
        <p:nvSpPr>
          <p:cNvPr id="4" name="Service defaults label"/>
          <p:cNvSpPr txBox="1"/>
          <p:nvPr/>
        </p:nvSpPr>
        <p:spPr>
          <a:xfrm>
            <a:off x="777240" y="1371600"/>
            <a:ext cx="539496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Program.cs</a:t>
            </a:r>
            <a:endParaRPr lang="en-US" sz="1000" dirty="0"/>
          </a:p>
        </p:txBody>
      </p:sp>
      <p:sp>
        <p:nvSpPr>
          <p:cNvPr id="5" name="Service defaults text"/>
          <p:cNvSpPr txBox="1"/>
          <p:nvPr/>
        </p:nvSpPr>
        <p:spPr>
          <a:xfrm>
            <a:off x="777240" y="1691640"/>
            <a:ext cx="5394960" cy="315468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 Any .NET service · Program.cs</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var</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WebApplication</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args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One line, from the ServiceDefaults project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AddServiceDefaults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var</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app</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Adds the /health and /alive endpoints</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MapDefaultEndpoints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Non-dotnet panel"/>
          <p:cNvSpPr/>
          <p:nvPr/>
        </p:nvSpPr>
        <p:spPr>
          <a:xfrm>
            <a:off x="548640" y="5120640"/>
            <a:ext cx="5852160" cy="1051560"/>
          </a:xfrm>
          <a:prstGeom prst="roundRect">
            <a:avLst>
              <a:gd name="adj" fmla="val 8696"/>
            </a:avLst>
          </a:prstGeom>
          <a:solidFill>
            <a:schemeClr val="bg2"/>
          </a:solidFill>
          <a:ln w="12700">
            <a:solidFill>
              <a:schemeClr val="bg2"/>
            </a:solidFill>
            <a:prstDash val="solid"/>
          </a:ln>
        </p:spPr>
      </p:sp>
      <p:sp>
        <p:nvSpPr>
          <p:cNvPr id="7" name="Non-dotnet text"/>
          <p:cNvSpPr txBox="1"/>
          <p:nvPr/>
        </p:nvSpPr>
        <p:spPr>
          <a:xfrm>
            <a:off x="777240" y="5166360"/>
            <a:ext cx="5440680" cy="960120"/>
          </a:xfrm>
          <a:prstGeom prst="rect">
            <a:avLst/>
          </a:prstGeom>
          <a:noFill/>
          <a:ln/>
        </p:spPr>
        <p:txBody>
          <a:bodyPr wrap="square" lIns="0" tIns="0" rIns="0" bIns="0" rtlCol="0" anchor="ctr"/>
          <a:lstStyle/>
          <a:p>
            <a:pPr indent="0" marL="0">
              <a:buNone/>
            </a:pPr>
            <a:r>
              <a:rPr lang="en-US" sz="1350" b="1" dirty="0">
                <a:solidFill>
                  <a:schemeClr val="tx2"/>
                </a:solidFill>
              </a:rPr>
              <a:t>Not using .NET?  </a:t>
            </a:r>
            <a:pPr indent="0" marL="0">
              <a:buNone/>
            </a:pPr>
            <a:r>
              <a:rPr lang="en-US" sz="1350" dirty="0">
                <a:solidFill>
                  <a:schemeClr val="tx1"/>
                </a:solidFill>
              </a:rPr>
              <a:t>Aspire tells each service where to send telemetry (OTEL_EXPORTER_OTLP_ENDPOINT), so any OpenTelemetry library can report to the dashboard.</a:t>
            </a:r>
            <a:endParaRPr lang="en-US" sz="1350" dirty="0"/>
          </a:p>
        </p:txBody>
      </p:sp>
      <p:sp>
        <p:nvSpPr>
          <p:cNvPr id="8" name="OpenTelemetry circle"/>
          <p:cNvSpPr/>
          <p:nvPr/>
        </p:nvSpPr>
        <p:spPr>
          <a:xfrm>
            <a:off x="6720840" y="1325880"/>
            <a:ext cx="731520" cy="731520"/>
          </a:xfrm>
          <a:prstGeom prst="ellipse">
            <a:avLst/>
          </a:prstGeom>
          <a:solidFill>
            <a:schemeClr val="bg2"/>
          </a:solidFill>
          <a:ln w="12700">
            <a:solidFill>
              <a:schemeClr val="bg2"/>
            </a:solidFill>
            <a:prstDash val="solid"/>
          </a:ln>
        </p:spPr>
      </p:sp>
      <p:pic>
        <p:nvPicPr>
          <p:cNvPr id="9" name="OpenTelemetry icon" descr="preencoded.png">    </p:cNvPr>
          <p:cNvPicPr>
            <a:picLocks noChangeAspect="1"/>
          </p:cNvPicPr>
          <p:nvPr/>
        </p:nvPicPr>
        <p:blipFill>
          <a:blip r:embed="rId1"/>
          <a:stretch>
            <a:fillRect/>
          </a:stretch>
        </p:blipFill>
        <p:spPr>
          <a:xfrm>
            <a:off x="6903720" y="1508760"/>
            <a:ext cx="365760" cy="365760"/>
          </a:xfrm>
          <a:prstGeom prst="rect">
            <a:avLst/>
          </a:prstGeom>
        </p:spPr>
      </p:pic>
      <p:sp>
        <p:nvSpPr>
          <p:cNvPr id="10" name="OpenTelemetry title"/>
          <p:cNvSpPr txBox="1"/>
          <p:nvPr/>
        </p:nvSpPr>
        <p:spPr>
          <a:xfrm>
            <a:off x="7635240" y="1307592"/>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OpenTelemetry</a:t>
            </a:r>
            <a:endParaRPr lang="en-US" sz="1700" dirty="0"/>
          </a:p>
        </p:txBody>
      </p:sp>
      <p:sp>
        <p:nvSpPr>
          <p:cNvPr id="11" name="OpenTelemetry body"/>
          <p:cNvSpPr txBox="1"/>
          <p:nvPr/>
        </p:nvSpPr>
        <p:spPr>
          <a:xfrm>
            <a:off x="7635240" y="1691640"/>
            <a:ext cx="3977640" cy="640080"/>
          </a:xfrm>
          <a:prstGeom prst="rect">
            <a:avLst/>
          </a:prstGeom>
          <a:noFill/>
          <a:ln/>
        </p:spPr>
        <p:txBody>
          <a:bodyPr wrap="square" lIns="0" tIns="0" rIns="0" bIns="0" rtlCol="0" anchor="t"/>
          <a:lstStyle/>
          <a:p>
            <a:pPr indent="0" marL="0">
              <a:buNone/>
            </a:pPr>
            <a:r>
              <a:rPr lang="en-US" sz="1400" dirty="0">
                <a:solidFill>
                  <a:schemeClr val="tx1"/>
                </a:solidFill>
              </a:rPr>
              <a:t>Sends logs, traces and metrics to the dashboard</a:t>
            </a:r>
            <a:endParaRPr lang="en-US" sz="1400" dirty="0"/>
          </a:p>
        </p:txBody>
      </p:sp>
      <p:sp>
        <p:nvSpPr>
          <p:cNvPr id="12" name="Health checks circle"/>
          <p:cNvSpPr/>
          <p:nvPr/>
        </p:nvSpPr>
        <p:spPr>
          <a:xfrm>
            <a:off x="6720840" y="2542032"/>
            <a:ext cx="731520" cy="731520"/>
          </a:xfrm>
          <a:prstGeom prst="ellipse">
            <a:avLst/>
          </a:prstGeom>
          <a:solidFill>
            <a:schemeClr val="bg2"/>
          </a:solidFill>
          <a:ln w="12700">
            <a:solidFill>
              <a:schemeClr val="bg2"/>
            </a:solidFill>
            <a:prstDash val="solid"/>
          </a:ln>
        </p:spPr>
      </p:sp>
      <p:pic>
        <p:nvPicPr>
          <p:cNvPr id="13" name="Health checks icon" descr="preencoded.png">    </p:cNvPr>
          <p:cNvPicPr>
            <a:picLocks noChangeAspect="1"/>
          </p:cNvPicPr>
          <p:nvPr/>
        </p:nvPicPr>
        <p:blipFill>
          <a:blip r:embed="rId2"/>
          <a:stretch>
            <a:fillRect/>
          </a:stretch>
        </p:blipFill>
        <p:spPr>
          <a:xfrm>
            <a:off x="6903720" y="2724912"/>
            <a:ext cx="365760" cy="365760"/>
          </a:xfrm>
          <a:prstGeom prst="rect">
            <a:avLst/>
          </a:prstGeom>
        </p:spPr>
      </p:pic>
      <p:sp>
        <p:nvSpPr>
          <p:cNvPr id="14" name="Health checks title"/>
          <p:cNvSpPr txBox="1"/>
          <p:nvPr/>
        </p:nvSpPr>
        <p:spPr>
          <a:xfrm>
            <a:off x="7635240" y="2523744"/>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Health checks</a:t>
            </a:r>
            <a:endParaRPr lang="en-US" sz="1700" dirty="0"/>
          </a:p>
        </p:txBody>
      </p:sp>
      <p:sp>
        <p:nvSpPr>
          <p:cNvPr id="15" name="Health checks body"/>
          <p:cNvSpPr txBox="1"/>
          <p:nvPr/>
        </p:nvSpPr>
        <p:spPr>
          <a:xfrm>
            <a:off x="7635240" y="2907792"/>
            <a:ext cx="3977640" cy="640080"/>
          </a:xfrm>
          <a:prstGeom prst="rect">
            <a:avLst/>
          </a:prstGeom>
          <a:noFill/>
          <a:ln/>
        </p:spPr>
        <p:txBody>
          <a:bodyPr wrap="square" lIns="0" tIns="0" rIns="0" bIns="0" rtlCol="0" anchor="t"/>
          <a:lstStyle/>
          <a:p>
            <a:pPr indent="0" marL="0">
              <a:buNone/>
            </a:pPr>
            <a:r>
              <a:rPr lang="en-US" sz="1400" dirty="0">
                <a:solidFill>
                  <a:schemeClr val="tx1"/>
                </a:solidFill>
              </a:rPr>
              <a:t>Endpoints that report if the service is alive and ready</a:t>
            </a:r>
            <a:endParaRPr lang="en-US" sz="1400" dirty="0"/>
          </a:p>
        </p:txBody>
      </p:sp>
      <p:sp>
        <p:nvSpPr>
          <p:cNvPr id="16" name="Service discovery circle"/>
          <p:cNvSpPr/>
          <p:nvPr/>
        </p:nvSpPr>
        <p:spPr>
          <a:xfrm>
            <a:off x="6720840" y="3758184"/>
            <a:ext cx="731520" cy="731520"/>
          </a:xfrm>
          <a:prstGeom prst="ellipse">
            <a:avLst/>
          </a:prstGeom>
          <a:solidFill>
            <a:schemeClr val="bg2"/>
          </a:solidFill>
          <a:ln w="12700">
            <a:solidFill>
              <a:schemeClr val="bg2"/>
            </a:solidFill>
            <a:prstDash val="solid"/>
          </a:ln>
        </p:spPr>
      </p:sp>
      <p:pic>
        <p:nvPicPr>
          <p:cNvPr id="17" name="Service discovery icon" descr="preencoded.png">    </p:cNvPr>
          <p:cNvPicPr>
            <a:picLocks noChangeAspect="1"/>
          </p:cNvPicPr>
          <p:nvPr/>
        </p:nvPicPr>
        <p:blipFill>
          <a:blip r:embed="rId3"/>
          <a:stretch>
            <a:fillRect/>
          </a:stretch>
        </p:blipFill>
        <p:spPr>
          <a:xfrm>
            <a:off x="6903720" y="3941064"/>
            <a:ext cx="365760" cy="365760"/>
          </a:xfrm>
          <a:prstGeom prst="rect">
            <a:avLst/>
          </a:prstGeom>
        </p:spPr>
      </p:pic>
      <p:sp>
        <p:nvSpPr>
          <p:cNvPr id="18" name="Service discovery title"/>
          <p:cNvSpPr txBox="1"/>
          <p:nvPr/>
        </p:nvSpPr>
        <p:spPr>
          <a:xfrm>
            <a:off x="7635240" y="3739896"/>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Service discovery</a:t>
            </a:r>
            <a:endParaRPr lang="en-US" sz="1700" dirty="0"/>
          </a:p>
        </p:txBody>
      </p:sp>
      <p:sp>
        <p:nvSpPr>
          <p:cNvPr id="19" name="Service discovery body"/>
          <p:cNvSpPr txBox="1"/>
          <p:nvPr/>
        </p:nvSpPr>
        <p:spPr>
          <a:xfrm>
            <a:off x="7635240" y="4123944"/>
            <a:ext cx="3977640" cy="640080"/>
          </a:xfrm>
          <a:prstGeom prst="rect">
            <a:avLst/>
          </a:prstGeom>
          <a:noFill/>
          <a:ln/>
        </p:spPr>
        <p:txBody>
          <a:bodyPr wrap="square" lIns="0" tIns="0" rIns="0" bIns="0" rtlCol="0" anchor="t"/>
          <a:lstStyle/>
          <a:p>
            <a:pPr indent="0" marL="0">
              <a:buNone/>
            </a:pPr>
            <a:r>
              <a:rPr lang="en-US" sz="1400" dirty="0">
                <a:solidFill>
                  <a:schemeClr val="tx1"/>
                </a:solidFill>
              </a:rPr>
              <a:t>Lets the service call others by name</a:t>
            </a:r>
            <a:endParaRPr lang="en-US" sz="1400" dirty="0"/>
          </a:p>
        </p:txBody>
      </p:sp>
      <p:sp>
        <p:nvSpPr>
          <p:cNvPr id="20" name="Resilience circle"/>
          <p:cNvSpPr/>
          <p:nvPr/>
        </p:nvSpPr>
        <p:spPr>
          <a:xfrm>
            <a:off x="6720840" y="4974336"/>
            <a:ext cx="731520" cy="731520"/>
          </a:xfrm>
          <a:prstGeom prst="ellipse">
            <a:avLst/>
          </a:prstGeom>
          <a:solidFill>
            <a:schemeClr val="bg2"/>
          </a:solidFill>
          <a:ln w="12700">
            <a:solidFill>
              <a:schemeClr val="bg2"/>
            </a:solidFill>
            <a:prstDash val="solid"/>
          </a:ln>
        </p:spPr>
      </p:sp>
      <p:pic>
        <p:nvPicPr>
          <p:cNvPr id="21" name="Resilience icon" descr="preencoded.png">    </p:cNvPr>
          <p:cNvPicPr>
            <a:picLocks noChangeAspect="1"/>
          </p:cNvPicPr>
          <p:nvPr/>
        </p:nvPicPr>
        <p:blipFill>
          <a:blip r:embed="rId4"/>
          <a:stretch>
            <a:fillRect/>
          </a:stretch>
        </p:blipFill>
        <p:spPr>
          <a:xfrm>
            <a:off x="6903720" y="5157216"/>
            <a:ext cx="365760" cy="365760"/>
          </a:xfrm>
          <a:prstGeom prst="rect">
            <a:avLst/>
          </a:prstGeom>
        </p:spPr>
      </p:pic>
      <p:sp>
        <p:nvSpPr>
          <p:cNvPr id="22" name="Resilience title"/>
          <p:cNvSpPr txBox="1"/>
          <p:nvPr/>
        </p:nvSpPr>
        <p:spPr>
          <a:xfrm>
            <a:off x="7635240" y="4956048"/>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Resilience</a:t>
            </a:r>
            <a:endParaRPr lang="en-US" sz="1700" dirty="0"/>
          </a:p>
        </p:txBody>
      </p:sp>
      <p:sp>
        <p:nvSpPr>
          <p:cNvPr id="23" name="Resilience body"/>
          <p:cNvSpPr txBox="1"/>
          <p:nvPr/>
        </p:nvSpPr>
        <p:spPr>
          <a:xfrm>
            <a:off x="7635240" y="5340096"/>
            <a:ext cx="3977640" cy="640080"/>
          </a:xfrm>
          <a:prstGeom prst="rect">
            <a:avLst/>
          </a:prstGeom>
          <a:noFill/>
          <a:ln/>
        </p:spPr>
        <p:txBody>
          <a:bodyPr wrap="square" lIns="0" tIns="0" rIns="0" bIns="0" rtlCol="0" anchor="t"/>
          <a:lstStyle/>
          <a:p>
            <a:pPr indent="0" marL="0">
              <a:buNone/>
            </a:pPr>
            <a:r>
              <a:rPr lang="en-US" sz="1400" dirty="0">
                <a:solidFill>
                  <a:schemeClr val="tx1"/>
                </a:solidFill>
              </a:rPr>
              <a:t>Automatic retries and timeouts for HTTP calls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Getting started in three commands</a:t>
            </a:r>
            <a:endParaRPr lang="en-US" sz="3400" dirty="0"/>
          </a:p>
        </p:txBody>
      </p:sp>
      <p:sp>
        <p:nvSpPr>
          <p:cNvPr id="3" name="Getting started panel"/>
          <p:cNvSpPr/>
          <p:nvPr/>
        </p:nvSpPr>
        <p:spPr>
          <a:xfrm>
            <a:off x="548640" y="1280160"/>
            <a:ext cx="6583680" cy="4023360"/>
          </a:xfrm>
          <a:prstGeom prst="roundRect">
            <a:avLst>
              <a:gd name="adj" fmla="val 1818"/>
            </a:avLst>
          </a:prstGeom>
          <a:solidFill>
            <a:srgbClr val="1C1830"/>
          </a:solidFill>
          <a:ln w="12700">
            <a:solidFill>
              <a:srgbClr val="1C1830"/>
            </a:solidFill>
            <a:prstDash val="solid"/>
          </a:ln>
        </p:spPr>
      </p:sp>
      <p:sp>
        <p:nvSpPr>
          <p:cNvPr id="4" name="Getting started label"/>
          <p:cNvSpPr txBox="1"/>
          <p:nvPr/>
        </p:nvSpPr>
        <p:spPr>
          <a:xfrm>
            <a:off x="777240" y="1371600"/>
            <a:ext cx="612648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TERMINAL</a:t>
            </a:r>
            <a:endParaRPr lang="en-US" sz="1000" dirty="0"/>
          </a:p>
        </p:txBody>
      </p:sp>
      <p:sp>
        <p:nvSpPr>
          <p:cNvPr id="5" name="Getting started text"/>
          <p:cNvSpPr txBox="1"/>
          <p:nvPr/>
        </p:nvSpPr>
        <p:spPr>
          <a:xfrm>
            <a:off x="777240" y="1691640"/>
            <a:ext cx="6126480" cy="352044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 1. Install the Aspire CLI</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macOS / Linux:</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curl</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sSL</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https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dev</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install</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sh</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bash</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Windows (PowerShell):</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irm</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https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dev</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install</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ps1</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iex</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2. Create a new app from a template</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C4A7FF"/>
                </a:solidFill>
                <a:latin typeface="Courier New" pitchFamily="34" charset="0"/>
                <a:ea typeface="Courier New" pitchFamily="34" charset="-122"/>
                <a:cs typeface="Courier New" pitchFamily="34" charset="-120"/>
              </a:rPr>
              <a:t>new</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3. Run it: starts everything + the dashboard</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run</a:t>
            </a:r>
            <a:endParaRPr lang="en-US" sz="1300" dirty="0"/>
          </a:p>
        </p:txBody>
      </p:sp>
      <p:sp>
        <p:nvSpPr>
          <p:cNvPr id="6" name="Run output panel"/>
          <p:cNvSpPr/>
          <p:nvPr/>
        </p:nvSpPr>
        <p:spPr>
          <a:xfrm>
            <a:off x="7360920" y="1280160"/>
            <a:ext cx="4251960" cy="2011680"/>
          </a:xfrm>
          <a:prstGeom prst="roundRect">
            <a:avLst>
              <a:gd name="adj" fmla="val 3636"/>
            </a:avLst>
          </a:prstGeom>
          <a:solidFill>
            <a:srgbClr val="1C1830"/>
          </a:solidFill>
          <a:ln w="12700">
            <a:solidFill>
              <a:srgbClr val="1C1830"/>
            </a:solidFill>
            <a:prstDash val="solid"/>
          </a:ln>
        </p:spPr>
      </p:sp>
      <p:sp>
        <p:nvSpPr>
          <p:cNvPr id="7" name="Run output label"/>
          <p:cNvSpPr txBox="1"/>
          <p:nvPr/>
        </p:nvSpPr>
        <p:spPr>
          <a:xfrm>
            <a:off x="7589520" y="1371600"/>
            <a:ext cx="379476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WHAT YOU SEE (SHORTENED)</a:t>
            </a:r>
            <a:endParaRPr lang="en-US" sz="1000" dirty="0"/>
          </a:p>
        </p:txBody>
      </p:sp>
      <p:sp>
        <p:nvSpPr>
          <p:cNvPr id="8" name="Run output text"/>
          <p:cNvSpPr txBox="1"/>
          <p:nvPr/>
        </p:nvSpPr>
        <p:spPr>
          <a:xfrm>
            <a:off x="7589520" y="1691640"/>
            <a:ext cx="3794760" cy="1508760"/>
          </a:xfrm>
          <a:prstGeom prst="rect">
            <a:avLst/>
          </a:prstGeom>
          <a:noFill/>
          <a:ln/>
        </p:spPr>
        <p:txBody>
          <a:bodyPr wrap="square" lIns="0" tIns="0" rIns="0" bIns="0" rtlCol="0" anchor="t"/>
          <a:lstStyle/>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aspire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run</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AppHost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apphost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mts</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Dashboard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https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localhost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F8C77A"/>
                </a:solidFill>
                <a:latin typeface="Courier New" pitchFamily="34" charset="0"/>
                <a:ea typeface="Courier New" pitchFamily="34" charset="-122"/>
                <a:cs typeface="Courier New" pitchFamily="34" charset="-120"/>
              </a:rPr>
              <a:t>17178</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login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t</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Press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CTRL</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to</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stop</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the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AppHost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and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exit</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p:txBody>
      </p:sp>
      <p:sp>
        <p:nvSpPr>
          <p:cNvPr id="9" name="Start notes panel"/>
          <p:cNvSpPr/>
          <p:nvPr/>
        </p:nvSpPr>
        <p:spPr>
          <a:xfrm>
            <a:off x="7360920" y="3474720"/>
            <a:ext cx="4251960" cy="2697480"/>
          </a:xfrm>
          <a:prstGeom prst="roundRect">
            <a:avLst>
              <a:gd name="adj" fmla="val 3390"/>
            </a:avLst>
          </a:prstGeom>
          <a:solidFill>
            <a:schemeClr val="bg2"/>
          </a:solidFill>
          <a:ln w="12700">
            <a:solidFill>
              <a:schemeClr val="bg2"/>
            </a:solidFill>
            <a:prstDash val="solid"/>
          </a:ln>
        </p:spPr>
      </p:sp>
      <p:sp>
        <p:nvSpPr>
          <p:cNvPr id="10" name="Start notes text"/>
          <p:cNvSpPr txBox="1"/>
          <p:nvPr/>
        </p:nvSpPr>
        <p:spPr>
          <a:xfrm>
            <a:off x="7635240" y="3703320"/>
            <a:ext cx="3703320" cy="2240280"/>
          </a:xfrm>
          <a:prstGeom prst="rect">
            <a:avLst/>
          </a:prstGeom>
          <a:noFill/>
          <a:ln/>
        </p:spPr>
        <p:txBody>
          <a:bodyPr wrap="square" lIns="0" tIns="0" rIns="0" bIns="0" rtlCol="0" anchor="t"/>
          <a:lstStyle/>
          <a:p>
            <a:pPr indent="0" marL="0">
              <a:buNone/>
            </a:pPr>
            <a:r>
              <a:rPr lang="en-US" sz="1500" b="1" dirty="0">
                <a:solidFill>
                  <a:schemeClr val="tx2"/>
                </a:solidFill>
              </a:rPr>
              <a:t>You'll need</a:t>
            </a:r>
            <a:endParaRPr lang="en-US" sz="1500" dirty="0"/>
          </a:p>
          <a:p>
            <a:pPr indent="0" marL="0">
              <a:spcAft>
                <a:spcPts val="1200"/>
              </a:spcAft>
              <a:buNone/>
            </a:pPr>
            <a:r>
              <a:rPr lang="en-US" sz="1400" dirty="0">
                <a:solidFill>
                  <a:schemeClr val="tx1"/>
                </a:solidFill>
              </a:rPr>
              <a:t>A container runtime such as Docker Desktop or Podman to run databases and caches.</a:t>
            </a:r>
            <a:endParaRPr lang="en-US" sz="1500" dirty="0"/>
          </a:p>
          <a:p>
            <a:pPr indent="0" marL="0">
              <a:buNone/>
            </a:pPr>
            <a:r>
              <a:rPr lang="en-US" sz="1500" b="1" dirty="0">
                <a:solidFill>
                  <a:schemeClr val="tx2"/>
                </a:solidFill>
              </a:rPr>
              <a:t>Open the dashboard</a:t>
            </a:r>
            <a:endParaRPr lang="en-US" sz="1500" dirty="0"/>
          </a:p>
          <a:p>
            <a:pPr indent="0" marL="0">
              <a:spcAft>
                <a:spcPts val="1200"/>
              </a:spcAft>
              <a:buNone/>
            </a:pPr>
            <a:r>
              <a:rPr lang="en-US" sz="1400" dirty="0">
                <a:solidFill>
                  <a:schemeClr val="tx1"/>
                </a:solidFill>
              </a:rPr>
              <a:t>Click the Dashboard link. The ?t= login token signs you in.</a:t>
            </a:r>
            <a:endParaRPr lang="en-US" sz="1500" dirty="0"/>
          </a:p>
        </p:txBody>
      </p:sp>
      <p:sp>
        <p:nvSpPr>
          <p:cNvPr id="11" name="Version panel"/>
          <p:cNvSpPr/>
          <p:nvPr/>
        </p:nvSpPr>
        <p:spPr>
          <a:xfrm>
            <a:off x="548640" y="5486400"/>
            <a:ext cx="6583680" cy="685800"/>
          </a:xfrm>
          <a:prstGeom prst="roundRect">
            <a:avLst>
              <a:gd name="adj" fmla="val 13333"/>
            </a:avLst>
          </a:prstGeom>
          <a:solidFill>
            <a:schemeClr val="bg2"/>
          </a:solidFill>
          <a:ln w="12700">
            <a:solidFill>
              <a:schemeClr val="bg2"/>
            </a:solidFill>
            <a:prstDash val="solid"/>
          </a:ln>
        </p:spPr>
      </p:sp>
      <p:sp>
        <p:nvSpPr>
          <p:cNvPr id="12" name="Version text"/>
          <p:cNvSpPr txBox="1"/>
          <p:nvPr/>
        </p:nvSpPr>
        <p:spPr>
          <a:xfrm>
            <a:off x="777240" y="5486400"/>
            <a:ext cx="6217920" cy="685800"/>
          </a:xfrm>
          <a:prstGeom prst="rect">
            <a:avLst/>
          </a:prstGeom>
          <a:noFill/>
          <a:ln/>
        </p:spPr>
        <p:txBody>
          <a:bodyPr wrap="square" lIns="0" tIns="0" rIns="0" bIns="0" rtlCol="0" anchor="ctr"/>
          <a:lstStyle/>
          <a:p>
            <a:pPr indent="0" marL="0">
              <a:buNone/>
            </a:pPr>
            <a:r>
              <a:rPr lang="en-US" sz="1400" b="1" dirty="0">
                <a:solidFill>
                  <a:schemeClr val="tx2"/>
                </a:solidFill>
              </a:rPr>
              <a:t>Today the installer gives you Aspire 13.6.0  </a:t>
            </a:r>
            <a:pPr indent="0" marL="0">
              <a:buNone/>
            </a:pPr>
            <a:r>
              <a:rPr lang="en-US" sz="1400" dirty="0">
                <a:solidFill>
                  <a:schemeClr val="tx1"/>
                </a:solidFill>
              </a:rPr>
              <a:t>(released Sept 29, 2026)</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2</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The dashboard</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Your window into everything the AppHost runs</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the Aspire dashboard shows you</a:t>
            </a:r>
            <a:endParaRPr lang="en-US" sz="3400" dirty="0"/>
          </a:p>
        </p:txBody>
      </p:sp>
      <p:sp>
        <p:nvSpPr>
          <p:cNvPr id="3" name="Intro text"/>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600" dirty="0">
                <a:solidFill>
                  <a:schemeClr val="tx1"/>
                </a:solidFill>
              </a:rPr>
              <a:t>A browser-based app for viewing run-time information about your distributed app. It opens automatically when you start the AppHost with aspire run.</a:t>
            </a:r>
            <a:endParaRPr lang="en-US" sz="1600" dirty="0"/>
          </a:p>
        </p:txBody>
      </p:sp>
      <p:sp>
        <p:nvSpPr>
          <p:cNvPr id="4" name="Feature card Resources"/>
          <p:cNvSpPr/>
          <p:nvPr/>
        </p:nvSpPr>
        <p:spPr>
          <a:xfrm>
            <a:off x="548640"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5" name="Resources circle"/>
          <p:cNvSpPr/>
          <p:nvPr/>
        </p:nvSpPr>
        <p:spPr>
          <a:xfrm>
            <a:off x="777240" y="2377440"/>
            <a:ext cx="685800" cy="685800"/>
          </a:xfrm>
          <a:prstGeom prst="ellipse">
            <a:avLst/>
          </a:prstGeom>
          <a:solidFill>
            <a:schemeClr val="bg2"/>
          </a:solidFill>
          <a:ln w="12700">
            <a:solidFill>
              <a:schemeClr val="bg2"/>
            </a:solidFill>
            <a:prstDash val="solid"/>
          </a:ln>
        </p:spPr>
      </p:sp>
      <p:pic>
        <p:nvPicPr>
          <p:cNvPr id="6" name="Resources icon" descr="preencoded.png">    </p:cNvPr>
          <p:cNvPicPr>
            <a:picLocks noChangeAspect="1"/>
          </p:cNvPicPr>
          <p:nvPr/>
        </p:nvPicPr>
        <p:blipFill>
          <a:blip r:embed="rId1"/>
          <a:stretch>
            <a:fillRect/>
          </a:stretch>
        </p:blipFill>
        <p:spPr>
          <a:xfrm>
            <a:off x="948690" y="2548890"/>
            <a:ext cx="342900" cy="342900"/>
          </a:xfrm>
          <a:prstGeom prst="rect">
            <a:avLst/>
          </a:prstGeom>
        </p:spPr>
      </p:pic>
      <p:sp>
        <p:nvSpPr>
          <p:cNvPr id="7" name="Resources title"/>
          <p:cNvSpPr txBox="1"/>
          <p:nvPr/>
        </p:nvSpPr>
        <p:spPr>
          <a:xfrm>
            <a:off x="777240"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Resources</a:t>
            </a:r>
            <a:endParaRPr lang="en-US" sz="1700" dirty="0"/>
          </a:p>
        </p:txBody>
      </p:sp>
      <p:sp>
        <p:nvSpPr>
          <p:cNvPr id="8" name="Resources body"/>
          <p:cNvSpPr txBox="1"/>
          <p:nvPr/>
        </p:nvSpPr>
        <p:spPr>
          <a:xfrm>
            <a:off x="777240"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Projects, executables and containers, with state and endpoints</a:t>
            </a:r>
            <a:endParaRPr lang="en-US" sz="1400" dirty="0"/>
          </a:p>
        </p:txBody>
      </p:sp>
      <p:sp>
        <p:nvSpPr>
          <p:cNvPr id="9" name="Feature card Console logs"/>
          <p:cNvSpPr/>
          <p:nvPr/>
        </p:nvSpPr>
        <p:spPr>
          <a:xfrm>
            <a:off x="2798064"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0" name="Console logs circle"/>
          <p:cNvSpPr/>
          <p:nvPr/>
        </p:nvSpPr>
        <p:spPr>
          <a:xfrm>
            <a:off x="3026664" y="2377440"/>
            <a:ext cx="685800" cy="685800"/>
          </a:xfrm>
          <a:prstGeom prst="ellipse">
            <a:avLst/>
          </a:prstGeom>
          <a:solidFill>
            <a:schemeClr val="bg2"/>
          </a:solidFill>
          <a:ln w="12700">
            <a:solidFill>
              <a:schemeClr val="bg2"/>
            </a:solidFill>
            <a:prstDash val="solid"/>
          </a:ln>
        </p:spPr>
      </p:sp>
      <p:pic>
        <p:nvPicPr>
          <p:cNvPr id="11" name="Console logs icon" descr="preencoded.png">    </p:cNvPr>
          <p:cNvPicPr>
            <a:picLocks noChangeAspect="1"/>
          </p:cNvPicPr>
          <p:nvPr/>
        </p:nvPicPr>
        <p:blipFill>
          <a:blip r:embed="rId2"/>
          <a:stretch>
            <a:fillRect/>
          </a:stretch>
        </p:blipFill>
        <p:spPr>
          <a:xfrm>
            <a:off x="3198114" y="2548890"/>
            <a:ext cx="342900" cy="342900"/>
          </a:xfrm>
          <a:prstGeom prst="rect">
            <a:avLst/>
          </a:prstGeom>
        </p:spPr>
      </p:pic>
      <p:sp>
        <p:nvSpPr>
          <p:cNvPr id="12" name="Console logs title"/>
          <p:cNvSpPr txBox="1"/>
          <p:nvPr/>
        </p:nvSpPr>
        <p:spPr>
          <a:xfrm>
            <a:off x="3026664"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Console logs</a:t>
            </a:r>
            <a:endParaRPr lang="en-US" sz="1700" dirty="0"/>
          </a:p>
        </p:txBody>
      </p:sp>
      <p:sp>
        <p:nvSpPr>
          <p:cNvPr id="13" name="Console logs body"/>
          <p:cNvSpPr txBox="1"/>
          <p:nvPr/>
        </p:nvSpPr>
        <p:spPr>
          <a:xfrm>
            <a:off x="3026664"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Live output streamed from every resource</a:t>
            </a:r>
            <a:endParaRPr lang="en-US" sz="1400" dirty="0"/>
          </a:p>
        </p:txBody>
      </p:sp>
      <p:sp>
        <p:nvSpPr>
          <p:cNvPr id="14" name="Feature card Structured logs"/>
          <p:cNvSpPr/>
          <p:nvPr/>
        </p:nvSpPr>
        <p:spPr>
          <a:xfrm>
            <a:off x="5047488"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5" name="Structured logs circle"/>
          <p:cNvSpPr/>
          <p:nvPr/>
        </p:nvSpPr>
        <p:spPr>
          <a:xfrm>
            <a:off x="5276088" y="2377440"/>
            <a:ext cx="685800" cy="685800"/>
          </a:xfrm>
          <a:prstGeom prst="ellipse">
            <a:avLst/>
          </a:prstGeom>
          <a:solidFill>
            <a:schemeClr val="bg2"/>
          </a:solidFill>
          <a:ln w="12700">
            <a:solidFill>
              <a:schemeClr val="bg2"/>
            </a:solidFill>
            <a:prstDash val="solid"/>
          </a:ln>
        </p:spPr>
      </p:sp>
      <p:pic>
        <p:nvPicPr>
          <p:cNvPr id="16" name="Structured logs icon" descr="preencoded.png">    </p:cNvPr>
          <p:cNvPicPr>
            <a:picLocks noChangeAspect="1"/>
          </p:cNvPicPr>
          <p:nvPr/>
        </p:nvPicPr>
        <p:blipFill>
          <a:blip r:embed="rId3"/>
          <a:stretch>
            <a:fillRect/>
          </a:stretch>
        </p:blipFill>
        <p:spPr>
          <a:xfrm>
            <a:off x="5447538" y="2548890"/>
            <a:ext cx="342900" cy="342900"/>
          </a:xfrm>
          <a:prstGeom prst="rect">
            <a:avLst/>
          </a:prstGeom>
        </p:spPr>
      </p:pic>
      <p:sp>
        <p:nvSpPr>
          <p:cNvPr id="17" name="Structured logs title"/>
          <p:cNvSpPr txBox="1"/>
          <p:nvPr/>
        </p:nvSpPr>
        <p:spPr>
          <a:xfrm>
            <a:off x="5276088"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Structured logs</a:t>
            </a:r>
            <a:endParaRPr lang="en-US" sz="1700" dirty="0"/>
          </a:p>
        </p:txBody>
      </p:sp>
      <p:sp>
        <p:nvSpPr>
          <p:cNvPr id="18" name="Structured logs body"/>
          <p:cNvSpPr txBox="1"/>
          <p:nvPr/>
        </p:nvSpPr>
        <p:spPr>
          <a:xfrm>
            <a:off x="5276088"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Searchable log entries with level, message and trace ID</a:t>
            </a:r>
            <a:endParaRPr lang="en-US" sz="1400" dirty="0"/>
          </a:p>
        </p:txBody>
      </p:sp>
      <p:sp>
        <p:nvSpPr>
          <p:cNvPr id="19" name="Feature card Traces"/>
          <p:cNvSpPr/>
          <p:nvPr/>
        </p:nvSpPr>
        <p:spPr>
          <a:xfrm>
            <a:off x="7296912"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0" name="Traces circle"/>
          <p:cNvSpPr/>
          <p:nvPr/>
        </p:nvSpPr>
        <p:spPr>
          <a:xfrm>
            <a:off x="7525512" y="2377440"/>
            <a:ext cx="685800" cy="685800"/>
          </a:xfrm>
          <a:prstGeom prst="ellipse">
            <a:avLst/>
          </a:prstGeom>
          <a:solidFill>
            <a:schemeClr val="bg2"/>
          </a:solidFill>
          <a:ln w="12700">
            <a:solidFill>
              <a:schemeClr val="bg2"/>
            </a:solidFill>
            <a:prstDash val="solid"/>
          </a:ln>
        </p:spPr>
      </p:sp>
      <p:pic>
        <p:nvPicPr>
          <p:cNvPr id="21" name="Traces icon" descr="preencoded.png">    </p:cNvPr>
          <p:cNvPicPr>
            <a:picLocks noChangeAspect="1"/>
          </p:cNvPicPr>
          <p:nvPr/>
        </p:nvPicPr>
        <p:blipFill>
          <a:blip r:embed="rId4"/>
          <a:stretch>
            <a:fillRect/>
          </a:stretch>
        </p:blipFill>
        <p:spPr>
          <a:xfrm>
            <a:off x="7696962" y="2548890"/>
            <a:ext cx="342900" cy="342900"/>
          </a:xfrm>
          <a:prstGeom prst="rect">
            <a:avLst/>
          </a:prstGeom>
        </p:spPr>
      </p:pic>
      <p:sp>
        <p:nvSpPr>
          <p:cNvPr id="22" name="Traces title"/>
          <p:cNvSpPr txBox="1"/>
          <p:nvPr/>
        </p:nvSpPr>
        <p:spPr>
          <a:xfrm>
            <a:off x="7525512"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Traces</a:t>
            </a:r>
            <a:endParaRPr lang="en-US" sz="1700" dirty="0"/>
          </a:p>
        </p:txBody>
      </p:sp>
      <p:sp>
        <p:nvSpPr>
          <p:cNvPr id="23" name="Traces body"/>
          <p:cNvSpPr txBox="1"/>
          <p:nvPr/>
        </p:nvSpPr>
        <p:spPr>
          <a:xfrm>
            <a:off x="7525512"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Follow one request across services</a:t>
            </a:r>
            <a:endParaRPr lang="en-US" sz="1400" dirty="0"/>
          </a:p>
        </p:txBody>
      </p:sp>
      <p:sp>
        <p:nvSpPr>
          <p:cNvPr id="24" name="Feature card Metrics"/>
          <p:cNvSpPr/>
          <p:nvPr/>
        </p:nvSpPr>
        <p:spPr>
          <a:xfrm>
            <a:off x="9546336"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5" name="Metrics circle"/>
          <p:cNvSpPr/>
          <p:nvPr/>
        </p:nvSpPr>
        <p:spPr>
          <a:xfrm>
            <a:off x="9774936" y="2377440"/>
            <a:ext cx="685800" cy="685800"/>
          </a:xfrm>
          <a:prstGeom prst="ellipse">
            <a:avLst/>
          </a:prstGeom>
          <a:solidFill>
            <a:schemeClr val="bg2"/>
          </a:solidFill>
          <a:ln w="12700">
            <a:solidFill>
              <a:schemeClr val="bg2"/>
            </a:solidFill>
            <a:prstDash val="solid"/>
          </a:ln>
        </p:spPr>
      </p:sp>
      <p:pic>
        <p:nvPicPr>
          <p:cNvPr id="26" name="Metrics icon" descr="preencoded.png">    </p:cNvPr>
          <p:cNvPicPr>
            <a:picLocks noChangeAspect="1"/>
          </p:cNvPicPr>
          <p:nvPr/>
        </p:nvPicPr>
        <p:blipFill>
          <a:blip r:embed="rId5"/>
          <a:stretch>
            <a:fillRect/>
          </a:stretch>
        </p:blipFill>
        <p:spPr>
          <a:xfrm>
            <a:off x="9946386" y="2548890"/>
            <a:ext cx="342900" cy="342900"/>
          </a:xfrm>
          <a:prstGeom prst="rect">
            <a:avLst/>
          </a:prstGeom>
        </p:spPr>
      </p:pic>
      <p:sp>
        <p:nvSpPr>
          <p:cNvPr id="27" name="Metrics title"/>
          <p:cNvSpPr txBox="1"/>
          <p:nvPr/>
        </p:nvSpPr>
        <p:spPr>
          <a:xfrm>
            <a:off x="9774936"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Metrics</a:t>
            </a:r>
            <a:endParaRPr lang="en-US" sz="1700" dirty="0"/>
          </a:p>
        </p:txBody>
      </p:sp>
      <p:sp>
        <p:nvSpPr>
          <p:cNvPr id="28" name="Metrics body"/>
          <p:cNvSpPr txBox="1"/>
          <p:nvPr/>
        </p:nvSpPr>
        <p:spPr>
          <a:xfrm>
            <a:off x="9774936"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Charts such as HTTP request duration</a:t>
            </a:r>
            <a:endParaRPr lang="en-US" sz="1400" dirty="0"/>
          </a:p>
        </p:txBody>
      </p:sp>
      <p:sp>
        <p:nvSpPr>
          <p:cNvPr id="29" name="Standalone panel"/>
          <p:cNvSpPr/>
          <p:nvPr/>
        </p:nvSpPr>
        <p:spPr>
          <a:xfrm>
            <a:off x="548640" y="5074920"/>
            <a:ext cx="11064240" cy="1051560"/>
          </a:xfrm>
          <a:prstGeom prst="roundRect">
            <a:avLst>
              <a:gd name="adj" fmla="val 8696"/>
            </a:avLst>
          </a:prstGeom>
          <a:solidFill>
            <a:schemeClr val="bg2"/>
          </a:solidFill>
          <a:ln w="12700">
            <a:solidFill>
              <a:schemeClr val="bg2"/>
            </a:solidFill>
            <a:prstDash val="solid"/>
          </a:ln>
        </p:spPr>
      </p:sp>
      <p:sp>
        <p:nvSpPr>
          <p:cNvPr id="30" name="Standalone circle"/>
          <p:cNvSpPr/>
          <p:nvPr/>
        </p:nvSpPr>
        <p:spPr>
          <a:xfrm>
            <a:off x="777240" y="5257800"/>
            <a:ext cx="685800" cy="685800"/>
          </a:xfrm>
          <a:prstGeom prst="ellipse">
            <a:avLst/>
          </a:prstGeom>
          <a:solidFill>
            <a:schemeClr val="bg2"/>
          </a:solidFill>
          <a:ln w="12700">
            <a:solidFill>
              <a:schemeClr val="bg2"/>
            </a:solidFill>
            <a:prstDash val="solid"/>
          </a:ln>
        </p:spPr>
      </p:sp>
      <p:pic>
        <p:nvPicPr>
          <p:cNvPr id="31" name="Standalone icon" descr="preencoded.png">    </p:cNvPr>
          <p:cNvPicPr>
            <a:picLocks noChangeAspect="1"/>
          </p:cNvPicPr>
          <p:nvPr/>
        </p:nvPicPr>
        <p:blipFill>
          <a:blip r:embed="rId6"/>
          <a:stretch>
            <a:fillRect/>
          </a:stretch>
        </p:blipFill>
        <p:spPr>
          <a:xfrm>
            <a:off x="948690" y="5429250"/>
            <a:ext cx="342900" cy="342900"/>
          </a:xfrm>
          <a:prstGeom prst="rect">
            <a:avLst/>
          </a:prstGeom>
        </p:spPr>
      </p:pic>
      <p:sp>
        <p:nvSpPr>
          <p:cNvPr id="32" name="Standalone text"/>
          <p:cNvSpPr txBox="1"/>
          <p:nvPr/>
        </p:nvSpPr>
        <p:spPr>
          <a:xfrm>
            <a:off x="1691640" y="5166360"/>
            <a:ext cx="9692640" cy="868680"/>
          </a:xfrm>
          <a:prstGeom prst="rect">
            <a:avLst/>
          </a:prstGeom>
          <a:noFill/>
          <a:ln/>
        </p:spPr>
        <p:txBody>
          <a:bodyPr wrap="square" lIns="0" tIns="0" rIns="0" bIns="0" rtlCol="0" anchor="ctr"/>
          <a:lstStyle/>
          <a:p>
            <a:pPr indent="0" marL="0">
              <a:buNone/>
            </a:pPr>
            <a:r>
              <a:rPr lang="en-US" sz="1400" b="1" dirty="0">
                <a:solidFill>
                  <a:schemeClr val="tx2"/>
                </a:solidFill>
              </a:rPr>
              <a:t>No AppHost? Run it standalone.  </a:t>
            </a:r>
            <a:pPr indent="0" marL="0">
              <a:buNone/>
            </a:pPr>
            <a:r>
              <a:rPr lang="en-US" sz="1400" dirty="0">
                <a:solidFill>
                  <a:schemeClr val="tx1"/>
                </a:solidFill>
              </a:rPr>
              <a:t>The dashboard also ships as a container image (mcr.microsoft.com/dotnet/aspire-dashboard). The UI is on port 18888 and it receives OpenTelemetry (OTLP) data on port 18889. OTLP is the standard format apps use to send logs, traces and metrics.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3</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What's new in Aspire 13.5</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New dashboard features, the code behind them, and what they look like</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Aspire 13.5 at a glance</a:t>
            </a:r>
            <a:endParaRPr lang="en-US" sz="3400" dirty="0"/>
          </a:p>
        </p:txBody>
      </p:sp>
      <p:sp>
        <p:nvSpPr>
          <p:cNvPr id="3" name="Glance card Refreshed, branded UI"/>
          <p:cNvSpPr/>
          <p:nvPr/>
        </p:nvSpPr>
        <p:spPr>
          <a:xfrm>
            <a:off x="548640" y="132588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4" name="Refreshed, branded UI circle"/>
          <p:cNvSpPr/>
          <p:nvPr/>
        </p:nvSpPr>
        <p:spPr>
          <a:xfrm>
            <a:off x="822960" y="1600200"/>
            <a:ext cx="640080" cy="640080"/>
          </a:xfrm>
          <a:prstGeom prst="ellipse">
            <a:avLst/>
          </a:prstGeom>
          <a:solidFill>
            <a:schemeClr val="bg2"/>
          </a:solidFill>
          <a:ln w="12700">
            <a:solidFill>
              <a:schemeClr val="bg2"/>
            </a:solidFill>
            <a:prstDash val="solid"/>
          </a:ln>
        </p:spPr>
      </p:sp>
      <p:pic>
        <p:nvPicPr>
          <p:cNvPr id="5" name="Refreshed, branded UI icon" descr="preencoded.png">    </p:cNvPr>
          <p:cNvPicPr>
            <a:picLocks noChangeAspect="1"/>
          </p:cNvPicPr>
          <p:nvPr/>
        </p:nvPicPr>
        <p:blipFill>
          <a:blip r:embed="rId1"/>
          <a:stretch>
            <a:fillRect/>
          </a:stretch>
        </p:blipFill>
        <p:spPr>
          <a:xfrm>
            <a:off x="982980" y="1760220"/>
            <a:ext cx="320040" cy="320040"/>
          </a:xfrm>
          <a:prstGeom prst="rect">
            <a:avLst/>
          </a:prstGeom>
        </p:spPr>
      </p:pic>
      <p:sp>
        <p:nvSpPr>
          <p:cNvPr id="6" name="Refreshed, branded UI pill"/>
          <p:cNvSpPr/>
          <p:nvPr/>
        </p:nvSpPr>
        <p:spPr>
          <a:xfrm>
            <a:off x="2697480" y="1783080"/>
            <a:ext cx="1143000" cy="274320"/>
          </a:xfrm>
          <a:prstGeom prst="roundRect">
            <a:avLst>
              <a:gd name="adj" fmla="val 50000"/>
            </a:avLst>
          </a:prstGeom>
          <a:solidFill>
            <a:srgbClr val="0E9F8E"/>
          </a:solidFill>
          <a:ln w="12700">
            <a:solidFill>
              <a:srgbClr val="0E9F8E"/>
            </a:solidFill>
            <a:prstDash val="solid"/>
          </a:ln>
        </p:spPr>
      </p:sp>
      <p:sp>
        <p:nvSpPr>
          <p:cNvPr id="7" name="Refreshed, branded UI pill text"/>
          <p:cNvSpPr txBox="1"/>
          <p:nvPr/>
        </p:nvSpPr>
        <p:spPr>
          <a:xfrm>
            <a:off x="2697480" y="178308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UI</a:t>
            </a:r>
            <a:endParaRPr lang="en-US" sz="1000" dirty="0"/>
          </a:p>
        </p:txBody>
      </p:sp>
      <p:sp>
        <p:nvSpPr>
          <p:cNvPr id="8" name="Refreshed, branded UI title"/>
          <p:cNvSpPr txBox="1"/>
          <p:nvPr/>
        </p:nvSpPr>
        <p:spPr>
          <a:xfrm>
            <a:off x="822960" y="233172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Refreshed, branded UI</a:t>
            </a:r>
            <a:endParaRPr lang="en-US" sz="1800" dirty="0"/>
          </a:p>
        </p:txBody>
      </p:sp>
      <p:sp>
        <p:nvSpPr>
          <p:cNvPr id="9" name="Refreshed, branded UI body"/>
          <p:cNvSpPr txBox="1"/>
          <p:nvPr/>
        </p:nvSpPr>
        <p:spPr>
          <a:xfrm>
            <a:off x="822960" y="2743200"/>
            <a:ext cx="3017520" cy="822960"/>
          </a:xfrm>
          <a:prstGeom prst="rect">
            <a:avLst/>
          </a:prstGeom>
          <a:noFill/>
          <a:ln/>
        </p:spPr>
        <p:txBody>
          <a:bodyPr wrap="square" lIns="0" tIns="0" rIns="0" bIns="0" rtlCol="0" anchor="t"/>
          <a:lstStyle/>
          <a:p>
            <a:pPr indent="0" marL="0">
              <a:buNone/>
            </a:pPr>
            <a:r>
              <a:rPr lang="en-US" sz="1400" dirty="0">
                <a:solidFill>
                  <a:schemeClr val="tx1"/>
                </a:solidFill>
              </a:rPr>
              <a:t>Official Aspire branding on a new design-token system, with accessibility checks</a:t>
            </a:r>
            <a:endParaRPr lang="en-US" sz="1400" dirty="0"/>
          </a:p>
        </p:txBody>
      </p:sp>
      <p:sp>
        <p:nvSpPr>
          <p:cNvPr id="10" name="Glance card Sharper filtering"/>
          <p:cNvSpPr/>
          <p:nvPr/>
        </p:nvSpPr>
        <p:spPr>
          <a:xfrm>
            <a:off x="4297680" y="132588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1" name="Sharper filtering circle"/>
          <p:cNvSpPr/>
          <p:nvPr/>
        </p:nvSpPr>
        <p:spPr>
          <a:xfrm>
            <a:off x="4572000" y="1600200"/>
            <a:ext cx="640080" cy="640080"/>
          </a:xfrm>
          <a:prstGeom prst="ellipse">
            <a:avLst/>
          </a:prstGeom>
          <a:solidFill>
            <a:schemeClr val="bg2"/>
          </a:solidFill>
          <a:ln w="12700">
            <a:solidFill>
              <a:schemeClr val="bg2"/>
            </a:solidFill>
            <a:prstDash val="solid"/>
          </a:ln>
        </p:spPr>
      </p:sp>
      <p:pic>
        <p:nvPicPr>
          <p:cNvPr id="12" name="Sharper filtering icon" descr="preencoded.png">    </p:cNvPr>
          <p:cNvPicPr>
            <a:picLocks noChangeAspect="1"/>
          </p:cNvPicPr>
          <p:nvPr/>
        </p:nvPicPr>
        <p:blipFill>
          <a:blip r:embed="rId2"/>
          <a:stretch>
            <a:fillRect/>
          </a:stretch>
        </p:blipFill>
        <p:spPr>
          <a:xfrm>
            <a:off x="4732020" y="1760220"/>
            <a:ext cx="320040" cy="320040"/>
          </a:xfrm>
          <a:prstGeom prst="rect">
            <a:avLst/>
          </a:prstGeom>
        </p:spPr>
      </p:pic>
      <p:sp>
        <p:nvSpPr>
          <p:cNvPr id="13" name="Sharper filtering pill"/>
          <p:cNvSpPr/>
          <p:nvPr/>
        </p:nvSpPr>
        <p:spPr>
          <a:xfrm>
            <a:off x="6446520" y="1783080"/>
            <a:ext cx="1143000" cy="274320"/>
          </a:xfrm>
          <a:prstGeom prst="roundRect">
            <a:avLst>
              <a:gd name="adj" fmla="val 50000"/>
            </a:avLst>
          </a:prstGeom>
          <a:solidFill>
            <a:srgbClr val="0E9F8E"/>
          </a:solidFill>
          <a:ln w="12700">
            <a:solidFill>
              <a:srgbClr val="0E9F8E"/>
            </a:solidFill>
            <a:prstDash val="solid"/>
          </a:ln>
        </p:spPr>
      </p:sp>
      <p:sp>
        <p:nvSpPr>
          <p:cNvPr id="14" name="Sharper filtering pill text"/>
          <p:cNvSpPr txBox="1"/>
          <p:nvPr/>
        </p:nvSpPr>
        <p:spPr>
          <a:xfrm>
            <a:off x="6446520" y="178308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UI</a:t>
            </a:r>
            <a:endParaRPr lang="en-US" sz="1000" dirty="0"/>
          </a:p>
        </p:txBody>
      </p:sp>
      <p:sp>
        <p:nvSpPr>
          <p:cNvPr id="15" name="Sharper filtering title"/>
          <p:cNvSpPr txBox="1"/>
          <p:nvPr/>
        </p:nvSpPr>
        <p:spPr>
          <a:xfrm>
            <a:off x="4572000" y="233172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Sharper filtering</a:t>
            </a:r>
            <a:endParaRPr lang="en-US" sz="1800" dirty="0"/>
          </a:p>
        </p:txBody>
      </p:sp>
      <p:sp>
        <p:nvSpPr>
          <p:cNvPr id="16" name="Sharper filtering body"/>
          <p:cNvSpPr txBox="1"/>
          <p:nvPr/>
        </p:nvSpPr>
        <p:spPr>
          <a:xfrm>
            <a:off x="4572000" y="2743200"/>
            <a:ext cx="3017520" cy="822960"/>
          </a:xfrm>
          <a:prstGeom prst="rect">
            <a:avLst/>
          </a:prstGeom>
          <a:noFill/>
          <a:ln/>
        </p:spPr>
        <p:txBody>
          <a:bodyPr wrap="square" lIns="0" tIns="0" rIns="0" bIns="0" rtlCol="0" anchor="t"/>
          <a:lstStyle/>
          <a:p>
            <a:pPr indent="0" marL="0">
              <a:buNone/>
            </a:pPr>
            <a:r>
              <a:rPr lang="en-US" sz="1400" dirty="0">
                <a:solidFill>
                  <a:schemeClr val="tx1"/>
                </a:solidFill>
              </a:rPr>
              <a:t>Timestamp filters, exact == / != numeric matching, console-log text search</a:t>
            </a:r>
            <a:endParaRPr lang="en-US" sz="1400" dirty="0"/>
          </a:p>
        </p:txBody>
      </p:sp>
      <p:sp>
        <p:nvSpPr>
          <p:cNvPr id="17" name="Glance card Terminal view"/>
          <p:cNvSpPr/>
          <p:nvPr/>
        </p:nvSpPr>
        <p:spPr>
          <a:xfrm>
            <a:off x="8046720" y="132588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8" name="Terminal view circle"/>
          <p:cNvSpPr/>
          <p:nvPr/>
        </p:nvSpPr>
        <p:spPr>
          <a:xfrm>
            <a:off x="8321040" y="1600200"/>
            <a:ext cx="640080" cy="640080"/>
          </a:xfrm>
          <a:prstGeom prst="ellipse">
            <a:avLst/>
          </a:prstGeom>
          <a:solidFill>
            <a:schemeClr val="bg2"/>
          </a:solidFill>
          <a:ln w="12700">
            <a:solidFill>
              <a:schemeClr val="bg2"/>
            </a:solidFill>
            <a:prstDash val="solid"/>
          </a:ln>
        </p:spPr>
      </p:sp>
      <p:pic>
        <p:nvPicPr>
          <p:cNvPr id="19" name="Terminal view icon" descr="preencoded.png">    </p:cNvPr>
          <p:cNvPicPr>
            <a:picLocks noChangeAspect="1"/>
          </p:cNvPicPr>
          <p:nvPr/>
        </p:nvPicPr>
        <p:blipFill>
          <a:blip r:embed="rId3"/>
          <a:stretch>
            <a:fillRect/>
          </a:stretch>
        </p:blipFill>
        <p:spPr>
          <a:xfrm>
            <a:off x="8481060" y="1760220"/>
            <a:ext cx="320040" cy="320040"/>
          </a:xfrm>
          <a:prstGeom prst="rect">
            <a:avLst/>
          </a:prstGeom>
        </p:spPr>
      </p:pic>
      <p:sp>
        <p:nvSpPr>
          <p:cNvPr id="20" name="Terminal view pill"/>
          <p:cNvSpPr/>
          <p:nvPr/>
        </p:nvSpPr>
        <p:spPr>
          <a:xfrm>
            <a:off x="10195560" y="1783080"/>
            <a:ext cx="1143000" cy="274320"/>
          </a:xfrm>
          <a:prstGeom prst="roundRect">
            <a:avLst>
              <a:gd name="adj" fmla="val 50000"/>
            </a:avLst>
          </a:prstGeom>
          <a:solidFill>
            <a:srgbClr val="D97706"/>
          </a:solidFill>
          <a:ln w="12700">
            <a:solidFill>
              <a:srgbClr val="D97706"/>
            </a:solidFill>
            <a:prstDash val="solid"/>
          </a:ln>
        </p:spPr>
      </p:sp>
      <p:sp>
        <p:nvSpPr>
          <p:cNvPr id="21" name="Terminal view pill text"/>
          <p:cNvSpPr txBox="1"/>
          <p:nvPr/>
        </p:nvSpPr>
        <p:spPr>
          <a:xfrm>
            <a:off x="10195560" y="178308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Experimental</a:t>
            </a:r>
            <a:endParaRPr lang="en-US" sz="1000" dirty="0"/>
          </a:p>
        </p:txBody>
      </p:sp>
      <p:sp>
        <p:nvSpPr>
          <p:cNvPr id="22" name="Terminal view title"/>
          <p:cNvSpPr txBox="1"/>
          <p:nvPr/>
        </p:nvSpPr>
        <p:spPr>
          <a:xfrm>
            <a:off x="8321040" y="233172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Terminal view</a:t>
            </a:r>
            <a:endParaRPr lang="en-US" sz="1800" dirty="0"/>
          </a:p>
        </p:txBody>
      </p:sp>
      <p:sp>
        <p:nvSpPr>
          <p:cNvPr id="23" name="Terminal view body"/>
          <p:cNvSpPr txBox="1"/>
          <p:nvPr/>
        </p:nvSpPr>
        <p:spPr>
          <a:xfrm>
            <a:off x="8321040" y="2743200"/>
            <a:ext cx="3017520" cy="822960"/>
          </a:xfrm>
          <a:prstGeom prst="rect">
            <a:avLst/>
          </a:prstGeom>
          <a:noFill/>
          <a:ln/>
        </p:spPr>
        <p:txBody>
          <a:bodyPr wrap="square" lIns="0" tIns="0" rIns="0" bIns="0" rtlCol="0" anchor="t"/>
          <a:lstStyle/>
          <a:p>
            <a:pPr indent="0" marL="0">
              <a:buNone/>
            </a:pPr>
            <a:r>
              <a:rPr lang="en-US" sz="1400" dirty="0">
                <a:solidFill>
                  <a:schemeClr val="tx1"/>
                </a:solidFill>
              </a:rPr>
              <a:t>WithTerminal() gives a resource a live, interactive terminal in the dashboard</a:t>
            </a:r>
            <a:endParaRPr lang="en-US" sz="1400" dirty="0"/>
          </a:p>
        </p:txBody>
      </p:sp>
      <p:sp>
        <p:nvSpPr>
          <p:cNvPr id="24" name="Glance card File uploads"/>
          <p:cNvSpPr/>
          <p:nvPr/>
        </p:nvSpPr>
        <p:spPr>
          <a:xfrm>
            <a:off x="548640" y="388620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5" name="File uploads circle"/>
          <p:cNvSpPr/>
          <p:nvPr/>
        </p:nvSpPr>
        <p:spPr>
          <a:xfrm>
            <a:off x="822960" y="4160520"/>
            <a:ext cx="640080" cy="640080"/>
          </a:xfrm>
          <a:prstGeom prst="ellipse">
            <a:avLst/>
          </a:prstGeom>
          <a:solidFill>
            <a:schemeClr val="bg2"/>
          </a:solidFill>
          <a:ln w="12700">
            <a:solidFill>
              <a:schemeClr val="bg2"/>
            </a:solidFill>
            <a:prstDash val="solid"/>
          </a:ln>
        </p:spPr>
      </p:sp>
      <p:pic>
        <p:nvPicPr>
          <p:cNvPr id="26" name="File uploads icon" descr="preencoded.png">    </p:cNvPr>
          <p:cNvPicPr>
            <a:picLocks noChangeAspect="1"/>
          </p:cNvPicPr>
          <p:nvPr/>
        </p:nvPicPr>
        <p:blipFill>
          <a:blip r:embed="rId4"/>
          <a:stretch>
            <a:fillRect/>
          </a:stretch>
        </p:blipFill>
        <p:spPr>
          <a:xfrm>
            <a:off x="982980" y="4320540"/>
            <a:ext cx="320040" cy="320040"/>
          </a:xfrm>
          <a:prstGeom prst="rect">
            <a:avLst/>
          </a:prstGeom>
        </p:spPr>
      </p:pic>
      <p:sp>
        <p:nvSpPr>
          <p:cNvPr id="27" name="File uploads pill"/>
          <p:cNvSpPr/>
          <p:nvPr/>
        </p:nvSpPr>
        <p:spPr>
          <a:xfrm>
            <a:off x="2697480" y="4343400"/>
            <a:ext cx="1143000" cy="274320"/>
          </a:xfrm>
          <a:prstGeom prst="roundRect">
            <a:avLst>
              <a:gd name="adj" fmla="val 50000"/>
            </a:avLst>
          </a:prstGeom>
          <a:solidFill>
            <a:srgbClr val="6B3FE0"/>
          </a:solidFill>
          <a:ln w="12700">
            <a:solidFill>
              <a:srgbClr val="6B3FE0"/>
            </a:solidFill>
            <a:prstDash val="solid"/>
          </a:ln>
        </p:spPr>
      </p:sp>
      <p:sp>
        <p:nvSpPr>
          <p:cNvPr id="28" name="File uploads pill text"/>
          <p:cNvSpPr txBox="1"/>
          <p:nvPr/>
        </p:nvSpPr>
        <p:spPr>
          <a:xfrm>
            <a:off x="2697480" y="43434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Stable</a:t>
            </a:r>
            <a:endParaRPr lang="en-US" sz="1000" dirty="0"/>
          </a:p>
        </p:txBody>
      </p:sp>
      <p:sp>
        <p:nvSpPr>
          <p:cNvPr id="29" name="File uploads title"/>
          <p:cNvSpPr txBox="1"/>
          <p:nvPr/>
        </p:nvSpPr>
        <p:spPr>
          <a:xfrm>
            <a:off x="822960" y="489204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File uploads</a:t>
            </a:r>
            <a:endParaRPr lang="en-US" sz="1800" dirty="0"/>
          </a:p>
        </p:txBody>
      </p:sp>
      <p:sp>
        <p:nvSpPr>
          <p:cNvPr id="30" name="File uploads body"/>
          <p:cNvSpPr txBox="1"/>
          <p:nvPr/>
        </p:nvSpPr>
        <p:spPr>
          <a:xfrm>
            <a:off x="822960" y="5303520"/>
            <a:ext cx="3017520" cy="822960"/>
          </a:xfrm>
          <a:prstGeom prst="rect">
            <a:avLst/>
          </a:prstGeom>
          <a:noFill/>
          <a:ln/>
        </p:spPr>
        <p:txBody>
          <a:bodyPr wrap="square" lIns="0" tIns="0" rIns="0" bIns="0" rtlCol="0" anchor="t"/>
          <a:lstStyle/>
          <a:p>
            <a:pPr indent="0" marL="0">
              <a:buNone/>
            </a:pPr>
            <a:r>
              <a:rPr lang="en-US" sz="1400" dirty="0">
                <a:solidFill>
                  <a:schemeClr val="tx1"/>
                </a:solidFill>
              </a:rPr>
              <a:t>Commands can ask the user to pick a file in the dashboard</a:t>
            </a:r>
            <a:endParaRPr lang="en-US" sz="1400" dirty="0"/>
          </a:p>
        </p:txBody>
      </p:sp>
      <p:sp>
        <p:nvSpPr>
          <p:cNvPr id="31" name="Glance card Command arguments"/>
          <p:cNvSpPr/>
          <p:nvPr/>
        </p:nvSpPr>
        <p:spPr>
          <a:xfrm>
            <a:off x="4297680" y="388620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32" name="Command arguments circle"/>
          <p:cNvSpPr/>
          <p:nvPr/>
        </p:nvSpPr>
        <p:spPr>
          <a:xfrm>
            <a:off x="4572000" y="4160520"/>
            <a:ext cx="640080" cy="640080"/>
          </a:xfrm>
          <a:prstGeom prst="ellipse">
            <a:avLst/>
          </a:prstGeom>
          <a:solidFill>
            <a:schemeClr val="bg2"/>
          </a:solidFill>
          <a:ln w="12700">
            <a:solidFill>
              <a:schemeClr val="bg2"/>
            </a:solidFill>
            <a:prstDash val="solid"/>
          </a:ln>
        </p:spPr>
      </p:sp>
      <p:pic>
        <p:nvPicPr>
          <p:cNvPr id="33" name="Command arguments icon" descr="preencoded.png">    </p:cNvPr>
          <p:cNvPicPr>
            <a:picLocks noChangeAspect="1"/>
          </p:cNvPicPr>
          <p:nvPr/>
        </p:nvPicPr>
        <p:blipFill>
          <a:blip r:embed="rId5"/>
          <a:stretch>
            <a:fillRect/>
          </a:stretch>
        </p:blipFill>
        <p:spPr>
          <a:xfrm>
            <a:off x="4732020" y="4320540"/>
            <a:ext cx="320040" cy="320040"/>
          </a:xfrm>
          <a:prstGeom prst="rect">
            <a:avLst/>
          </a:prstGeom>
        </p:spPr>
      </p:pic>
      <p:sp>
        <p:nvSpPr>
          <p:cNvPr id="34" name="Command arguments pill"/>
          <p:cNvSpPr/>
          <p:nvPr/>
        </p:nvSpPr>
        <p:spPr>
          <a:xfrm>
            <a:off x="6446520" y="4343400"/>
            <a:ext cx="1143000" cy="274320"/>
          </a:xfrm>
          <a:prstGeom prst="roundRect">
            <a:avLst>
              <a:gd name="adj" fmla="val 50000"/>
            </a:avLst>
          </a:prstGeom>
          <a:solidFill>
            <a:srgbClr val="6B3FE0"/>
          </a:solidFill>
          <a:ln w="12700">
            <a:solidFill>
              <a:srgbClr val="6B3FE0"/>
            </a:solidFill>
            <a:prstDash val="solid"/>
          </a:ln>
        </p:spPr>
      </p:sp>
      <p:sp>
        <p:nvSpPr>
          <p:cNvPr id="35" name="Command arguments pill text"/>
          <p:cNvSpPr txBox="1"/>
          <p:nvPr/>
        </p:nvSpPr>
        <p:spPr>
          <a:xfrm>
            <a:off x="6446520" y="43434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Stable</a:t>
            </a:r>
            <a:endParaRPr lang="en-US" sz="1000" dirty="0"/>
          </a:p>
        </p:txBody>
      </p:sp>
      <p:sp>
        <p:nvSpPr>
          <p:cNvPr id="36" name="Command arguments title"/>
          <p:cNvSpPr txBox="1"/>
          <p:nvPr/>
        </p:nvSpPr>
        <p:spPr>
          <a:xfrm>
            <a:off x="4572000" y="489204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Command arguments</a:t>
            </a:r>
            <a:endParaRPr lang="en-US" sz="1800" dirty="0"/>
          </a:p>
        </p:txBody>
      </p:sp>
      <p:sp>
        <p:nvSpPr>
          <p:cNvPr id="37" name="Command arguments body"/>
          <p:cNvSpPr txBox="1"/>
          <p:nvPr/>
        </p:nvSpPr>
        <p:spPr>
          <a:xfrm>
            <a:off x="4572000" y="5303520"/>
            <a:ext cx="3017520" cy="822960"/>
          </a:xfrm>
          <a:prstGeom prst="rect">
            <a:avLst/>
          </a:prstGeom>
          <a:noFill/>
          <a:ln/>
        </p:spPr>
        <p:txBody>
          <a:bodyPr wrap="square" lIns="0" tIns="0" rIns="0" bIns="0" rtlCol="0" anchor="t"/>
          <a:lstStyle/>
          <a:p>
            <a:pPr indent="0" marL="0">
              <a:buNone/>
            </a:pPr>
            <a:r>
              <a:rPr lang="en-US" sz="1400" dirty="0">
                <a:solidFill>
                  <a:schemeClr val="tx1"/>
                </a:solidFill>
              </a:rPr>
              <a:t>Commands declare named inputs: a form in the dashboard, options in the CLI</a:t>
            </a:r>
            <a:endParaRPr lang="en-US" sz="1400" dirty="0"/>
          </a:p>
        </p:txBody>
      </p:sp>
      <p:sp>
        <p:nvSpPr>
          <p:cNvPr id="38" name="Glance card Progress dialogs"/>
          <p:cNvSpPr/>
          <p:nvPr/>
        </p:nvSpPr>
        <p:spPr>
          <a:xfrm>
            <a:off x="8046720" y="388620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39" name="Progress dialogs circle"/>
          <p:cNvSpPr/>
          <p:nvPr/>
        </p:nvSpPr>
        <p:spPr>
          <a:xfrm>
            <a:off x="8321040" y="4160520"/>
            <a:ext cx="640080" cy="640080"/>
          </a:xfrm>
          <a:prstGeom prst="ellipse">
            <a:avLst/>
          </a:prstGeom>
          <a:solidFill>
            <a:schemeClr val="bg2"/>
          </a:solidFill>
          <a:ln w="12700">
            <a:solidFill>
              <a:schemeClr val="bg2"/>
            </a:solidFill>
            <a:prstDash val="solid"/>
          </a:ln>
        </p:spPr>
      </p:sp>
      <p:pic>
        <p:nvPicPr>
          <p:cNvPr id="40" name="Progress dialogs icon"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41" name="Progress dialogs pill"/>
          <p:cNvSpPr/>
          <p:nvPr/>
        </p:nvSpPr>
        <p:spPr>
          <a:xfrm>
            <a:off x="10195560" y="4343400"/>
            <a:ext cx="1143000" cy="274320"/>
          </a:xfrm>
          <a:prstGeom prst="roundRect">
            <a:avLst>
              <a:gd name="adj" fmla="val 50000"/>
            </a:avLst>
          </a:prstGeom>
          <a:solidFill>
            <a:srgbClr val="D97706"/>
          </a:solidFill>
          <a:ln w="12700">
            <a:solidFill>
              <a:srgbClr val="D97706"/>
            </a:solidFill>
            <a:prstDash val="solid"/>
          </a:ln>
        </p:spPr>
      </p:sp>
      <p:sp>
        <p:nvSpPr>
          <p:cNvPr id="42" name="Progress dialogs pill text"/>
          <p:cNvSpPr txBox="1"/>
          <p:nvPr/>
        </p:nvSpPr>
        <p:spPr>
          <a:xfrm>
            <a:off x="10195560" y="43434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Experimental</a:t>
            </a:r>
            <a:endParaRPr lang="en-US" sz="1000" dirty="0"/>
          </a:p>
        </p:txBody>
      </p:sp>
      <p:sp>
        <p:nvSpPr>
          <p:cNvPr id="43" name="Progress dialogs title"/>
          <p:cNvSpPr txBox="1"/>
          <p:nvPr/>
        </p:nvSpPr>
        <p:spPr>
          <a:xfrm>
            <a:off x="8321040" y="489204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Progress dialogs</a:t>
            </a:r>
            <a:endParaRPr lang="en-US" sz="1800" dirty="0"/>
          </a:p>
        </p:txBody>
      </p:sp>
      <p:sp>
        <p:nvSpPr>
          <p:cNvPr id="44" name="Progress dialogs body"/>
          <p:cNvSpPr txBox="1"/>
          <p:nvPr/>
        </p:nvSpPr>
        <p:spPr>
          <a:xfrm>
            <a:off x="8321040" y="5303520"/>
            <a:ext cx="3017520" cy="822960"/>
          </a:xfrm>
          <a:prstGeom prst="rect">
            <a:avLst/>
          </a:prstGeom>
          <a:noFill/>
          <a:ln/>
        </p:spPr>
        <p:txBody>
          <a:bodyPr wrap="square" lIns="0" tIns="0" rIns="0" bIns="0" rtlCol="0" anchor="t"/>
          <a:lstStyle/>
          <a:p>
            <a:pPr indent="0" marL="0">
              <a:buNone/>
            </a:pPr>
            <a:r>
              <a:rPr lang="en-US" sz="1400" dirty="0">
                <a:solidFill>
                  <a:schemeClr val="tx1"/>
                </a:solidFill>
              </a:rPr>
              <a:t>Show a progress dialog while a long command runs, with optional cancel</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 fresh look and sharper filtering</a:t>
            </a:r>
            <a:endParaRPr lang="en-US" sz="3400" dirty="0"/>
          </a:p>
        </p:txBody>
      </p:sp>
      <p:sp>
        <p:nvSpPr>
          <p:cNvPr id="3" name="Refresh card"/>
          <p:cNvSpPr/>
          <p:nvPr/>
        </p:nvSpPr>
        <p:spPr>
          <a:xfrm>
            <a:off x="548640" y="1325880"/>
            <a:ext cx="4754880" cy="4846320"/>
          </a:xfrm>
          <a:prstGeom prst="roundRect">
            <a:avLst>
              <a:gd name="adj" fmla="val 1923"/>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4" name="Refresh title"/>
          <p:cNvSpPr txBox="1"/>
          <p:nvPr/>
        </p:nvSpPr>
        <p:spPr>
          <a:xfrm>
            <a:off x="868680" y="1600200"/>
            <a:ext cx="4114800" cy="411480"/>
          </a:xfrm>
          <a:prstGeom prst="rect">
            <a:avLst/>
          </a:prstGeom>
          <a:noFill/>
          <a:ln/>
        </p:spPr>
        <p:txBody>
          <a:bodyPr wrap="square" lIns="0" tIns="0" rIns="0" bIns="0" rtlCol="0" anchor="ctr"/>
          <a:lstStyle/>
          <a:p>
            <a:pPr indent="0" marL="0">
              <a:buNone/>
            </a:pPr>
            <a:r>
              <a:rPr lang="en-US" sz="2200" b="1" dirty="0">
                <a:solidFill>
                  <a:schemeClr val="tx2"/>
                </a:solidFill>
              </a:rPr>
              <a:t>Refreshed UI</a:t>
            </a:r>
            <a:endParaRPr lang="en-US" sz="2200" dirty="0"/>
          </a:p>
        </p:txBody>
      </p:sp>
      <p:sp>
        <p:nvSpPr>
          <p:cNvPr id="5" name="Refresh bullets"/>
          <p:cNvSpPr txBox="1"/>
          <p:nvPr/>
        </p:nvSpPr>
        <p:spPr>
          <a:xfrm>
            <a:off x="868680" y="4857750"/>
            <a:ext cx="4206240" cy="1177289"/>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Official Aspire colors and logo, light and dark</a:t>
            </a:r>
            <a:endParaRPr lang="en-US" sz="1500" dirty="0"/>
          </a:p>
          <a:p>
            <a:pPr marL="342900" indent="-342900">
              <a:spcAft>
                <a:spcPts val="400"/>
              </a:spcAft>
              <a:buSzPct val="100000"/>
              <a:buChar char="•"/>
            </a:pPr>
            <a:r>
              <a:rPr lang="en-US" sz="1300" dirty="0">
                <a:solidFill>
                  <a:schemeClr val="tx1"/>
                </a:solidFill>
              </a:rPr>
              <a:t>Contrast checked to WCAG AA (accessibility)</a:t>
            </a:r>
            <a:endParaRPr lang="en-US" sz="1500" dirty="0"/>
          </a:p>
          <a:p>
            <a:pPr marL="342900" indent="-342900">
              <a:spcAft>
                <a:spcPts val="400"/>
              </a:spcAft>
              <a:buSzPct val="100000"/>
              <a:buChar char="•"/>
            </a:pPr>
            <a:r>
              <a:rPr lang="en-US" sz="1300" dirty="0">
                <a:solidFill>
                  <a:schemeClr val="tx1"/>
                </a:solidFill>
              </a:rPr>
              <a:t>Same layout, so everything is where you expect it</a:t>
            </a:r>
            <a:endParaRPr lang="en-US" sz="1500" dirty="0"/>
          </a:p>
        </p:txBody>
      </p:sp>
      <p:sp>
        <p:nvSpPr>
          <p:cNvPr id="6" name="Filter by timestamp circle"/>
          <p:cNvSpPr/>
          <p:nvPr/>
        </p:nvSpPr>
        <p:spPr>
          <a:xfrm>
            <a:off x="5760720" y="1371600"/>
            <a:ext cx="731520" cy="731520"/>
          </a:xfrm>
          <a:prstGeom prst="ellipse">
            <a:avLst/>
          </a:prstGeom>
          <a:solidFill>
            <a:schemeClr val="bg2"/>
          </a:solidFill>
          <a:ln w="12700">
            <a:solidFill>
              <a:schemeClr val="bg2"/>
            </a:solidFill>
            <a:prstDash val="solid"/>
          </a:ln>
        </p:spPr>
      </p:sp>
      <p:pic>
        <p:nvPicPr>
          <p:cNvPr id="7" name="Filter by timestamp icon" descr="preencoded.png">    </p:cNvPr>
          <p:cNvPicPr>
            <a:picLocks noChangeAspect="1"/>
          </p:cNvPicPr>
          <p:nvPr/>
        </p:nvPicPr>
        <p:blipFill>
          <a:blip r:embed="rId1"/>
          <a:stretch>
            <a:fillRect/>
          </a:stretch>
        </p:blipFill>
        <p:spPr>
          <a:xfrm>
            <a:off x="5943600" y="1554480"/>
            <a:ext cx="365760" cy="365760"/>
          </a:xfrm>
          <a:prstGeom prst="rect">
            <a:avLst/>
          </a:prstGeom>
        </p:spPr>
      </p:pic>
      <p:sp>
        <p:nvSpPr>
          <p:cNvPr id="8" name="Filter by timestamp title"/>
          <p:cNvSpPr txBox="1"/>
          <p:nvPr/>
        </p:nvSpPr>
        <p:spPr>
          <a:xfrm>
            <a:off x="6720840" y="1353312"/>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Filter by timestamp</a:t>
            </a:r>
            <a:endParaRPr lang="en-US" sz="1700" dirty="0"/>
          </a:p>
        </p:txBody>
      </p:sp>
      <p:sp>
        <p:nvSpPr>
          <p:cNvPr id="9" name="Filter by timestamp body"/>
          <p:cNvSpPr txBox="1"/>
          <p:nvPr/>
        </p:nvSpPr>
        <p:spPr>
          <a:xfrm>
            <a:off x="6720840" y="1737360"/>
            <a:ext cx="4892040" cy="640080"/>
          </a:xfrm>
          <a:prstGeom prst="rect">
            <a:avLst/>
          </a:prstGeom>
          <a:noFill/>
          <a:ln/>
        </p:spPr>
        <p:txBody>
          <a:bodyPr wrap="square" lIns="0" tIns="0" rIns="0" bIns="0" rtlCol="0" anchor="t"/>
          <a:lstStyle/>
          <a:p>
            <a:pPr indent="0" marL="0">
              <a:buNone/>
            </a:pPr>
            <a:r>
              <a:rPr lang="en-US" sz="1400" dirty="0">
                <a:solidFill>
                  <a:schemeClr val="tx1"/>
                </a:solidFill>
              </a:rPr>
              <a:t>A dedicated search qualifier narrows logs and traces to a time range</a:t>
            </a:r>
            <a:endParaRPr lang="en-US" sz="1400" dirty="0"/>
          </a:p>
        </p:txBody>
      </p:sp>
      <p:sp>
        <p:nvSpPr>
          <p:cNvPr id="10" name="Exact numeric matching circle"/>
          <p:cNvSpPr/>
          <p:nvPr/>
        </p:nvSpPr>
        <p:spPr>
          <a:xfrm>
            <a:off x="5760720" y="2587752"/>
            <a:ext cx="731520" cy="731520"/>
          </a:xfrm>
          <a:prstGeom prst="ellipse">
            <a:avLst/>
          </a:prstGeom>
          <a:solidFill>
            <a:schemeClr val="bg2"/>
          </a:solidFill>
          <a:ln w="12700">
            <a:solidFill>
              <a:schemeClr val="bg2"/>
            </a:solidFill>
            <a:prstDash val="solid"/>
          </a:ln>
        </p:spPr>
      </p:sp>
      <p:pic>
        <p:nvPicPr>
          <p:cNvPr id="11" name="Exact numeric matching icon" descr="preencoded.png">    </p:cNvPr>
          <p:cNvPicPr>
            <a:picLocks noChangeAspect="1"/>
          </p:cNvPicPr>
          <p:nvPr/>
        </p:nvPicPr>
        <p:blipFill>
          <a:blip r:embed="rId2"/>
          <a:stretch>
            <a:fillRect/>
          </a:stretch>
        </p:blipFill>
        <p:spPr>
          <a:xfrm>
            <a:off x="5943600" y="2770632"/>
            <a:ext cx="365760" cy="365760"/>
          </a:xfrm>
          <a:prstGeom prst="rect">
            <a:avLst/>
          </a:prstGeom>
        </p:spPr>
      </p:pic>
      <p:sp>
        <p:nvSpPr>
          <p:cNvPr id="12" name="Exact numeric matching title"/>
          <p:cNvSpPr txBox="1"/>
          <p:nvPr/>
        </p:nvSpPr>
        <p:spPr>
          <a:xfrm>
            <a:off x="6720840" y="2569464"/>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Exact numeric matching</a:t>
            </a:r>
            <a:endParaRPr lang="en-US" sz="1700" dirty="0"/>
          </a:p>
        </p:txBody>
      </p:sp>
      <p:sp>
        <p:nvSpPr>
          <p:cNvPr id="13" name="Exact numeric matching body"/>
          <p:cNvSpPr txBox="1"/>
          <p:nvPr/>
        </p:nvSpPr>
        <p:spPr>
          <a:xfrm>
            <a:off x="6720840" y="2953512"/>
            <a:ext cx="4892040" cy="640080"/>
          </a:xfrm>
          <a:prstGeom prst="rect">
            <a:avLst/>
          </a:prstGeom>
          <a:noFill/>
          <a:ln/>
        </p:spPr>
        <p:txBody>
          <a:bodyPr wrap="square" lIns="0" tIns="0" rIns="0" bIns="0" rtlCol="0" anchor="t"/>
          <a:lstStyle/>
          <a:p>
            <a:pPr indent="0" marL="0">
              <a:buNone/>
            </a:pPr>
            <a:r>
              <a:rPr lang="en-US" sz="1400" dirty="0">
                <a:solidFill>
                  <a:schemeClr val="tx1"/>
                </a:solidFill>
              </a:rPr>
              <a:t>New == and != operators match exact values (for example, a status code)</a:t>
            </a:r>
            <a:endParaRPr lang="en-US" sz="1400" dirty="0"/>
          </a:p>
        </p:txBody>
      </p:sp>
      <p:sp>
        <p:nvSpPr>
          <p:cNvPr id="14" name="Search console logs circle"/>
          <p:cNvSpPr/>
          <p:nvPr/>
        </p:nvSpPr>
        <p:spPr>
          <a:xfrm>
            <a:off x="5760720" y="3803904"/>
            <a:ext cx="731520" cy="731520"/>
          </a:xfrm>
          <a:prstGeom prst="ellipse">
            <a:avLst/>
          </a:prstGeom>
          <a:solidFill>
            <a:schemeClr val="bg2"/>
          </a:solidFill>
          <a:ln w="12700">
            <a:solidFill>
              <a:schemeClr val="bg2"/>
            </a:solidFill>
            <a:prstDash val="solid"/>
          </a:ln>
        </p:spPr>
      </p:sp>
      <p:pic>
        <p:nvPicPr>
          <p:cNvPr id="15" name="Search console logs icon" descr="preencoded.png">    </p:cNvPr>
          <p:cNvPicPr>
            <a:picLocks noChangeAspect="1"/>
          </p:cNvPicPr>
          <p:nvPr/>
        </p:nvPicPr>
        <p:blipFill>
          <a:blip r:embed="rId3"/>
          <a:stretch>
            <a:fillRect/>
          </a:stretch>
        </p:blipFill>
        <p:spPr>
          <a:xfrm>
            <a:off x="5943600" y="3986784"/>
            <a:ext cx="365760" cy="365760"/>
          </a:xfrm>
          <a:prstGeom prst="rect">
            <a:avLst/>
          </a:prstGeom>
        </p:spPr>
      </p:pic>
      <p:sp>
        <p:nvSpPr>
          <p:cNvPr id="16" name="Search console logs title"/>
          <p:cNvSpPr txBox="1"/>
          <p:nvPr/>
        </p:nvSpPr>
        <p:spPr>
          <a:xfrm>
            <a:off x="6720840" y="3785616"/>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Search console logs</a:t>
            </a:r>
            <a:endParaRPr lang="en-US" sz="1700" dirty="0"/>
          </a:p>
        </p:txBody>
      </p:sp>
      <p:sp>
        <p:nvSpPr>
          <p:cNvPr id="17" name="Search console logs body"/>
          <p:cNvSpPr txBox="1"/>
          <p:nvPr/>
        </p:nvSpPr>
        <p:spPr>
          <a:xfrm>
            <a:off x="6720840" y="4169664"/>
            <a:ext cx="4892040" cy="640080"/>
          </a:xfrm>
          <a:prstGeom prst="rect">
            <a:avLst/>
          </a:prstGeom>
          <a:noFill/>
          <a:ln/>
        </p:spPr>
        <p:txBody>
          <a:bodyPr wrap="square" lIns="0" tIns="0" rIns="0" bIns="0" rtlCol="0" anchor="t"/>
          <a:lstStyle/>
          <a:p>
            <a:pPr indent="0" marL="0">
              <a:buNone/>
            </a:pPr>
            <a:r>
              <a:rPr lang="en-US" sz="1400" dirty="0">
                <a:solidFill>
                  <a:schemeClr val="tx1"/>
                </a:solidFill>
              </a:rPr>
              <a:t>Filter console output by text; the search is case-insensitive</a:t>
            </a:r>
            <a:endParaRPr lang="en-US" sz="1400" dirty="0"/>
          </a:p>
        </p:txBody>
      </p:sp>
      <p:sp>
        <p:nvSpPr>
          <p:cNvPr id="18" name="Clearer reconnects circle"/>
          <p:cNvSpPr/>
          <p:nvPr/>
        </p:nvSpPr>
        <p:spPr>
          <a:xfrm>
            <a:off x="5760720" y="5020056"/>
            <a:ext cx="731520" cy="731520"/>
          </a:xfrm>
          <a:prstGeom prst="ellipse">
            <a:avLst/>
          </a:prstGeom>
          <a:solidFill>
            <a:schemeClr val="bg2"/>
          </a:solidFill>
          <a:ln w="12700">
            <a:solidFill>
              <a:schemeClr val="bg2"/>
            </a:solidFill>
            <a:prstDash val="solid"/>
          </a:ln>
        </p:spPr>
      </p:sp>
      <p:pic>
        <p:nvPicPr>
          <p:cNvPr id="19" name="Clearer reconnects icon" descr="preencoded.png">    </p:cNvPr>
          <p:cNvPicPr>
            <a:picLocks noChangeAspect="1"/>
          </p:cNvPicPr>
          <p:nvPr/>
        </p:nvPicPr>
        <p:blipFill>
          <a:blip r:embed="rId4"/>
          <a:stretch>
            <a:fillRect/>
          </a:stretch>
        </p:blipFill>
        <p:spPr>
          <a:xfrm>
            <a:off x="5943600" y="5202936"/>
            <a:ext cx="365760" cy="365760"/>
          </a:xfrm>
          <a:prstGeom prst="rect">
            <a:avLst/>
          </a:prstGeom>
        </p:spPr>
      </p:pic>
      <p:sp>
        <p:nvSpPr>
          <p:cNvPr id="20" name="Clearer reconnects title"/>
          <p:cNvSpPr txBox="1"/>
          <p:nvPr/>
        </p:nvSpPr>
        <p:spPr>
          <a:xfrm>
            <a:off x="6720840" y="5001768"/>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Clearer reconnects</a:t>
            </a:r>
            <a:endParaRPr lang="en-US" sz="1700" dirty="0"/>
          </a:p>
        </p:txBody>
      </p:sp>
      <p:sp>
        <p:nvSpPr>
          <p:cNvPr id="21" name="Clearer reconnects body"/>
          <p:cNvSpPr txBox="1"/>
          <p:nvPr/>
        </p:nvSpPr>
        <p:spPr>
          <a:xfrm>
            <a:off x="6720840" y="5385816"/>
            <a:ext cx="4892040" cy="640080"/>
          </a:xfrm>
          <a:prstGeom prst="rect">
            <a:avLst/>
          </a:prstGeom>
          <a:noFill/>
          <a:ln/>
        </p:spPr>
        <p:txBody>
          <a:bodyPr wrap="square" lIns="0" tIns="0" rIns="0" bIns="0" rtlCol="0" anchor="t"/>
          <a:lstStyle/>
          <a:p>
            <a:pPr indent="0" marL="0">
              <a:buNone/>
            </a:pPr>
            <a:r>
              <a:rPr lang="en-US" sz="1400" dirty="0">
                <a:solidFill>
                  <a:schemeClr val="tx1"/>
                </a:solidFill>
              </a:rPr>
              <a:t>A clearer dialog when the dashboard loses its AppHost connection</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17</a:t>
            </a:fld>
            <a:endParaRPr lang="en-US"/>
          </a:p>
        </p:txBody>
      </p:sp>
      <p:pic>
        <p:nvPicPr>
          <p:cNvPr id="26" name="Refreshed dashboard screenshot" descr="The refreshed Aspire 13.5 dashboard Resources page"/>
          <p:cNvPicPr>
            <a:picLocks noChangeAspect="1"/>
          </p:cNvPicPr>
          <p:nvPr/>
        </p:nvPicPr>
        <p:blipFill>
          <a:blip r:embed="rId7"/>
          <a:stretch>
            <a:fillRect/>
          </a:stretch>
        </p:blipFill>
        <p:spPr>
          <a:xfrm>
            <a:off x="868680" y="2103120"/>
            <a:ext cx="4114800" cy="2571750"/>
          </a:xfrm>
          <a:prstGeom prst="rect">
            <a:avLst/>
          </a:prstGeom>
          <a:ln w="12700">
            <a:solidFill>
              <a:srgbClr val="D9D6E8"/>
            </a:solid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Add an interactive terminal: WithTerminal()</a:t>
            </a:r>
            <a:endParaRPr lang="en-US" sz="3400" dirty="0"/>
          </a:p>
        </p:txBody>
      </p:sp>
      <p:sp>
        <p:nvSpPr>
          <p:cNvPr id="3" name="Terminal CS panel"/>
          <p:cNvSpPr/>
          <p:nvPr/>
        </p:nvSpPr>
        <p:spPr>
          <a:xfrm>
            <a:off x="548640" y="1325880"/>
            <a:ext cx="6949440" cy="3840480"/>
          </a:xfrm>
          <a:prstGeom prst="roundRect">
            <a:avLst>
              <a:gd name="adj" fmla="val 1905"/>
            </a:avLst>
          </a:prstGeom>
          <a:solidFill>
            <a:srgbClr val="1C1830"/>
          </a:solidFill>
          <a:ln w="12700">
            <a:solidFill>
              <a:srgbClr val="1C1830"/>
            </a:solidFill>
            <a:prstDash val="solid"/>
          </a:ln>
        </p:spPr>
      </p:sp>
      <p:sp>
        <p:nvSpPr>
          <p:cNvPr id="4" name="Terminal CS label"/>
          <p:cNvSpPr txBox="1"/>
          <p:nvPr/>
        </p:nvSpPr>
        <p:spPr>
          <a:xfrm>
            <a:off x="777240" y="141732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Terminal CS text"/>
          <p:cNvSpPr txBox="1"/>
          <p:nvPr/>
        </p:nvSpPr>
        <p:spPr>
          <a:xfrm>
            <a:off x="777240" y="1737360"/>
            <a:ext cx="6492240" cy="333756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#pragma warning disable ASPIRETERMINAL001 // experimental API</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var</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args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AddContainer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"db"</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WithTerminal</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options</a:t>
            </a:r>
            <a:pPr indent="0" marL="0">
              <a:buNone/>
            </a:pPr>
            <a:r>
              <a:rPr lang="en-US" sz="1300" dirty="0">
                <a:solidFill>
                  <a:srgbClr val="E8E6F0"/>
                </a:solidFill>
                <a:latin typeface="Courier New" pitchFamily="34" charset="0"/>
                <a:ea typeface="Courier New" pitchFamily="34" charset="-122"/>
                <a:cs typeface="Courier New" pitchFamily="34" charset="-120"/>
              </a:rPr>
              <a:t> =&gt;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options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Columns</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F8C77A"/>
                </a:solidFill>
                <a:latin typeface="Courier New" pitchFamily="34" charset="0"/>
                <a:ea typeface="Courier New" pitchFamily="34" charset="-122"/>
                <a:cs typeface="Courier New" pitchFamily="34" charset="-120"/>
              </a:rPr>
              <a:t>200</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i="1" dirty="0">
                <a:solidFill>
                  <a:srgbClr val="8B87A3"/>
                </a:solidFill>
                <a:latin typeface="Courier New" pitchFamily="34" charset="0"/>
                <a:ea typeface="Courier New" pitchFamily="34" charset="-122"/>
                <a:cs typeface="Courier New" pitchFamily="34" charset="-120"/>
              </a:rPr>
              <a:t>// default is 120</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options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Rows</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F8C77A"/>
                </a:solidFill>
                <a:latin typeface="Courier New" pitchFamily="34" charset="0"/>
                <a:ea typeface="Courier New" pitchFamily="34" charset="-122"/>
                <a:cs typeface="Courier New" pitchFamily="34" charset="-120"/>
              </a:rPr>
              <a:t>50</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i="1" dirty="0">
                <a:solidFill>
                  <a:srgbClr val="8B87A3"/>
                </a:solidFill>
                <a:latin typeface="Courier New" pitchFamily="34" charset="0"/>
                <a:ea typeface="Courier New" pitchFamily="34" charset="-122"/>
                <a:cs typeface="Courier New" pitchFamily="34" charset="-120"/>
              </a:rPr>
              <a:t>// default is 30</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Terminal notes panel"/>
          <p:cNvSpPr/>
          <p:nvPr/>
        </p:nvSpPr>
        <p:spPr>
          <a:xfrm>
            <a:off x="7772400" y="1325880"/>
            <a:ext cx="3840480" cy="4846320"/>
          </a:xfrm>
          <a:prstGeom prst="roundRect">
            <a:avLst>
              <a:gd name="adj" fmla="val 2381"/>
            </a:avLst>
          </a:prstGeom>
          <a:solidFill>
            <a:schemeClr val="bg2"/>
          </a:solidFill>
          <a:ln w="12700">
            <a:solidFill>
              <a:schemeClr val="bg2"/>
            </a:solidFill>
            <a:prstDash val="solid"/>
          </a:ln>
        </p:spPr>
      </p:sp>
      <p:sp>
        <p:nvSpPr>
          <p:cNvPr id="7" name="Terminal notes text"/>
          <p:cNvSpPr txBox="1"/>
          <p:nvPr/>
        </p:nvSpPr>
        <p:spPr>
          <a:xfrm>
            <a:off x="8046720" y="1554480"/>
            <a:ext cx="3291840" cy="4389120"/>
          </a:xfrm>
          <a:prstGeom prst="rect">
            <a:avLst/>
          </a:prstGeom>
          <a:noFill/>
          <a:ln/>
        </p:spPr>
        <p:txBody>
          <a:bodyPr wrap="square" lIns="0" tIns="0" rIns="0" bIns="0" rtlCol="0" anchor="t"/>
          <a:lstStyle/>
          <a:p>
            <a:pPr indent="0" marL="0">
              <a:buNone/>
            </a:pPr>
            <a:r>
              <a:rPr lang="en-US" sz="1500" b="1" dirty="0">
                <a:solidFill>
                  <a:schemeClr val="tx2"/>
                </a:solidFill>
              </a:rPr>
              <a:t>What it does</a:t>
            </a:r>
            <a:endParaRPr lang="en-US" sz="1500" dirty="0"/>
          </a:p>
          <a:p>
            <a:pPr indent="0" marL="0">
              <a:spcAft>
                <a:spcPts val="1200"/>
              </a:spcAft>
              <a:buNone/>
            </a:pPr>
            <a:r>
              <a:rPr lang="en-US" sz="1400" dirty="0">
                <a:solidFill>
                  <a:schemeClr val="tx1"/>
                </a:solidFill>
              </a:rPr>
              <a:t>The resource gets a live terminal session you can type into from the dashboard: shells, REPLs (interactive prompts like psql or Python) and text-based apps.</a:t>
            </a:r>
            <a:endParaRPr lang="en-US" sz="1500" dirty="0"/>
          </a:p>
          <a:p>
            <a:pPr indent="0" marL="0">
              <a:buNone/>
            </a:pPr>
            <a:r>
              <a:rPr lang="en-US" sz="1500" b="1" dirty="0">
                <a:solidFill>
                  <a:schemeClr val="tx2"/>
                </a:solidFill>
              </a:rPr>
              <a:t>Opens automatically</a:t>
            </a:r>
            <a:endParaRPr lang="en-US" sz="1500" dirty="0"/>
          </a:p>
          <a:p>
            <a:pPr indent="0" marL="0">
              <a:spcAft>
                <a:spcPts val="1200"/>
              </a:spcAft>
              <a:buNone/>
            </a:pPr>
            <a:r>
              <a:rPr lang="en-US" sz="1400" dirty="0">
                <a:solidFill>
                  <a:schemeClr val="tx1"/>
                </a:solidFill>
              </a:rPr>
              <a:t>A running resource with a terminal opens in the terminal view. Before it is running, you see console logs instead.</a:t>
            </a:r>
            <a:endParaRPr lang="en-US" sz="1500" dirty="0"/>
          </a:p>
          <a:p>
            <a:pPr indent="0" marL="0">
              <a:buNone/>
            </a:pPr>
            <a:r>
              <a:rPr lang="en-US" sz="1500" b="1" dirty="0">
                <a:solidFill>
                  <a:schemeClr val="tx2"/>
                </a:solidFill>
              </a:rPr>
              <a:t>Many viewers</a:t>
            </a:r>
            <a:endParaRPr lang="en-US" sz="1500" dirty="0"/>
          </a:p>
          <a:p>
            <a:pPr indent="0" marL="0">
              <a:spcAft>
                <a:spcPts val="1200"/>
              </a:spcAft>
              <a:buNone/>
            </a:pPr>
            <a:r>
              <a:rPr lang="en-US" sz="1400" dirty="0">
                <a:solidFill>
                  <a:schemeClr val="tx1"/>
                </a:solidFill>
              </a:rPr>
              <a:t>Several people or tabs can attach to the same session.</a:t>
            </a:r>
            <a:endParaRPr lang="en-US" sz="1500" dirty="0"/>
          </a:p>
        </p:txBody>
      </p:sp>
      <p:pic>
        <p:nvPicPr>
          <p:cNvPr id="8" name="Experimental icon" descr="preencoded.png">    </p:cNvPr>
          <p:cNvPicPr>
            <a:picLocks noChangeAspect="1"/>
          </p:cNvPicPr>
          <p:nvPr/>
        </p:nvPicPr>
        <p:blipFill>
          <a:blip r:embed="rId1"/>
          <a:stretch>
            <a:fillRect/>
          </a:stretch>
        </p:blipFill>
        <p:spPr>
          <a:xfrm>
            <a:off x="548640" y="5440680"/>
            <a:ext cx="365760" cy="365760"/>
          </a:xfrm>
          <a:prstGeom prst="rect">
            <a:avLst/>
          </a:prstGeom>
        </p:spPr>
      </p:pic>
      <p:sp>
        <p:nvSpPr>
          <p:cNvPr id="9" name="Experimental note"/>
          <p:cNvSpPr txBox="1"/>
          <p:nvPr/>
        </p:nvSpPr>
        <p:spPr>
          <a:xfrm>
            <a:off x="1051560" y="5394960"/>
            <a:ext cx="6400800" cy="457200"/>
          </a:xfrm>
          <a:prstGeom prst="rect">
            <a:avLst/>
          </a:prstGeom>
          <a:noFill/>
          <a:ln/>
        </p:spPr>
        <p:txBody>
          <a:bodyPr wrap="square" lIns="0" tIns="0" rIns="0" bIns="0" rtlCol="0" anchor="ctr"/>
          <a:lstStyle/>
          <a:p>
            <a:pPr indent="0" marL="0">
              <a:buNone/>
            </a:pPr>
            <a:r>
              <a:rPr lang="en-US" sz="1400" dirty="0">
                <a:solidFill>
                  <a:schemeClr val="tx1"/>
                </a:solidFill>
              </a:rPr>
              <a:t>Experimental: C# must suppress ASPIRETERMINAL001, and the API may change.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Run a C# file with a terminal: AddCSharpApp()</a:t>
            </a:r>
            <a:endParaRPr lang="en-US" sz="3400" dirty="0"/>
          </a:p>
        </p:txBody>
      </p:sp>
      <p:sp>
        <p:nvSpPr>
          <p:cNvPr id="3" name="Terminal TS panel"/>
          <p:cNvSpPr/>
          <p:nvPr/>
        </p:nvSpPr>
        <p:spPr>
          <a:xfrm>
            <a:off x="548640" y="1325880"/>
            <a:ext cx="6949440" cy="1463040"/>
          </a:xfrm>
          <a:prstGeom prst="roundRect">
            <a:avLst>
              <a:gd name="adj" fmla="val 2353"/>
            </a:avLst>
          </a:prstGeom>
          <a:solidFill>
            <a:srgbClr val="1C1830"/>
          </a:solidFill>
          <a:ln w="12700">
            <a:solidFill>
              <a:srgbClr val="1C1830"/>
            </a:solidFill>
            <a:prstDash val="solid"/>
          </a:ln>
        </p:spPr>
      </p:sp>
      <p:sp>
        <p:nvSpPr>
          <p:cNvPr id="4" name="Terminal TS label"/>
          <p:cNvSpPr txBox="1"/>
          <p:nvPr/>
        </p:nvSpPr>
        <p:spPr>
          <a:xfrm>
            <a:off x="777240" y="141732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  (excerpt)</a:t>
            </a:r>
            <a:endParaRPr lang="en-US" sz="1000" dirty="0"/>
          </a:p>
        </p:txBody>
      </p:sp>
      <p:sp>
        <p:nvSpPr>
          <p:cNvPr id="5" name="Terminal TS text"/>
          <p:cNvSpPr txBox="1"/>
          <p:nvPr/>
        </p:nvSpPr>
        <p:spPr>
          <a:xfrm>
            <a:off x="777240" y="1737360"/>
            <a:ext cx="6492240" cy="1280160"/>
          </a:xfrm>
          <a:prstGeom prst="rect">
            <a:avLst/>
          </a:prstGeom>
          <a:noFill/>
          <a:ln/>
        </p:spPr>
        <p:txBody>
          <a:bodyPr wrap="square" lIns="0" tIns="0" rIns="0" bIns="0" rtlCol="0" anchor="t"/>
          <a:lstStyle/>
          <a:p>
            <a:pPr indent="0" marL="0">
              <a:buNone/>
            </a:pPr>
            <a:pPr indent="0" marL="0">
              <a:buNone/>
            </a:pPr>
            <a:pPr indent="0" marL="0">
              <a:buNone/>
            </a:pPr>
            <a:pPr indent="0" marL="0">
              <a:buNone/>
            </a:pPr>
            <a:pPr indent="0" marL="0">
              <a:buNone/>
            </a:pPr>
            <a:pPr indent="0" marL="0">
              <a:buNone/>
            </a:pPr>
            <a:pPr indent="0" marL="0">
              <a:buNone/>
            </a:pPr>
            <a:pPr indent="0" marL="0">
              <a:buNone/>
            </a:pPr>
            <a:r>
              <a:rPr lang="en-US" sz="1050" dirty="0" i="1">
                <a:solidFill>
                  <a:srgbClr val="8B87A3"/>
                </a:solidFill>
                <a:latin typeface="Courier New" pitchFamily="34" charset="0"/>
                <a:ea typeface="Courier New" pitchFamily="34" charset="-122"/>
                <a:cs typeface="Courier New" pitchFamily="34" charset="-120"/>
              </a:rPr>
              <a:t>#pragma warning disable ASPIRECSHARPAPPS001, ASPIRETERMINAL001</a:t>
            </a:r>
          </a:p>
          <a:p>
            <a:pPr indent="0" marL="0">
              <a:buNone/>
            </a:pPr>
            <a:pPr indent="0" marL="0">
              <a:buNone/>
            </a:pPr>
            <a:pPr indent="0" marL="0">
              <a:buNone/>
            </a:pPr>
            <a:pPr indent="0" marL="0">
              <a:buNone/>
            </a:pPr>
            <a:pPr indent="0" marL="0">
              <a:buNone/>
            </a:pPr>
            <a:pPr indent="0" marL="0">
              <a:buNone/>
            </a:pPr>
            <a:pPr indent="0" marL="0">
              <a:buNone/>
            </a:pPr>
            <a:pPr indent="0" marL="0">
              <a:buNone/>
            </a:pPr>
            <a:r>
              <a:rPr lang="en-US" sz="1050" dirty="0" i="0">
                <a:solidFill>
                  <a:srgbClr val="E8E6F0"/>
                </a:solidFill>
                <a:latin typeface="Courier New" pitchFamily="34" charset="0"/>
                <a:ea typeface="Courier New" pitchFamily="34" charset="-122"/>
                <a:cs typeface="Courier New" pitchFamily="34" charset="-120"/>
              </a:rPr>
              <a:t> </a:t>
            </a:r>
          </a:p>
          <a:p>
            <a:pPr indent="0" marL="0">
              <a:buNone/>
            </a:pPr>
            <a:pPr indent="0" marL="0">
              <a:buNone/>
            </a:pPr>
            <a:pPr indent="0" marL="0">
              <a:buNone/>
            </a:pPr>
            <a:pPr indent="0" marL="0">
              <a:buNone/>
            </a:pPr>
            <a:pPr indent="0" marL="0">
              <a:buNone/>
            </a:pPr>
            <a:pPr indent="0" marL="0">
              <a:buNone/>
            </a:pPr>
            <a:pPr indent="0" marL="0">
              <a:buNone/>
            </a:pPr>
            <a:pPr indent="0" marL="0">
              <a:buNone/>
            </a:pPr>
            <a:r>
              <a:rPr lang="en-US" sz="1050" dirty="0" i="0">
                <a:solidFill>
                  <a:srgbClr val="E8E6F0"/>
                </a:solidFill>
                <a:latin typeface="Courier New" pitchFamily="34" charset="0"/>
                <a:ea typeface="Courier New" pitchFamily="34" charset="-122"/>
                <a:cs typeface="Courier New" pitchFamily="34" charset="-120"/>
              </a:rPr>
              <a:t>builder</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AddCSharpApp</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8FE3B0"/>
                </a:solidFill>
                <a:latin typeface="Courier New" pitchFamily="34" charset="0"/>
                <a:ea typeface="Courier New" pitchFamily="34" charset="-122"/>
                <a:cs typeface="Courier New" pitchFamily="34" charset="-120"/>
              </a:rPr>
              <a:t>"producer-console"</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 </a:t>
            </a:r>
            <a:r>
              <a:rPr lang="en-US" sz="1050" dirty="0" i="0">
                <a:solidFill>
                  <a:srgbClr val="8FE3B0"/>
                </a:solidFill>
                <a:latin typeface="Courier New" pitchFamily="34" charset="0"/>
                <a:ea typeface="Courier New" pitchFamily="34" charset="-122"/>
                <a:cs typeface="Courier New" pitchFamily="34" charset="-120"/>
              </a:rPr>
              <a:t>"./producerconsole.cs"</a:t>
            </a:r>
            <a:r>
              <a:rPr lang="en-US" sz="1050" dirty="0" i="0">
                <a:solidFill>
                  <a:srgbClr val="E8E6F0"/>
                </a:solidFill>
                <a:latin typeface="Courier New" pitchFamily="34" charset="0"/>
                <a:ea typeface="Courier New" pitchFamily="34" charset="-122"/>
                <a:cs typeface="Courier New" pitchFamily="34" charset="-120"/>
              </a:rPr>
              <a:t>)</a:t>
            </a:r>
          </a:p>
          <a:p>
            <a:pPr indent="0" marL="0">
              <a:buNone/>
            </a:pPr>
            <a:pPr indent="0" marL="0">
              <a:buNone/>
            </a:pPr>
            <a:pPr indent="0" marL="0">
              <a:buNone/>
            </a:pPr>
            <a:pPr indent="0" marL="0">
              <a:buNone/>
            </a:pPr>
            <a:pPr indent="0" marL="0">
              <a:buNone/>
            </a:pPr>
            <a:pPr indent="0" marL="0">
              <a:buNone/>
            </a:pPr>
            <a:pPr indent="0" marL="0">
              <a:buNone/>
            </a:pPr>
            <a:pPr indent="0" marL="0">
              <a:buNone/>
            </a:pPr>
            <a:r>
              <a:rPr lang="en-US" sz="1050" dirty="0" i="0">
                <a:solidFill>
                  <a:srgbClr val="E8E6F0"/>
                </a:solidFill>
                <a:latin typeface="Courier New" pitchFamily="34" charset="0"/>
                <a:ea typeface="Courier New" pitchFamily="34" charset="-122"/>
                <a:cs typeface="Courier New" pitchFamily="34" charset="-120"/>
              </a:rPr>
              <a:t>    </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WithReference</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admin</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WaitFor</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admin</a:t>
            </a:r>
            <a:r>
              <a:rPr lang="en-US" sz="1050" dirty="0" i="0">
                <a:solidFill>
                  <a:srgbClr val="E8E6F0"/>
                </a:solidFill>
                <a:latin typeface="Courier New" pitchFamily="34" charset="0"/>
                <a:ea typeface="Courier New" pitchFamily="34" charset="-122"/>
                <a:cs typeface="Courier New" pitchFamily="34" charset="-120"/>
              </a:rPr>
              <a:t>)</a:t>
            </a:r>
          </a:p>
          <a:p>
            <a:pPr indent="0" marL="0">
              <a:buNone/>
            </a:pPr>
            <a:pPr indent="0" marL="0">
              <a:buNone/>
            </a:pPr>
            <a:pPr indent="0" marL="0">
              <a:buNone/>
            </a:pPr>
            <a:pPr indent="0" marL="0">
              <a:buNone/>
            </a:pPr>
            <a:pPr indent="0" marL="0">
              <a:buNone/>
            </a:pPr>
            <a:pPr indent="0" marL="0">
              <a:buNone/>
            </a:pPr>
            <a:pPr indent="0" marL="0">
              <a:buNone/>
            </a:pPr>
            <a:pPr indent="0" marL="0">
              <a:buNone/>
            </a:pPr>
            <a:r>
              <a:rPr lang="en-US" sz="1050" dirty="0" i="0">
                <a:solidFill>
                  <a:srgbClr val="E8E6F0"/>
                </a:solidFill>
                <a:latin typeface="Courier New" pitchFamily="34" charset="0"/>
                <a:ea typeface="Courier New" pitchFamily="34" charset="-122"/>
                <a:cs typeface="Courier New" pitchFamily="34" charset="-120"/>
              </a:rPr>
              <a:t>    </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WithTerminal</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t>
            </a:r>
          </a:p>
        </p:txBody>
      </p:sp>
      <p:sp>
        <p:nvSpPr>
          <p:cNvPr id="6" name="Terminal CLI panel"/>
          <p:cNvSpPr/>
          <p:nvPr/>
        </p:nvSpPr>
        <p:spPr>
          <a:xfrm>
            <a:off x="548640" y="3017520"/>
            <a:ext cx="6949440" cy="3017520"/>
          </a:xfrm>
          <a:prstGeom prst="roundRect">
            <a:avLst>
              <a:gd name="adj" fmla="val 5714"/>
            </a:avLst>
          </a:prstGeom>
          <a:solidFill>
            <a:srgbClr val="1C1830"/>
          </a:solidFill>
          <a:ln w="12700">
            <a:solidFill>
              <a:srgbClr val="1C1830"/>
            </a:solidFill>
            <a:prstDash val="solid"/>
          </a:ln>
        </p:spPr>
      </p:sp>
      <p:sp>
        <p:nvSpPr>
          <p:cNvPr id="7" name="Terminal CLI label"/>
          <p:cNvSpPr txBox="1"/>
          <p:nvPr/>
        </p:nvSpPr>
        <p:spPr>
          <a:xfrm>
            <a:off x="777240" y="310896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producerconsole.cs  (trimmed)</a:t>
            </a:r>
            <a:endParaRPr lang="en-US" sz="1000" dirty="0"/>
          </a:p>
        </p:txBody>
      </p:sp>
      <p:sp>
        <p:nvSpPr>
          <p:cNvPr id="8" name="Terminal CLI text"/>
          <p:cNvSpPr txBox="1"/>
          <p:nvPr/>
        </p:nvSpPr>
        <p:spPr>
          <a:xfrm>
            <a:off x="777240" y="3429000"/>
            <a:ext cx="6492240" cy="2514600"/>
          </a:xfrm>
          <a:prstGeom prst="rect">
            <a:avLst/>
          </a:prstGeom>
          <a:noFill/>
          <a:ln/>
        </p:spPr>
        <p:txBody>
          <a:bodyPr wrap="square" lIns="0" tIns="0" rIns="0" bIns="0" rtlCol="0" anchor="t"/>
          <a:lstStyle/>
          <a:p>
            <a:pPr indent="0" marL="0">
              <a:buNone/>
            </a:pPr>
            <a:r>
              <a:rPr lang="en-US" sz="1000" i="1" dirty="0">
                <a:solidFill>
                  <a:srgbClr val="8B87A3"/>
                </a:solidFill>
                <a:latin typeface="Courier New" pitchFamily="34" charset="0"/>
                <a:ea typeface="Courier New" pitchFamily="34" charset="-122"/>
                <a:cs typeface="Courier New" pitchFamily="34" charset="-120"/>
              </a:rPr>
              <a:t>// Address injected by WithReference(admin)</a:t>
            </a:r>
          </a:p>
          <a:p>
            <a:pPr indent="0" marL="0">
              <a:buNone/>
            </a:pPr>
            <a:r>
              <a:rPr lang="en-US" sz="1000" i="0" dirty="0">
                <a:solidFill>
                  <a:srgbClr val="C4A7FF"/>
                </a:solidFill>
                <a:latin typeface="Courier New" pitchFamily="34" charset="0"/>
                <a:ea typeface="Courier New" pitchFamily="34" charset="-122"/>
                <a:cs typeface="Courier New" pitchFamily="34" charset="-120"/>
              </a:rPr>
              <a:t>var</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adminUrl</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Environment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GetEnvironmentVariable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8FE3B0"/>
                </a:solidFill>
                <a:latin typeface="Courier New" pitchFamily="34" charset="0"/>
                <a:ea typeface="Courier New" pitchFamily="34" charset="-122"/>
                <a:cs typeface="Courier New" pitchFamily="34" charset="-120"/>
              </a:rPr>
              <a:t>"services__boardadmin__https__0"</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Environment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GetEnvironmentVariable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8FE3B0"/>
                </a:solidFill>
                <a:latin typeface="Courier New" pitchFamily="34" charset="0"/>
                <a:ea typeface="Courier New" pitchFamily="34" charset="-122"/>
                <a:cs typeface="Courier New" pitchFamily="34" charset="-120"/>
              </a:rPr>
              <a:t>"services__boardadmin__http__0"</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throw</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new</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InvalidOperationException</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8FE3B0"/>
                </a:solidFill>
                <a:latin typeface="Courier New" pitchFamily="34" charset="0"/>
                <a:ea typeface="Courier New" pitchFamily="34" charset="-122"/>
                <a:cs typeface="Courier New" pitchFamily="34" charset="-120"/>
              </a:rPr>
              <a:t>"The boardadmin endpoint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p>
          <a:p>
            <a:pPr indent="0" marL="0">
              <a:buNone/>
            </a:pPr>
            <a:r>
              <a:rPr lang="en-US" sz="1000" i="0" dirty="0">
                <a:solidFill>
                  <a:srgbClr val="C4A7FF"/>
                </a:solidFill>
                <a:latin typeface="Courier New" pitchFamily="34" charset="0"/>
                <a:ea typeface="Courier New" pitchFamily="34" charset="-122"/>
                <a:cs typeface="Courier New" pitchFamily="34" charset="-120"/>
              </a:rPr>
              <a:t>using</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var</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client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new</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HttpClient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BaseAddress</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new</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Uri</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adminUrl</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p>
          <a:p>
            <a:pPr indent="0" marL="0">
              <a:buNone/>
            </a:pPr>
            <a:r>
              <a:rPr lang="en-US" sz="1000" i="0" dirty="0">
                <a:solidFill>
                  <a:srgbClr val="C4A7FF"/>
                </a:solidFill>
                <a:latin typeface="Courier New" pitchFamily="34" charset="0"/>
                <a:ea typeface="Courier New" pitchFamily="34" charset="-122"/>
                <a:cs typeface="Courier New" pitchFamily="34" charset="-120"/>
              </a:rPr>
              <a:t>while</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C4A7FF"/>
                </a:solidFill>
                <a:latin typeface="Courier New" pitchFamily="34" charset="0"/>
                <a:ea typeface="Courier New" pitchFamily="34" charset="-122"/>
                <a:cs typeface="Courier New" pitchFamily="34" charset="-120"/>
              </a:rPr>
              <a:t>true</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Console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Write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8FE3B0"/>
                </a:solidFill>
                <a:latin typeface="Courier New" pitchFamily="34" charset="0"/>
                <a:ea typeface="Courier New" pitchFamily="34" charset="-122"/>
                <a:cs typeface="Courier New" pitchFamily="34" charset="-120"/>
              </a:rPr>
              <a:t>"\nproducer&gt;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var</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input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Console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ReadLine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Trim</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1" dirty="0">
                <a:solidFill>
                  <a:srgbClr val="8B87A3"/>
                </a:solidFill>
                <a:latin typeface="Courier New" pitchFamily="34" charset="0"/>
                <a:ea typeface="Courier New" pitchFamily="34" charset="-122"/>
                <a:cs typeface="Courier New" pitchFamily="34" charset="-120"/>
              </a:rPr>
              <a:t>// status, call &lt;square-id&gt;, clear &lt;square-id&gt;, help, quit</a:t>
            </a:r>
          </a:p>
          <a:p>
            <a:pPr indent="0" marL="0">
              <a:buNone/>
            </a:pPr>
            <a:r>
              <a:rPr lang="en-US" sz="1000" i="0" dirty="0">
                <a:solidFill>
                  <a:srgbClr val="E8E6F0"/>
                </a:solidFill>
                <a:latin typeface="Courier New" pitchFamily="34" charset="0"/>
                <a:ea typeface="Courier New" pitchFamily="34" charset="-122"/>
                <a:cs typeface="Courier New" pitchFamily="34" charset="-120"/>
              </a:rPr>
              <a:t>}</a:t>
            </a:r>
          </a:p>
        </p:txBody>
      </p:sp>
      <p:sp>
        <p:nvSpPr>
          <p:cNvPr id="9" name="TS notes panel"/>
          <p:cNvSpPr/>
          <p:nvPr/>
        </p:nvSpPr>
        <p:spPr>
          <a:xfrm>
            <a:off x="7772400" y="1325880"/>
            <a:ext cx="3840480" cy="4709160"/>
          </a:xfrm>
          <a:prstGeom prst="roundRect">
            <a:avLst>
              <a:gd name="adj" fmla="val 2381"/>
            </a:avLst>
          </a:prstGeom>
          <a:solidFill>
            <a:schemeClr val="bg2"/>
          </a:solidFill>
          <a:ln w="12700">
            <a:solidFill>
              <a:schemeClr val="bg2"/>
            </a:solidFill>
            <a:prstDash val="solid"/>
          </a:ln>
        </p:spPr>
      </p:sp>
      <p:sp>
        <p:nvSpPr>
          <p:cNvPr id="10" name="TS notes text"/>
          <p:cNvSpPr txBox="1"/>
          <p:nvPr/>
        </p:nvSpPr>
        <p:spPr>
          <a:xfrm>
            <a:off x="8046720" y="1554480"/>
            <a:ext cx="3291840" cy="4389120"/>
          </a:xfrm>
          <a:prstGeom prst="rect">
            <a:avLst/>
          </a:prstGeom>
          <a:noFill/>
          <a:ln/>
        </p:spPr>
        <p:txBody>
          <a:bodyPr wrap="square" lIns="0" tIns="0" rIns="0" bIns="0" rtlCol="0" anchor="t"/>
          <a:lstStyle/>
          <a:p>
            <a:pPr indent="0" marL="0">
              <a:buNone/>
            </a:pPr>
            <a:r>
              <a:rPr lang="en-US" sz="1400" b="1" dirty="0">
                <a:solidFill>
                  <a:schemeClr val="tx2"/>
                </a:solidFill>
              </a:rPr>
              <a:t>AddCSharpApp</a:t>
            </a:r>
            <a:endParaRPr lang="en-US" sz="1500" dirty="0"/>
          </a:p>
          <a:p>
            <a:pPr indent="0" marL="0">
              <a:spcAft>
                <a:spcPts val="1200"/>
              </a:spcAft>
              <a:buNone/>
            </a:pPr>
            <a:r>
              <a:rPr lang="en-US" sz="1300" dirty="0">
                <a:solidFill>
                  <a:schemeClr val="tx1"/>
                </a:solidFill>
              </a:rPr>
              <a:t>Runs a single .cs file as a resource, with no .csproj. Needs the .NET 10 SDK.</a:t>
            </a:r>
            <a:endParaRPr lang="en-US" sz="1500" dirty="0"/>
          </a:p>
          <a:p>
            <a:pPr indent="0" marL="0">
              <a:buNone/>
            </a:pPr>
            <a:r>
              <a:rPr lang="en-US" sz="1400" b="1" dirty="0">
                <a:solidFill>
                  <a:schemeClr val="tx2"/>
                </a:solidFill>
              </a:rPr>
              <a:t>WithReference(admin)</a:t>
            </a:r>
            <a:endParaRPr lang="en-US" sz="1500" dirty="0"/>
          </a:p>
          <a:p>
            <a:pPr indent="0" marL="0">
              <a:spcAft>
                <a:spcPts val="1200"/>
              </a:spcAft>
              <a:buNone/>
            </a:pPr>
            <a:r>
              <a:rPr lang="en-US" sz="1300" dirty="0">
                <a:solidFill>
                  <a:schemeClr val="tx1"/>
                </a:solidFill>
              </a:rPr>
              <a:t>The console finds the admin API through services__boardadmin__https__0, the same environment variables shown earlier.</a:t>
            </a:r>
            <a:endParaRPr lang="en-US" sz="1500" dirty="0"/>
          </a:p>
          <a:p>
            <a:pPr indent="0" marL="0">
              <a:buNone/>
            </a:pPr>
            <a:r>
              <a:rPr lang="en-US" sz="1400" b="1" dirty="0">
                <a:solidFill>
                  <a:schemeClr val="tx2"/>
                </a:solidFill>
              </a:rPr>
              <a:t>WithTerminal()</a:t>
            </a:r>
            <a:endParaRPr lang="en-US" sz="1500" dirty="0"/>
          </a:p>
          <a:p>
            <a:pPr indent="0" marL="0">
              <a:spcAft>
                <a:spcPts val="1200"/>
              </a:spcAft>
              <a:buNone/>
            </a:pPr>
            <a:r>
              <a:rPr lang="en-US" sz="1300" dirty="0">
                <a:solidFill>
                  <a:schemeClr val="tx1"/>
                </a:solidFill>
              </a:rPr>
              <a:t>The console waits on Console.ReadLine(). With a terminal you can type its commands (status, call, clear) from the dashboard.</a:t>
            </a:r>
            <a:endParaRPr lang="en-US" sz="1500" dirty="0"/>
          </a:p>
          <a:p>
            <a:pPr indent="0" marL="0">
              <a:buNone/>
            </a:pPr>
            <a:r>
              <a:rPr lang="en-US" sz="1400" b="1" dirty="0">
                <a:solidFill>
                  <a:schemeClr val="tx2"/>
                </a:solidFill>
              </a:rPr>
              <a:t>Experimental</a:t>
            </a:r>
            <a:endParaRPr lang="en-US" sz="1500" dirty="0"/>
          </a:p>
          <a:p>
            <a:pPr indent="0" marL="0">
              <a:spcAft>
                <a:spcPts val="1200"/>
              </a:spcAft>
              <a:buNone/>
            </a:pPr>
            <a:r>
              <a:rPr lang="en-US" sz="1300" dirty="0">
                <a:solidFill>
                  <a:schemeClr val="tx1"/>
                </a:solidFill>
              </a:rPr>
              <a:t>Both APIs are experimental. Suppress ASPIRECSHARPAPPS001 and ASPIRETERMINAL001.</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it looks like: the terminal view</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19</a:t>
            </a:fld>
            <a:endParaRPr lang="en-US"/>
          </a:p>
        </p:txBody>
      </p:sp>
      <p:pic>
        <p:nvPicPr>
          <p:cNvPr id="26" name="Dashboard screenshot" descr="The Aspire 13.5 dashboard Console logs page showing a live terminal running the guessing-game resource"/>
          <p:cNvPicPr>
            <a:picLocks noChangeAspect="1"/>
          </p:cNvPicPr>
          <p:nvPr/>
        </p:nvPicPr>
        <p:blipFill>
          <a:blip r:embed="rId3"/>
          <a:stretch>
            <a:fillRect/>
          </a:stretch>
        </p:blipFill>
        <p:spPr>
          <a:xfrm>
            <a:off x="548640" y="1280160"/>
            <a:ext cx="7168896" cy="4480560"/>
          </a:xfrm>
          <a:prstGeom prst="rect">
            <a:avLst/>
          </a:prstGeom>
          <a:ln w="12700">
            <a:solidFill>
              <a:srgbClr val="D9D6E8"/>
            </a:solidFill>
          </a:ln>
        </p:spPr>
      </p:pic>
      <p:sp>
        <p:nvSpPr>
          <p:cNvPr id="1001" name="Step circle 1"/>
          <p:cNvSpPr/>
          <p:nvPr/>
        </p:nvSpPr>
        <p:spPr>
          <a:xfrm>
            <a:off x="8503920" y="1325880"/>
            <a:ext cx="347472" cy="347472"/>
          </a:xfrm>
          <a:prstGeom prst="ellipse">
            <a:avLst/>
          </a:prstGeom>
          <a:solidFill>
            <a:schemeClr val="accent1"/>
          </a:solidFill>
          <a:ln w="12700">
            <a:solidFill>
              <a:schemeClr val="accent1"/>
            </a:solidFill>
            <a:prstDash val="solid"/>
          </a:ln>
        </p:spPr>
      </p:sp>
      <p:sp>
        <p:nvSpPr>
          <p:cNvPr id="1002"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03"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Open Console logs</a:t>
            </a:r>
            <a:endParaRPr lang="en-US" sz="1500" dirty="0"/>
          </a:p>
        </p:txBody>
      </p:sp>
      <p:sp>
        <p:nvSpPr>
          <p:cNvPr id="1004"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Choose the resource from the Resource dropdown (here: guessing-game).</a:t>
            </a:r>
            <a:endParaRPr lang="en-US" sz="1300" dirty="0"/>
          </a:p>
        </p:txBody>
      </p:sp>
      <p:sp>
        <p:nvSpPr>
          <p:cNvPr id="1005" name="Step circle 2"/>
          <p:cNvSpPr/>
          <p:nvPr/>
        </p:nvSpPr>
        <p:spPr>
          <a:xfrm>
            <a:off x="8503920" y="2788920"/>
            <a:ext cx="347472" cy="347472"/>
          </a:xfrm>
          <a:prstGeom prst="ellipse">
            <a:avLst/>
          </a:prstGeom>
          <a:solidFill>
            <a:schemeClr val="accent1"/>
          </a:solidFill>
          <a:ln w="12700">
            <a:solidFill>
              <a:schemeClr val="accent1"/>
            </a:solidFill>
            <a:prstDash val="solid"/>
          </a:ln>
        </p:spPr>
      </p:sp>
      <p:sp>
        <p:nvSpPr>
          <p:cNvPr id="1006"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07"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The live terminal appears</a:t>
            </a:r>
            <a:endParaRPr lang="en-US" sz="1500" dirty="0"/>
          </a:p>
        </p:txBody>
      </p:sp>
      <p:sp>
        <p:nvSpPr>
          <p:cNvPr id="1008"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running resource with WithTerminal() shows an interactive session. You can switch replicas or go back to normal logs without stopping it.</a:t>
            </a:r>
            <a:endParaRPr lang="en-US" sz="1300" dirty="0"/>
          </a:p>
        </p:txBody>
      </p:sp>
      <p:sp>
        <p:nvSpPr>
          <p:cNvPr id="1009" name="Step circle 3"/>
          <p:cNvSpPr/>
          <p:nvPr/>
        </p:nvSpPr>
        <p:spPr>
          <a:xfrm>
            <a:off x="8503920" y="4251960"/>
            <a:ext cx="347472" cy="347472"/>
          </a:xfrm>
          <a:prstGeom prst="ellipse">
            <a:avLst/>
          </a:prstGeom>
          <a:solidFill>
            <a:schemeClr val="accent1"/>
          </a:solidFill>
          <a:ln w="12700">
            <a:solidFill>
              <a:schemeClr val="accent1"/>
            </a:solidFill>
            <a:prstDash val="solid"/>
          </a:ln>
        </p:spPr>
      </p:sp>
      <p:sp>
        <p:nvSpPr>
          <p:cNvPr id="1010"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11"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Type like a normal shell</a:t>
            </a:r>
            <a:endParaRPr lang="en-US" sz="1500" dirty="0"/>
          </a:p>
        </p:txBody>
      </p:sp>
      <p:sp>
        <p:nvSpPr>
          <p:cNvPr id="1012"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Keystrokes go to the live session. The session size shows top-right (95 × 24 here).</a:t>
            </a:r>
            <a:endParaRPr lang="en-US" sz="1300" dirty="0"/>
          </a:p>
        </p:txBody>
      </p:sp>
      <p:sp>
        <p:nvSpPr>
          <p:cNvPr id="1013"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Real screenshot: the guessing-game playground from the Aspire repo. Source: Aspire blog, “Aspire 13.5: Fresh pixels and better workflows” (Aug 18, 2026).</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same terminal from TypeScript and the CLI</a:t>
            </a:r>
            <a:endParaRPr lang="en-US" sz="3400" dirty="0"/>
          </a:p>
        </p:txBody>
      </p:sp>
      <p:sp>
        <p:nvSpPr>
          <p:cNvPr id="3" name="Terminal TS panel"/>
          <p:cNvSpPr/>
          <p:nvPr/>
        </p:nvSpPr>
        <p:spPr>
          <a:xfrm>
            <a:off x="548640" y="1325880"/>
            <a:ext cx="6949440" cy="3108960"/>
          </a:xfrm>
          <a:prstGeom prst="roundRect">
            <a:avLst>
              <a:gd name="adj" fmla="val 2353"/>
            </a:avLst>
          </a:prstGeom>
          <a:solidFill>
            <a:srgbClr val="1C1830"/>
          </a:solidFill>
          <a:ln w="12700">
            <a:solidFill>
              <a:srgbClr val="1C1830"/>
            </a:solidFill>
            <a:prstDash val="solid"/>
          </a:ln>
        </p:spPr>
      </p:sp>
      <p:sp>
        <p:nvSpPr>
          <p:cNvPr id="4" name="Terminal TS label"/>
          <p:cNvSpPr txBox="1"/>
          <p:nvPr/>
        </p:nvSpPr>
        <p:spPr>
          <a:xfrm>
            <a:off x="777240" y="141732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TYPESCRIPT  ·  apphost.mts</a:t>
            </a:r>
            <a:endParaRPr lang="en-US" sz="1000" dirty="0"/>
          </a:p>
        </p:txBody>
      </p:sp>
      <p:sp>
        <p:nvSpPr>
          <p:cNvPr id="5" name="Terminal TS text"/>
          <p:cNvSpPr txBox="1"/>
          <p:nvPr/>
        </p:nvSpPr>
        <p:spPr>
          <a:xfrm>
            <a:off x="777240" y="1737360"/>
            <a:ext cx="6492240" cy="2606040"/>
          </a:xfrm>
          <a:prstGeom prst="rect">
            <a:avLst/>
          </a:prstGeom>
          <a:noFill/>
          <a:ln/>
        </p:spPr>
        <p:txBody>
          <a:bodyPr wrap="square" lIns="0" tIns="0" rIns="0" bIns="0" rtlCol="0" anchor="t"/>
          <a:lstStyle/>
          <a:p>
            <a:pPr indent="0" marL="0">
              <a:buNone/>
            </a:pPr>
            <a:r>
              <a:rPr lang="en-US" sz="1300" dirty="0">
                <a:solidFill>
                  <a:srgbClr val="C4A7FF"/>
                </a:solidFill>
                <a:latin typeface="Courier New" pitchFamily="34" charset="0"/>
                <a:ea typeface="Courier New" pitchFamily="34" charset="-122"/>
                <a:cs typeface="Courier New" pitchFamily="34" charset="-120"/>
              </a:rPr>
              <a:t>import</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from</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'./.aspire/modules/aspire.mjs'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TypeScript exposes a parameterless withTerminal().</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Columns/Rows can only be set from C#.</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addContainer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'db'</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withTerminal</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Terminal CLI panel"/>
          <p:cNvSpPr/>
          <p:nvPr/>
        </p:nvSpPr>
        <p:spPr>
          <a:xfrm>
            <a:off x="548640" y="4663440"/>
            <a:ext cx="6949440" cy="1280160"/>
          </a:xfrm>
          <a:prstGeom prst="roundRect">
            <a:avLst>
              <a:gd name="adj" fmla="val 5714"/>
            </a:avLst>
          </a:prstGeom>
          <a:solidFill>
            <a:srgbClr val="1C1830"/>
          </a:solidFill>
          <a:ln w="12700">
            <a:solidFill>
              <a:srgbClr val="1C1830"/>
            </a:solidFill>
            <a:prstDash val="solid"/>
          </a:ln>
        </p:spPr>
      </p:sp>
      <p:sp>
        <p:nvSpPr>
          <p:cNvPr id="7" name="Terminal CLI label"/>
          <p:cNvSpPr txBox="1"/>
          <p:nvPr/>
        </p:nvSpPr>
        <p:spPr>
          <a:xfrm>
            <a:off x="777240" y="475488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TERMINAL  ·  Aspire CLI</a:t>
            </a:r>
            <a:endParaRPr lang="en-US" sz="1000" dirty="0"/>
          </a:p>
        </p:txBody>
      </p:sp>
      <p:sp>
        <p:nvSpPr>
          <p:cNvPr id="8" name="Terminal CLI text"/>
          <p:cNvSpPr txBox="1"/>
          <p:nvPr/>
        </p:nvSpPr>
        <p:spPr>
          <a:xfrm>
            <a:off x="777240" y="5074920"/>
            <a:ext cx="6492240" cy="77724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 Turn on the experimental terminal commands</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config</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set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features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terminalCommandsEnabled</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C4A7FF"/>
                </a:solidFill>
                <a:latin typeface="Courier New" pitchFamily="34" charset="0"/>
                <a:ea typeface="Courier New" pitchFamily="34" charset="-122"/>
                <a:cs typeface="Courier New" pitchFamily="34" charset="-120"/>
              </a:rPr>
              <a:t>true</a:t>
            </a:r>
            <a:endParaRPr lang="en-US" sz="1300" dirty="0"/>
          </a:p>
        </p:txBody>
      </p:sp>
      <p:sp>
        <p:nvSpPr>
          <p:cNvPr id="9" name="TS notes panel"/>
          <p:cNvSpPr/>
          <p:nvPr/>
        </p:nvSpPr>
        <p:spPr>
          <a:xfrm>
            <a:off x="7772400" y="1325880"/>
            <a:ext cx="3840480" cy="4846320"/>
          </a:xfrm>
          <a:prstGeom prst="roundRect">
            <a:avLst>
              <a:gd name="adj" fmla="val 2381"/>
            </a:avLst>
          </a:prstGeom>
          <a:solidFill>
            <a:schemeClr val="bg2"/>
          </a:solidFill>
          <a:ln w="12700">
            <a:solidFill>
              <a:schemeClr val="bg2"/>
            </a:solidFill>
            <a:prstDash val="solid"/>
          </a:ln>
        </p:spPr>
      </p:sp>
      <p:sp>
        <p:nvSpPr>
          <p:cNvPr id="10" name="TS notes text"/>
          <p:cNvSpPr txBox="1"/>
          <p:nvPr/>
        </p:nvSpPr>
        <p:spPr>
          <a:xfrm>
            <a:off x="8046720" y="1554480"/>
            <a:ext cx="3291840" cy="4389120"/>
          </a:xfrm>
          <a:prstGeom prst="rect">
            <a:avLst/>
          </a:prstGeom>
          <a:noFill/>
          <a:ln/>
        </p:spPr>
        <p:txBody>
          <a:bodyPr wrap="square" lIns="0" tIns="0" rIns="0" bIns="0" rtlCol="0" anchor="t"/>
          <a:lstStyle/>
          <a:p>
            <a:pPr indent="0" marL="0">
              <a:buNone/>
            </a:pPr>
            <a:r>
              <a:rPr lang="en-US" sz="1500" b="1" dirty="0">
                <a:solidFill>
                  <a:schemeClr val="tx2"/>
                </a:solidFill>
              </a:rPr>
              <a:t>TypeScript AppHosts</a:t>
            </a:r>
            <a:endParaRPr lang="en-US" sz="1500" dirty="0"/>
          </a:p>
          <a:p>
            <a:pPr indent="0" marL="0">
              <a:spcAft>
                <a:spcPts val="1200"/>
              </a:spcAft>
              <a:buNone/>
            </a:pPr>
            <a:r>
              <a:rPr lang="en-US" sz="1400" dirty="0">
                <a:solidFill>
                  <a:schemeClr val="tx1"/>
                </a:solidFill>
              </a:rPr>
              <a:t>TypeScript AppHosts are generally available (fully supported) in 13.5, so this works without any experimental opt-in for TypeScript itself.</a:t>
            </a:r>
            <a:endParaRPr lang="en-US" sz="1500" dirty="0"/>
          </a:p>
          <a:p>
            <a:pPr indent="0" marL="0">
              <a:buNone/>
            </a:pPr>
            <a:r>
              <a:rPr lang="en-US" sz="1500" b="1" dirty="0">
                <a:solidFill>
                  <a:schemeClr val="tx2"/>
                </a:solidFill>
              </a:rPr>
              <a:t>Attach from your shell</a:t>
            </a:r>
            <a:endParaRPr lang="en-US" sz="1500" dirty="0"/>
          </a:p>
          <a:p>
            <a:pPr indent="0" marL="0">
              <a:spcAft>
                <a:spcPts val="1200"/>
              </a:spcAft>
              <a:buNone/>
            </a:pPr>
            <a:r>
              <a:rPr lang="en-US" sz="1400" dirty="0">
                <a:solidFill>
                  <a:schemeClr val="tx1"/>
                </a:solidFill>
              </a:rPr>
              <a:t>After enabling the feature flag, the aspire terminal commands can list sessions and attach from your own terminal.</a:t>
            </a:r>
            <a:endParaRPr lang="en-US" sz="1500" dirty="0"/>
          </a:p>
          <a:p>
            <a:pPr indent="0" marL="0">
              <a:buNone/>
            </a:pPr>
            <a:r>
              <a:rPr lang="en-US" sz="1500" b="1" dirty="0">
                <a:solidFill>
                  <a:schemeClr val="tx2"/>
                </a:solidFill>
              </a:rPr>
              <a:t>Try it</a:t>
            </a:r>
            <a:endParaRPr lang="en-US" sz="1500" dirty="0"/>
          </a:p>
          <a:p>
            <a:pPr indent="0" marL="0">
              <a:spcAft>
                <a:spcPts val="1200"/>
              </a:spcAft>
              <a:buNone/>
            </a:pPr>
            <a:r>
              <a:rPr lang="en-US" sz="1400" dirty="0">
                <a:solidFill>
                  <a:schemeClr val="tx1"/>
                </a:solidFill>
              </a:rPr>
              <a:t>The Aspire repo has a small guessing-game playground you can play inside the dashboard.</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Ask the user for input from a command</a:t>
            </a:r>
            <a:endParaRPr lang="en-US" sz="3400" dirty="0"/>
          </a:p>
        </p:txBody>
      </p:sp>
      <p:sp>
        <p:nvSpPr>
          <p:cNvPr id="3" name="Prompt CS panel"/>
          <p:cNvSpPr/>
          <p:nvPr/>
        </p:nvSpPr>
        <p:spPr>
          <a:xfrm>
            <a:off x="548640" y="1234440"/>
            <a:ext cx="7589520" cy="5074920"/>
          </a:xfrm>
          <a:prstGeom prst="roundRect">
            <a:avLst>
              <a:gd name="adj" fmla="val 1441"/>
            </a:avLst>
          </a:prstGeom>
          <a:solidFill>
            <a:srgbClr val="1C1830"/>
          </a:solidFill>
          <a:ln w="12700">
            <a:solidFill>
              <a:srgbClr val="1C1830"/>
            </a:solidFill>
            <a:prstDash val="solid"/>
          </a:ln>
        </p:spPr>
      </p:sp>
      <p:sp>
        <p:nvSpPr>
          <p:cNvPr id="4" name="Prompt CS label"/>
          <p:cNvSpPr txBox="1"/>
          <p:nvPr/>
        </p:nvSpPr>
        <p:spPr>
          <a:xfrm>
            <a:off x="777240" y="132588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  (needs using Microsoft.Extensions.DependencyInjection;)</a:t>
            </a:r>
            <a:endParaRPr lang="en-US" sz="1000" dirty="0"/>
          </a:p>
        </p:txBody>
      </p:sp>
      <p:sp>
        <p:nvSpPr>
          <p:cNvPr id="5" name="Prompt CS text"/>
          <p:cNvSpPr txBox="1"/>
          <p:nvPr/>
        </p:nvSpPr>
        <p:spPr>
          <a:xfrm>
            <a:off x="777240" y="1645920"/>
            <a:ext cx="7132320" cy="4572000"/>
          </a:xfrm>
          <a:prstGeom prst="rect">
            <a:avLst/>
          </a:prstGeom>
          <a:noFill/>
          <a:ln/>
        </p:spPr>
        <p:txBody>
          <a:bodyPr wrap="square" lIns="0" tIns="0" rIns="0" bIns="0" rtlCol="0" anchor="t"/>
          <a:lstStyle/>
          <a:p>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CreateBuilder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args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api</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AddContainer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"api"</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"nginx"</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api</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WithCommand</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"configure-region"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"Configure region"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async</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 =&gt;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Services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GetRequiredService</a:t>
            </a:r>
            <a:pPr indent="0" marL="0">
              <a:buNone/>
            </a:pPr>
            <a:r>
              <a:rPr lang="en-US" sz="1050" dirty="0">
                <a:solidFill>
                  <a:srgbClr val="E8E6F0"/>
                </a:solidFill>
                <a:latin typeface="Courier New" pitchFamily="34" charset="0"/>
                <a:ea typeface="Courier New" pitchFamily="34" charset="-122"/>
                <a:cs typeface="Courier New" pitchFamily="34" charset="-120"/>
              </a:rPr>
              <a:t>&lt;</a:t>
            </a:r>
            <a:pPr indent="0" marL="0">
              <a:buNone/>
            </a:pPr>
            <a:r>
              <a:rPr lang="en-US" sz="1050" dirty="0">
                <a:solidFill>
                  <a:srgbClr val="7CC7FF"/>
                </a:solidFill>
                <a:latin typeface="Courier New" pitchFamily="34" charset="0"/>
                <a:ea typeface="Courier New" pitchFamily="34" charset="-122"/>
                <a:cs typeface="Courier New" pitchFamily="34" charset="-120"/>
              </a:rPr>
              <a:t>IInteractionService</a:t>
            </a:r>
            <a:pPr indent="0" marL="0">
              <a:buNone/>
            </a:pPr>
            <a:r>
              <a:rPr lang="en-US" sz="1050" dirty="0">
                <a:solidFill>
                  <a:srgbClr val="E8E6F0"/>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i="1" dirty="0">
                <a:solidFill>
                  <a:srgbClr val="8B87A3"/>
                </a:solidFill>
                <a:latin typeface="Courier New" pitchFamily="34" charset="0"/>
                <a:ea typeface="Courier New" pitchFamily="34" charset="-122"/>
                <a:cs typeface="Courier New" pitchFamily="34" charset="-120"/>
              </a:rPr>
              <a:t>// Commands run from the CLI have no UI, so only prompt when one exists.</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IsAvailable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await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PromptInputsAsync</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title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"Configure region"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message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"Choose the region to deploy to."</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inputs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InteractionInput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Name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Label</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Choice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Options</a:t>
            </a:r>
            <a:pPr indent="0" marL="0">
              <a:buNone/>
            </a:pPr>
            <a:r>
              <a:rPr lang="en-US" sz="1050" dirty="0">
                <a:solidFill>
                  <a:srgbClr val="E8E6F0"/>
                </a:solidFill>
                <a:latin typeface="Courier New" pitchFamily="34" charset="0"/>
                <a:ea typeface="Courier New" pitchFamily="34" charset="-122"/>
                <a:cs typeface="Courier New" pitchFamily="34" charset="-120"/>
              </a:rPr>
              <a:t> = [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"us"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"United States"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"eu"</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"Europe"</a:t>
            </a:r>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Data</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Value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Build</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Run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p:txBody>
      </p:sp>
      <p:sp>
        <p:nvSpPr>
          <p:cNvPr id="6" name="Prompt notes panel"/>
          <p:cNvSpPr/>
          <p:nvPr/>
        </p:nvSpPr>
        <p:spPr>
          <a:xfrm>
            <a:off x="8366760" y="1234440"/>
            <a:ext cx="3246120" cy="5074920"/>
          </a:xfrm>
          <a:prstGeom prst="roundRect">
            <a:avLst>
              <a:gd name="adj" fmla="val 2817"/>
            </a:avLst>
          </a:prstGeom>
          <a:solidFill>
            <a:schemeClr val="bg2"/>
          </a:solidFill>
          <a:ln w="12700">
            <a:solidFill>
              <a:schemeClr val="bg2"/>
            </a:solidFill>
            <a:prstDash val="solid"/>
          </a:ln>
        </p:spPr>
      </p:sp>
      <p:sp>
        <p:nvSpPr>
          <p:cNvPr id="7" name="Prompt notes text"/>
          <p:cNvSpPr txBox="1"/>
          <p:nvPr/>
        </p:nvSpPr>
        <p:spPr>
          <a:xfrm>
            <a:off x="8641080" y="1463040"/>
            <a:ext cx="2697480" cy="4617720"/>
          </a:xfrm>
          <a:prstGeom prst="rect">
            <a:avLst/>
          </a:prstGeom>
          <a:noFill/>
          <a:ln/>
        </p:spPr>
        <p:txBody>
          <a:bodyPr wrap="square" lIns="0" tIns="0" rIns="0" bIns="0" rtlCol="0" anchor="t"/>
          <a:lstStyle/>
          <a:p>
            <a:pPr indent="0" marL="0">
              <a:buNone/>
            </a:pPr>
            <a:r>
              <a:rPr lang="en-US" sz="1500" b="1" dirty="0">
                <a:solidFill>
                  <a:schemeClr val="tx2"/>
                </a:solidFill>
              </a:rPr>
              <a:t>Interaction Service</a:t>
            </a:r>
            <a:endParaRPr lang="en-US" sz="1500" dirty="0"/>
          </a:p>
          <a:p>
            <a:pPr indent="0" marL="0">
              <a:spcAft>
                <a:spcPts val="1200"/>
              </a:spcAft>
              <a:buNone/>
            </a:pPr>
            <a:r>
              <a:rPr lang="en-US" sz="1400" dirty="0">
                <a:solidFill>
                  <a:schemeClr val="tx1"/>
                </a:solidFill>
              </a:rPr>
              <a:t>The AppHost's way to show dialogs, prompts and notifications in the dashboard.</a:t>
            </a:r>
            <a:endParaRPr lang="en-US" sz="1500" dirty="0"/>
          </a:p>
          <a:p>
            <a:pPr indent="0" marL="0">
              <a:buNone/>
            </a:pPr>
            <a:r>
              <a:rPr lang="en-US" sz="1500" b="1" dirty="0">
                <a:solidFill>
                  <a:schemeClr val="tx2"/>
                </a:solidFill>
              </a:rPr>
              <a:t>Now stable</a:t>
            </a:r>
            <a:endParaRPr lang="en-US" sz="1500" dirty="0"/>
          </a:p>
          <a:p>
            <a:pPr indent="0" marL="0">
              <a:spcAft>
                <a:spcPts val="1200"/>
              </a:spcAft>
              <a:buNone/>
            </a:pPr>
            <a:r>
              <a:rPr lang="en-US" sz="1400" dirty="0">
                <a:solidFill>
                  <a:schemeClr val="tx1"/>
                </a:solidFill>
              </a:rPr>
              <a:t>PromptInputAsync, PromptInputsAsync and InteractionInput are stable. No ASPIREINTERACTION001 suppression needed.</a:t>
            </a:r>
            <a:endParaRPr lang="en-US" sz="1500" dirty="0"/>
          </a:p>
          <a:p>
            <a:pPr indent="0" marL="0">
              <a:buNone/>
            </a:pPr>
            <a:r>
              <a:rPr lang="en-US" sz="1500" b="1" dirty="0">
                <a:solidFill>
                  <a:schemeClr val="tx2"/>
                </a:solidFill>
              </a:rPr>
              <a:t>C# and TypeScript</a:t>
            </a:r>
            <a:endParaRPr lang="en-US" sz="1500" dirty="0"/>
          </a:p>
          <a:p>
            <a:pPr indent="0" marL="0">
              <a:spcAft>
                <a:spcPts val="1200"/>
              </a:spcAft>
              <a:buNone/>
            </a:pPr>
            <a:r>
              <a:rPr lang="en-US" sz="1400" dirty="0">
                <a:solidFill>
                  <a:schemeClr val="tx1"/>
                </a:solidFill>
              </a:rPr>
              <a:t>Works the same way from both AppHost languages.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it looks like: the region prompt</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22</a:t>
            </a:fld>
            <a:endParaRPr lang="en-US"/>
          </a:p>
        </p:txBody>
      </p:sp>
      <p:pic>
        <p:nvPicPr>
          <p:cNvPr id="26" name="Dashboard screenshot" descr="An Aspire 13.5 dashboard dialog titled Deploy application with the Environment dropdown open showing Development, Staging and Production"/>
          <p:cNvPicPr>
            <a:picLocks noChangeAspect="1"/>
          </p:cNvPicPr>
          <p:nvPr/>
        </p:nvPicPr>
        <p:blipFill>
          <a:blip r:embed="rId3"/>
          <a:stretch>
            <a:fillRect/>
          </a:stretch>
        </p:blipFill>
        <p:spPr>
          <a:xfrm>
            <a:off x="548640" y="1280160"/>
            <a:ext cx="7680960" cy="4123462"/>
          </a:xfrm>
          <a:prstGeom prst="rect">
            <a:avLst/>
          </a:prstGeom>
          <a:ln w="12700">
            <a:solidFill>
              <a:srgbClr val="D9D6E8"/>
            </a:solidFill>
          </a:ln>
        </p:spPr>
      </p:pic>
      <p:sp>
        <p:nvSpPr>
          <p:cNvPr id="1014" name="Step circle 1"/>
          <p:cNvSpPr/>
          <p:nvPr/>
        </p:nvSpPr>
        <p:spPr>
          <a:xfrm>
            <a:off x="8503920" y="1325880"/>
            <a:ext cx="347472" cy="347472"/>
          </a:xfrm>
          <a:prstGeom prst="ellipse">
            <a:avLst/>
          </a:prstGeom>
          <a:solidFill>
            <a:schemeClr val="accent1"/>
          </a:solidFill>
          <a:ln w="12700">
            <a:solidFill>
              <a:schemeClr val="accent1"/>
            </a:solidFill>
            <a:prstDash val="solid"/>
          </a:ln>
        </p:spPr>
      </p:sp>
      <p:sp>
        <p:nvSpPr>
          <p:cNvPr id="1015"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16"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Run the command</a:t>
            </a:r>
            <a:endParaRPr lang="en-US" sz="1500" dirty="0"/>
          </a:p>
        </p:txBody>
      </p:sp>
      <p:sp>
        <p:nvSpPr>
          <p:cNvPr id="1017"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 in the resource’s Actions column, then the command (Configure region in our code).</a:t>
            </a:r>
            <a:endParaRPr lang="en-US" sz="1300" dirty="0"/>
          </a:p>
        </p:txBody>
      </p:sp>
      <p:sp>
        <p:nvSpPr>
          <p:cNvPr id="1018" name="Step circle 2"/>
          <p:cNvSpPr/>
          <p:nvPr/>
        </p:nvSpPr>
        <p:spPr>
          <a:xfrm>
            <a:off x="8503920" y="2788920"/>
            <a:ext cx="347472" cy="347472"/>
          </a:xfrm>
          <a:prstGeom prst="ellipse">
            <a:avLst/>
          </a:prstGeom>
          <a:solidFill>
            <a:schemeClr val="accent1"/>
          </a:solidFill>
          <a:ln w="12700">
            <a:solidFill>
              <a:schemeClr val="accent1"/>
            </a:solidFill>
            <a:prstDash val="solid"/>
          </a:ln>
        </p:spPr>
      </p:sp>
      <p:sp>
        <p:nvSpPr>
          <p:cNvPr id="1019"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20"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A dialog opens</a:t>
            </a:r>
            <a:endParaRPr lang="en-US" sz="1500" dirty="0"/>
          </a:p>
        </p:txBody>
      </p:sp>
      <p:sp>
        <p:nvSpPr>
          <p:cNvPr id="1021"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title and message sit at the top, with each input below. Required inputs show a red *.</a:t>
            </a:r>
            <a:endParaRPr lang="en-US" sz="1300" dirty="0"/>
          </a:p>
        </p:txBody>
      </p:sp>
      <p:sp>
        <p:nvSpPr>
          <p:cNvPr id="1022" name="Step circle 3"/>
          <p:cNvSpPr/>
          <p:nvPr/>
        </p:nvSpPr>
        <p:spPr>
          <a:xfrm>
            <a:off x="8503920" y="4251960"/>
            <a:ext cx="347472" cy="347472"/>
          </a:xfrm>
          <a:prstGeom prst="ellipse">
            <a:avLst/>
          </a:prstGeom>
          <a:solidFill>
            <a:schemeClr val="accent1"/>
          </a:solidFill>
          <a:ln w="12700">
            <a:solidFill>
              <a:schemeClr val="accent1"/>
            </a:solidFill>
            <a:prstDash val="solid"/>
          </a:ln>
        </p:spPr>
      </p:sp>
      <p:sp>
        <p:nvSpPr>
          <p:cNvPr id="1023"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24"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Choice inputs are dropdowns</a:t>
            </a:r>
            <a:endParaRPr lang="en-US" sz="1500" dirty="0"/>
          </a:p>
        </p:txBody>
      </p:sp>
      <p:sp>
        <p:nvSpPr>
          <p:cNvPr id="1025"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InputType.Choice lists its Options. The main button sits to the left of Cancel.</a:t>
            </a:r>
            <a:endParaRPr lang="en-US" sz="1300" dirty="0"/>
          </a:p>
        </p:txBody>
      </p:sp>
      <p:sp>
        <p:nvSpPr>
          <p:cNvPr id="1026"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Real Aspire 13.5 dashboard, frame from the 13.5 blog demo video. Sample command “Deploy application”, not our region code.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Let users upload a file</a:t>
            </a:r>
            <a:endParaRPr lang="en-US" sz="3400" dirty="0"/>
          </a:p>
        </p:txBody>
      </p:sp>
      <p:sp>
        <p:nvSpPr>
          <p:cNvPr id="3" name="Upload CS panel"/>
          <p:cNvSpPr/>
          <p:nvPr/>
        </p:nvSpPr>
        <p:spPr>
          <a:xfrm>
            <a:off x="548640" y="1234440"/>
            <a:ext cx="7589520" cy="5074920"/>
          </a:xfrm>
          <a:prstGeom prst="roundRect">
            <a:avLst>
              <a:gd name="adj" fmla="val 1441"/>
            </a:avLst>
          </a:prstGeom>
          <a:solidFill>
            <a:srgbClr val="1C1830"/>
          </a:solidFill>
          <a:ln w="12700">
            <a:solidFill>
              <a:srgbClr val="1C1830"/>
            </a:solidFill>
            <a:prstDash val="solid"/>
          </a:ln>
        </p:spPr>
      </p:sp>
      <p:sp>
        <p:nvSpPr>
          <p:cNvPr id="4" name="Upload CS label"/>
          <p:cNvSpPr txBox="1"/>
          <p:nvPr/>
        </p:nvSpPr>
        <p:spPr>
          <a:xfrm>
            <a:off x="777240" y="132588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Upload CS text"/>
          <p:cNvSpPr txBox="1"/>
          <p:nvPr/>
        </p:nvSpPr>
        <p:spPr>
          <a:xfrm>
            <a:off x="777240" y="1645920"/>
            <a:ext cx="7132320" cy="4572000"/>
          </a:xfrm>
          <a:prstGeom prst="rect">
            <a:avLst/>
          </a:prstGeom>
          <a:noFill/>
          <a:ln/>
        </p:spPr>
        <p:txBody>
          <a:bodyPr wrap="square" lIns="0" tIns="0" rIns="0" bIns="0" rtlCol="0" anchor="t"/>
          <a:lstStyle/>
          <a:p>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importer</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AddContainer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"importer"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"nginx"</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importer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WithCommand</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"import-data"</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"Import data"</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async</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 =&gt;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Services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GetRequiredService</a:t>
            </a:r>
            <a:pPr indent="0" marL="0">
              <a:buNone/>
            </a:pPr>
            <a:r>
              <a:rPr lang="en-US" sz="1050" dirty="0">
                <a:solidFill>
                  <a:srgbClr val="E8E6F0"/>
                </a:solidFill>
                <a:latin typeface="Courier New" pitchFamily="34" charset="0"/>
                <a:ea typeface="Courier New" pitchFamily="34" charset="-122"/>
                <a:cs typeface="Courier New" pitchFamily="34" charset="-120"/>
              </a:rPr>
              <a:t>&lt;</a:t>
            </a:r>
            <a:pPr indent="0" marL="0">
              <a:buNone/>
            </a:pPr>
            <a:r>
              <a:rPr lang="en-US" sz="1050" dirty="0">
                <a:solidFill>
                  <a:srgbClr val="7CC7FF"/>
                </a:solidFill>
                <a:latin typeface="Courier New" pitchFamily="34" charset="0"/>
                <a:ea typeface="Courier New" pitchFamily="34" charset="-122"/>
                <a:cs typeface="Courier New" pitchFamily="34" charset="-120"/>
              </a:rPr>
              <a:t>IInteractionService</a:t>
            </a:r>
            <a:pPr indent="0" marL="0">
              <a:buNone/>
            </a:pPr>
            <a:r>
              <a:rPr lang="en-US" sz="1050" dirty="0">
                <a:solidFill>
                  <a:srgbClr val="E8E6F0"/>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IsAvailable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await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PromptInputsAsync</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title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"Import data"</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message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"Select a JSON file to import."</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inputs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InteractionInput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Name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"dataFile"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Label</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"Data file"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FileFilter</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".json"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MaxFileSize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F8C77A"/>
                </a:solidFill>
                <a:latin typeface="Courier New" pitchFamily="34" charset="0"/>
                <a:ea typeface="Courier New" pitchFamily="34" charset="-122"/>
                <a:cs typeface="Courier New" pitchFamily="34" charset="-120"/>
              </a:rPr>
              <a:t>10</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F8C77A"/>
                </a:solidFill>
                <a:latin typeface="Courier New" pitchFamily="34" charset="0"/>
                <a:ea typeface="Courier New" pitchFamily="34" charset="-122"/>
                <a:cs typeface="Courier New" pitchFamily="34" charset="-120"/>
              </a:rPr>
              <a:t>1024</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F8C77A"/>
                </a:solidFill>
                <a:latin typeface="Courier New" pitchFamily="34" charset="0"/>
                <a:ea typeface="Courier New" pitchFamily="34" charset="-122"/>
                <a:cs typeface="Courier New" pitchFamily="34" charset="-120"/>
              </a:rPr>
              <a:t>1024</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i="1" dirty="0">
                <a:solidFill>
                  <a:srgbClr val="8B87A3"/>
                </a:solidFill>
                <a:latin typeface="Courier New" pitchFamily="34" charset="0"/>
                <a:ea typeface="Courier New" pitchFamily="34" charset="-122"/>
                <a:cs typeface="Courier New" pitchFamily="34" charset="-120"/>
              </a:rPr>
              <a:t>// 10 MB</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Required</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true</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Data</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"dataFile"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Files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F8C77A"/>
                </a:solidFill>
                <a:latin typeface="Courier New" pitchFamily="34" charset="0"/>
                <a:ea typeface="Courier New" pitchFamily="34" charset="-122"/>
                <a:cs typeface="Courier New" pitchFamily="34" charset="-120"/>
              </a:rPr>
              <a:t>0</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null</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Failure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"No file was uploaded."</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bytes</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await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ReadAllBytesAsync</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p:txBody>
      </p:sp>
      <p:sp>
        <p:nvSpPr>
          <p:cNvPr id="6" name="Upload notes panel"/>
          <p:cNvSpPr/>
          <p:nvPr/>
        </p:nvSpPr>
        <p:spPr>
          <a:xfrm>
            <a:off x="8366760" y="1234440"/>
            <a:ext cx="3246120" cy="5074920"/>
          </a:xfrm>
          <a:prstGeom prst="roundRect">
            <a:avLst>
              <a:gd name="adj" fmla="val 2817"/>
            </a:avLst>
          </a:prstGeom>
          <a:solidFill>
            <a:schemeClr val="bg2"/>
          </a:solidFill>
          <a:ln w="12700">
            <a:solidFill>
              <a:schemeClr val="bg2"/>
            </a:solidFill>
            <a:prstDash val="solid"/>
          </a:ln>
        </p:spPr>
      </p:sp>
      <p:sp>
        <p:nvSpPr>
          <p:cNvPr id="7" name="Upload notes text"/>
          <p:cNvSpPr txBox="1"/>
          <p:nvPr/>
        </p:nvSpPr>
        <p:spPr>
          <a:xfrm>
            <a:off x="8641080" y="1463040"/>
            <a:ext cx="2697480" cy="4617720"/>
          </a:xfrm>
          <a:prstGeom prst="rect">
            <a:avLst/>
          </a:prstGeom>
          <a:noFill/>
          <a:ln/>
        </p:spPr>
        <p:txBody>
          <a:bodyPr wrap="square" lIns="0" tIns="0" rIns="0" bIns="0" rtlCol="0" anchor="t"/>
          <a:lstStyle/>
          <a:p>
            <a:pPr indent="0" marL="0">
              <a:buNone/>
            </a:pPr>
            <a:r>
              <a:rPr lang="en-US" sz="1500" b="1" dirty="0">
                <a:solidFill>
                  <a:schemeClr val="tx2"/>
                </a:solidFill>
              </a:rPr>
              <a:t>InputType.File</a:t>
            </a:r>
            <a:endParaRPr lang="en-US" sz="1500" dirty="0"/>
          </a:p>
          <a:p>
            <a:pPr indent="0" marL="0">
              <a:spcAft>
                <a:spcPts val="1200"/>
              </a:spcAft>
              <a:buNone/>
            </a:pPr>
            <a:r>
              <a:rPr lang="en-US" sz="1400" dirty="0">
                <a:solidFill>
                  <a:schemeClr val="tx1"/>
                </a:solidFill>
              </a:rPr>
              <a:t>The dashboard shows a file picker, limited by FileFilter and MaxFileSize.</a:t>
            </a:r>
            <a:endParaRPr lang="en-US" sz="1500" dirty="0"/>
          </a:p>
          <a:p>
            <a:pPr indent="0" marL="0">
              <a:buNone/>
            </a:pPr>
            <a:r>
              <a:rPr lang="en-US" sz="1500" b="1" dirty="0">
                <a:solidFill>
                  <a:schemeClr val="tx2"/>
                </a:solidFill>
              </a:rPr>
              <a:t>Read the file</a:t>
            </a:r>
            <a:endParaRPr lang="en-US" sz="1500" dirty="0"/>
          </a:p>
          <a:p>
            <a:pPr indent="0" marL="0">
              <a:spcAft>
                <a:spcPts val="1200"/>
              </a:spcAft>
              <a:buNone/>
            </a:pPr>
            <a:r>
              <a:rPr lang="en-US" sz="1400" dirty="0">
                <a:solidFill>
                  <a:schemeClr val="tx1"/>
                </a:solidFill>
              </a:rPr>
              <a:t>C#: ReadAllBytesAsync() or OpenRead(). TypeScript: read the path in file.filePath with Node's fs.</a:t>
            </a:r>
            <a:endParaRPr lang="en-US" sz="1500" dirty="0"/>
          </a:p>
          <a:p>
            <a:pPr indent="0" marL="0">
              <a:buNone/>
            </a:pPr>
            <a:r>
              <a:rPr lang="en-US" sz="1500" b="1" dirty="0">
                <a:solidFill>
                  <a:schemeClr val="tx2"/>
                </a:solidFill>
              </a:rPr>
              <a:t>Stable</a:t>
            </a:r>
            <a:endParaRPr lang="en-US" sz="1500" dirty="0"/>
          </a:p>
          <a:p>
            <a:pPr indent="0" marL="0">
              <a:spcAft>
                <a:spcPts val="1200"/>
              </a:spcAft>
              <a:buNone/>
            </a:pPr>
            <a:r>
              <a:rPr lang="en-US" sz="1400" dirty="0">
                <a:solidFill>
                  <a:schemeClr val="tx1"/>
                </a:solidFill>
              </a:rPr>
              <a:t>File input needs no suppression.</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it looks like: the file picker</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24</a:t>
            </a:fld>
            <a:endParaRPr lang="en-US"/>
          </a:p>
        </p:txBody>
      </p:sp>
      <p:pic>
        <p:nvPicPr>
          <p:cNvPr id="26" name="Dashboard screenshot" descr="An Aspire 13.5 dashboard dialog titled Import configuration with a required Configuration file input and a button to select a JSON or YAML file"/>
          <p:cNvPicPr>
            <a:picLocks noChangeAspect="1"/>
          </p:cNvPicPr>
          <p:nvPr/>
        </p:nvPicPr>
        <p:blipFill>
          <a:blip r:embed="rId3"/>
          <a:stretch>
            <a:fillRect/>
          </a:stretch>
        </p:blipFill>
        <p:spPr>
          <a:xfrm>
            <a:off x="548640" y="1280160"/>
            <a:ext cx="7168896" cy="4480560"/>
          </a:xfrm>
          <a:prstGeom prst="rect">
            <a:avLst/>
          </a:prstGeom>
          <a:ln w="12700">
            <a:solidFill>
              <a:srgbClr val="D9D6E8"/>
            </a:solidFill>
          </a:ln>
        </p:spPr>
      </p:pic>
      <p:sp>
        <p:nvSpPr>
          <p:cNvPr id="1027" name="Step circle 1"/>
          <p:cNvSpPr/>
          <p:nvPr/>
        </p:nvSpPr>
        <p:spPr>
          <a:xfrm>
            <a:off x="8503920" y="1325880"/>
            <a:ext cx="347472" cy="347472"/>
          </a:xfrm>
          <a:prstGeom prst="ellipse">
            <a:avLst/>
          </a:prstGeom>
          <a:solidFill>
            <a:schemeClr val="accent1"/>
          </a:solidFill>
          <a:ln w="12700">
            <a:solidFill>
              <a:schemeClr val="accent1"/>
            </a:solidFill>
            <a:prstDash val="solid"/>
          </a:ln>
        </p:spPr>
      </p:sp>
      <p:sp>
        <p:nvSpPr>
          <p:cNvPr id="1028"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29"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Run the command</a:t>
            </a:r>
            <a:endParaRPr lang="en-US" sz="1500" dirty="0"/>
          </a:p>
        </p:txBody>
      </p:sp>
      <p:sp>
        <p:nvSpPr>
          <p:cNvPr id="1030"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 on the resource and choose the command. A notification says it is starting, with a Cancel link.</a:t>
            </a:r>
            <a:endParaRPr lang="en-US" sz="1300" dirty="0"/>
          </a:p>
        </p:txBody>
      </p:sp>
      <p:sp>
        <p:nvSpPr>
          <p:cNvPr id="1031" name="Step circle 2"/>
          <p:cNvSpPr/>
          <p:nvPr/>
        </p:nvSpPr>
        <p:spPr>
          <a:xfrm>
            <a:off x="8503920" y="2788920"/>
            <a:ext cx="347472" cy="347472"/>
          </a:xfrm>
          <a:prstGeom prst="ellipse">
            <a:avLst/>
          </a:prstGeom>
          <a:solidFill>
            <a:schemeClr val="accent1"/>
          </a:solidFill>
          <a:ln w="12700">
            <a:solidFill>
              <a:schemeClr val="accent1"/>
            </a:solidFill>
            <a:prstDash val="solid"/>
          </a:ln>
        </p:spPr>
      </p:sp>
      <p:sp>
        <p:nvSpPr>
          <p:cNvPr id="1032"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33"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The dialog asks for a file</a:t>
            </a:r>
            <a:endParaRPr lang="en-US" sz="1500" dirty="0"/>
          </a:p>
        </p:txBody>
      </p:sp>
      <p:sp>
        <p:nvSpPr>
          <p:cNvPr id="1034"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Title, message and a required (*) file input appear, here “Import configuration”.</a:t>
            </a:r>
            <a:endParaRPr lang="en-US" sz="1300" dirty="0"/>
          </a:p>
        </p:txBody>
      </p:sp>
      <p:sp>
        <p:nvSpPr>
          <p:cNvPr id="1035" name="Step circle 3"/>
          <p:cNvSpPr/>
          <p:nvPr/>
        </p:nvSpPr>
        <p:spPr>
          <a:xfrm>
            <a:off x="8503920" y="4251960"/>
            <a:ext cx="347472" cy="347472"/>
          </a:xfrm>
          <a:prstGeom prst="ellipse">
            <a:avLst/>
          </a:prstGeom>
          <a:solidFill>
            <a:schemeClr val="accent1"/>
          </a:solidFill>
          <a:ln w="12700">
            <a:solidFill>
              <a:schemeClr val="accent1"/>
            </a:solidFill>
            <a:prstDash val="solid"/>
          </a:ln>
        </p:spPr>
      </p:sp>
      <p:sp>
        <p:nvSpPr>
          <p:cNvPr id="1036"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37"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Pick the file</a:t>
            </a:r>
            <a:endParaRPr lang="en-US" sz="1500" dirty="0"/>
          </a:p>
        </p:txBody>
      </p:sp>
      <p:sp>
        <p:nvSpPr>
          <p:cNvPr id="1038"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the button to choose a file. FileFilter and MaxFileSize limit what is accepted.</a:t>
            </a:r>
            <a:endParaRPr lang="en-US" sz="1300" dirty="0"/>
          </a:p>
        </p:txBody>
      </p:sp>
      <p:sp>
        <p:nvSpPr>
          <p:cNvPr id="1039"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Real screenshot: an “Import configuration” command on a sample resource. Source: Aspire blog, “Aspire 13.5: Fresh pixels and better workflows” (Aug 18, 2026).</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Show progress while long work runs</a:t>
            </a:r>
            <a:endParaRPr lang="en-US" sz="3400" dirty="0"/>
          </a:p>
        </p:txBody>
      </p:sp>
      <p:sp>
        <p:nvSpPr>
          <p:cNvPr id="3" name="Progress CS panel"/>
          <p:cNvSpPr/>
          <p:nvPr/>
        </p:nvSpPr>
        <p:spPr>
          <a:xfrm>
            <a:off x="548640" y="1325880"/>
            <a:ext cx="7589520" cy="3749040"/>
          </a:xfrm>
          <a:prstGeom prst="roundRect">
            <a:avLst>
              <a:gd name="adj" fmla="val 1951"/>
            </a:avLst>
          </a:prstGeom>
          <a:solidFill>
            <a:srgbClr val="1C1830"/>
          </a:solidFill>
          <a:ln w="12700">
            <a:solidFill>
              <a:srgbClr val="1C1830"/>
            </a:solidFill>
            <a:prstDash val="solid"/>
          </a:ln>
        </p:spPr>
      </p:sp>
      <p:sp>
        <p:nvSpPr>
          <p:cNvPr id="4" name="Progress CS label"/>
          <p:cNvSpPr txBox="1"/>
          <p:nvPr/>
        </p:nvSpPr>
        <p:spPr>
          <a:xfrm>
            <a:off x="777240" y="141732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Progress CS text"/>
          <p:cNvSpPr txBox="1"/>
          <p:nvPr/>
        </p:nvSpPr>
        <p:spPr>
          <a:xfrm>
            <a:off x="777240" y="1737360"/>
            <a:ext cx="7132320" cy="3246120"/>
          </a:xfrm>
          <a:prstGeom prst="rect">
            <a:avLst/>
          </a:prstGeom>
          <a:noFill/>
          <a:ln/>
        </p:spPr>
        <p:txBody>
          <a:bodyPr wrap="square" lIns="0" tIns="0" rIns="0" bIns="0" rtlCol="0" anchor="t"/>
          <a:lstStyle/>
          <a:p>
            <a:pPr indent="0" marL="0">
              <a:buNone/>
            </a:pPr>
            <a:r>
              <a:rPr lang="en-US" sz="1100" i="1" dirty="0">
                <a:solidFill>
                  <a:srgbClr val="8B87A3"/>
                </a:solidFill>
                <a:latin typeface="Courier New" pitchFamily="34" charset="0"/>
                <a:ea typeface="Courier New" pitchFamily="34" charset="-122"/>
                <a:cs typeface="Courier New" pitchFamily="34" charset="-120"/>
              </a:rPr>
              <a:t>#pragma warning disable ASPIREINTERACTION001 // experimental API</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8B87A3"/>
                </a:solidFill>
                <a:latin typeface="Courier New" pitchFamily="34" charset="0"/>
                <a:ea typeface="Courier New" pitchFamily="34" charset="-122"/>
                <a:cs typeface="Courier New" pitchFamily="34" charset="-120"/>
              </a:rPr>
              <a:t>// ...inside the "import-data" command, after reading the file:</a:t>
            </a:r>
            <a:endParaRPr lang="en-US" sz="1100" dirty="0"/>
          </a:p>
          <a:p>
            <a:pPr indent="0" marL="0">
              <a:buNone/>
            </a:pPr>
            <a:r>
              <a:rPr lang="en-US" sz="1100" dirty="0">
                <a:solidFill>
                  <a:srgbClr val="C4A7FF"/>
                </a:solidFill>
                <a:latin typeface="Courier New" pitchFamily="34" charset="0"/>
                <a:ea typeface="Courier New" pitchFamily="34" charset="-122"/>
                <a:cs typeface="Courier New" pitchFamily="34" charset="-120"/>
              </a:rPr>
              <a:t>await</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interaction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PromptProgressAsync</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$"Processing {bytes.Length} bytes"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title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"Importing..."</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options</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new</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ProgressInteractionOptions</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i="1" dirty="0">
                <a:solidFill>
                  <a:srgbClr val="8B87A3"/>
                </a:solidFill>
                <a:latin typeface="Courier New" pitchFamily="34" charset="0"/>
                <a:ea typeface="Courier New" pitchFamily="34" charset="-122"/>
                <a:cs typeface="Courier New" pitchFamily="34" charset="-120"/>
              </a:rPr>
              <a:t>// The dialog stays open while Work runs, then closes.</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Work</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C4A7FF"/>
                </a:solidFill>
                <a:latin typeface="Courier New" pitchFamily="34" charset="0"/>
                <a:ea typeface="Courier New" pitchFamily="34" charset="-122"/>
                <a:cs typeface="Courier New" pitchFamily="34" charset="-120"/>
              </a:rPr>
              <a:t>async</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progress</a:t>
            </a:r>
            <a:pPr indent="0" marL="0">
              <a:buNone/>
            </a:pPr>
            <a:r>
              <a:rPr lang="en-US" sz="1100" dirty="0">
                <a:solidFill>
                  <a:srgbClr val="E8E6F0"/>
                </a:solidFill>
                <a:latin typeface="Courier New" pitchFamily="34" charset="0"/>
                <a:ea typeface="Courier New" pitchFamily="34" charset="-122"/>
                <a:cs typeface="Courier New" pitchFamily="34" charset="-120"/>
              </a:rPr>
              <a:t> =&gt;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await</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Task</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Delay</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7CC7FF"/>
                </a:solidFill>
                <a:latin typeface="Courier New" pitchFamily="34" charset="0"/>
                <a:ea typeface="Courier New" pitchFamily="34" charset="-122"/>
                <a:cs typeface="Courier New" pitchFamily="34" charset="-120"/>
              </a:rPr>
              <a:t>TimeSpan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FromSeconds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F8C77A"/>
                </a:solidFill>
                <a:latin typeface="Courier New" pitchFamily="34" charset="0"/>
                <a:ea typeface="Courier New" pitchFamily="34" charset="-122"/>
                <a:cs typeface="Courier New" pitchFamily="34" charset="-120"/>
              </a:rPr>
              <a:t>2</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progress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ctx</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C4A7FF"/>
                </a:solidFill>
                <a:latin typeface="Courier New" pitchFamily="34" charset="0"/>
                <a:ea typeface="Courier New" pitchFamily="34" charset="-122"/>
                <a:cs typeface="Courier New" pitchFamily="34" charset="-120"/>
              </a:rPr>
              <a:t>return</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CommandResults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Success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p:txBody>
      </p:sp>
      <p:sp>
        <p:nvSpPr>
          <p:cNvPr id="6" name="Progress notes panel"/>
          <p:cNvSpPr/>
          <p:nvPr/>
        </p:nvSpPr>
        <p:spPr>
          <a:xfrm>
            <a:off x="8366760" y="1325880"/>
            <a:ext cx="3246120" cy="4846320"/>
          </a:xfrm>
          <a:prstGeom prst="roundRect">
            <a:avLst>
              <a:gd name="adj" fmla="val 2817"/>
            </a:avLst>
          </a:prstGeom>
          <a:solidFill>
            <a:schemeClr val="bg2"/>
          </a:solidFill>
          <a:ln w="12700">
            <a:solidFill>
              <a:schemeClr val="bg2"/>
            </a:solidFill>
            <a:prstDash val="solid"/>
          </a:ln>
        </p:spPr>
      </p:sp>
      <p:sp>
        <p:nvSpPr>
          <p:cNvPr id="7" name="Progress notes text"/>
          <p:cNvSpPr txBox="1"/>
          <p:nvPr/>
        </p:nvSpPr>
        <p:spPr>
          <a:xfrm>
            <a:off x="8641080" y="1554480"/>
            <a:ext cx="2697480" cy="4389120"/>
          </a:xfrm>
          <a:prstGeom prst="rect">
            <a:avLst/>
          </a:prstGeom>
          <a:noFill/>
          <a:ln/>
        </p:spPr>
        <p:txBody>
          <a:bodyPr wrap="square" lIns="0" tIns="0" rIns="0" bIns="0" rtlCol="0" anchor="t"/>
          <a:lstStyle/>
          <a:p>
            <a:pPr indent="0" marL="0">
              <a:buNone/>
            </a:pPr>
            <a:r>
              <a:rPr lang="en-US" sz="1500" b="1" dirty="0">
                <a:solidFill>
                  <a:schemeClr val="tx2"/>
                </a:solidFill>
              </a:rPr>
              <a:t>Progress dialog</a:t>
            </a:r>
            <a:endParaRPr lang="en-US" sz="1500" dirty="0"/>
          </a:p>
          <a:p>
            <a:pPr indent="0" marL="0">
              <a:spcAft>
                <a:spcPts val="1200"/>
              </a:spcAft>
              <a:buNone/>
            </a:pPr>
            <a:r>
              <a:rPr lang="en-US" sz="1400" dirty="0">
                <a:solidFill>
                  <a:schemeClr val="tx1"/>
                </a:solidFill>
              </a:rPr>
              <a:t>A dialog that can't be dismissed while the work runs, with optional cancel support.</a:t>
            </a:r>
            <a:endParaRPr lang="en-US" sz="1500" dirty="0"/>
          </a:p>
          <a:p>
            <a:pPr indent="0" marL="0">
              <a:buNone/>
            </a:pPr>
            <a:r>
              <a:rPr lang="en-US" sz="1500" b="1" dirty="0">
                <a:solidFill>
                  <a:schemeClr val="tx2"/>
                </a:solidFill>
              </a:rPr>
              <a:t>Use Work</a:t>
            </a:r>
            <a:endParaRPr lang="en-US" sz="1500" dirty="0"/>
          </a:p>
          <a:p>
            <a:pPr indent="0" marL="0">
              <a:spcAft>
                <a:spcPts val="1200"/>
              </a:spcAft>
              <a:buNone/>
            </a:pPr>
            <a:r>
              <a:rPr lang="en-US" sz="1400" dirty="0">
                <a:solidFill>
                  <a:schemeClr val="tx1"/>
                </a:solidFill>
              </a:rPr>
              <a:t>Put the slow code in Work. Without it, the dialog stays open until the token is canceled.</a:t>
            </a:r>
            <a:endParaRPr lang="en-US" sz="1500" dirty="0"/>
          </a:p>
          <a:p>
            <a:pPr indent="0" marL="0">
              <a:buNone/>
            </a:pPr>
            <a:r>
              <a:rPr lang="en-US" sz="1500" b="1" dirty="0">
                <a:solidFill>
                  <a:schemeClr val="tx2"/>
                </a:solidFill>
              </a:rPr>
              <a:t>TypeScript</a:t>
            </a:r>
            <a:endParaRPr lang="en-US" sz="1500" dirty="0"/>
          </a:p>
          <a:p>
            <a:pPr indent="0" marL="0">
              <a:spcAft>
                <a:spcPts val="1200"/>
              </a:spcAft>
              <a:buNone/>
            </a:pPr>
            <a:r>
              <a:rPr lang="en-US" sz="1400" dirty="0">
                <a:solidFill>
                  <a:schemeClr val="tx1"/>
                </a:solidFill>
              </a:rPr>
              <a:t>interaction.promptProgress(...) with an options.work callback.</a:t>
            </a:r>
            <a:endParaRPr lang="en-US" sz="1500" dirty="0"/>
          </a:p>
        </p:txBody>
      </p:sp>
      <p:pic>
        <p:nvPicPr>
          <p:cNvPr id="8" name="Experimental icon 2" descr="preencoded.png">    </p:cNvPr>
          <p:cNvPicPr>
            <a:picLocks noChangeAspect="1"/>
          </p:cNvPicPr>
          <p:nvPr/>
        </p:nvPicPr>
        <p:blipFill>
          <a:blip r:embed="rId1"/>
          <a:stretch>
            <a:fillRect/>
          </a:stretch>
        </p:blipFill>
        <p:spPr>
          <a:xfrm>
            <a:off x="548640" y="5349240"/>
            <a:ext cx="365760" cy="365760"/>
          </a:xfrm>
          <a:prstGeom prst="rect">
            <a:avLst/>
          </a:prstGeom>
        </p:spPr>
      </p:pic>
      <p:sp>
        <p:nvSpPr>
          <p:cNvPr id="9" name="Experimental note 2"/>
          <p:cNvSpPr txBox="1"/>
          <p:nvPr/>
        </p:nvSpPr>
        <p:spPr>
          <a:xfrm>
            <a:off x="1051560" y="5303520"/>
            <a:ext cx="7040880" cy="457200"/>
          </a:xfrm>
          <a:prstGeom prst="rect">
            <a:avLst/>
          </a:prstGeom>
          <a:noFill/>
          <a:ln/>
        </p:spPr>
        <p:txBody>
          <a:bodyPr wrap="square" lIns="0" tIns="0" rIns="0" bIns="0" rtlCol="0" anchor="ctr"/>
          <a:lstStyle/>
          <a:p>
            <a:pPr indent="0" marL="0">
              <a:buNone/>
            </a:pPr>
            <a:r>
              <a:rPr lang="en-US" sz="1400" dirty="0">
                <a:solidFill>
                  <a:schemeClr val="tx1"/>
                </a:solidFill>
              </a:rPr>
              <a:t>Experimental: PromptProgressAsync, ProgressInteractionOptions and ProgressContext.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it looks like: the progress dialog</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26</a:t>
            </a:fld>
            <a:endParaRPr lang="en-US"/>
          </a:p>
        </p:txBody>
      </p:sp>
      <p:pic>
        <p:nvPicPr>
          <p:cNvPr id="26" name="Dashboard screenshot" descr="An Aspire 13.5 dashboard progress dialog with a spinner, the message Deploying application, and a Cancel button"/>
          <p:cNvPicPr>
            <a:picLocks noChangeAspect="1"/>
          </p:cNvPicPr>
          <p:nvPr/>
        </p:nvPicPr>
        <p:blipFill>
          <a:blip r:embed="rId3"/>
          <a:stretch>
            <a:fillRect/>
          </a:stretch>
        </p:blipFill>
        <p:spPr>
          <a:xfrm>
            <a:off x="548640" y="1280160"/>
            <a:ext cx="7680960" cy="3302812"/>
          </a:xfrm>
          <a:prstGeom prst="rect">
            <a:avLst/>
          </a:prstGeom>
          <a:ln w="12700">
            <a:solidFill>
              <a:srgbClr val="D9D6E8"/>
            </a:solidFill>
          </a:ln>
        </p:spPr>
      </p:pic>
      <p:sp>
        <p:nvSpPr>
          <p:cNvPr id="1040" name="Step circle 1"/>
          <p:cNvSpPr/>
          <p:nvPr/>
        </p:nvSpPr>
        <p:spPr>
          <a:xfrm>
            <a:off x="8503920" y="1325880"/>
            <a:ext cx="347472" cy="347472"/>
          </a:xfrm>
          <a:prstGeom prst="ellipse">
            <a:avLst/>
          </a:prstGeom>
          <a:solidFill>
            <a:schemeClr val="accent1"/>
          </a:solidFill>
          <a:ln w="12700">
            <a:solidFill>
              <a:schemeClr val="accent1"/>
            </a:solidFill>
            <a:prstDash val="solid"/>
          </a:ln>
        </p:spPr>
      </p:sp>
      <p:sp>
        <p:nvSpPr>
          <p:cNvPr id="1041"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42"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Opens after you confirm</a:t>
            </a:r>
            <a:endParaRPr lang="en-US" sz="1500" dirty="0"/>
          </a:p>
        </p:txBody>
      </p:sp>
      <p:sp>
        <p:nvSpPr>
          <p:cNvPr id="1043"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As soon as the input dialog closes, the progress dialog takes over.</a:t>
            </a:r>
            <a:endParaRPr lang="en-US" sz="1300" dirty="0"/>
          </a:p>
        </p:txBody>
      </p:sp>
      <p:sp>
        <p:nvSpPr>
          <p:cNvPr id="1044" name="Step circle 2"/>
          <p:cNvSpPr/>
          <p:nvPr/>
        </p:nvSpPr>
        <p:spPr>
          <a:xfrm>
            <a:off x="8503920" y="2788920"/>
            <a:ext cx="347472" cy="347472"/>
          </a:xfrm>
          <a:prstGeom prst="ellipse">
            <a:avLst/>
          </a:prstGeom>
          <a:solidFill>
            <a:schemeClr val="accent1"/>
          </a:solidFill>
          <a:ln w="12700">
            <a:solidFill>
              <a:schemeClr val="accent1"/>
            </a:solidFill>
            <a:prstDash val="solid"/>
          </a:ln>
        </p:spPr>
      </p:sp>
      <p:sp>
        <p:nvSpPr>
          <p:cNvPr id="1045"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46"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Spinner and message</a:t>
            </a:r>
            <a:endParaRPr lang="en-US" sz="1500" dirty="0"/>
          </a:p>
        </p:txBody>
      </p:sp>
      <p:sp>
        <p:nvSpPr>
          <p:cNvPr id="1047"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Shows a spinner and your message while the Work callback runs. There is no close (X) button.</a:t>
            </a:r>
            <a:endParaRPr lang="en-US" sz="1300" dirty="0"/>
          </a:p>
        </p:txBody>
      </p:sp>
      <p:sp>
        <p:nvSpPr>
          <p:cNvPr id="1048" name="Step circle 3"/>
          <p:cNvSpPr/>
          <p:nvPr/>
        </p:nvSpPr>
        <p:spPr>
          <a:xfrm>
            <a:off x="8503920" y="4251960"/>
            <a:ext cx="347472" cy="347472"/>
          </a:xfrm>
          <a:prstGeom prst="ellipse">
            <a:avLst/>
          </a:prstGeom>
          <a:solidFill>
            <a:schemeClr val="accent1"/>
          </a:solidFill>
          <a:ln w="12700">
            <a:solidFill>
              <a:schemeClr val="accent1"/>
            </a:solidFill>
            <a:prstDash val="solid"/>
          </a:ln>
        </p:spPr>
      </p:sp>
      <p:sp>
        <p:nvSpPr>
          <p:cNvPr id="1049"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50"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Cancel or finish</a:t>
            </a:r>
            <a:endParaRPr lang="en-US" sz="1500" dirty="0"/>
          </a:p>
        </p:txBody>
      </p:sp>
      <p:sp>
        <p:nvSpPr>
          <p:cNvPr id="1051"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Cancel stops the work through the CancellationToken. When Work finishes, the dialog closes and the command returns its result.</a:t>
            </a:r>
            <a:endParaRPr lang="en-US" sz="1300" dirty="0"/>
          </a:p>
        </p:txBody>
      </p:sp>
      <p:sp>
        <p:nvSpPr>
          <p:cNvPr id="1052"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Real Aspire 13.5 dashboard, frame from the demo video in Aspire blog, “Aspire 13.5: Fresh pixels and better workflows” (Aug 18, 2026).</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Commands with named arguments</a:t>
            </a:r>
            <a:endParaRPr lang="en-US" sz="3400" dirty="0"/>
          </a:p>
        </p:txBody>
      </p:sp>
      <p:sp>
        <p:nvSpPr>
          <p:cNvPr id="3" name="Args CS panel"/>
          <p:cNvSpPr/>
          <p:nvPr/>
        </p:nvSpPr>
        <p:spPr>
          <a:xfrm>
            <a:off x="548640" y="1234440"/>
            <a:ext cx="7589520" cy="5074920"/>
          </a:xfrm>
          <a:prstGeom prst="roundRect">
            <a:avLst>
              <a:gd name="adj" fmla="val 1441"/>
            </a:avLst>
          </a:prstGeom>
          <a:solidFill>
            <a:srgbClr val="1C1830"/>
          </a:solidFill>
          <a:ln w="12700">
            <a:solidFill>
              <a:srgbClr val="1C1830"/>
            </a:solidFill>
            <a:prstDash val="solid"/>
          </a:ln>
        </p:spPr>
      </p:sp>
      <p:sp>
        <p:nvSpPr>
          <p:cNvPr id="4" name="Args CS label"/>
          <p:cNvSpPr txBox="1"/>
          <p:nvPr/>
        </p:nvSpPr>
        <p:spPr>
          <a:xfrm>
            <a:off x="777240" y="132588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Args CS text"/>
          <p:cNvSpPr txBox="1"/>
          <p:nvPr/>
        </p:nvSpPr>
        <p:spPr>
          <a:xfrm>
            <a:off x="777240" y="1645920"/>
            <a:ext cx="7132320" cy="4572000"/>
          </a:xfrm>
          <a:prstGeom prst="rect">
            <a:avLst/>
          </a:prstGeom>
          <a:noFill/>
          <a:ln/>
        </p:spPr>
        <p:txBody>
          <a:bodyPr wrap="square" lIns="0" tIns="0" rIns="0" bIns="0" rtlCol="0" anchor="t"/>
          <a:lstStyle/>
          <a:p>
            <a:pPr indent="0" marL="0">
              <a:buNone/>
            </a:pPr>
            <a:r>
              <a:rPr lang="en-US" sz="1100" dirty="0">
                <a:solidFill>
                  <a:srgbClr val="C4A7FF"/>
                </a:solidFill>
                <a:latin typeface="Courier New" pitchFamily="34" charset="0"/>
                <a:ea typeface="Courier New" pitchFamily="34" charset="-122"/>
                <a:cs typeface="Courier New" pitchFamily="34" charset="-120"/>
              </a:rPr>
              <a:t>var</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CreateBuilder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args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AddContainer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8FE3B0"/>
                </a:solidFill>
                <a:latin typeface="Courier New" pitchFamily="34" charset="0"/>
                <a:ea typeface="Courier New" pitchFamily="34" charset="-122"/>
                <a:cs typeface="Courier New" pitchFamily="34" charset="-120"/>
              </a:rPr>
              <a:t>"api"</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"nginx"</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WithCommand</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name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"echo"</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displayName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"Echo"</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executeCommand</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ctx</a:t>
            </a:r>
            <a:pPr indent="0" marL="0">
              <a:buNone/>
            </a:pPr>
            <a:r>
              <a:rPr lang="en-US" sz="1100" dirty="0">
                <a:solidFill>
                  <a:srgbClr val="E8E6F0"/>
                </a:solidFill>
                <a:latin typeface="Courier New" pitchFamily="34" charset="0"/>
                <a:ea typeface="Courier New" pitchFamily="34" charset="-122"/>
                <a:cs typeface="Courier New" pitchFamily="34" charset="-120"/>
              </a:rPr>
              <a:t> =&gt;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var</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E8E6F0"/>
                </a:solidFill>
                <a:latin typeface="Courier New" pitchFamily="34" charset="0"/>
                <a:ea typeface="Courier New" pitchFamily="34" charset="-122"/>
                <a:cs typeface="Courier New" pitchFamily="34" charset="-120"/>
              </a:rPr>
              <a:t>ctx</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Arguments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8FE3B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Value</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i="1" dirty="0">
                <a:solidFill>
                  <a:srgbClr val="8B87A3"/>
                </a:solidFill>
                <a:latin typeface="Courier New" pitchFamily="34" charset="0"/>
                <a:ea typeface="Courier New" pitchFamily="34" charset="-122"/>
                <a:cs typeface="Courier New" pitchFamily="34" charset="-120"/>
              </a:rPr>
              <a:t>// Use the collected argument...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return</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Task</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FromResult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7CC7FF"/>
                </a:solidFill>
                <a:latin typeface="Courier New" pitchFamily="34" charset="0"/>
                <a:ea typeface="Courier New" pitchFamily="34" charset="-122"/>
                <a:cs typeface="Courier New" pitchFamily="34" charset="-120"/>
              </a:rPr>
              <a:t>CommandResults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Success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commandOptions</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new</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CommandOptions</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Description</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8FE3B0"/>
                </a:solidFill>
                <a:latin typeface="Courier New" pitchFamily="34" charset="0"/>
                <a:ea typeface="Courier New" pitchFamily="34" charset="-122"/>
                <a:cs typeface="Courier New" pitchFamily="34" charset="-120"/>
              </a:rPr>
              <a:t>"Echo a message."</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Arguments</a:t>
            </a:r>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new</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InteractionInput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Name</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8FE3B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Label</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8FE3B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InputType</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7CC7FF"/>
                </a:solidFill>
                <a:latin typeface="Courier New" pitchFamily="34" charset="0"/>
                <a:ea typeface="Courier New" pitchFamily="34" charset="-122"/>
                <a:cs typeface="Courier New" pitchFamily="34" charset="-120"/>
              </a:rPr>
              <a:t>InputType</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Text</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Required</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C4A7FF"/>
                </a:solidFill>
                <a:latin typeface="Courier New" pitchFamily="34" charset="0"/>
                <a:ea typeface="Courier New" pitchFamily="34" charset="-122"/>
                <a:cs typeface="Courier New" pitchFamily="34" charset="-120"/>
              </a:rPr>
              <a:t>true</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Build</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Run</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p:txBody>
      </p:sp>
      <p:sp>
        <p:nvSpPr>
          <p:cNvPr id="6" name="Args notes panel"/>
          <p:cNvSpPr/>
          <p:nvPr/>
        </p:nvSpPr>
        <p:spPr>
          <a:xfrm>
            <a:off x="8366760" y="1234440"/>
            <a:ext cx="3246120" cy="5074920"/>
          </a:xfrm>
          <a:prstGeom prst="roundRect">
            <a:avLst>
              <a:gd name="adj" fmla="val 2817"/>
            </a:avLst>
          </a:prstGeom>
          <a:solidFill>
            <a:schemeClr val="bg2"/>
          </a:solidFill>
          <a:ln w="12700">
            <a:solidFill>
              <a:schemeClr val="bg2"/>
            </a:solidFill>
            <a:prstDash val="solid"/>
          </a:ln>
        </p:spPr>
      </p:sp>
      <p:sp>
        <p:nvSpPr>
          <p:cNvPr id="7" name="Args notes text"/>
          <p:cNvSpPr txBox="1"/>
          <p:nvPr/>
        </p:nvSpPr>
        <p:spPr>
          <a:xfrm>
            <a:off x="8641080" y="1463040"/>
            <a:ext cx="2697480" cy="4617720"/>
          </a:xfrm>
          <a:prstGeom prst="rect">
            <a:avLst/>
          </a:prstGeom>
          <a:noFill/>
          <a:ln/>
        </p:spPr>
        <p:txBody>
          <a:bodyPr wrap="square" lIns="0" tIns="0" rIns="0" bIns="0" rtlCol="0" anchor="t"/>
          <a:lstStyle/>
          <a:p>
            <a:pPr indent="0" marL="0">
              <a:buNone/>
            </a:pPr>
            <a:r>
              <a:rPr lang="en-US" sz="1500" b="1" dirty="0">
                <a:solidFill>
                  <a:schemeClr val="tx2"/>
                </a:solidFill>
              </a:rPr>
              <a:t>Declare once</a:t>
            </a:r>
            <a:endParaRPr lang="en-US" sz="1500" dirty="0"/>
          </a:p>
          <a:p>
            <a:pPr indent="0" marL="0">
              <a:spcAft>
                <a:spcPts val="1200"/>
              </a:spcAft>
              <a:buNone/>
            </a:pPr>
            <a:r>
              <a:rPr lang="en-US" sz="1400" dirty="0">
                <a:solidFill>
                  <a:schemeClr val="tx1"/>
                </a:solidFill>
              </a:rPr>
              <a:t>Put InteractionInput items in CommandOptions.Arguments.</a:t>
            </a:r>
            <a:endParaRPr lang="en-US" sz="1500" dirty="0"/>
          </a:p>
          <a:p>
            <a:pPr indent="0" marL="0">
              <a:buNone/>
            </a:pPr>
            <a:r>
              <a:rPr lang="en-US" sz="1500" b="1" dirty="0">
                <a:solidFill>
                  <a:schemeClr val="tx2"/>
                </a:solidFill>
              </a:rPr>
              <a:t>Two front ends</a:t>
            </a:r>
            <a:endParaRPr lang="en-US" sz="1500" dirty="0"/>
          </a:p>
          <a:p>
            <a:pPr indent="0" marL="0">
              <a:spcAft>
                <a:spcPts val="1200"/>
              </a:spcAft>
              <a:buNone/>
            </a:pPr>
            <a:r>
              <a:rPr lang="en-US" sz="1400" dirty="0">
                <a:solidFill>
                  <a:schemeClr val="tx1"/>
                </a:solidFill>
              </a:rPr>
              <a:t>Dashboard: a form before the command runs. CLI: each argument becomes a command-line option with the same name.</a:t>
            </a:r>
            <a:endParaRPr lang="en-US" sz="1500" dirty="0"/>
          </a:p>
          <a:p>
            <a:pPr indent="0" marL="0">
              <a:buNone/>
            </a:pPr>
            <a:r>
              <a:rPr lang="en-US" sz="1500" b="1" dirty="0">
                <a:solidFill>
                  <a:schemeClr val="tx2"/>
                </a:solidFill>
              </a:rPr>
              <a:t>Required</a:t>
            </a:r>
            <a:endParaRPr lang="en-US" sz="1500" dirty="0"/>
          </a:p>
          <a:p>
            <a:pPr indent="0" marL="0">
              <a:spcAft>
                <a:spcPts val="1200"/>
              </a:spcAft>
              <a:buNone/>
            </a:pPr>
            <a:r>
              <a:rPr lang="en-US" sz="1400" dirty="0">
                <a:solidFill>
                  <a:schemeClr val="tx1"/>
                </a:solidFill>
              </a:rPr>
              <a:t>The CLI reports an error if a required option is missing. Stable.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it looks like: command arguments</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28</a:t>
            </a:fld>
            <a:endParaRPr lang="en-US"/>
          </a:p>
        </p:txBody>
      </p:sp>
      <p:pic>
        <p:nvPicPr>
          <p:cNvPr id="26" name="Dashboard screenshot" descr="An Aspire 13.5 dashboard dialog titled Deploy application with an Environment dropdown, a Release version text box and a Run health checks checkbox"/>
          <p:cNvPicPr>
            <a:picLocks noChangeAspect="1"/>
          </p:cNvPicPr>
          <p:nvPr/>
        </p:nvPicPr>
        <p:blipFill>
          <a:blip r:embed="rId3"/>
          <a:stretch>
            <a:fillRect/>
          </a:stretch>
        </p:blipFill>
        <p:spPr>
          <a:xfrm>
            <a:off x="548640" y="1280160"/>
            <a:ext cx="7680960" cy="4123462"/>
          </a:xfrm>
          <a:prstGeom prst="rect">
            <a:avLst/>
          </a:prstGeom>
          <a:ln w="12700">
            <a:solidFill>
              <a:srgbClr val="D9D6E8"/>
            </a:solidFill>
          </a:ln>
        </p:spPr>
      </p:pic>
      <p:sp>
        <p:nvSpPr>
          <p:cNvPr id="1053" name="Step circle 1"/>
          <p:cNvSpPr/>
          <p:nvPr/>
        </p:nvSpPr>
        <p:spPr>
          <a:xfrm>
            <a:off x="8503920" y="1325880"/>
            <a:ext cx="347472" cy="347472"/>
          </a:xfrm>
          <a:prstGeom prst="ellipse">
            <a:avLst/>
          </a:prstGeom>
          <a:solidFill>
            <a:schemeClr val="accent1"/>
          </a:solidFill>
          <a:ln w="12700">
            <a:solidFill>
              <a:schemeClr val="accent1"/>
            </a:solidFill>
            <a:prstDash val="solid"/>
          </a:ln>
        </p:spPr>
      </p:sp>
      <p:sp>
        <p:nvSpPr>
          <p:cNvPr id="1054"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55"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Run the command</a:t>
            </a:r>
            <a:endParaRPr lang="en-US" sz="1500" dirty="0"/>
          </a:p>
        </p:txBody>
      </p:sp>
      <p:sp>
        <p:nvSpPr>
          <p:cNvPr id="1056"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 on the resource, then the command (Echo in our code).</a:t>
            </a:r>
            <a:endParaRPr lang="en-US" sz="1300" dirty="0"/>
          </a:p>
        </p:txBody>
      </p:sp>
      <p:sp>
        <p:nvSpPr>
          <p:cNvPr id="1057" name="Step circle 2"/>
          <p:cNvSpPr/>
          <p:nvPr/>
        </p:nvSpPr>
        <p:spPr>
          <a:xfrm>
            <a:off x="8503920" y="2788920"/>
            <a:ext cx="347472" cy="347472"/>
          </a:xfrm>
          <a:prstGeom prst="ellipse">
            <a:avLst/>
          </a:prstGeom>
          <a:solidFill>
            <a:schemeClr val="accent1"/>
          </a:solidFill>
          <a:ln w="12700">
            <a:solidFill>
              <a:schemeClr val="accent1"/>
            </a:solidFill>
            <a:prstDash val="solid"/>
          </a:ln>
        </p:spPr>
      </p:sp>
      <p:sp>
        <p:nvSpPr>
          <p:cNvPr id="1058"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59"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Arguments come first</a:t>
            </a:r>
            <a:endParaRPr lang="en-US" sz="1500" dirty="0"/>
          </a:p>
        </p:txBody>
      </p:sp>
      <p:sp>
        <p:nvSpPr>
          <p:cNvPr id="1060"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Each declared argument becomes a labelled input; required ones show a red *. This sample has a dropdown, a text box and a checkbox.</a:t>
            </a:r>
            <a:endParaRPr lang="en-US" sz="1300" dirty="0"/>
          </a:p>
        </p:txBody>
      </p:sp>
      <p:sp>
        <p:nvSpPr>
          <p:cNvPr id="1061" name="Step circle 3"/>
          <p:cNvSpPr/>
          <p:nvPr/>
        </p:nvSpPr>
        <p:spPr>
          <a:xfrm>
            <a:off x="8503920" y="4251960"/>
            <a:ext cx="347472" cy="347472"/>
          </a:xfrm>
          <a:prstGeom prst="ellipse">
            <a:avLst/>
          </a:prstGeom>
          <a:solidFill>
            <a:schemeClr val="accent1"/>
          </a:solidFill>
          <a:ln w="12700">
            <a:solidFill>
              <a:schemeClr val="accent1"/>
            </a:solidFill>
            <a:prstDash val="solid"/>
          </a:ln>
        </p:spPr>
      </p:sp>
      <p:sp>
        <p:nvSpPr>
          <p:cNvPr id="1062"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63"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Then the command runs</a:t>
            </a:r>
            <a:endParaRPr lang="en-US" sz="1500" dirty="0"/>
          </a:p>
        </p:txBody>
      </p:sp>
      <p:sp>
        <p:nvSpPr>
          <p:cNvPr id="1064"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Your callback reads the values from ctx.Arguments. From the CLI, the same arguments are --name options.</a:t>
            </a:r>
            <a:endParaRPr lang="en-US" sz="1300" dirty="0"/>
          </a:p>
        </p:txBody>
      </p:sp>
      <p:sp>
        <p:nvSpPr>
          <p:cNvPr id="1065"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Real Aspire 13.5 dashboard, frame from the 13.5 blog demo video. Sample command “Deploy application”, not our Echo code.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4</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Wrap-up</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Upgrading, supported languages, and where to learn more</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Upgrade, and what to watch for</a:t>
            </a:r>
            <a:endParaRPr lang="en-US" sz="3400" dirty="0"/>
          </a:p>
        </p:txBody>
      </p:sp>
      <p:sp>
        <p:nvSpPr>
          <p:cNvPr id="3" name="Upgrade CLI panel"/>
          <p:cNvSpPr/>
          <p:nvPr/>
        </p:nvSpPr>
        <p:spPr>
          <a:xfrm>
            <a:off x="548640" y="1325880"/>
            <a:ext cx="5120640" cy="3291840"/>
          </a:xfrm>
          <a:prstGeom prst="roundRect">
            <a:avLst>
              <a:gd name="adj" fmla="val 2222"/>
            </a:avLst>
          </a:prstGeom>
          <a:solidFill>
            <a:srgbClr val="1C1830"/>
          </a:solidFill>
          <a:ln w="12700">
            <a:solidFill>
              <a:srgbClr val="1C1830"/>
            </a:solidFill>
            <a:prstDash val="solid"/>
          </a:ln>
        </p:spPr>
      </p:sp>
      <p:sp>
        <p:nvSpPr>
          <p:cNvPr id="4" name="Upgrade CLI label"/>
          <p:cNvSpPr txBox="1"/>
          <p:nvPr/>
        </p:nvSpPr>
        <p:spPr>
          <a:xfrm>
            <a:off x="777240" y="1417320"/>
            <a:ext cx="46634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TERMINAL  ·  Aspire CLI</a:t>
            </a:r>
            <a:endParaRPr lang="en-US" sz="1000" dirty="0"/>
          </a:p>
        </p:txBody>
      </p:sp>
      <p:sp>
        <p:nvSpPr>
          <p:cNvPr id="5" name="Upgrade CLI text"/>
          <p:cNvSpPr txBox="1"/>
          <p:nvPr/>
        </p:nvSpPr>
        <p:spPr>
          <a:xfrm>
            <a:off x="777240" y="1737360"/>
            <a:ext cx="4663440" cy="2788920"/>
          </a:xfrm>
          <a:prstGeom prst="rect">
            <a:avLst/>
          </a:prstGeom>
          <a:noFill/>
          <a:ln/>
        </p:spPr>
        <p:txBody>
          <a:bodyPr wrap="square" lIns="0" tIns="0" rIns="0" bIns="0" rtlCol="0" anchor="t"/>
          <a:lstStyle/>
          <a:p>
            <a:pPr indent="0" marL="0">
              <a:buNone/>
            </a:pPr>
            <a:r>
              <a:rPr lang="en-US" sz="1400" i="1" dirty="0">
                <a:solidFill>
                  <a:srgbClr val="8B87A3"/>
                </a:solidFill>
                <a:latin typeface="Courier New" pitchFamily="34" charset="0"/>
                <a:ea typeface="Courier New" pitchFamily="34" charset="-122"/>
                <a:cs typeface="Courier New" pitchFamily="34" charset="-120"/>
              </a:rPr>
              <a:t>// 1. Update the Aspire CLI itself</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aspire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update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self</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i="1" dirty="0">
                <a:solidFill>
                  <a:srgbClr val="8B87A3"/>
                </a:solidFill>
                <a:latin typeface="Courier New" pitchFamily="34" charset="0"/>
                <a:ea typeface="Courier New" pitchFamily="34" charset="-122"/>
                <a:cs typeface="Courier New" pitchFamily="34" charset="-120"/>
              </a:rPr>
              <a:t>// 2. Update your projects (from repo root)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aspire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update</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i="1" dirty="0">
                <a:solidFill>
                  <a:srgbClr val="8B87A3"/>
                </a:solidFill>
                <a:latin typeface="Courier New" pitchFamily="34" charset="0"/>
                <a:ea typeface="Courier New" pitchFamily="34" charset="-122"/>
                <a:cs typeface="Courier New" pitchFamily="34" charset="-120"/>
              </a:rPr>
              <a:t>// 3. Run the app + open the dashboard</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aspire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run</a:t>
            </a:r>
            <a:endParaRPr lang="en-US" sz="1400" dirty="0"/>
          </a:p>
        </p:txBody>
      </p:sp>
      <p:pic>
        <p:nvPicPr>
          <p:cNvPr id="6" name="Watch icon 0" descr="preencoded.png">    </p:cNvPr>
          <p:cNvPicPr>
            <a:picLocks noChangeAspect="1"/>
          </p:cNvPicPr>
          <p:nvPr/>
        </p:nvPicPr>
        <p:blipFill>
          <a:blip r:embed="rId1"/>
          <a:stretch>
            <a:fillRect/>
          </a:stretch>
        </p:blipFill>
        <p:spPr>
          <a:xfrm>
            <a:off x="6035040" y="1371600"/>
            <a:ext cx="411480" cy="411480"/>
          </a:xfrm>
          <a:prstGeom prst="rect">
            <a:avLst/>
          </a:prstGeom>
        </p:spPr>
      </p:pic>
      <p:sp>
        <p:nvSpPr>
          <p:cNvPr id="7" name="Watch title 0"/>
          <p:cNvSpPr txBox="1"/>
          <p:nvPr/>
        </p:nvSpPr>
        <p:spPr>
          <a:xfrm>
            <a:off x="6629400" y="1325880"/>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Don't mix 13.4 and 13.5 packages</a:t>
            </a:r>
            <a:endParaRPr lang="en-US" sz="1600" dirty="0"/>
          </a:p>
        </p:txBody>
      </p:sp>
      <p:sp>
        <p:nvSpPr>
          <p:cNvPr id="8" name="Watch body 0"/>
          <p:cNvSpPr txBox="1"/>
          <p:nvPr/>
        </p:nvSpPr>
        <p:spPr>
          <a:xfrm>
            <a:off x="6629400" y="1709928"/>
            <a:ext cx="4983480" cy="685800"/>
          </a:xfrm>
          <a:prstGeom prst="rect">
            <a:avLst/>
          </a:prstGeom>
          <a:noFill/>
          <a:ln/>
        </p:spPr>
        <p:txBody>
          <a:bodyPr wrap="square" lIns="0" tIns="0" rIns="0" bIns="0" rtlCol="0" anchor="t"/>
          <a:lstStyle/>
          <a:p>
            <a:pPr indent="0" marL="0">
              <a:buNone/>
            </a:pPr>
            <a:r>
              <a:rPr lang="en-US" sz="1400" dirty="0">
                <a:solidFill>
                  <a:schemeClr val="tx1"/>
                </a:solidFill>
              </a:rPr>
              <a:t>Mixed versions can fail at startup. Upgrade the SDK and every Aspire.Hosting.* package together.</a:t>
            </a:r>
            <a:endParaRPr lang="en-US" sz="1400" dirty="0"/>
          </a:p>
        </p:txBody>
      </p:sp>
      <p:pic>
        <p:nvPicPr>
          <p:cNvPr id="9" name="Watch icon 1" descr="preencoded.png">    </p:cNvPr>
          <p:cNvPicPr>
            <a:picLocks noChangeAspect="1"/>
          </p:cNvPicPr>
          <p:nvPr/>
        </p:nvPicPr>
        <p:blipFill>
          <a:blip r:embed="rId2"/>
          <a:stretch>
            <a:fillRect/>
          </a:stretch>
        </p:blipFill>
        <p:spPr>
          <a:xfrm>
            <a:off x="6035040" y="2587752"/>
            <a:ext cx="411480" cy="411480"/>
          </a:xfrm>
          <a:prstGeom prst="rect">
            <a:avLst/>
          </a:prstGeom>
        </p:spPr>
      </p:pic>
      <p:sp>
        <p:nvSpPr>
          <p:cNvPr id="10" name="Watch title 1"/>
          <p:cNvSpPr txBox="1"/>
          <p:nvPr/>
        </p:nvSpPr>
        <p:spPr>
          <a:xfrm>
            <a:off x="6629400" y="2542032"/>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Dashboard AI Assistant removed</a:t>
            </a:r>
            <a:endParaRPr lang="en-US" sz="1600" dirty="0"/>
          </a:p>
        </p:txBody>
      </p:sp>
      <p:sp>
        <p:nvSpPr>
          <p:cNvPr id="11" name="Watch body 1"/>
          <p:cNvSpPr txBox="1"/>
          <p:nvPr/>
        </p:nvSpPr>
        <p:spPr>
          <a:xfrm>
            <a:off x="6629400" y="2926080"/>
            <a:ext cx="4983480" cy="685800"/>
          </a:xfrm>
          <a:prstGeom prst="rect">
            <a:avLst/>
          </a:prstGeom>
          <a:noFill/>
          <a:ln/>
        </p:spPr>
        <p:txBody>
          <a:bodyPr wrap="square" lIns="0" tIns="0" rIns="0" bIns="0" rtlCol="0" anchor="t"/>
          <a:lstStyle/>
          <a:p>
            <a:pPr indent="0" marL="0">
              <a:buNone/>
            </a:pPr>
            <a:r>
              <a:rPr lang="en-US" sz="1400" dirty="0">
                <a:solidFill>
                  <a:schemeClr val="tx1"/>
                </a:solidFill>
              </a:rPr>
              <a:t>The built-in chat is gone. The Aspire MCP server is the supported way to connect AI agents.</a:t>
            </a:r>
            <a:endParaRPr lang="en-US" sz="1400" dirty="0"/>
          </a:p>
        </p:txBody>
      </p:sp>
      <p:pic>
        <p:nvPicPr>
          <p:cNvPr id="12" name="Watch icon 2" descr="preencoded.png">    </p:cNvPr>
          <p:cNvPicPr>
            <a:picLocks noChangeAspect="1"/>
          </p:cNvPicPr>
          <p:nvPr/>
        </p:nvPicPr>
        <p:blipFill>
          <a:blip r:embed="rId3"/>
          <a:stretch>
            <a:fillRect/>
          </a:stretch>
        </p:blipFill>
        <p:spPr>
          <a:xfrm>
            <a:off x="6035040" y="3803904"/>
            <a:ext cx="411480" cy="411480"/>
          </a:xfrm>
          <a:prstGeom prst="rect">
            <a:avLst/>
          </a:prstGeom>
        </p:spPr>
      </p:pic>
      <p:sp>
        <p:nvSpPr>
          <p:cNvPr id="13" name="Watch title 2"/>
          <p:cNvSpPr txBox="1"/>
          <p:nvPr/>
        </p:nvSpPr>
        <p:spPr>
          <a:xfrm>
            <a:off x="6629400" y="3758184"/>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VS Code no longer auto-opens it</a:t>
            </a:r>
            <a:endParaRPr lang="en-US" sz="1600" dirty="0"/>
          </a:p>
        </p:txBody>
      </p:sp>
      <p:sp>
        <p:nvSpPr>
          <p:cNvPr id="14" name="Watch body 2"/>
          <p:cNvSpPr txBox="1"/>
          <p:nvPr/>
        </p:nvSpPr>
        <p:spPr>
          <a:xfrm>
            <a:off x="6629400" y="4142232"/>
            <a:ext cx="4983480" cy="685800"/>
          </a:xfrm>
          <a:prstGeom prst="rect">
            <a:avLst/>
          </a:prstGeom>
          <a:noFill/>
          <a:ln/>
        </p:spPr>
        <p:txBody>
          <a:bodyPr wrap="square" lIns="0" tIns="0" rIns="0" bIns="0" rtlCol="0" anchor="t"/>
          <a:lstStyle/>
          <a:p>
            <a:pPr indent="0" marL="0">
              <a:buNone/>
            </a:pPr>
            <a:r>
              <a:rPr lang="en-US" sz="1400" dirty="0">
                <a:solidFill>
                  <a:schemeClr val="tx1"/>
                </a:solidFill>
              </a:rPr>
              <a:t>Opt in with the Aspire: Dashboard Browser setting or dashboardBrowser in launch.json.</a:t>
            </a:r>
            <a:endParaRPr lang="en-US" sz="1400" dirty="0"/>
          </a:p>
        </p:txBody>
      </p:sp>
      <p:pic>
        <p:nvPicPr>
          <p:cNvPr id="15" name="Watch icon 3" descr="preencoded.png">    </p:cNvPr>
          <p:cNvPicPr>
            <a:picLocks noChangeAspect="1"/>
          </p:cNvPicPr>
          <p:nvPr/>
        </p:nvPicPr>
        <p:blipFill>
          <a:blip r:embed="rId4"/>
          <a:stretch>
            <a:fillRect/>
          </a:stretch>
        </p:blipFill>
        <p:spPr>
          <a:xfrm>
            <a:off x="6035040" y="5020056"/>
            <a:ext cx="411480" cy="411480"/>
          </a:xfrm>
          <a:prstGeom prst="rect">
            <a:avLst/>
          </a:prstGeom>
        </p:spPr>
      </p:pic>
      <p:sp>
        <p:nvSpPr>
          <p:cNvPr id="16" name="Watch title 3"/>
          <p:cNvSpPr txBox="1"/>
          <p:nvPr/>
        </p:nvSpPr>
        <p:spPr>
          <a:xfrm>
            <a:off x="6629400" y="4974336"/>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ServiceProvider is now Services</a:t>
            </a:r>
            <a:endParaRPr lang="en-US" sz="1600" dirty="0"/>
          </a:p>
        </p:txBody>
      </p:sp>
      <p:sp>
        <p:nvSpPr>
          <p:cNvPr id="17" name="Watch body 3"/>
          <p:cNvSpPr txBox="1"/>
          <p:nvPr/>
        </p:nvSpPr>
        <p:spPr>
          <a:xfrm>
            <a:off x="6629400" y="5358384"/>
            <a:ext cx="4983480" cy="685800"/>
          </a:xfrm>
          <a:prstGeom prst="rect">
            <a:avLst/>
          </a:prstGeom>
          <a:noFill/>
          <a:ln/>
        </p:spPr>
        <p:txBody>
          <a:bodyPr wrap="square" lIns="0" tIns="0" rIns="0" bIns="0" rtlCol="0" anchor="t"/>
          <a:lstStyle/>
          <a:p>
            <a:pPr indent="0" marL="0">
              <a:buNone/>
            </a:pPr>
            <a:r>
              <a:rPr lang="en-US" sz="1400" dirty="0">
                <a:solidFill>
                  <a:schemeClr val="tx1"/>
                </a:solidFill>
              </a:rPr>
              <a:t>Rename the property on hosting context types in your AppHost code.</a:t>
            </a:r>
            <a:endParaRPr lang="en-US" sz="1400" dirty="0"/>
          </a:p>
        </p:txBody>
      </p:sp>
      <p:sp>
        <p:nvSpPr>
          <p:cNvPr id="18" name="Next release panel"/>
          <p:cNvSpPr/>
          <p:nvPr/>
        </p:nvSpPr>
        <p:spPr>
          <a:xfrm>
            <a:off x="548640" y="4892040"/>
            <a:ext cx="5120640" cy="1280160"/>
          </a:xfrm>
          <a:prstGeom prst="roundRect">
            <a:avLst>
              <a:gd name="adj" fmla="val 7143"/>
            </a:avLst>
          </a:prstGeom>
          <a:solidFill>
            <a:schemeClr val="bg2"/>
          </a:solidFill>
          <a:ln w="12700">
            <a:solidFill>
              <a:schemeClr val="bg2"/>
            </a:solidFill>
            <a:prstDash val="solid"/>
          </a:ln>
        </p:spPr>
      </p:sp>
      <p:sp>
        <p:nvSpPr>
          <p:cNvPr id="19" name="Next release text"/>
          <p:cNvSpPr txBox="1"/>
          <p:nvPr/>
        </p:nvSpPr>
        <p:spPr>
          <a:xfrm>
            <a:off x="777240" y="4983480"/>
            <a:ext cx="4663440" cy="1097280"/>
          </a:xfrm>
          <a:prstGeom prst="rect">
            <a:avLst/>
          </a:prstGeom>
          <a:noFill/>
          <a:ln/>
        </p:spPr>
        <p:txBody>
          <a:bodyPr wrap="square" lIns="0" tIns="0" rIns="0" bIns="0" rtlCol="0" anchor="ctr"/>
          <a:lstStyle/>
          <a:p>
            <a:pPr indent="0" marL="0">
              <a:buNone/>
            </a:pPr>
            <a:r>
              <a:rPr lang="en-US" sz="1400" b="1" dirty="0">
                <a:solidFill>
                  <a:schemeClr val="tx2"/>
                </a:solidFill>
              </a:rPr>
              <a:t>Heads-up: 13.6 is out</a:t>
            </a:r>
            <a:endParaRPr lang="en-US" sz="1400" dirty="0"/>
          </a:p>
          <a:p>
            <a:pPr indent="0" marL="0">
              <a:buNone/>
            </a:pPr>
            <a:r>
              <a:rPr lang="en-US" sz="1400" dirty="0">
                <a:solidFill>
                  <a:schemeClr val="tx1"/>
                </a:solidFill>
              </a:rPr>
              <a:t>Released Sept 29, 2026. Its headline feature: the dashboard keeps telemetry from past runs.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Supported languages and runtimes</a:t>
            </a:r>
            <a:endParaRPr lang="en-US" sz="3400" dirty="0"/>
          </a:p>
        </p:txBody>
      </p:sp>
      <p:sp>
        <p:nvSpPr>
          <p:cNvPr id="3" name="Langs intro"/>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600" dirty="0">
                <a:solidFill>
                  <a:schemeClr val="tx1"/>
                </a:solidFill>
              </a:rPr>
              <a:t>Two separate choices: the AppHost language (how you wire the app together) and the languages your services are written in. They don't need to match.</a:t>
            </a:r>
            <a:endParaRPr lang="en-US" sz="1600" dirty="0"/>
          </a:p>
        </p:txBody>
      </p:sp>
      <p:sp>
        <p:nvSpPr>
          <p:cNvPr id="4" name="Lang card 0"/>
          <p:cNvSpPr/>
          <p:nvPr/>
        </p:nvSpPr>
        <p:spPr>
          <a:xfrm>
            <a:off x="548640" y="2011680"/>
            <a:ext cx="3520440" cy="2834640"/>
          </a:xfrm>
          <a:prstGeom prst="roundRect">
            <a:avLst>
              <a:gd name="adj" fmla="val 3226"/>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5" name="Lang title 0"/>
          <p:cNvSpPr txBox="1"/>
          <p:nvPr/>
        </p:nvSpPr>
        <p:spPr>
          <a:xfrm>
            <a:off x="822960" y="2240280"/>
            <a:ext cx="1783080" cy="685800"/>
          </a:xfrm>
          <a:prstGeom prst="rect">
            <a:avLst/>
          </a:prstGeom>
          <a:noFill/>
          <a:ln/>
        </p:spPr>
        <p:txBody>
          <a:bodyPr wrap="square" lIns="0" tIns="0" rIns="0" bIns="0" rtlCol="0" anchor="t"/>
          <a:lstStyle/>
          <a:p>
            <a:pPr indent="0" marL="0">
              <a:buNone/>
            </a:pPr>
            <a:r>
              <a:rPr lang="en-US" sz="1700" b="1" dirty="0">
                <a:solidFill>
                  <a:schemeClr val="tx2"/>
                </a:solidFill>
              </a:rPr>
              <a:t>AppHost languages</a:t>
            </a:r>
            <a:endParaRPr lang="en-US" sz="1700" dirty="0"/>
          </a:p>
        </p:txBody>
      </p:sp>
      <p:sp>
        <p:nvSpPr>
          <p:cNvPr id="6" name="Lang 0 pill"/>
          <p:cNvSpPr/>
          <p:nvPr/>
        </p:nvSpPr>
        <p:spPr>
          <a:xfrm>
            <a:off x="2651760" y="2286000"/>
            <a:ext cx="1143000" cy="274320"/>
          </a:xfrm>
          <a:prstGeom prst="roundRect">
            <a:avLst>
              <a:gd name="adj" fmla="val 50000"/>
            </a:avLst>
          </a:prstGeom>
          <a:solidFill>
            <a:srgbClr val="6B3FE0"/>
          </a:solidFill>
          <a:ln w="12700">
            <a:solidFill>
              <a:srgbClr val="6B3FE0"/>
            </a:solidFill>
            <a:prstDash val="solid"/>
          </a:ln>
        </p:spPr>
      </p:sp>
      <p:sp>
        <p:nvSpPr>
          <p:cNvPr id="7" name="Lang 0 pill text"/>
          <p:cNvSpPr txBox="1"/>
          <p:nvPr/>
        </p:nvSpPr>
        <p:spPr>
          <a:xfrm>
            <a:off x="2651760" y="22860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Official</a:t>
            </a:r>
            <a:endParaRPr lang="en-US" sz="1000" dirty="0"/>
          </a:p>
        </p:txBody>
      </p:sp>
      <p:sp>
        <p:nvSpPr>
          <p:cNvPr id="8" name="Lang list 0"/>
          <p:cNvSpPr txBox="1"/>
          <p:nvPr/>
        </p:nvSpPr>
        <p:spPr>
          <a:xfrm>
            <a:off x="822960" y="3017520"/>
            <a:ext cx="2971800" cy="1691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C#</a:t>
            </a:r>
            <a:endParaRPr lang="en-US" sz="1600" dirty="0"/>
          </a:p>
          <a:p>
            <a:pPr marL="342900" indent="-342900">
              <a:spcAft>
                <a:spcPts val="600"/>
              </a:spcAft>
              <a:buSzPct val="100000"/>
              <a:buChar char="•"/>
            </a:pPr>
            <a:r>
              <a:rPr lang="en-US" sz="1600" dirty="0">
                <a:solidFill>
                  <a:schemeClr val="tx1"/>
                </a:solidFill>
              </a:rPr>
              <a:t>TypeScript</a:t>
            </a:r>
            <a:endParaRPr lang="en-US" sz="1600" dirty="0"/>
          </a:p>
        </p:txBody>
      </p:sp>
      <p:sp>
        <p:nvSpPr>
          <p:cNvPr id="9" name="Lang card 1"/>
          <p:cNvSpPr/>
          <p:nvPr/>
        </p:nvSpPr>
        <p:spPr>
          <a:xfrm>
            <a:off x="4320540" y="2011680"/>
            <a:ext cx="3520440" cy="2834640"/>
          </a:xfrm>
          <a:prstGeom prst="roundRect">
            <a:avLst>
              <a:gd name="adj" fmla="val 3226"/>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0" name="Lang title 1"/>
          <p:cNvSpPr txBox="1"/>
          <p:nvPr/>
        </p:nvSpPr>
        <p:spPr>
          <a:xfrm>
            <a:off x="4594860" y="2240280"/>
            <a:ext cx="1783080" cy="685800"/>
          </a:xfrm>
          <a:prstGeom prst="rect">
            <a:avLst/>
          </a:prstGeom>
          <a:noFill/>
          <a:ln/>
        </p:spPr>
        <p:txBody>
          <a:bodyPr wrap="square" lIns="0" tIns="0" rIns="0" bIns="0" rtlCol="0" anchor="t"/>
          <a:lstStyle/>
          <a:p>
            <a:pPr indent="0" marL="0">
              <a:buNone/>
            </a:pPr>
            <a:r>
              <a:rPr lang="en-US" sz="1700" b="1" dirty="0">
                <a:solidFill>
                  <a:schemeClr val="tx2"/>
                </a:solidFill>
              </a:rPr>
              <a:t>App languages: official</a:t>
            </a:r>
            <a:endParaRPr lang="en-US" sz="1700" dirty="0"/>
          </a:p>
        </p:txBody>
      </p:sp>
      <p:sp>
        <p:nvSpPr>
          <p:cNvPr id="11" name="Lang 1 pill"/>
          <p:cNvSpPr/>
          <p:nvPr/>
        </p:nvSpPr>
        <p:spPr>
          <a:xfrm>
            <a:off x="6423660" y="2286000"/>
            <a:ext cx="1143000" cy="274320"/>
          </a:xfrm>
          <a:prstGeom prst="roundRect">
            <a:avLst>
              <a:gd name="adj" fmla="val 50000"/>
            </a:avLst>
          </a:prstGeom>
          <a:solidFill>
            <a:srgbClr val="6B3FE0"/>
          </a:solidFill>
          <a:ln w="12700">
            <a:solidFill>
              <a:srgbClr val="6B3FE0"/>
            </a:solidFill>
            <a:prstDash val="solid"/>
          </a:ln>
        </p:spPr>
      </p:sp>
      <p:sp>
        <p:nvSpPr>
          <p:cNvPr id="12" name="Lang 1 pill text"/>
          <p:cNvSpPr txBox="1"/>
          <p:nvPr/>
        </p:nvSpPr>
        <p:spPr>
          <a:xfrm>
            <a:off x="6423660" y="22860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Official</a:t>
            </a:r>
            <a:endParaRPr lang="en-US" sz="1000" dirty="0"/>
          </a:p>
        </p:txBody>
      </p:sp>
      <p:sp>
        <p:nvSpPr>
          <p:cNvPr id="13" name="Lang list 1"/>
          <p:cNvSpPr txBox="1"/>
          <p:nvPr/>
        </p:nvSpPr>
        <p:spPr>
          <a:xfrm>
            <a:off x="4594860" y="3017520"/>
            <a:ext cx="2971800" cy="1691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C# and .NET</a:t>
            </a:r>
            <a:endParaRPr lang="en-US" sz="1600" dirty="0"/>
          </a:p>
          <a:p>
            <a:pPr marL="342900" indent="-342900">
              <a:spcAft>
                <a:spcPts val="600"/>
              </a:spcAft>
              <a:buSzPct val="100000"/>
              <a:buChar char="•"/>
            </a:pPr>
            <a:r>
              <a:rPr lang="en-US" sz="1600" dirty="0">
                <a:solidFill>
                  <a:schemeClr val="tx1"/>
                </a:solidFill>
              </a:rPr>
              <a:t>JavaScript and Node.js</a:t>
            </a:r>
            <a:endParaRPr lang="en-US" sz="1600" dirty="0"/>
          </a:p>
          <a:p>
            <a:pPr marL="342900" indent="-342900">
              <a:spcAft>
                <a:spcPts val="600"/>
              </a:spcAft>
              <a:buSzPct val="100000"/>
              <a:buChar char="•"/>
            </a:pPr>
            <a:r>
              <a:rPr lang="en-US" sz="1600" dirty="0">
                <a:solidFill>
                  <a:schemeClr val="tx1"/>
                </a:solidFill>
              </a:rPr>
              <a:t>Python</a:t>
            </a:r>
            <a:endParaRPr lang="en-US" sz="1600" dirty="0"/>
          </a:p>
          <a:p>
            <a:pPr marL="342900" indent="-342900">
              <a:spcAft>
                <a:spcPts val="600"/>
              </a:spcAft>
              <a:buSzPct val="100000"/>
              <a:buChar char="•"/>
            </a:pPr>
            <a:r>
              <a:rPr lang="en-US" sz="1600" dirty="0">
                <a:solidFill>
                  <a:schemeClr val="tx1"/>
                </a:solidFill>
              </a:rPr>
              <a:t>Go</a:t>
            </a:r>
            <a:endParaRPr lang="en-US" sz="1600" dirty="0"/>
          </a:p>
        </p:txBody>
      </p:sp>
      <p:sp>
        <p:nvSpPr>
          <p:cNvPr id="14" name="Lang card 2"/>
          <p:cNvSpPr/>
          <p:nvPr/>
        </p:nvSpPr>
        <p:spPr>
          <a:xfrm>
            <a:off x="8092440" y="2011680"/>
            <a:ext cx="3520440" cy="2834640"/>
          </a:xfrm>
          <a:prstGeom prst="roundRect">
            <a:avLst>
              <a:gd name="adj" fmla="val 3226"/>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5" name="Lang title 2"/>
          <p:cNvSpPr txBox="1"/>
          <p:nvPr/>
        </p:nvSpPr>
        <p:spPr>
          <a:xfrm>
            <a:off x="8366760" y="2240280"/>
            <a:ext cx="1783080" cy="685800"/>
          </a:xfrm>
          <a:prstGeom prst="rect">
            <a:avLst/>
          </a:prstGeom>
          <a:noFill/>
          <a:ln/>
        </p:spPr>
        <p:txBody>
          <a:bodyPr wrap="square" lIns="0" tIns="0" rIns="0" bIns="0" rtlCol="0" anchor="t"/>
          <a:lstStyle/>
          <a:p>
            <a:pPr indent="0" marL="0">
              <a:buNone/>
            </a:pPr>
            <a:r>
              <a:rPr lang="en-US" sz="1700" b="1" dirty="0">
                <a:solidFill>
                  <a:schemeClr val="tx2"/>
                </a:solidFill>
              </a:rPr>
              <a:t>App languages: community</a:t>
            </a:r>
            <a:endParaRPr lang="en-US" sz="1700" dirty="0"/>
          </a:p>
        </p:txBody>
      </p:sp>
      <p:sp>
        <p:nvSpPr>
          <p:cNvPr id="16" name="Lang 2 pill"/>
          <p:cNvSpPr/>
          <p:nvPr/>
        </p:nvSpPr>
        <p:spPr>
          <a:xfrm>
            <a:off x="10195560" y="2286000"/>
            <a:ext cx="1143000" cy="274320"/>
          </a:xfrm>
          <a:prstGeom prst="roundRect">
            <a:avLst>
              <a:gd name="adj" fmla="val 50000"/>
            </a:avLst>
          </a:prstGeom>
          <a:solidFill>
            <a:srgbClr val="0E9F8E"/>
          </a:solidFill>
          <a:ln w="12700">
            <a:solidFill>
              <a:srgbClr val="0E9F8E"/>
            </a:solidFill>
            <a:prstDash val="solid"/>
          </a:ln>
        </p:spPr>
      </p:sp>
      <p:sp>
        <p:nvSpPr>
          <p:cNvPr id="17" name="Lang 2 pill text"/>
          <p:cNvSpPr txBox="1"/>
          <p:nvPr/>
        </p:nvSpPr>
        <p:spPr>
          <a:xfrm>
            <a:off x="10195560" y="22860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Toolkit</a:t>
            </a:r>
            <a:endParaRPr lang="en-US" sz="1000" dirty="0"/>
          </a:p>
        </p:txBody>
      </p:sp>
      <p:sp>
        <p:nvSpPr>
          <p:cNvPr id="18" name="Lang list 2"/>
          <p:cNvSpPr txBox="1"/>
          <p:nvPr/>
        </p:nvSpPr>
        <p:spPr>
          <a:xfrm>
            <a:off x="8366760" y="3017520"/>
            <a:ext cx="2971800" cy="1691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Java</a:t>
            </a:r>
            <a:endParaRPr lang="en-US" sz="1600" dirty="0"/>
          </a:p>
          <a:p>
            <a:pPr marL="342900" indent="-342900">
              <a:spcAft>
                <a:spcPts val="600"/>
              </a:spcAft>
              <a:buSzPct val="100000"/>
              <a:buChar char="•"/>
            </a:pPr>
            <a:r>
              <a:rPr lang="en-US" sz="1600" dirty="0">
                <a:solidFill>
                  <a:schemeClr val="tx1"/>
                </a:solidFill>
              </a:rPr>
              <a:t>Rust</a:t>
            </a:r>
            <a:endParaRPr lang="en-US" sz="1600" dirty="0"/>
          </a:p>
          <a:p>
            <a:pPr marL="342900" indent="-342900">
              <a:spcAft>
                <a:spcPts val="600"/>
              </a:spcAft>
              <a:buSzPct val="100000"/>
              <a:buChar char="•"/>
            </a:pPr>
            <a:r>
              <a:rPr lang="en-US" sz="1600" dirty="0">
                <a:solidFill>
                  <a:schemeClr val="tx1"/>
                </a:solidFill>
              </a:rPr>
              <a:t>PowerShell</a:t>
            </a:r>
            <a:endParaRPr lang="en-US" sz="1600" dirty="0"/>
          </a:p>
        </p:txBody>
      </p:sp>
      <p:sp>
        <p:nvSpPr>
          <p:cNvPr id="19" name="Docs link panel"/>
          <p:cNvSpPr/>
          <p:nvPr/>
        </p:nvSpPr>
        <p:spPr>
          <a:xfrm>
            <a:off x="548640" y="5074920"/>
            <a:ext cx="11064240" cy="1097280"/>
          </a:xfrm>
          <a:prstGeom prst="roundRect">
            <a:avLst>
              <a:gd name="adj" fmla="val 8333"/>
            </a:avLst>
          </a:prstGeom>
          <a:solidFill>
            <a:schemeClr val="tx2"/>
          </a:solidFill>
          <a:ln w="12700">
            <a:solidFill>
              <a:schemeClr val="tx2"/>
            </a:solidFill>
            <a:prstDash val="solid"/>
          </a:ln>
        </p:spPr>
      </p:sp>
      <p:pic>
        <p:nvPicPr>
          <p:cNvPr id="20" name="Docs link icon" descr="preencoded.png">    </p:cNvPr>
          <p:cNvPicPr>
            <a:picLocks noChangeAspect="1"/>
          </p:cNvPicPr>
          <p:nvPr/>
        </p:nvPicPr>
        <p:blipFill>
          <a:blip r:embed="rId1"/>
          <a:stretch>
            <a:fillRect/>
          </a:stretch>
        </p:blipFill>
        <p:spPr>
          <a:xfrm>
            <a:off x="822960" y="5394960"/>
            <a:ext cx="457200" cy="457200"/>
          </a:xfrm>
          <a:prstGeom prst="rect">
            <a:avLst/>
          </a:prstGeom>
        </p:spPr>
      </p:pic>
      <p:sp>
        <p:nvSpPr>
          <p:cNvPr id="21" name="Docs link text"/>
          <p:cNvSpPr txBox="1"/>
          <p:nvPr/>
        </p:nvSpPr>
        <p:spPr>
          <a:xfrm>
            <a:off x="1463040" y="5120640"/>
            <a:ext cx="9966960" cy="1005840"/>
          </a:xfrm>
          <a:prstGeom prst="rect">
            <a:avLst/>
          </a:prstGeom>
          <a:noFill/>
          <a:ln/>
        </p:spPr>
        <p:txBody>
          <a:bodyPr wrap="square" lIns="0" tIns="0" rIns="0" bIns="0" rtlCol="0" anchor="ctr"/>
          <a:lstStyle/>
          <a:p>
            <a:pPr indent="0" marL="0">
              <a:buNone/>
            </a:pPr>
            <a:r>
              <a:rPr lang="en-US" sz="1600" b="1" dirty="0">
                <a:solidFill>
                  <a:schemeClr val="bg1"/>
                </a:solidFill>
              </a:rPr>
              <a:t>Aspire docs: Languages &amp; runtimes</a:t>
            </a:r>
            <a:endParaRPr lang="en-US" sz="1600" dirty="0"/>
          </a:p>
          <a:p>
            <a:pPr indent="0" marL="0">
              <a:buNone/>
            </a:pPr>
            <a:r>
              <a:rPr lang="en-US" sz="1600" u="sng" dirty="0">
                <a:solidFill>
                  <a:srgbClr val="D9CCFF"/>
                </a:solidFill>
                <a:hlinkClick r:id="rId2" invalidUrl="" action="" tgtFrame="" tooltip="Aspire languages and runtimes" history="1" highlightClick="0" endSnd="0">
                  <a:extLst>
                    <a:ext uri="{A12FA001-AC4F-418D-AE19-62706E023703}">
                      <ahyp:hlinkClr xmlns:ahyp="http://schemas.microsoft.com/office/drawing/2018/hyperlinkcolor" val="tx"/>
                    </a:ext>
                  </a:extLst>
                </a:hlinkClick>
              </a:rPr>
              <a:t>https://aspire.dev/languages-and-runtimes/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Links and sources</a:t>
            </a:r>
            <a:endParaRPr lang="en-US" sz="3600" dirty="0"/>
          </a:p>
        </p:txBody>
      </p:sp>
      <p:sp>
        <p:nvSpPr>
          <p:cNvPr id="3" name="Link card 0"/>
          <p:cNvSpPr/>
          <p:nvPr/>
        </p:nvSpPr>
        <p:spPr>
          <a:xfrm>
            <a:off x="640080" y="1600200"/>
            <a:ext cx="5349240" cy="960120"/>
          </a:xfrm>
          <a:prstGeom prst="roundRect">
            <a:avLst>
              <a:gd name="adj" fmla="val 9524"/>
            </a:avLst>
          </a:prstGeom>
          <a:solidFill>
            <a:srgbClr val="3A2680"/>
          </a:solidFill>
          <a:ln w="12700">
            <a:solidFill>
              <a:srgbClr val="3A2680"/>
            </a:solidFill>
            <a:prstDash val="solid"/>
          </a:ln>
        </p:spPr>
      </p:sp>
      <p:pic>
        <p:nvPicPr>
          <p:cNvPr id="4" name="Link icon 0" descr="preencoded.png">    </p:cNvPr>
          <p:cNvPicPr>
            <a:picLocks noChangeAspect="1"/>
          </p:cNvPicPr>
          <p:nvPr/>
        </p:nvPicPr>
        <p:blipFill>
          <a:blip r:embed="rId1"/>
          <a:stretch>
            <a:fillRect/>
          </a:stretch>
        </p:blipFill>
        <p:spPr>
          <a:xfrm>
            <a:off x="868680" y="1874520"/>
            <a:ext cx="411480" cy="411480"/>
          </a:xfrm>
          <a:prstGeom prst="rect">
            <a:avLst/>
          </a:prstGeom>
        </p:spPr>
      </p:pic>
      <p:sp>
        <p:nvSpPr>
          <p:cNvPr id="5" name="Link text 0"/>
          <p:cNvSpPr txBox="1"/>
          <p:nvPr/>
        </p:nvSpPr>
        <p:spPr>
          <a:xfrm>
            <a:off x="1463040" y="1691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Video: Aspire 13.5 is here!</a:t>
            </a:r>
            <a:endParaRPr lang="en-US" sz="1500" dirty="0"/>
          </a:p>
          <a:p>
            <a:pPr indent="0" marL="0">
              <a:buNone/>
            </a:pPr>
            <a:r>
              <a:rPr lang="en-US" sz="1200" u="sng" dirty="0">
                <a:solidFill>
                  <a:srgbClr val="D9CCFF"/>
                </a:solidFill>
                <a:hlinkClick r:id="rId2" invalidUrl="" action="" tgtFrame="" tooltip="Video: Aspire 13.5 is here!" history="1" highlightClick="0" endSnd="0">
                  <a:extLst>
                    <a:ext uri="{A12FA001-AC4F-418D-AE19-62706E023703}">
                      <ahyp:hlinkClr xmlns:ahyp="http://schemas.microsoft.com/office/drawing/2018/hyperlinkcolor" val="tx"/>
                    </a:ext>
                  </a:extLst>
                </a:hlinkClick>
              </a:rPr>
              <a:t>https://youtu.be/pEbo-qKif1U</a:t>
            </a:r>
            <a:endParaRPr lang="en-US" sz="1500" dirty="0"/>
          </a:p>
        </p:txBody>
      </p:sp>
      <p:sp>
        <p:nvSpPr>
          <p:cNvPr id="6" name="Link card 1"/>
          <p:cNvSpPr/>
          <p:nvPr/>
        </p:nvSpPr>
        <p:spPr>
          <a:xfrm>
            <a:off x="6217920" y="1600200"/>
            <a:ext cx="5349240" cy="960120"/>
          </a:xfrm>
          <a:prstGeom prst="roundRect">
            <a:avLst>
              <a:gd name="adj" fmla="val 9524"/>
            </a:avLst>
          </a:prstGeom>
          <a:solidFill>
            <a:srgbClr val="3A2680"/>
          </a:solidFill>
          <a:ln w="12700">
            <a:solidFill>
              <a:srgbClr val="3A2680"/>
            </a:solidFill>
            <a:prstDash val="solid"/>
          </a:ln>
        </p:spPr>
      </p:sp>
      <p:pic>
        <p:nvPicPr>
          <p:cNvPr id="7" name="Link icon 1" descr="preencoded.png">    </p:cNvPr>
          <p:cNvPicPr>
            <a:picLocks noChangeAspect="1"/>
          </p:cNvPicPr>
          <p:nvPr/>
        </p:nvPicPr>
        <p:blipFill>
          <a:blip r:embed="rId3"/>
          <a:stretch>
            <a:fillRect/>
          </a:stretch>
        </p:blipFill>
        <p:spPr>
          <a:xfrm>
            <a:off x="6446520" y="1874520"/>
            <a:ext cx="411480" cy="411480"/>
          </a:xfrm>
          <a:prstGeom prst="rect">
            <a:avLst/>
          </a:prstGeom>
        </p:spPr>
      </p:pic>
      <p:sp>
        <p:nvSpPr>
          <p:cNvPr id="8" name="Link text 1"/>
          <p:cNvSpPr txBox="1"/>
          <p:nvPr/>
        </p:nvSpPr>
        <p:spPr>
          <a:xfrm>
            <a:off x="7040880" y="1691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What's new in Aspire 13.5</a:t>
            </a:r>
            <a:endParaRPr lang="en-US" sz="1500" dirty="0"/>
          </a:p>
          <a:p>
            <a:pPr indent="0" marL="0">
              <a:buNone/>
            </a:pPr>
            <a:r>
              <a:rPr lang="en-US" sz="1200" u="sng" dirty="0">
                <a:solidFill>
                  <a:srgbClr val="D9CCFF"/>
                </a:solidFill>
                <a:hlinkClick r:id="rId4" invalidUrl="" action="" tgtFrame="" tooltip="What's new in Aspire 13.5" history="1" highlightClick="0" endSnd="0">
                  <a:extLst>
                    <a:ext uri="{A12FA001-AC4F-418D-AE19-62706E023703}">
                      <ahyp:hlinkClr xmlns:ahyp="http://schemas.microsoft.com/office/drawing/2018/hyperlinkcolor" val="tx"/>
                    </a:ext>
                  </a:extLst>
                </a:hlinkClick>
              </a:rPr>
              <a:t>https://aspire.dev/whats-new/aspire-13-5/</a:t>
            </a:r>
            <a:endParaRPr lang="en-US" sz="1500" dirty="0"/>
          </a:p>
        </p:txBody>
      </p:sp>
      <p:sp>
        <p:nvSpPr>
          <p:cNvPr id="9" name="Link card 2"/>
          <p:cNvSpPr/>
          <p:nvPr/>
        </p:nvSpPr>
        <p:spPr>
          <a:xfrm>
            <a:off x="640080" y="2743200"/>
            <a:ext cx="5349240" cy="960120"/>
          </a:xfrm>
          <a:prstGeom prst="roundRect">
            <a:avLst>
              <a:gd name="adj" fmla="val 9524"/>
            </a:avLst>
          </a:prstGeom>
          <a:solidFill>
            <a:srgbClr val="3A2680"/>
          </a:solidFill>
          <a:ln w="12700">
            <a:solidFill>
              <a:srgbClr val="3A2680"/>
            </a:solidFill>
            <a:prstDash val="solid"/>
          </a:ln>
        </p:spPr>
      </p:sp>
      <p:pic>
        <p:nvPicPr>
          <p:cNvPr id="10" name="Link icon 2" descr="preencoded.png">    </p:cNvPr>
          <p:cNvPicPr>
            <a:picLocks noChangeAspect="1"/>
          </p:cNvPicPr>
          <p:nvPr/>
        </p:nvPicPr>
        <p:blipFill>
          <a:blip r:embed="rId5"/>
          <a:stretch>
            <a:fillRect/>
          </a:stretch>
        </p:blipFill>
        <p:spPr>
          <a:xfrm>
            <a:off x="868680" y="3017520"/>
            <a:ext cx="411480" cy="411480"/>
          </a:xfrm>
          <a:prstGeom prst="rect">
            <a:avLst/>
          </a:prstGeom>
        </p:spPr>
      </p:pic>
      <p:sp>
        <p:nvSpPr>
          <p:cNvPr id="11" name="Link text 2"/>
          <p:cNvSpPr txBox="1"/>
          <p:nvPr/>
        </p:nvSpPr>
        <p:spPr>
          <a:xfrm>
            <a:off x="1463040" y="2834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Languages &amp; runtimes</a:t>
            </a:r>
            <a:endParaRPr lang="en-US" sz="1500" dirty="0"/>
          </a:p>
          <a:p>
            <a:pPr indent="0" marL="0">
              <a:buNone/>
            </a:pPr>
            <a:r>
              <a:rPr lang="en-US" sz="1200" u="sng" dirty="0">
                <a:solidFill>
                  <a:srgbClr val="D9CCFF"/>
                </a:solidFill>
                <a:hlinkClick r:id="rId6" invalidUrl="" action="" tgtFrame="" tooltip="Languages &amp; runtimes" history="1" highlightClick="0" endSnd="0">
                  <a:extLst>
                    <a:ext uri="{A12FA001-AC4F-418D-AE19-62706E023703}">
                      <ahyp:hlinkClr xmlns:ahyp="http://schemas.microsoft.com/office/drawing/2018/hyperlinkcolor" val="tx"/>
                    </a:ext>
                  </a:extLst>
                </a:hlinkClick>
              </a:rPr>
              <a:t>https://aspire.dev/languages-and-runtimes/</a:t>
            </a:r>
            <a:endParaRPr lang="en-US" sz="1500" dirty="0"/>
          </a:p>
        </p:txBody>
      </p:sp>
      <p:sp>
        <p:nvSpPr>
          <p:cNvPr id="12" name="Link card 3"/>
          <p:cNvSpPr/>
          <p:nvPr/>
        </p:nvSpPr>
        <p:spPr>
          <a:xfrm>
            <a:off x="6217920" y="2743200"/>
            <a:ext cx="5349240" cy="960120"/>
          </a:xfrm>
          <a:prstGeom prst="roundRect">
            <a:avLst>
              <a:gd name="adj" fmla="val 9524"/>
            </a:avLst>
          </a:prstGeom>
          <a:solidFill>
            <a:srgbClr val="3A2680"/>
          </a:solidFill>
          <a:ln w="12700">
            <a:solidFill>
              <a:srgbClr val="3A2680"/>
            </a:solidFill>
            <a:prstDash val="solid"/>
          </a:ln>
        </p:spPr>
      </p:sp>
      <p:pic>
        <p:nvPicPr>
          <p:cNvPr id="13" name="Link icon 3" descr="preencoded.png">    </p:cNvPr>
          <p:cNvPicPr>
            <a:picLocks noChangeAspect="1"/>
          </p:cNvPicPr>
          <p:nvPr/>
        </p:nvPicPr>
        <p:blipFill>
          <a:blip r:embed="rId7"/>
          <a:stretch>
            <a:fillRect/>
          </a:stretch>
        </p:blipFill>
        <p:spPr>
          <a:xfrm>
            <a:off x="6446520" y="3017520"/>
            <a:ext cx="411480" cy="411480"/>
          </a:xfrm>
          <a:prstGeom prst="rect">
            <a:avLst/>
          </a:prstGeom>
        </p:spPr>
      </p:pic>
      <p:sp>
        <p:nvSpPr>
          <p:cNvPr id="14" name="Link text 3"/>
          <p:cNvSpPr txBox="1"/>
          <p:nvPr/>
        </p:nvSpPr>
        <p:spPr>
          <a:xfrm>
            <a:off x="7040880" y="2834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Dashboard docs</a:t>
            </a:r>
            <a:endParaRPr lang="en-US" sz="1500" dirty="0"/>
          </a:p>
          <a:p>
            <a:pPr indent="0" marL="0">
              <a:buNone/>
            </a:pPr>
            <a:r>
              <a:rPr lang="en-US" sz="1200" u="sng" dirty="0">
                <a:solidFill>
                  <a:srgbClr val="D9CCFF"/>
                </a:solidFill>
                <a:hlinkClick r:id="rId8" invalidUrl="" action="" tgtFrame="" tooltip="Dashboard docs" history="1" highlightClick="0" endSnd="0">
                  <a:extLst>
                    <a:ext uri="{A12FA001-AC4F-418D-AE19-62706E023703}">
                      <ahyp:hlinkClr xmlns:ahyp="http://schemas.microsoft.com/office/drawing/2018/hyperlinkcolor" val="tx"/>
                    </a:ext>
                  </a:extLst>
                </a:hlinkClick>
              </a:rPr>
              <a:t>https://aspire.dev/dashboard/</a:t>
            </a:r>
            <a:endParaRPr lang="en-US" sz="1500" dirty="0"/>
          </a:p>
        </p:txBody>
      </p:sp>
      <p:sp>
        <p:nvSpPr>
          <p:cNvPr id="15" name="Link card 4"/>
          <p:cNvSpPr/>
          <p:nvPr/>
        </p:nvSpPr>
        <p:spPr>
          <a:xfrm>
            <a:off x="640080" y="3886200"/>
            <a:ext cx="5349240" cy="960120"/>
          </a:xfrm>
          <a:prstGeom prst="roundRect">
            <a:avLst>
              <a:gd name="adj" fmla="val 9524"/>
            </a:avLst>
          </a:prstGeom>
          <a:solidFill>
            <a:srgbClr val="3A2680"/>
          </a:solidFill>
          <a:ln w="12700">
            <a:solidFill>
              <a:srgbClr val="3A2680"/>
            </a:solidFill>
            <a:prstDash val="solid"/>
          </a:ln>
        </p:spPr>
      </p:sp>
      <p:pic>
        <p:nvPicPr>
          <p:cNvPr id="16" name="Link icon 4" descr="preencoded.png">    </p:cNvPr>
          <p:cNvPicPr>
            <a:picLocks noChangeAspect="1"/>
          </p:cNvPicPr>
          <p:nvPr/>
        </p:nvPicPr>
        <p:blipFill>
          <a:blip r:embed="rId9"/>
          <a:stretch>
            <a:fillRect/>
          </a:stretch>
        </p:blipFill>
        <p:spPr>
          <a:xfrm>
            <a:off x="868680" y="4160520"/>
            <a:ext cx="411480" cy="411480"/>
          </a:xfrm>
          <a:prstGeom prst="rect">
            <a:avLst/>
          </a:prstGeom>
        </p:spPr>
      </p:pic>
      <p:sp>
        <p:nvSpPr>
          <p:cNvPr id="17" name="Link text 4"/>
          <p:cNvSpPr txBox="1"/>
          <p:nvPr/>
        </p:nvSpPr>
        <p:spPr>
          <a:xfrm>
            <a:off x="1463040" y="3977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Interactive terminals (WithTerminal)</a:t>
            </a:r>
            <a:endParaRPr lang="en-US" sz="1500" dirty="0"/>
          </a:p>
          <a:p>
            <a:pPr indent="0" marL="0">
              <a:buNone/>
            </a:pPr>
            <a:r>
              <a:rPr lang="en-US" sz="1200" u="sng" dirty="0">
                <a:solidFill>
                  <a:srgbClr val="D9CCFF"/>
                </a:solidFill>
                <a:hlinkClick r:id="rId10" invalidUrl="" action="" tgtFrame="" tooltip="Interactive terminals (WithTerminal)" history="1" highlightClick="0" endSnd="0">
                  <a:extLst>
                    <a:ext uri="{A12FA001-AC4F-418D-AE19-62706E023703}">
                      <ahyp:hlinkClr xmlns:ahyp="http://schemas.microsoft.com/office/drawing/2018/hyperlinkcolor" val="tx"/>
                    </a:ext>
                  </a:extLst>
                </a:hlinkClick>
              </a:rPr>
              <a:t>https://aspire.dev/app-host/with-terminal/</a:t>
            </a:r>
            <a:endParaRPr lang="en-US" sz="1500" dirty="0"/>
          </a:p>
        </p:txBody>
      </p:sp>
      <p:sp>
        <p:nvSpPr>
          <p:cNvPr id="18" name="Link card 5"/>
          <p:cNvSpPr/>
          <p:nvPr/>
        </p:nvSpPr>
        <p:spPr>
          <a:xfrm>
            <a:off x="6217920" y="3886200"/>
            <a:ext cx="5349240" cy="960120"/>
          </a:xfrm>
          <a:prstGeom prst="roundRect">
            <a:avLst>
              <a:gd name="adj" fmla="val 9524"/>
            </a:avLst>
          </a:prstGeom>
          <a:solidFill>
            <a:srgbClr val="3A2680"/>
          </a:solidFill>
          <a:ln w="12700">
            <a:solidFill>
              <a:srgbClr val="3A2680"/>
            </a:solidFill>
            <a:prstDash val="solid"/>
          </a:ln>
        </p:spPr>
      </p:sp>
      <p:pic>
        <p:nvPicPr>
          <p:cNvPr id="19" name="Link icon 5" descr="preencoded.png">    </p:cNvPr>
          <p:cNvPicPr>
            <a:picLocks noChangeAspect="1"/>
          </p:cNvPicPr>
          <p:nvPr/>
        </p:nvPicPr>
        <p:blipFill>
          <a:blip r:embed="rId11"/>
          <a:stretch>
            <a:fillRect/>
          </a:stretch>
        </p:blipFill>
        <p:spPr>
          <a:xfrm>
            <a:off x="6446520" y="4160520"/>
            <a:ext cx="411480" cy="411480"/>
          </a:xfrm>
          <a:prstGeom prst="rect">
            <a:avLst/>
          </a:prstGeom>
        </p:spPr>
      </p:pic>
      <p:sp>
        <p:nvSpPr>
          <p:cNvPr id="20" name="Link text 5"/>
          <p:cNvSpPr txBox="1"/>
          <p:nvPr/>
        </p:nvSpPr>
        <p:spPr>
          <a:xfrm>
            <a:off x="7040880" y="3977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Interaction service</a:t>
            </a:r>
            <a:endParaRPr lang="en-US" sz="1500" dirty="0"/>
          </a:p>
          <a:p>
            <a:pPr indent="0" marL="0">
              <a:buNone/>
            </a:pPr>
            <a:r>
              <a:rPr lang="en-US" sz="1200" u="sng" dirty="0">
                <a:solidFill>
                  <a:srgbClr val="D9CCFF"/>
                </a:solidFill>
                <a:hlinkClick r:id="rId12" invalidUrl="" action="" tgtFrame="" tooltip="Interaction service" history="1" highlightClick="0" endSnd="0">
                  <a:extLst>
                    <a:ext uri="{A12FA001-AC4F-418D-AE19-62706E023703}">
                      <ahyp:hlinkClr xmlns:ahyp="http://schemas.microsoft.com/office/drawing/2018/hyperlinkcolor" val="tx"/>
                    </a:ext>
                  </a:extLst>
                </a:hlinkClick>
              </a:rPr>
              <a:t>https://aspire.dev/extensibility/interaction-service/</a:t>
            </a:r>
            <a:endParaRPr lang="en-US" sz="1500" dirty="0"/>
          </a:p>
        </p:txBody>
      </p:sp>
      <p:sp>
        <p:nvSpPr>
          <p:cNvPr id="21" name="Link card 6"/>
          <p:cNvSpPr/>
          <p:nvPr/>
        </p:nvSpPr>
        <p:spPr>
          <a:xfrm>
            <a:off x="640080" y="5029200"/>
            <a:ext cx="5349240" cy="960120"/>
          </a:xfrm>
          <a:prstGeom prst="roundRect">
            <a:avLst>
              <a:gd name="adj" fmla="val 9524"/>
            </a:avLst>
          </a:prstGeom>
          <a:solidFill>
            <a:srgbClr val="3A2680"/>
          </a:solidFill>
          <a:ln w="12700">
            <a:solidFill>
              <a:srgbClr val="3A2680"/>
            </a:solidFill>
            <a:prstDash val="solid"/>
          </a:ln>
        </p:spPr>
      </p:sp>
      <p:pic>
        <p:nvPicPr>
          <p:cNvPr id="22" name="Link icon 6" descr="preencoded.png">    </p:cNvPr>
          <p:cNvPicPr>
            <a:picLocks noChangeAspect="1"/>
          </p:cNvPicPr>
          <p:nvPr/>
        </p:nvPicPr>
        <p:blipFill>
          <a:blip r:embed="rId13"/>
          <a:stretch>
            <a:fillRect/>
          </a:stretch>
        </p:blipFill>
        <p:spPr>
          <a:xfrm>
            <a:off x="868680" y="5303520"/>
            <a:ext cx="411480" cy="411480"/>
          </a:xfrm>
          <a:prstGeom prst="rect">
            <a:avLst/>
          </a:prstGeom>
        </p:spPr>
      </p:pic>
      <p:sp>
        <p:nvSpPr>
          <p:cNvPr id="23" name="Link text 6"/>
          <p:cNvSpPr txBox="1"/>
          <p:nvPr/>
        </p:nvSpPr>
        <p:spPr>
          <a:xfrm>
            <a:off x="1463040" y="5120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Custom resource commands</a:t>
            </a:r>
            <a:endParaRPr lang="en-US" sz="1500" dirty="0"/>
          </a:p>
          <a:p>
            <a:pPr indent="0" marL="0">
              <a:buNone/>
            </a:pPr>
            <a:r>
              <a:rPr lang="en-US" sz="1200" u="sng" dirty="0">
                <a:solidFill>
                  <a:srgbClr val="D9CCFF"/>
                </a:solidFill>
                <a:hlinkClick r:id="rId14" invalidUrl="" action="" tgtFrame="" tooltip="Custom resource commands" history="1" highlightClick="0" endSnd="0">
                  <a:extLst>
                    <a:ext uri="{A12FA001-AC4F-418D-AE19-62706E023703}">
                      <ahyp:hlinkClr xmlns:ahyp="http://schemas.microsoft.com/office/drawing/2018/hyperlinkcolor" val="tx"/>
                    </a:ext>
                  </a:extLst>
                </a:hlinkClick>
              </a:rPr>
              <a:t>https://aspire.dev/fundamentals/custom-resource-commands/</a:t>
            </a:r>
            <a:endParaRPr lang="en-US" sz="1500" dirty="0"/>
          </a:p>
        </p:txBody>
      </p:sp>
      <p:sp>
        <p:nvSpPr>
          <p:cNvPr id="24" name="Link card 7"/>
          <p:cNvSpPr/>
          <p:nvPr/>
        </p:nvSpPr>
        <p:spPr>
          <a:xfrm>
            <a:off x="6217920" y="5029200"/>
            <a:ext cx="5349240" cy="960120"/>
          </a:xfrm>
          <a:prstGeom prst="roundRect">
            <a:avLst>
              <a:gd name="adj" fmla="val 9524"/>
            </a:avLst>
          </a:prstGeom>
          <a:solidFill>
            <a:srgbClr val="3A2680"/>
          </a:solidFill>
          <a:ln w="12700">
            <a:solidFill>
              <a:srgbClr val="3A2680"/>
            </a:solidFill>
            <a:prstDash val="solid"/>
          </a:ln>
        </p:spPr>
      </p:sp>
      <p:pic>
        <p:nvPicPr>
          <p:cNvPr id="25" name="Link icon 7" descr="preencoded.png">    </p:cNvPr>
          <p:cNvPicPr>
            <a:picLocks noChangeAspect="1"/>
          </p:cNvPicPr>
          <p:nvPr/>
        </p:nvPicPr>
        <p:blipFill>
          <a:blip r:embed="rId15"/>
          <a:stretch>
            <a:fillRect/>
          </a:stretch>
        </p:blipFill>
        <p:spPr>
          <a:xfrm>
            <a:off x="6446520" y="5303520"/>
            <a:ext cx="411480" cy="411480"/>
          </a:xfrm>
          <a:prstGeom prst="rect">
            <a:avLst/>
          </a:prstGeom>
        </p:spPr>
      </p:pic>
      <p:sp>
        <p:nvSpPr>
          <p:cNvPr id="26" name="Link text 7"/>
          <p:cNvSpPr txBox="1"/>
          <p:nvPr/>
        </p:nvSpPr>
        <p:spPr>
          <a:xfrm>
            <a:off x="7040880" y="5120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Build your first Aspire app</a:t>
            </a:r>
            <a:endParaRPr lang="en-US" sz="1500" dirty="0"/>
          </a:p>
          <a:p>
            <a:pPr indent="0" marL="0">
              <a:buNone/>
            </a:pPr>
            <a:r>
              <a:rPr lang="en-US" sz="1200" u="sng" dirty="0">
                <a:solidFill>
                  <a:srgbClr val="D9CCFF"/>
                </a:solidFill>
                <a:hlinkClick r:id="rId16" invalidUrl="" action="" tgtFrame="" tooltip="Build your first Aspire app" history="1" highlightClick="0" endSnd="0">
                  <a:extLst>
                    <a:ext uri="{A12FA001-AC4F-418D-AE19-62706E023703}">
                      <ahyp:hlinkClr xmlns:ahyp="http://schemas.microsoft.com/office/drawing/2018/hyperlinkcolor" val="tx"/>
                    </a:ext>
                  </a:extLst>
                </a:hlinkClick>
              </a:rPr>
              <a:t>https://aspire.dev/get-started/first-app/</a:t>
            </a:r>
            <a:endParaRPr lang="en-US" sz="1500" dirty="0"/>
          </a:p>
        </p:txBody>
      </p:sp>
    </p:spTree>
  </p:cSld>
  <p:clrMapOvr>
    <a:masterClrMapping/>
  </p:clrMapOvr>
</p:sld>
</file>

<file path=ppt/theme/theme1.xml><?xml version="1.0" encoding="utf-8"?>
<a:theme xmlns:a="http://schemas.openxmlformats.org/drawingml/2006/main" name="Aspire Violet">
  <a:themeElements>
    <a:clrScheme name="Aspire Violet">
      <a:dk1>
        <a:srgbClr val="17122B"/>
      </a:dk1>
      <a:lt1>
        <a:srgbClr val="FFFFFF"/>
      </a:lt1>
      <a:dk2>
        <a:srgbClr val="2B1A63"/>
      </a:dk2>
      <a:lt2>
        <a:srgbClr val="F2EEFB"/>
      </a:lt2>
      <a:accent1>
        <a:srgbClr val="6B3FE0"/>
      </a:accent1>
      <a:accent2>
        <a:srgbClr val="A78BFA"/>
      </a:accent2>
      <a:accent3>
        <a:srgbClr val="0E9F8E"/>
      </a:accent3>
      <a:accent4>
        <a:srgbClr val="D97706"/>
      </a:accent4>
      <a:accent5>
        <a:srgbClr val="DB2777"/>
      </a:accent5>
      <a:accent6>
        <a:srgbClr val="5B6478"/>
      </a:accent6>
      <a:hlink>
        <a:srgbClr val="5B2FD0"/>
      </a:hlink>
      <a:folHlink>
        <a:srgbClr val="7C5CE0"/>
      </a:folHlink>
    </a:clrScheme>
    <a:fontScheme name="Aspire Viole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Aspire Dashboard — Fundamentals and what's new in Aspire 13.5</dc:title>
  <dc:subject>PptxGenJS Presentation</dc:subject>
  <dc:creator>ching</dc:creator>
  <cp:lastModifiedBy>ching</cp:lastModifiedBy>
  <cp:revision>1</cp:revision>
  <dcterms:created xsi:type="dcterms:W3CDTF">2026-10-04T22:06:00Z</dcterms:created>
  <dcterms:modified xsi:type="dcterms:W3CDTF">2026-10-04T22:06:00Z</dcterms:modified>
</cp:coreProperties>
</file>