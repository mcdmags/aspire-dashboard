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cb94dad-19f2-d2ad-4317-7380904e72c4}">
          <p14:sldIdLst>
            <p14:sldId id="256"/>
            <p14:sldId id="257"/>
          </p14:sldIdLst>
        </p14:section>
        <p14:section name="What's new in 13.5" id="{9deadd42-8d19-91b6-085a-1e3a6dbdc9d4}">
          <p14:sldIdLst>
            <p14:sldId id="258"/>
            <p14:sldId id="259"/>
          </p14:sldIdLst>
        </p14:section>
        <p14:section name="Code" id="{249c93d7-288e-7817-8b4d-1f338d051ecc}">
          <p14:sldIdLst>
            <p14:sldId id="260"/>
            <p14:sldId id="261"/>
            <p14:sldId id="262"/>
            <p14:sldId id="263"/>
            <p14:sldId id="264"/>
            <p14:sldId id="265"/>
            <p14:sldId id="266"/>
            <p14:sldId id="267"/>
            <p14:sldId id="268"/>
            <p14:sldId id="269"/>
            <p14:sldId id="270"/>
          </p14:sldIdLst>
        </p14:section>
        <p14:section name="Wrap-up" id="{253df381-8a2b-dec2-bdbf-0484ab349ad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Aspire dashboard and the new features announced in the 'Aspire 13.5 is here!' video. Every code sample comes from the official 'What's new in Aspire 13.5' page on aspire.dev. Note: Aspire 13.6 shipped on September 29, 2026, so 13.5 is no longer the newest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AppHost is the small program (C# or TypeScript) where you describe your app's services, containers and databases. When it runs, it starts the dashboard for you. Sources: microsoft/aspire repo README for Aspire.Dashboard; standalone ports from Milan Jovanovic's standalone dashboard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Stable means you can rely on the API. Experimental means it may change, and C# code must suppress a diagnostic warning to use it. Also in 13.5: the VS Code extension can open the dashboard in a side panel, and the dashboard's AI Assistant chat was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UI changes, so there is no code to write: upgrade to 13.5 and they appear. Telemetry also now streams correctly while resource filters are active. Sources: aspire.dev What's new in 13.5; 13.5 changelog on the microsoft/aspire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from aspire.dev 'What's new in Aspire 13.5'. TerminalOptions exposes Columns (default 120), Rows (default 30) and ShowTerminalHost. In 13.5, Columns and Rows throw if set to zero or less, and the old Shell property was removed. Docs: https://aspire.dev/app-host/with-terminal/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result of the WithTerminal() code on the previous slide. The psql session is only an example of what you could type; it is not output the code produces by itself. If the resource is still starting, the dashboard shows console logs until it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 feature flag command is from the official 13.5 release notes. A feature flag is a setting that switches on a feature that is still being tested. Docs: https://aspire.dev/app-host/with-terminal/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WithCommand adds a button to the resource in the dashboard. When clicked, this one shows a dropdown with two regions. Always check IsAvailable: commands invoked from the CLI run non-interactively and PromptInputsAsync would throw. Docs: https://aspire.dev/extensibility/interaction-service/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what the configure-region command does. 1) The command appears in the resource's actions menu because of WithCommand. 2) Clicking it shows the dialog built by PromptInputsAsync; the orange tags show which code property produces each part. Clicking OK returns the chosen value ("us" or "eu") in result.Data["region"].Value. Cancel returns CommandResults.Canceled().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Trimmed from the official sample: the full version continues into a progress dialog, shown on the next slide. Docs: https://aspire.dev/extensibility/interaction-service/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import-data command. The asterisk marks the field as required (Required = true). The file name orders.json is just an example. After OK, the code reads the file with ReadAllBytesAsync(); if no file was chosen, it returns CommandResults.Failure.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Task.Delay with your real processing. A CancellationToken is how .NET tells running code to stop early, for example when the user clicks Cancel. Docs: https://aspire.dev/extensibility/interaction-service/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PromptProgressAsync. "2048 bytes" is an example; the real message uses the uploaded file's size via bytes.Length. The bar is drawn to suggest activity; whether the real dialog shows a percentage depends on what the code reports. Cancel support is optional; when shown, clicking it cancels progress.CancellationToken.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values in the callback from ctx.Arguments. TypeScript AppHosts get the same feature via commandOptions.arguments. Docs: https://aspire.dev/fundamentals/custom-resource-commands/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 of the echo command. The dashboard collects the declared arguments before running the command, then the callback reads them with ctx.Arguments["message"].Value. "Hello from Aspire" is an example entry. It's an assumption that the Description text appears in the dialog; in the real dashboard it may appear elsewhere, such as a tooltip. From the CLI, the same argument is passed as a command-line option instead of this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Upgrade commands and breaking changes from aspire.dev 'What's new in Aspire 13.5'. The full list has 12 breaking changes, including PublishAsConnectionString becoming obsolete and aspire ps --resources being removed in favor of aspire describe. Aspire 13.6 info from the Aspire dev blog post 'Aspire 13.6: Your dashboard gets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https://aspire.dev/languages-and-runtimes/ (checked October 4, 2026). That page lists Java and Rust under the Community Toolkit, but the Aspire 13.6 announcement says Java and Rust hosting are now first-party, so the docs page may lag behind. Check the page for the latest status. Containers, databases, caches and cloud services are covered separately under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links checked on October 4,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2B1A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640080" y="3611880"/>
            <a:ext cx="5852160" cy="1280160"/>
          </a:xfrm>
          <a:prstGeom prst="rect">
            <a:avLst/>
          </a:prstGeom>
          <a:noFill/>
          <a:ln/>
        </p:spPr>
        <p:txBody>
          <a:bodyPr wrap="square" rtlCol="0"/>
          <a:lstStyle>
            <a:lvl1pPr algn="l" indent="0" marL="0">
              <a:buNone/>
              <a:defRPr lang="en-US" sz="2000" dirty="0">
                <a:solidFill>
                  <a:srgbClr val="D9CCFF"/>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Aspire Dashboard  ·  What's new in 13.5</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2B1A6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aspire.dev/languages-and-runtimes/" TargetMode="External"/><Relationship Id="rId1"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youtu.be/pEbo-qKif1U" TargetMode="External"/><Relationship Id="rId4" Type="http://schemas.openxmlformats.org/officeDocument/2006/relationships/hyperlink" Target="https://aspire.dev/whats-new/aspire-13-5/" TargetMode="External"/><Relationship Id="rId6" Type="http://schemas.openxmlformats.org/officeDocument/2006/relationships/hyperlink" Target="https://aspire.dev/languages-and-runtimes/" TargetMode="External"/><Relationship Id="rId8" Type="http://schemas.openxmlformats.org/officeDocument/2006/relationships/hyperlink" Target="https://aspire.dev/dashboard/" TargetMode="External"/><Relationship Id="rId10" Type="http://schemas.openxmlformats.org/officeDocument/2006/relationships/hyperlink" Target="https://aspire.dev/app-host/with-terminal/" TargetMode="External"/><Relationship Id="rId12" Type="http://schemas.openxmlformats.org/officeDocument/2006/relationships/hyperlink" Target="https://aspire.dev/extensibility/interaction-service/" TargetMode="External"/><Relationship Id="rId14" Type="http://schemas.openxmlformats.org/officeDocument/2006/relationships/hyperlink" Target="https://aspire.dev/fundamentals/custom-resource-commands/" TargetMode="External"/><Relationship Id="rId16" Type="http://schemas.openxmlformats.org/officeDocument/2006/relationships/hyperlink" Target="https://github.com/microsoft/aspire/releases/tag/v13.5.0" TargetMode="External"/><Relationship Id="rId1" Type="http://schemas.openxmlformats.org/officeDocument/2006/relationships/image" Target="../media/image-18-1.png"/><Relationship Id="rId3" Type="http://schemas.openxmlformats.org/officeDocument/2006/relationships/image" Target="../media/image-18-2.png"/><Relationship Id="rId5" Type="http://schemas.openxmlformats.org/officeDocument/2006/relationships/image" Target="../media/image-18-3.png"/><Relationship Id="rId7" Type="http://schemas.openxmlformats.org/officeDocument/2006/relationships/image" Target="../media/image-18-4.png"/><Relationship Id="rId9" Type="http://schemas.openxmlformats.org/officeDocument/2006/relationships/image" Target="../media/image-18-5.png"/><Relationship Id="rId11" Type="http://schemas.openxmlformats.org/officeDocument/2006/relationships/image" Target="../media/image-18-6.png"/><Relationship Id="rId13" Type="http://schemas.openxmlformats.org/officeDocument/2006/relationships/image" Target="../media/image-18-7.png"/><Relationship Id="rId15" Type="http://schemas.openxmlformats.org/officeDocument/2006/relationships/image" Target="../media/image-18-8.png"/><Relationship Id="rId17" Type="http://schemas.openxmlformats.org/officeDocument/2006/relationships/slideLayout" Target="../slideLayouts/slideLayout4.xml"/><Relationship Id="rId1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035040" cy="14630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Aspire Dashboard</a:t>
            </a:r>
            <a:endParaRPr lang="en-US" sz="4800" dirty="0"/>
          </a:p>
        </p:txBody>
      </p:sp>
      <p:sp>
        <p:nvSpPr>
          <p:cNvPr id="3" name="Text 0"/>
          <p:cNvSpPr/>
          <p:nvPr>
            <p:ph idx="101" type="body" hasCustomPrompt="1"/>
          </p:nvPr>
        </p:nvSpPr>
        <p:spPr>
          <a:xfrm>
            <a:off x="640080" y="3611880"/>
            <a:ext cx="5852160" cy="1280160"/>
          </a:xfrm>
          <a:prstGeom prst="rect">
            <a:avLst/>
          </a:prstGeom>
          <a:noFill/>
          <a:ln/>
        </p:spPr>
        <p:txBody>
          <a:bodyPr wrap="square" lIns="0" tIns="0" rIns="0" bIns="0" rtlCol="0" anchor="t"/>
          <a:lstStyle/>
          <a:p>
            <a:pPr algn="l" indent="0" marL="0">
              <a:buNone/>
            </a:pPr>
            <a:r>
              <a:rPr lang="en-US" sz="2000" dirty="0">
                <a:solidFill>
                  <a:srgbClr val="D9CCFF"/>
                </a:solidFill>
                <a:latin typeface="Calibri" pitchFamily="34" charset="0"/>
                <a:ea typeface="Calibri" pitchFamily="34" charset="-122"/>
                <a:cs typeface="Calibri" pitchFamily="34" charset="-120"/>
              </a:rPr>
              <a:t>What's new in Aspire 13.5 — and the code to use it</a:t>
            </a:r>
            <a:endParaRPr lang="en-US" sz="2000" dirty="0"/>
          </a:p>
        </p:txBody>
      </p:sp>
      <p:sp>
        <p:nvSpPr>
          <p:cNvPr id="4" name="Source line"/>
          <p:cNvSpPr txBox="1"/>
          <p:nvPr/>
        </p:nvSpPr>
        <p:spPr>
          <a:xfrm>
            <a:off x="640080" y="5394960"/>
            <a:ext cx="5852160" cy="548640"/>
          </a:xfrm>
          <a:prstGeom prst="rect">
            <a:avLst/>
          </a:prstGeom>
          <a:noFill/>
          <a:ln/>
        </p:spPr>
        <p:txBody>
          <a:bodyPr wrap="square" lIns="0" tIns="0" rIns="0" bIns="0" rtlCol="0" anchor="ctr"/>
          <a:lstStyle/>
          <a:p>
            <a:pPr indent="0" marL="0">
              <a:buNone/>
            </a:pPr>
            <a:r>
              <a:rPr lang="en-US" sz="1200" dirty="0">
                <a:solidFill>
                  <a:srgbClr val="B9A8F0"/>
                </a:solidFill>
              </a:rPr>
              <a:t>Based on the video “Aspire 13.5 is here!” and the official release notes (released August 18, 2026)</a:t>
            </a:r>
            <a:endParaRPr lang="en-US" sz="1200" dirty="0"/>
          </a:p>
        </p:txBody>
      </p:sp>
      <p:sp>
        <p:nvSpPr>
          <p:cNvPr id="5" name="Mock window"/>
          <p:cNvSpPr/>
          <p:nvPr/>
        </p:nvSpPr>
        <p:spPr>
          <a:xfrm>
            <a:off x="7223760" y="1280160"/>
            <a:ext cx="4389120" cy="4297680"/>
          </a:xfrm>
          <a:prstGeom prst="roundRect">
            <a:avLst>
              <a:gd name="adj" fmla="val 2553"/>
            </a:avLst>
          </a:prstGeom>
          <a:solidFill>
            <a:srgbClr val="3A2680"/>
          </a:solidFill>
          <a:ln w="12700">
            <a:solidFill>
              <a:srgbClr val="5236B0"/>
            </a:solidFill>
            <a:prstDash val="solid"/>
          </a:ln>
        </p:spPr>
      </p:sp>
      <p:sp>
        <p:nvSpPr>
          <p:cNvPr id="6" name="Mock sidebar"/>
          <p:cNvSpPr/>
          <p:nvPr/>
        </p:nvSpPr>
        <p:spPr>
          <a:xfrm>
            <a:off x="7406640" y="1463040"/>
            <a:ext cx="1005840" cy="3931920"/>
          </a:xfrm>
          <a:prstGeom prst="roundRect">
            <a:avLst>
              <a:gd name="adj" fmla="val 5455"/>
            </a:avLst>
          </a:prstGeom>
          <a:solidFill>
            <a:srgbClr val="2B1A63"/>
          </a:solidFill>
          <a:ln w="12700">
            <a:solidFill>
              <a:srgbClr val="2B1A63"/>
            </a:solidFill>
            <a:prstDash val="solid"/>
          </a:ln>
        </p:spPr>
      </p:sp>
      <p:sp>
        <p:nvSpPr>
          <p:cNvPr id="7" name="Mock nav 0"/>
          <p:cNvSpPr/>
          <p:nvPr/>
        </p:nvSpPr>
        <p:spPr>
          <a:xfrm>
            <a:off x="7543800" y="1691640"/>
            <a:ext cx="731520" cy="201168"/>
          </a:xfrm>
          <a:prstGeom prst="roundRect">
            <a:avLst>
              <a:gd name="adj" fmla="val 22727"/>
            </a:avLst>
          </a:prstGeom>
          <a:solidFill>
            <a:srgbClr val="A78BFA"/>
          </a:solidFill>
          <a:ln w="12700">
            <a:solidFill>
              <a:srgbClr val="A78BFA"/>
            </a:solidFill>
            <a:prstDash val="solid"/>
          </a:ln>
        </p:spPr>
      </p:sp>
      <p:sp>
        <p:nvSpPr>
          <p:cNvPr id="8" name="Mock nav 1"/>
          <p:cNvSpPr/>
          <p:nvPr/>
        </p:nvSpPr>
        <p:spPr>
          <a:xfrm>
            <a:off x="7543800" y="2194560"/>
            <a:ext cx="731520" cy="201168"/>
          </a:xfrm>
          <a:prstGeom prst="roundRect">
            <a:avLst>
              <a:gd name="adj" fmla="val 22727"/>
            </a:avLst>
          </a:prstGeom>
          <a:solidFill>
            <a:srgbClr val="4B3596"/>
          </a:solidFill>
          <a:ln w="12700">
            <a:solidFill>
              <a:srgbClr val="4B3596"/>
            </a:solidFill>
            <a:prstDash val="solid"/>
          </a:ln>
        </p:spPr>
      </p:sp>
      <p:sp>
        <p:nvSpPr>
          <p:cNvPr id="9" name="Mock nav 2"/>
          <p:cNvSpPr/>
          <p:nvPr/>
        </p:nvSpPr>
        <p:spPr>
          <a:xfrm>
            <a:off x="7543800" y="2697480"/>
            <a:ext cx="731520" cy="201168"/>
          </a:xfrm>
          <a:prstGeom prst="roundRect">
            <a:avLst>
              <a:gd name="adj" fmla="val 22727"/>
            </a:avLst>
          </a:prstGeom>
          <a:solidFill>
            <a:srgbClr val="4B3596"/>
          </a:solidFill>
          <a:ln w="12700">
            <a:solidFill>
              <a:srgbClr val="4B3596"/>
            </a:solidFill>
            <a:prstDash val="solid"/>
          </a:ln>
        </p:spPr>
      </p:sp>
      <p:sp>
        <p:nvSpPr>
          <p:cNvPr id="10" name="Mock nav 3"/>
          <p:cNvSpPr/>
          <p:nvPr/>
        </p:nvSpPr>
        <p:spPr>
          <a:xfrm>
            <a:off x="7543800" y="3200400"/>
            <a:ext cx="731520" cy="201168"/>
          </a:xfrm>
          <a:prstGeom prst="roundRect">
            <a:avLst>
              <a:gd name="adj" fmla="val 22727"/>
            </a:avLst>
          </a:prstGeom>
          <a:solidFill>
            <a:srgbClr val="4B3596"/>
          </a:solidFill>
          <a:ln w="12700">
            <a:solidFill>
              <a:srgbClr val="4B3596"/>
            </a:solidFill>
            <a:prstDash val="solid"/>
          </a:ln>
        </p:spPr>
      </p:sp>
      <p:sp>
        <p:nvSpPr>
          <p:cNvPr id="11" name="Mock nav 4"/>
          <p:cNvSpPr/>
          <p:nvPr/>
        </p:nvSpPr>
        <p:spPr>
          <a:xfrm>
            <a:off x="7543800" y="3703320"/>
            <a:ext cx="731520" cy="201168"/>
          </a:xfrm>
          <a:prstGeom prst="roundRect">
            <a:avLst>
              <a:gd name="adj" fmla="val 22727"/>
            </a:avLst>
          </a:prstGeom>
          <a:solidFill>
            <a:srgbClr val="4B3596"/>
          </a:solidFill>
          <a:ln w="12700">
            <a:solidFill>
              <a:srgbClr val="4B3596"/>
            </a:solidFill>
            <a:prstDash val="solid"/>
          </a:ln>
        </p:spPr>
      </p:sp>
      <p:sp>
        <p:nvSpPr>
          <p:cNvPr id="12" name="Mock row 0"/>
          <p:cNvSpPr/>
          <p:nvPr/>
        </p:nvSpPr>
        <p:spPr>
          <a:xfrm>
            <a:off x="8595360" y="1554480"/>
            <a:ext cx="2834640" cy="329184"/>
          </a:xfrm>
          <a:prstGeom prst="roundRect">
            <a:avLst>
              <a:gd name="adj" fmla="val 13889"/>
            </a:avLst>
          </a:prstGeom>
          <a:solidFill>
            <a:srgbClr val="4B3596"/>
          </a:solidFill>
          <a:ln w="12700">
            <a:solidFill>
              <a:srgbClr val="4B3596"/>
            </a:solidFill>
            <a:prstDash val="solid"/>
          </a:ln>
        </p:spPr>
      </p:sp>
      <p:sp>
        <p:nvSpPr>
          <p:cNvPr id="13" name="Mock status 0"/>
          <p:cNvSpPr/>
          <p:nvPr/>
        </p:nvSpPr>
        <p:spPr>
          <a:xfrm>
            <a:off x="8705088" y="1655064"/>
            <a:ext cx="128016" cy="128016"/>
          </a:xfrm>
          <a:prstGeom prst="ellipse">
            <a:avLst/>
          </a:prstGeom>
          <a:solidFill>
            <a:srgbClr val="34D399"/>
          </a:solidFill>
          <a:ln w="12700">
            <a:solidFill>
              <a:srgbClr val="34D399"/>
            </a:solidFill>
            <a:prstDash val="solid"/>
          </a:ln>
        </p:spPr>
      </p:sp>
      <p:sp>
        <p:nvSpPr>
          <p:cNvPr id="14" name="Mock row 1"/>
          <p:cNvSpPr/>
          <p:nvPr/>
        </p:nvSpPr>
        <p:spPr>
          <a:xfrm>
            <a:off x="8595360" y="2011680"/>
            <a:ext cx="2834640" cy="329184"/>
          </a:xfrm>
          <a:prstGeom prst="roundRect">
            <a:avLst>
              <a:gd name="adj" fmla="val 13889"/>
            </a:avLst>
          </a:prstGeom>
          <a:solidFill>
            <a:srgbClr val="4B3596"/>
          </a:solidFill>
          <a:ln w="12700">
            <a:solidFill>
              <a:srgbClr val="4B3596"/>
            </a:solidFill>
            <a:prstDash val="solid"/>
          </a:ln>
        </p:spPr>
      </p:sp>
      <p:sp>
        <p:nvSpPr>
          <p:cNvPr id="15" name="Mock status 1"/>
          <p:cNvSpPr/>
          <p:nvPr/>
        </p:nvSpPr>
        <p:spPr>
          <a:xfrm>
            <a:off x="8705088" y="2112264"/>
            <a:ext cx="128016" cy="128016"/>
          </a:xfrm>
          <a:prstGeom prst="ellipse">
            <a:avLst/>
          </a:prstGeom>
          <a:solidFill>
            <a:srgbClr val="34D399"/>
          </a:solidFill>
          <a:ln w="12700">
            <a:solidFill>
              <a:srgbClr val="34D399"/>
            </a:solidFill>
            <a:prstDash val="solid"/>
          </a:ln>
        </p:spPr>
      </p:sp>
      <p:sp>
        <p:nvSpPr>
          <p:cNvPr id="16" name="Mock row 2"/>
          <p:cNvSpPr/>
          <p:nvPr/>
        </p:nvSpPr>
        <p:spPr>
          <a:xfrm>
            <a:off x="8595360" y="2468880"/>
            <a:ext cx="2834640" cy="329184"/>
          </a:xfrm>
          <a:prstGeom prst="roundRect">
            <a:avLst>
              <a:gd name="adj" fmla="val 13889"/>
            </a:avLst>
          </a:prstGeom>
          <a:solidFill>
            <a:srgbClr val="4B3596"/>
          </a:solidFill>
          <a:ln w="12700">
            <a:solidFill>
              <a:srgbClr val="4B3596"/>
            </a:solidFill>
            <a:prstDash val="solid"/>
          </a:ln>
        </p:spPr>
      </p:sp>
      <p:sp>
        <p:nvSpPr>
          <p:cNvPr id="17" name="Mock status 2"/>
          <p:cNvSpPr/>
          <p:nvPr/>
        </p:nvSpPr>
        <p:spPr>
          <a:xfrm>
            <a:off x="8705088" y="2569464"/>
            <a:ext cx="128016" cy="128016"/>
          </a:xfrm>
          <a:prstGeom prst="ellipse">
            <a:avLst/>
          </a:prstGeom>
          <a:solidFill>
            <a:srgbClr val="34D399"/>
          </a:solidFill>
          <a:ln w="12700">
            <a:solidFill>
              <a:srgbClr val="34D399"/>
            </a:solidFill>
            <a:prstDash val="solid"/>
          </a:ln>
        </p:spPr>
      </p:sp>
      <p:sp>
        <p:nvSpPr>
          <p:cNvPr id="18" name="Mock row 3"/>
          <p:cNvSpPr/>
          <p:nvPr/>
        </p:nvSpPr>
        <p:spPr>
          <a:xfrm>
            <a:off x="8595360" y="2926080"/>
            <a:ext cx="2834640" cy="329184"/>
          </a:xfrm>
          <a:prstGeom prst="roundRect">
            <a:avLst>
              <a:gd name="adj" fmla="val 13889"/>
            </a:avLst>
          </a:prstGeom>
          <a:solidFill>
            <a:srgbClr val="4B3596"/>
          </a:solidFill>
          <a:ln w="12700">
            <a:solidFill>
              <a:srgbClr val="4B3596"/>
            </a:solidFill>
            <a:prstDash val="solid"/>
          </a:ln>
        </p:spPr>
      </p:sp>
      <p:sp>
        <p:nvSpPr>
          <p:cNvPr id="19" name="Mock status 3"/>
          <p:cNvSpPr/>
          <p:nvPr/>
        </p:nvSpPr>
        <p:spPr>
          <a:xfrm>
            <a:off x="8705088" y="3026664"/>
            <a:ext cx="128016" cy="128016"/>
          </a:xfrm>
          <a:prstGeom prst="ellipse">
            <a:avLst/>
          </a:prstGeom>
          <a:solidFill>
            <a:srgbClr val="D97706"/>
          </a:solidFill>
          <a:ln w="12700">
            <a:solidFill>
              <a:srgbClr val="D97706"/>
            </a:solidFill>
            <a:prstDash val="solid"/>
          </a:ln>
        </p:spPr>
      </p:sp>
      <p:sp>
        <p:nvSpPr>
          <p:cNvPr id="20" name="Mock row 4"/>
          <p:cNvSpPr/>
          <p:nvPr/>
        </p:nvSpPr>
        <p:spPr>
          <a:xfrm>
            <a:off x="8595360" y="3383280"/>
            <a:ext cx="2834640" cy="329184"/>
          </a:xfrm>
          <a:prstGeom prst="roundRect">
            <a:avLst>
              <a:gd name="adj" fmla="val 13889"/>
            </a:avLst>
          </a:prstGeom>
          <a:solidFill>
            <a:srgbClr val="4B3596"/>
          </a:solidFill>
          <a:ln w="12700">
            <a:solidFill>
              <a:srgbClr val="4B3596"/>
            </a:solidFill>
            <a:prstDash val="solid"/>
          </a:ln>
        </p:spPr>
      </p:sp>
      <p:sp>
        <p:nvSpPr>
          <p:cNvPr id="21" name="Mock status 4"/>
          <p:cNvSpPr/>
          <p:nvPr/>
        </p:nvSpPr>
        <p:spPr>
          <a:xfrm>
            <a:off x="8705088" y="3483864"/>
            <a:ext cx="128016" cy="128016"/>
          </a:xfrm>
          <a:prstGeom prst="ellipse">
            <a:avLst/>
          </a:prstGeom>
          <a:solidFill>
            <a:srgbClr val="34D399"/>
          </a:solidFill>
          <a:ln w="12700">
            <a:solidFill>
              <a:srgbClr val="34D399"/>
            </a:solidFill>
            <a:prstDash val="solid"/>
          </a:ln>
        </p:spPr>
      </p:sp>
      <p:sp>
        <p:nvSpPr>
          <p:cNvPr id="22" name="Mock row 5"/>
          <p:cNvSpPr/>
          <p:nvPr/>
        </p:nvSpPr>
        <p:spPr>
          <a:xfrm>
            <a:off x="8595360" y="3840480"/>
            <a:ext cx="2834640" cy="329184"/>
          </a:xfrm>
          <a:prstGeom prst="roundRect">
            <a:avLst>
              <a:gd name="adj" fmla="val 13889"/>
            </a:avLst>
          </a:prstGeom>
          <a:solidFill>
            <a:srgbClr val="4B3596"/>
          </a:solidFill>
          <a:ln w="12700">
            <a:solidFill>
              <a:srgbClr val="4B3596"/>
            </a:solidFill>
            <a:prstDash val="solid"/>
          </a:ln>
        </p:spPr>
      </p:sp>
      <p:sp>
        <p:nvSpPr>
          <p:cNvPr id="23" name="Mock status 5"/>
          <p:cNvSpPr/>
          <p:nvPr/>
        </p:nvSpPr>
        <p:spPr>
          <a:xfrm>
            <a:off x="8705088" y="3941064"/>
            <a:ext cx="128016" cy="128016"/>
          </a:xfrm>
          <a:prstGeom prst="ellipse">
            <a:avLst/>
          </a:prstGeom>
          <a:solidFill>
            <a:srgbClr val="34D399"/>
          </a:solidFill>
          <a:ln w="12700">
            <a:solidFill>
              <a:srgbClr val="34D399"/>
            </a:solidFill>
            <a:prstDash val="solid"/>
          </a:ln>
        </p:spPr>
      </p:sp>
      <p:sp>
        <p:nvSpPr>
          <p:cNvPr id="24" name="Mock terminal"/>
          <p:cNvSpPr/>
          <p:nvPr/>
        </p:nvSpPr>
        <p:spPr>
          <a:xfrm>
            <a:off x="8595360" y="4389120"/>
            <a:ext cx="2834640" cy="1005840"/>
          </a:xfrm>
          <a:prstGeom prst="roundRect">
            <a:avLst>
              <a:gd name="adj" fmla="val 5455"/>
            </a:avLst>
          </a:prstGeom>
          <a:solidFill>
            <a:srgbClr val="1C1830"/>
          </a:solidFill>
          <a:ln w="12700">
            <a:solidFill>
              <a:srgbClr val="1C1830"/>
            </a:solidFill>
            <a:prstDash val="solid"/>
          </a:ln>
        </p:spPr>
      </p:sp>
      <p:sp>
        <p:nvSpPr>
          <p:cNvPr id="25" name="Mock terminal text"/>
          <p:cNvSpPr txBox="1"/>
          <p:nvPr/>
        </p:nvSpPr>
        <p:spPr>
          <a:xfrm>
            <a:off x="8732520" y="4480560"/>
            <a:ext cx="2560320" cy="822960"/>
          </a:xfrm>
          <a:prstGeom prst="rect">
            <a:avLst/>
          </a:prstGeom>
          <a:noFill/>
          <a:ln/>
        </p:spPr>
        <p:txBody>
          <a:bodyPr wrap="square" lIns="0" tIns="0" rIns="0" bIns="0" rtlCol="0" anchor="t"/>
          <a:lstStyle/>
          <a:p>
            <a:pPr indent="0" marL="0">
              <a:buNone/>
            </a:pPr>
            <a:r>
              <a:rPr lang="en-US" sz="1200" dirty="0">
                <a:solidFill>
                  <a:srgbClr val="8FE3B0"/>
                </a:solidFill>
                <a:latin typeface="Courier New" pitchFamily="34" charset="0"/>
                <a:ea typeface="Courier New" pitchFamily="34" charset="-122"/>
                <a:cs typeface="Courier New" pitchFamily="34" charset="-120"/>
              </a:rPr>
              <a:t>$ psql -U postgres</a:t>
            </a:r>
            <a:endParaRPr lang="en-US" sz="1200" dirty="0"/>
          </a:p>
          <a:p>
            <a:pPr indent="0" marL="0">
              <a:buNone/>
            </a:pPr>
            <a:r>
              <a:rPr lang="en-US" sz="1200" dirty="0">
                <a:solidFill>
                  <a:srgbClr val="8FE3B0"/>
                </a:solidFill>
                <a:latin typeface="Courier New" pitchFamily="34" charset="0"/>
                <a:ea typeface="Courier New" pitchFamily="34" charset="-122"/>
                <a:cs typeface="Courier New" pitchFamily="34" charset="-120"/>
              </a:rPr>
              <a:t>postgres=# _</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the Aspire dashboard shows you</a:t>
            </a:r>
            <a:endParaRPr lang="en-US" sz="3400" dirty="0"/>
          </a:p>
        </p:txBody>
      </p:sp>
      <p:sp>
        <p:nvSpPr>
          <p:cNvPr id="3" name="Intro text"/>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600" dirty="0">
                <a:solidFill>
                  <a:schemeClr val="tx1"/>
                </a:solidFill>
              </a:rPr>
              <a:t>A browser-based app for viewing run-time information about your distributed app. It opens automatically when you start the AppHost with aspire run.</a:t>
            </a:r>
            <a:endParaRPr lang="en-US" sz="1600" dirty="0"/>
          </a:p>
        </p:txBody>
      </p:sp>
      <p:sp>
        <p:nvSpPr>
          <p:cNvPr id="4" name="Feature card Resources"/>
          <p:cNvSpPr/>
          <p:nvPr/>
        </p:nvSpPr>
        <p:spPr>
          <a:xfrm>
            <a:off x="548640"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5" name="Resources circle"/>
          <p:cNvSpPr/>
          <p:nvPr/>
        </p:nvSpPr>
        <p:spPr>
          <a:xfrm>
            <a:off x="777240" y="2377440"/>
            <a:ext cx="685800" cy="685800"/>
          </a:xfrm>
          <a:prstGeom prst="ellipse">
            <a:avLst/>
          </a:prstGeom>
          <a:solidFill>
            <a:schemeClr val="bg2"/>
          </a:solidFill>
          <a:ln w="12700">
            <a:solidFill>
              <a:schemeClr val="bg2"/>
            </a:solidFill>
            <a:prstDash val="solid"/>
          </a:ln>
        </p:spPr>
      </p:sp>
      <p:pic>
        <p:nvPicPr>
          <p:cNvPr id="6" name="Resources icon" descr="preencoded.png">    </p:cNvPr>
          <p:cNvPicPr>
            <a:picLocks noChangeAspect="1"/>
          </p:cNvPicPr>
          <p:nvPr/>
        </p:nvPicPr>
        <p:blipFill>
          <a:blip r:embed="rId1"/>
          <a:stretch>
            <a:fillRect/>
          </a:stretch>
        </p:blipFill>
        <p:spPr>
          <a:xfrm>
            <a:off x="948690" y="2548890"/>
            <a:ext cx="342900" cy="342900"/>
          </a:xfrm>
          <a:prstGeom prst="rect">
            <a:avLst/>
          </a:prstGeom>
        </p:spPr>
      </p:pic>
      <p:sp>
        <p:nvSpPr>
          <p:cNvPr id="7" name="Resources title"/>
          <p:cNvSpPr txBox="1"/>
          <p:nvPr/>
        </p:nvSpPr>
        <p:spPr>
          <a:xfrm>
            <a:off x="777240"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Resources</a:t>
            </a:r>
            <a:endParaRPr lang="en-US" sz="1700" dirty="0"/>
          </a:p>
        </p:txBody>
      </p:sp>
      <p:sp>
        <p:nvSpPr>
          <p:cNvPr id="8" name="Resources body"/>
          <p:cNvSpPr txBox="1"/>
          <p:nvPr/>
        </p:nvSpPr>
        <p:spPr>
          <a:xfrm>
            <a:off x="777240"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Projects, executables and containers, with state and endpoints</a:t>
            </a:r>
            <a:endParaRPr lang="en-US" sz="1400" dirty="0"/>
          </a:p>
        </p:txBody>
      </p:sp>
      <p:sp>
        <p:nvSpPr>
          <p:cNvPr id="9" name="Feature card Console logs"/>
          <p:cNvSpPr/>
          <p:nvPr/>
        </p:nvSpPr>
        <p:spPr>
          <a:xfrm>
            <a:off x="2798064"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10" name="Console logs circle"/>
          <p:cNvSpPr/>
          <p:nvPr/>
        </p:nvSpPr>
        <p:spPr>
          <a:xfrm>
            <a:off x="3026664" y="2377440"/>
            <a:ext cx="685800" cy="685800"/>
          </a:xfrm>
          <a:prstGeom prst="ellipse">
            <a:avLst/>
          </a:prstGeom>
          <a:solidFill>
            <a:schemeClr val="bg2"/>
          </a:solidFill>
          <a:ln w="12700">
            <a:solidFill>
              <a:schemeClr val="bg2"/>
            </a:solidFill>
            <a:prstDash val="solid"/>
          </a:ln>
        </p:spPr>
      </p:sp>
      <p:pic>
        <p:nvPicPr>
          <p:cNvPr id="11" name="Console logs icon" descr="preencoded.png">    </p:cNvPr>
          <p:cNvPicPr>
            <a:picLocks noChangeAspect="1"/>
          </p:cNvPicPr>
          <p:nvPr/>
        </p:nvPicPr>
        <p:blipFill>
          <a:blip r:embed="rId2"/>
          <a:stretch>
            <a:fillRect/>
          </a:stretch>
        </p:blipFill>
        <p:spPr>
          <a:xfrm>
            <a:off x="3198114" y="2548890"/>
            <a:ext cx="342900" cy="342900"/>
          </a:xfrm>
          <a:prstGeom prst="rect">
            <a:avLst/>
          </a:prstGeom>
        </p:spPr>
      </p:pic>
      <p:sp>
        <p:nvSpPr>
          <p:cNvPr id="12" name="Console logs title"/>
          <p:cNvSpPr txBox="1"/>
          <p:nvPr/>
        </p:nvSpPr>
        <p:spPr>
          <a:xfrm>
            <a:off x="3026664"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Console logs</a:t>
            </a:r>
            <a:endParaRPr lang="en-US" sz="1700" dirty="0"/>
          </a:p>
        </p:txBody>
      </p:sp>
      <p:sp>
        <p:nvSpPr>
          <p:cNvPr id="13" name="Console logs body"/>
          <p:cNvSpPr txBox="1"/>
          <p:nvPr/>
        </p:nvSpPr>
        <p:spPr>
          <a:xfrm>
            <a:off x="3026664"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Live output streamed from every resource</a:t>
            </a:r>
            <a:endParaRPr lang="en-US" sz="1400" dirty="0"/>
          </a:p>
        </p:txBody>
      </p:sp>
      <p:sp>
        <p:nvSpPr>
          <p:cNvPr id="14" name="Feature card Structured logs"/>
          <p:cNvSpPr/>
          <p:nvPr/>
        </p:nvSpPr>
        <p:spPr>
          <a:xfrm>
            <a:off x="5047488"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15" name="Structured logs circle"/>
          <p:cNvSpPr/>
          <p:nvPr/>
        </p:nvSpPr>
        <p:spPr>
          <a:xfrm>
            <a:off x="5276088" y="2377440"/>
            <a:ext cx="685800" cy="685800"/>
          </a:xfrm>
          <a:prstGeom prst="ellipse">
            <a:avLst/>
          </a:prstGeom>
          <a:solidFill>
            <a:schemeClr val="bg2"/>
          </a:solidFill>
          <a:ln w="12700">
            <a:solidFill>
              <a:schemeClr val="bg2"/>
            </a:solidFill>
            <a:prstDash val="solid"/>
          </a:ln>
        </p:spPr>
      </p:sp>
      <p:pic>
        <p:nvPicPr>
          <p:cNvPr id="16" name="Structured logs icon" descr="preencoded.png">    </p:cNvPr>
          <p:cNvPicPr>
            <a:picLocks noChangeAspect="1"/>
          </p:cNvPicPr>
          <p:nvPr/>
        </p:nvPicPr>
        <p:blipFill>
          <a:blip r:embed="rId3"/>
          <a:stretch>
            <a:fillRect/>
          </a:stretch>
        </p:blipFill>
        <p:spPr>
          <a:xfrm>
            <a:off x="5447538" y="2548890"/>
            <a:ext cx="342900" cy="342900"/>
          </a:xfrm>
          <a:prstGeom prst="rect">
            <a:avLst/>
          </a:prstGeom>
        </p:spPr>
      </p:pic>
      <p:sp>
        <p:nvSpPr>
          <p:cNvPr id="17" name="Structured logs title"/>
          <p:cNvSpPr txBox="1"/>
          <p:nvPr/>
        </p:nvSpPr>
        <p:spPr>
          <a:xfrm>
            <a:off x="5276088"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Structured logs</a:t>
            </a:r>
            <a:endParaRPr lang="en-US" sz="1700" dirty="0"/>
          </a:p>
        </p:txBody>
      </p:sp>
      <p:sp>
        <p:nvSpPr>
          <p:cNvPr id="18" name="Structured logs body"/>
          <p:cNvSpPr txBox="1"/>
          <p:nvPr/>
        </p:nvSpPr>
        <p:spPr>
          <a:xfrm>
            <a:off x="5276088"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Searchable log entries with level, message and trace ID</a:t>
            </a:r>
            <a:endParaRPr lang="en-US" sz="1400" dirty="0"/>
          </a:p>
        </p:txBody>
      </p:sp>
      <p:sp>
        <p:nvSpPr>
          <p:cNvPr id="19" name="Feature card Traces"/>
          <p:cNvSpPr/>
          <p:nvPr/>
        </p:nvSpPr>
        <p:spPr>
          <a:xfrm>
            <a:off x="7296912"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20" name="Traces circle"/>
          <p:cNvSpPr/>
          <p:nvPr/>
        </p:nvSpPr>
        <p:spPr>
          <a:xfrm>
            <a:off x="7525512" y="2377440"/>
            <a:ext cx="685800" cy="685800"/>
          </a:xfrm>
          <a:prstGeom prst="ellipse">
            <a:avLst/>
          </a:prstGeom>
          <a:solidFill>
            <a:schemeClr val="bg2"/>
          </a:solidFill>
          <a:ln w="12700">
            <a:solidFill>
              <a:schemeClr val="bg2"/>
            </a:solidFill>
            <a:prstDash val="solid"/>
          </a:ln>
        </p:spPr>
      </p:sp>
      <p:pic>
        <p:nvPicPr>
          <p:cNvPr id="21" name="Traces icon" descr="preencoded.png">    </p:cNvPr>
          <p:cNvPicPr>
            <a:picLocks noChangeAspect="1"/>
          </p:cNvPicPr>
          <p:nvPr/>
        </p:nvPicPr>
        <p:blipFill>
          <a:blip r:embed="rId4"/>
          <a:stretch>
            <a:fillRect/>
          </a:stretch>
        </p:blipFill>
        <p:spPr>
          <a:xfrm>
            <a:off x="7696962" y="2548890"/>
            <a:ext cx="342900" cy="342900"/>
          </a:xfrm>
          <a:prstGeom prst="rect">
            <a:avLst/>
          </a:prstGeom>
        </p:spPr>
      </p:pic>
      <p:sp>
        <p:nvSpPr>
          <p:cNvPr id="22" name="Traces title"/>
          <p:cNvSpPr txBox="1"/>
          <p:nvPr/>
        </p:nvSpPr>
        <p:spPr>
          <a:xfrm>
            <a:off x="7525512"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Traces</a:t>
            </a:r>
            <a:endParaRPr lang="en-US" sz="1700" dirty="0"/>
          </a:p>
        </p:txBody>
      </p:sp>
      <p:sp>
        <p:nvSpPr>
          <p:cNvPr id="23" name="Traces body"/>
          <p:cNvSpPr txBox="1"/>
          <p:nvPr/>
        </p:nvSpPr>
        <p:spPr>
          <a:xfrm>
            <a:off x="7525512"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Follow one request across services</a:t>
            </a:r>
            <a:endParaRPr lang="en-US" sz="1400" dirty="0"/>
          </a:p>
        </p:txBody>
      </p:sp>
      <p:sp>
        <p:nvSpPr>
          <p:cNvPr id="24" name="Feature card Metrics"/>
          <p:cNvSpPr/>
          <p:nvPr/>
        </p:nvSpPr>
        <p:spPr>
          <a:xfrm>
            <a:off x="9546336" y="2103120"/>
            <a:ext cx="2066544" cy="2651760"/>
          </a:xfrm>
          <a:prstGeom prst="roundRect">
            <a:avLst>
              <a:gd name="adj" fmla="val 4425"/>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25" name="Metrics circle"/>
          <p:cNvSpPr/>
          <p:nvPr/>
        </p:nvSpPr>
        <p:spPr>
          <a:xfrm>
            <a:off x="9774936" y="2377440"/>
            <a:ext cx="685800" cy="685800"/>
          </a:xfrm>
          <a:prstGeom prst="ellipse">
            <a:avLst/>
          </a:prstGeom>
          <a:solidFill>
            <a:schemeClr val="bg2"/>
          </a:solidFill>
          <a:ln w="12700">
            <a:solidFill>
              <a:schemeClr val="bg2"/>
            </a:solidFill>
            <a:prstDash val="solid"/>
          </a:ln>
        </p:spPr>
      </p:sp>
      <p:pic>
        <p:nvPicPr>
          <p:cNvPr id="26" name="Metrics icon" descr="preencoded.png">    </p:cNvPr>
          <p:cNvPicPr>
            <a:picLocks noChangeAspect="1"/>
          </p:cNvPicPr>
          <p:nvPr/>
        </p:nvPicPr>
        <p:blipFill>
          <a:blip r:embed="rId5"/>
          <a:stretch>
            <a:fillRect/>
          </a:stretch>
        </p:blipFill>
        <p:spPr>
          <a:xfrm>
            <a:off x="9946386" y="2548890"/>
            <a:ext cx="342900" cy="342900"/>
          </a:xfrm>
          <a:prstGeom prst="rect">
            <a:avLst/>
          </a:prstGeom>
        </p:spPr>
      </p:pic>
      <p:sp>
        <p:nvSpPr>
          <p:cNvPr id="27" name="Metrics title"/>
          <p:cNvSpPr txBox="1"/>
          <p:nvPr/>
        </p:nvSpPr>
        <p:spPr>
          <a:xfrm>
            <a:off x="9774936" y="3200400"/>
            <a:ext cx="1609344" cy="365760"/>
          </a:xfrm>
          <a:prstGeom prst="rect">
            <a:avLst/>
          </a:prstGeom>
          <a:noFill/>
          <a:ln/>
        </p:spPr>
        <p:txBody>
          <a:bodyPr wrap="square" lIns="0" tIns="0" rIns="0" bIns="0" rtlCol="0" anchor="ctr"/>
          <a:lstStyle/>
          <a:p>
            <a:pPr indent="0" marL="0">
              <a:buNone/>
            </a:pPr>
            <a:r>
              <a:rPr lang="en-US" sz="1700" b="1" dirty="0">
                <a:solidFill>
                  <a:schemeClr val="tx2"/>
                </a:solidFill>
              </a:rPr>
              <a:t>Metrics</a:t>
            </a:r>
            <a:endParaRPr lang="en-US" sz="1700" dirty="0"/>
          </a:p>
        </p:txBody>
      </p:sp>
      <p:sp>
        <p:nvSpPr>
          <p:cNvPr id="28" name="Metrics body"/>
          <p:cNvSpPr txBox="1"/>
          <p:nvPr/>
        </p:nvSpPr>
        <p:spPr>
          <a:xfrm>
            <a:off x="9774936" y="3611880"/>
            <a:ext cx="1609344" cy="1005840"/>
          </a:xfrm>
          <a:prstGeom prst="rect">
            <a:avLst/>
          </a:prstGeom>
          <a:noFill/>
          <a:ln/>
        </p:spPr>
        <p:txBody>
          <a:bodyPr wrap="square" lIns="0" tIns="0" rIns="0" bIns="0" rtlCol="0" anchor="t"/>
          <a:lstStyle/>
          <a:p>
            <a:pPr indent="0" marL="0">
              <a:buNone/>
            </a:pPr>
            <a:r>
              <a:rPr lang="en-US" sz="1400" dirty="0">
                <a:solidFill>
                  <a:schemeClr val="tx1"/>
                </a:solidFill>
              </a:rPr>
              <a:t>Charts such as HTTP request duration</a:t>
            </a:r>
            <a:endParaRPr lang="en-US" sz="1400" dirty="0"/>
          </a:p>
        </p:txBody>
      </p:sp>
      <p:sp>
        <p:nvSpPr>
          <p:cNvPr id="29" name="Standalone panel"/>
          <p:cNvSpPr/>
          <p:nvPr/>
        </p:nvSpPr>
        <p:spPr>
          <a:xfrm>
            <a:off x="548640" y="5074920"/>
            <a:ext cx="11064240" cy="1051560"/>
          </a:xfrm>
          <a:prstGeom prst="roundRect">
            <a:avLst>
              <a:gd name="adj" fmla="val 8696"/>
            </a:avLst>
          </a:prstGeom>
          <a:solidFill>
            <a:schemeClr val="bg2"/>
          </a:solidFill>
          <a:ln w="12700">
            <a:solidFill>
              <a:schemeClr val="bg2"/>
            </a:solidFill>
            <a:prstDash val="solid"/>
          </a:ln>
        </p:spPr>
      </p:sp>
      <p:sp>
        <p:nvSpPr>
          <p:cNvPr id="30" name="Standalone circle"/>
          <p:cNvSpPr/>
          <p:nvPr/>
        </p:nvSpPr>
        <p:spPr>
          <a:xfrm>
            <a:off x="777240" y="5257800"/>
            <a:ext cx="685800" cy="685800"/>
          </a:xfrm>
          <a:prstGeom prst="ellipse">
            <a:avLst/>
          </a:prstGeom>
          <a:solidFill>
            <a:schemeClr val="bg2"/>
          </a:solidFill>
          <a:ln w="12700">
            <a:solidFill>
              <a:schemeClr val="bg2"/>
            </a:solidFill>
            <a:prstDash val="solid"/>
          </a:ln>
        </p:spPr>
      </p:sp>
      <p:pic>
        <p:nvPicPr>
          <p:cNvPr id="31" name="Standalone icon" descr="preencoded.png">    </p:cNvPr>
          <p:cNvPicPr>
            <a:picLocks noChangeAspect="1"/>
          </p:cNvPicPr>
          <p:nvPr/>
        </p:nvPicPr>
        <p:blipFill>
          <a:blip r:embed="rId6"/>
          <a:stretch>
            <a:fillRect/>
          </a:stretch>
        </p:blipFill>
        <p:spPr>
          <a:xfrm>
            <a:off x="948690" y="5429250"/>
            <a:ext cx="342900" cy="342900"/>
          </a:xfrm>
          <a:prstGeom prst="rect">
            <a:avLst/>
          </a:prstGeom>
        </p:spPr>
      </p:pic>
      <p:sp>
        <p:nvSpPr>
          <p:cNvPr id="32" name="Standalone text"/>
          <p:cNvSpPr txBox="1"/>
          <p:nvPr/>
        </p:nvSpPr>
        <p:spPr>
          <a:xfrm>
            <a:off x="1691640" y="5166360"/>
            <a:ext cx="9692640" cy="868680"/>
          </a:xfrm>
          <a:prstGeom prst="rect">
            <a:avLst/>
          </a:prstGeom>
          <a:noFill/>
          <a:ln/>
        </p:spPr>
        <p:txBody>
          <a:bodyPr wrap="square" lIns="0" tIns="0" rIns="0" bIns="0" rtlCol="0" anchor="ctr"/>
          <a:lstStyle/>
          <a:p>
            <a:pPr indent="0" marL="0">
              <a:buNone/>
            </a:pPr>
            <a:r>
              <a:rPr lang="en-US" sz="1400" b="1" dirty="0">
                <a:solidFill>
                  <a:schemeClr val="tx2"/>
                </a:solidFill>
              </a:rPr>
              <a:t>No AppHost? Run it standalone.  </a:t>
            </a:r>
            <a:pPr indent="0" marL="0">
              <a:buNone/>
            </a:pPr>
            <a:r>
              <a:rPr lang="en-US" sz="1400" dirty="0">
                <a:solidFill>
                  <a:schemeClr val="tx1"/>
                </a:solidFill>
              </a:rPr>
              <a:t>The dashboard also ships as a container image (mcr.microsoft.com/dotnet/aspire-dashboard). The UI is on port 18888 and it receives OpenTelemetry (OTLP) data on port 18889. OTLP is the standard format apps use to send logs, traces and metrics.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Aspire 13.5 at a glance</a:t>
            </a:r>
            <a:endParaRPr lang="en-US" sz="3400" dirty="0"/>
          </a:p>
        </p:txBody>
      </p:sp>
      <p:sp>
        <p:nvSpPr>
          <p:cNvPr id="3" name="Glance card Refreshed, branded UI"/>
          <p:cNvSpPr/>
          <p:nvPr/>
        </p:nvSpPr>
        <p:spPr>
          <a:xfrm>
            <a:off x="548640" y="132588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4" name="Refreshed, branded UI circle"/>
          <p:cNvSpPr/>
          <p:nvPr/>
        </p:nvSpPr>
        <p:spPr>
          <a:xfrm>
            <a:off x="822960" y="1600200"/>
            <a:ext cx="640080" cy="640080"/>
          </a:xfrm>
          <a:prstGeom prst="ellipse">
            <a:avLst/>
          </a:prstGeom>
          <a:solidFill>
            <a:schemeClr val="bg2"/>
          </a:solidFill>
          <a:ln w="12700">
            <a:solidFill>
              <a:schemeClr val="bg2"/>
            </a:solidFill>
            <a:prstDash val="solid"/>
          </a:ln>
        </p:spPr>
      </p:sp>
      <p:pic>
        <p:nvPicPr>
          <p:cNvPr id="5" name="Refreshed, branded UI icon" descr="preencoded.png">    </p:cNvPr>
          <p:cNvPicPr>
            <a:picLocks noChangeAspect="1"/>
          </p:cNvPicPr>
          <p:nvPr/>
        </p:nvPicPr>
        <p:blipFill>
          <a:blip r:embed="rId1"/>
          <a:stretch>
            <a:fillRect/>
          </a:stretch>
        </p:blipFill>
        <p:spPr>
          <a:xfrm>
            <a:off x="982980" y="1760220"/>
            <a:ext cx="320040" cy="320040"/>
          </a:xfrm>
          <a:prstGeom prst="rect">
            <a:avLst/>
          </a:prstGeom>
        </p:spPr>
      </p:pic>
      <p:sp>
        <p:nvSpPr>
          <p:cNvPr id="6" name="Refreshed, branded UI pill"/>
          <p:cNvSpPr/>
          <p:nvPr/>
        </p:nvSpPr>
        <p:spPr>
          <a:xfrm>
            <a:off x="2697480" y="1783080"/>
            <a:ext cx="1143000" cy="274320"/>
          </a:xfrm>
          <a:prstGeom prst="roundRect">
            <a:avLst>
              <a:gd name="adj" fmla="val 50000"/>
            </a:avLst>
          </a:prstGeom>
          <a:solidFill>
            <a:srgbClr val="0E9F8E"/>
          </a:solidFill>
          <a:ln w="12700">
            <a:solidFill>
              <a:srgbClr val="0E9F8E"/>
            </a:solidFill>
            <a:prstDash val="solid"/>
          </a:ln>
        </p:spPr>
      </p:sp>
      <p:sp>
        <p:nvSpPr>
          <p:cNvPr id="7" name="Refreshed, branded UI pill text"/>
          <p:cNvSpPr txBox="1"/>
          <p:nvPr/>
        </p:nvSpPr>
        <p:spPr>
          <a:xfrm>
            <a:off x="2697480" y="178308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UI</a:t>
            </a:r>
            <a:endParaRPr lang="en-US" sz="1000" dirty="0"/>
          </a:p>
        </p:txBody>
      </p:sp>
      <p:sp>
        <p:nvSpPr>
          <p:cNvPr id="8" name="Refreshed, branded UI title"/>
          <p:cNvSpPr txBox="1"/>
          <p:nvPr/>
        </p:nvSpPr>
        <p:spPr>
          <a:xfrm>
            <a:off x="822960" y="23317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Refreshed, branded UI</a:t>
            </a:r>
            <a:endParaRPr lang="en-US" sz="1800" dirty="0"/>
          </a:p>
        </p:txBody>
      </p:sp>
      <p:sp>
        <p:nvSpPr>
          <p:cNvPr id="9" name="Refreshed, branded UI body"/>
          <p:cNvSpPr txBox="1"/>
          <p:nvPr/>
        </p:nvSpPr>
        <p:spPr>
          <a:xfrm>
            <a:off x="822960" y="2743200"/>
            <a:ext cx="3017520" cy="822960"/>
          </a:xfrm>
          <a:prstGeom prst="rect">
            <a:avLst/>
          </a:prstGeom>
          <a:noFill/>
          <a:ln/>
        </p:spPr>
        <p:txBody>
          <a:bodyPr wrap="square" lIns="0" tIns="0" rIns="0" bIns="0" rtlCol="0" anchor="t"/>
          <a:lstStyle/>
          <a:p>
            <a:pPr indent="0" marL="0">
              <a:buNone/>
            </a:pPr>
            <a:r>
              <a:rPr lang="en-US" sz="1400" dirty="0">
                <a:solidFill>
                  <a:schemeClr val="tx1"/>
                </a:solidFill>
              </a:rPr>
              <a:t>Official Aspire branding on a new design-token system, with accessibility checks</a:t>
            </a:r>
            <a:endParaRPr lang="en-US" sz="1400" dirty="0"/>
          </a:p>
        </p:txBody>
      </p:sp>
      <p:sp>
        <p:nvSpPr>
          <p:cNvPr id="10" name="Glance card Sharper filtering"/>
          <p:cNvSpPr/>
          <p:nvPr/>
        </p:nvSpPr>
        <p:spPr>
          <a:xfrm>
            <a:off x="4297680" y="132588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11" name="Sharper filtering circle"/>
          <p:cNvSpPr/>
          <p:nvPr/>
        </p:nvSpPr>
        <p:spPr>
          <a:xfrm>
            <a:off x="4572000" y="1600200"/>
            <a:ext cx="640080" cy="640080"/>
          </a:xfrm>
          <a:prstGeom prst="ellipse">
            <a:avLst/>
          </a:prstGeom>
          <a:solidFill>
            <a:schemeClr val="bg2"/>
          </a:solidFill>
          <a:ln w="12700">
            <a:solidFill>
              <a:schemeClr val="bg2"/>
            </a:solidFill>
            <a:prstDash val="solid"/>
          </a:ln>
        </p:spPr>
      </p:sp>
      <p:pic>
        <p:nvPicPr>
          <p:cNvPr id="12" name="Sharper filtering icon" descr="preencoded.png">    </p:cNvPr>
          <p:cNvPicPr>
            <a:picLocks noChangeAspect="1"/>
          </p:cNvPicPr>
          <p:nvPr/>
        </p:nvPicPr>
        <p:blipFill>
          <a:blip r:embed="rId2"/>
          <a:stretch>
            <a:fillRect/>
          </a:stretch>
        </p:blipFill>
        <p:spPr>
          <a:xfrm>
            <a:off x="4732020" y="1760220"/>
            <a:ext cx="320040" cy="320040"/>
          </a:xfrm>
          <a:prstGeom prst="rect">
            <a:avLst/>
          </a:prstGeom>
        </p:spPr>
      </p:pic>
      <p:sp>
        <p:nvSpPr>
          <p:cNvPr id="13" name="Sharper filtering pill"/>
          <p:cNvSpPr/>
          <p:nvPr/>
        </p:nvSpPr>
        <p:spPr>
          <a:xfrm>
            <a:off x="6446520" y="1783080"/>
            <a:ext cx="1143000" cy="274320"/>
          </a:xfrm>
          <a:prstGeom prst="roundRect">
            <a:avLst>
              <a:gd name="adj" fmla="val 50000"/>
            </a:avLst>
          </a:prstGeom>
          <a:solidFill>
            <a:srgbClr val="0E9F8E"/>
          </a:solidFill>
          <a:ln w="12700">
            <a:solidFill>
              <a:srgbClr val="0E9F8E"/>
            </a:solidFill>
            <a:prstDash val="solid"/>
          </a:ln>
        </p:spPr>
      </p:sp>
      <p:sp>
        <p:nvSpPr>
          <p:cNvPr id="14" name="Sharper filtering pill text"/>
          <p:cNvSpPr txBox="1"/>
          <p:nvPr/>
        </p:nvSpPr>
        <p:spPr>
          <a:xfrm>
            <a:off x="6446520" y="178308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UI</a:t>
            </a:r>
            <a:endParaRPr lang="en-US" sz="1000" dirty="0"/>
          </a:p>
        </p:txBody>
      </p:sp>
      <p:sp>
        <p:nvSpPr>
          <p:cNvPr id="15" name="Sharper filtering title"/>
          <p:cNvSpPr txBox="1"/>
          <p:nvPr/>
        </p:nvSpPr>
        <p:spPr>
          <a:xfrm>
            <a:off x="4572000" y="23317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Sharper filtering</a:t>
            </a:r>
            <a:endParaRPr lang="en-US" sz="1800" dirty="0"/>
          </a:p>
        </p:txBody>
      </p:sp>
      <p:sp>
        <p:nvSpPr>
          <p:cNvPr id="16" name="Sharper filtering body"/>
          <p:cNvSpPr txBox="1"/>
          <p:nvPr/>
        </p:nvSpPr>
        <p:spPr>
          <a:xfrm>
            <a:off x="4572000" y="2743200"/>
            <a:ext cx="3017520" cy="822960"/>
          </a:xfrm>
          <a:prstGeom prst="rect">
            <a:avLst/>
          </a:prstGeom>
          <a:noFill/>
          <a:ln/>
        </p:spPr>
        <p:txBody>
          <a:bodyPr wrap="square" lIns="0" tIns="0" rIns="0" bIns="0" rtlCol="0" anchor="t"/>
          <a:lstStyle/>
          <a:p>
            <a:pPr indent="0" marL="0">
              <a:buNone/>
            </a:pPr>
            <a:r>
              <a:rPr lang="en-US" sz="1400" dirty="0">
                <a:solidFill>
                  <a:schemeClr val="tx1"/>
                </a:solidFill>
              </a:rPr>
              <a:t>Timestamp filters, exact == / != numeric matching, console-log text search</a:t>
            </a:r>
            <a:endParaRPr lang="en-US" sz="1400" dirty="0"/>
          </a:p>
        </p:txBody>
      </p:sp>
      <p:sp>
        <p:nvSpPr>
          <p:cNvPr id="17" name="Glance card Terminal view"/>
          <p:cNvSpPr/>
          <p:nvPr/>
        </p:nvSpPr>
        <p:spPr>
          <a:xfrm>
            <a:off x="8046720" y="132588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18" name="Terminal view circle"/>
          <p:cNvSpPr/>
          <p:nvPr/>
        </p:nvSpPr>
        <p:spPr>
          <a:xfrm>
            <a:off x="8321040" y="1600200"/>
            <a:ext cx="640080" cy="640080"/>
          </a:xfrm>
          <a:prstGeom prst="ellipse">
            <a:avLst/>
          </a:prstGeom>
          <a:solidFill>
            <a:schemeClr val="bg2"/>
          </a:solidFill>
          <a:ln w="12700">
            <a:solidFill>
              <a:schemeClr val="bg2"/>
            </a:solidFill>
            <a:prstDash val="solid"/>
          </a:ln>
        </p:spPr>
      </p:sp>
      <p:pic>
        <p:nvPicPr>
          <p:cNvPr id="19" name="Terminal view icon" descr="preencoded.png">    </p:cNvPr>
          <p:cNvPicPr>
            <a:picLocks noChangeAspect="1"/>
          </p:cNvPicPr>
          <p:nvPr/>
        </p:nvPicPr>
        <p:blipFill>
          <a:blip r:embed="rId3"/>
          <a:stretch>
            <a:fillRect/>
          </a:stretch>
        </p:blipFill>
        <p:spPr>
          <a:xfrm>
            <a:off x="8481060" y="1760220"/>
            <a:ext cx="320040" cy="320040"/>
          </a:xfrm>
          <a:prstGeom prst="rect">
            <a:avLst/>
          </a:prstGeom>
        </p:spPr>
      </p:pic>
      <p:sp>
        <p:nvSpPr>
          <p:cNvPr id="20" name="Terminal view pill"/>
          <p:cNvSpPr/>
          <p:nvPr/>
        </p:nvSpPr>
        <p:spPr>
          <a:xfrm>
            <a:off x="10195560" y="1783080"/>
            <a:ext cx="1143000" cy="274320"/>
          </a:xfrm>
          <a:prstGeom prst="roundRect">
            <a:avLst>
              <a:gd name="adj" fmla="val 50000"/>
            </a:avLst>
          </a:prstGeom>
          <a:solidFill>
            <a:srgbClr val="D97706"/>
          </a:solidFill>
          <a:ln w="12700">
            <a:solidFill>
              <a:srgbClr val="D97706"/>
            </a:solidFill>
            <a:prstDash val="solid"/>
          </a:ln>
        </p:spPr>
      </p:sp>
      <p:sp>
        <p:nvSpPr>
          <p:cNvPr id="21" name="Terminal view pill text"/>
          <p:cNvSpPr txBox="1"/>
          <p:nvPr/>
        </p:nvSpPr>
        <p:spPr>
          <a:xfrm>
            <a:off x="10195560" y="178308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Experimental</a:t>
            </a:r>
            <a:endParaRPr lang="en-US" sz="1000" dirty="0"/>
          </a:p>
        </p:txBody>
      </p:sp>
      <p:sp>
        <p:nvSpPr>
          <p:cNvPr id="22" name="Terminal view title"/>
          <p:cNvSpPr txBox="1"/>
          <p:nvPr/>
        </p:nvSpPr>
        <p:spPr>
          <a:xfrm>
            <a:off x="8321040" y="233172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Terminal view</a:t>
            </a:r>
            <a:endParaRPr lang="en-US" sz="1800" dirty="0"/>
          </a:p>
        </p:txBody>
      </p:sp>
      <p:sp>
        <p:nvSpPr>
          <p:cNvPr id="23" name="Terminal view body"/>
          <p:cNvSpPr txBox="1"/>
          <p:nvPr/>
        </p:nvSpPr>
        <p:spPr>
          <a:xfrm>
            <a:off x="8321040" y="2743200"/>
            <a:ext cx="3017520" cy="822960"/>
          </a:xfrm>
          <a:prstGeom prst="rect">
            <a:avLst/>
          </a:prstGeom>
          <a:noFill/>
          <a:ln/>
        </p:spPr>
        <p:txBody>
          <a:bodyPr wrap="square" lIns="0" tIns="0" rIns="0" bIns="0" rtlCol="0" anchor="t"/>
          <a:lstStyle/>
          <a:p>
            <a:pPr indent="0" marL="0">
              <a:buNone/>
            </a:pPr>
            <a:r>
              <a:rPr lang="en-US" sz="1400" dirty="0">
                <a:solidFill>
                  <a:schemeClr val="tx1"/>
                </a:solidFill>
              </a:rPr>
              <a:t>WithTerminal() gives a resource a live, interactive terminal in the dashboard</a:t>
            </a:r>
            <a:endParaRPr lang="en-US" sz="1400" dirty="0"/>
          </a:p>
        </p:txBody>
      </p:sp>
      <p:sp>
        <p:nvSpPr>
          <p:cNvPr id="24" name="Glance card File uploads"/>
          <p:cNvSpPr/>
          <p:nvPr/>
        </p:nvSpPr>
        <p:spPr>
          <a:xfrm>
            <a:off x="548640" y="388620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25" name="File uploads circle"/>
          <p:cNvSpPr/>
          <p:nvPr/>
        </p:nvSpPr>
        <p:spPr>
          <a:xfrm>
            <a:off x="822960" y="4160520"/>
            <a:ext cx="640080" cy="640080"/>
          </a:xfrm>
          <a:prstGeom prst="ellipse">
            <a:avLst/>
          </a:prstGeom>
          <a:solidFill>
            <a:schemeClr val="bg2"/>
          </a:solidFill>
          <a:ln w="12700">
            <a:solidFill>
              <a:schemeClr val="bg2"/>
            </a:solidFill>
            <a:prstDash val="solid"/>
          </a:ln>
        </p:spPr>
      </p:sp>
      <p:pic>
        <p:nvPicPr>
          <p:cNvPr id="26" name="File uploads icon" descr="preencoded.png">    </p:cNvPr>
          <p:cNvPicPr>
            <a:picLocks noChangeAspect="1"/>
          </p:cNvPicPr>
          <p:nvPr/>
        </p:nvPicPr>
        <p:blipFill>
          <a:blip r:embed="rId4"/>
          <a:stretch>
            <a:fillRect/>
          </a:stretch>
        </p:blipFill>
        <p:spPr>
          <a:xfrm>
            <a:off x="982980" y="4320540"/>
            <a:ext cx="320040" cy="320040"/>
          </a:xfrm>
          <a:prstGeom prst="rect">
            <a:avLst/>
          </a:prstGeom>
        </p:spPr>
      </p:pic>
      <p:sp>
        <p:nvSpPr>
          <p:cNvPr id="27" name="File uploads pill"/>
          <p:cNvSpPr/>
          <p:nvPr/>
        </p:nvSpPr>
        <p:spPr>
          <a:xfrm>
            <a:off x="2697480" y="4343400"/>
            <a:ext cx="1143000" cy="274320"/>
          </a:xfrm>
          <a:prstGeom prst="roundRect">
            <a:avLst>
              <a:gd name="adj" fmla="val 50000"/>
            </a:avLst>
          </a:prstGeom>
          <a:solidFill>
            <a:srgbClr val="6B3FE0"/>
          </a:solidFill>
          <a:ln w="12700">
            <a:solidFill>
              <a:srgbClr val="6B3FE0"/>
            </a:solidFill>
            <a:prstDash val="solid"/>
          </a:ln>
        </p:spPr>
      </p:sp>
      <p:sp>
        <p:nvSpPr>
          <p:cNvPr id="28" name="File uploads pill text"/>
          <p:cNvSpPr txBox="1"/>
          <p:nvPr/>
        </p:nvSpPr>
        <p:spPr>
          <a:xfrm>
            <a:off x="2697480" y="43434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Stable</a:t>
            </a:r>
            <a:endParaRPr lang="en-US" sz="1000" dirty="0"/>
          </a:p>
        </p:txBody>
      </p:sp>
      <p:sp>
        <p:nvSpPr>
          <p:cNvPr id="29" name="File uploads title"/>
          <p:cNvSpPr txBox="1"/>
          <p:nvPr/>
        </p:nvSpPr>
        <p:spPr>
          <a:xfrm>
            <a:off x="822960" y="489204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File uploads</a:t>
            </a:r>
            <a:endParaRPr lang="en-US" sz="1800" dirty="0"/>
          </a:p>
        </p:txBody>
      </p:sp>
      <p:sp>
        <p:nvSpPr>
          <p:cNvPr id="30" name="File uploads body"/>
          <p:cNvSpPr txBox="1"/>
          <p:nvPr/>
        </p:nvSpPr>
        <p:spPr>
          <a:xfrm>
            <a:off x="822960" y="5303520"/>
            <a:ext cx="3017520" cy="822960"/>
          </a:xfrm>
          <a:prstGeom prst="rect">
            <a:avLst/>
          </a:prstGeom>
          <a:noFill/>
          <a:ln/>
        </p:spPr>
        <p:txBody>
          <a:bodyPr wrap="square" lIns="0" tIns="0" rIns="0" bIns="0" rtlCol="0" anchor="t"/>
          <a:lstStyle/>
          <a:p>
            <a:pPr indent="0" marL="0">
              <a:buNone/>
            </a:pPr>
            <a:r>
              <a:rPr lang="en-US" sz="1400" dirty="0">
                <a:solidFill>
                  <a:schemeClr val="tx1"/>
                </a:solidFill>
              </a:rPr>
              <a:t>Commands can ask the user to pick a file in the dashboard</a:t>
            </a:r>
            <a:endParaRPr lang="en-US" sz="1400" dirty="0"/>
          </a:p>
        </p:txBody>
      </p:sp>
      <p:sp>
        <p:nvSpPr>
          <p:cNvPr id="31" name="Glance card Command arguments"/>
          <p:cNvSpPr/>
          <p:nvPr/>
        </p:nvSpPr>
        <p:spPr>
          <a:xfrm>
            <a:off x="4297680" y="388620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32" name="Command arguments circle"/>
          <p:cNvSpPr/>
          <p:nvPr/>
        </p:nvSpPr>
        <p:spPr>
          <a:xfrm>
            <a:off x="4572000" y="4160520"/>
            <a:ext cx="640080" cy="640080"/>
          </a:xfrm>
          <a:prstGeom prst="ellipse">
            <a:avLst/>
          </a:prstGeom>
          <a:solidFill>
            <a:schemeClr val="bg2"/>
          </a:solidFill>
          <a:ln w="12700">
            <a:solidFill>
              <a:schemeClr val="bg2"/>
            </a:solidFill>
            <a:prstDash val="solid"/>
          </a:ln>
        </p:spPr>
      </p:sp>
      <p:pic>
        <p:nvPicPr>
          <p:cNvPr id="33" name="Command arguments icon" descr="preencoded.png">    </p:cNvPr>
          <p:cNvPicPr>
            <a:picLocks noChangeAspect="1"/>
          </p:cNvPicPr>
          <p:nvPr/>
        </p:nvPicPr>
        <p:blipFill>
          <a:blip r:embed="rId5"/>
          <a:stretch>
            <a:fillRect/>
          </a:stretch>
        </p:blipFill>
        <p:spPr>
          <a:xfrm>
            <a:off x="4732020" y="4320540"/>
            <a:ext cx="320040" cy="320040"/>
          </a:xfrm>
          <a:prstGeom prst="rect">
            <a:avLst/>
          </a:prstGeom>
        </p:spPr>
      </p:pic>
      <p:sp>
        <p:nvSpPr>
          <p:cNvPr id="34" name="Command arguments pill"/>
          <p:cNvSpPr/>
          <p:nvPr/>
        </p:nvSpPr>
        <p:spPr>
          <a:xfrm>
            <a:off x="6446520" y="4343400"/>
            <a:ext cx="1143000" cy="274320"/>
          </a:xfrm>
          <a:prstGeom prst="roundRect">
            <a:avLst>
              <a:gd name="adj" fmla="val 50000"/>
            </a:avLst>
          </a:prstGeom>
          <a:solidFill>
            <a:srgbClr val="6B3FE0"/>
          </a:solidFill>
          <a:ln w="12700">
            <a:solidFill>
              <a:srgbClr val="6B3FE0"/>
            </a:solidFill>
            <a:prstDash val="solid"/>
          </a:ln>
        </p:spPr>
      </p:sp>
      <p:sp>
        <p:nvSpPr>
          <p:cNvPr id="35" name="Command arguments pill text"/>
          <p:cNvSpPr txBox="1"/>
          <p:nvPr/>
        </p:nvSpPr>
        <p:spPr>
          <a:xfrm>
            <a:off x="6446520" y="43434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Stable</a:t>
            </a:r>
            <a:endParaRPr lang="en-US" sz="1000" dirty="0"/>
          </a:p>
        </p:txBody>
      </p:sp>
      <p:sp>
        <p:nvSpPr>
          <p:cNvPr id="36" name="Command arguments title"/>
          <p:cNvSpPr txBox="1"/>
          <p:nvPr/>
        </p:nvSpPr>
        <p:spPr>
          <a:xfrm>
            <a:off x="4572000" y="489204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Command arguments</a:t>
            </a:r>
            <a:endParaRPr lang="en-US" sz="1800" dirty="0"/>
          </a:p>
        </p:txBody>
      </p:sp>
      <p:sp>
        <p:nvSpPr>
          <p:cNvPr id="37" name="Command arguments body"/>
          <p:cNvSpPr txBox="1"/>
          <p:nvPr/>
        </p:nvSpPr>
        <p:spPr>
          <a:xfrm>
            <a:off x="4572000" y="5303520"/>
            <a:ext cx="3017520" cy="822960"/>
          </a:xfrm>
          <a:prstGeom prst="rect">
            <a:avLst/>
          </a:prstGeom>
          <a:noFill/>
          <a:ln/>
        </p:spPr>
        <p:txBody>
          <a:bodyPr wrap="square" lIns="0" tIns="0" rIns="0" bIns="0" rtlCol="0" anchor="t"/>
          <a:lstStyle/>
          <a:p>
            <a:pPr indent="0" marL="0">
              <a:buNone/>
            </a:pPr>
            <a:r>
              <a:rPr lang="en-US" sz="1400" dirty="0">
                <a:solidFill>
                  <a:schemeClr val="tx1"/>
                </a:solidFill>
              </a:rPr>
              <a:t>Commands declare named inputs: a form in the dashboard, options in the CLI</a:t>
            </a:r>
            <a:endParaRPr lang="en-US" sz="1400" dirty="0"/>
          </a:p>
        </p:txBody>
      </p:sp>
      <p:sp>
        <p:nvSpPr>
          <p:cNvPr id="38" name="Glance card Progress dialogs"/>
          <p:cNvSpPr/>
          <p:nvPr/>
        </p:nvSpPr>
        <p:spPr>
          <a:xfrm>
            <a:off x="8046720" y="3886200"/>
            <a:ext cx="3566160" cy="2331720"/>
          </a:xfrm>
          <a:prstGeom prst="roundRect">
            <a:avLst>
              <a:gd name="adj" fmla="val 3922"/>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39" name="Progress dialogs circle"/>
          <p:cNvSpPr/>
          <p:nvPr/>
        </p:nvSpPr>
        <p:spPr>
          <a:xfrm>
            <a:off x="8321040" y="4160520"/>
            <a:ext cx="640080" cy="640080"/>
          </a:xfrm>
          <a:prstGeom prst="ellipse">
            <a:avLst/>
          </a:prstGeom>
          <a:solidFill>
            <a:schemeClr val="bg2"/>
          </a:solidFill>
          <a:ln w="12700">
            <a:solidFill>
              <a:schemeClr val="bg2"/>
            </a:solidFill>
            <a:prstDash val="solid"/>
          </a:ln>
        </p:spPr>
      </p:sp>
      <p:pic>
        <p:nvPicPr>
          <p:cNvPr id="40" name="Progress dialogs icon" descr="preencoded.png">    </p:cNvPr>
          <p:cNvPicPr>
            <a:picLocks noChangeAspect="1"/>
          </p:cNvPicPr>
          <p:nvPr/>
        </p:nvPicPr>
        <p:blipFill>
          <a:blip r:embed="rId6"/>
          <a:stretch>
            <a:fillRect/>
          </a:stretch>
        </p:blipFill>
        <p:spPr>
          <a:xfrm>
            <a:off x="8481060" y="4320540"/>
            <a:ext cx="320040" cy="320040"/>
          </a:xfrm>
          <a:prstGeom prst="rect">
            <a:avLst/>
          </a:prstGeom>
        </p:spPr>
      </p:pic>
      <p:sp>
        <p:nvSpPr>
          <p:cNvPr id="41" name="Progress dialogs pill"/>
          <p:cNvSpPr/>
          <p:nvPr/>
        </p:nvSpPr>
        <p:spPr>
          <a:xfrm>
            <a:off x="10195560" y="4343400"/>
            <a:ext cx="1143000" cy="274320"/>
          </a:xfrm>
          <a:prstGeom prst="roundRect">
            <a:avLst>
              <a:gd name="adj" fmla="val 50000"/>
            </a:avLst>
          </a:prstGeom>
          <a:solidFill>
            <a:srgbClr val="D97706"/>
          </a:solidFill>
          <a:ln w="12700">
            <a:solidFill>
              <a:srgbClr val="D97706"/>
            </a:solidFill>
            <a:prstDash val="solid"/>
          </a:ln>
        </p:spPr>
      </p:sp>
      <p:sp>
        <p:nvSpPr>
          <p:cNvPr id="42" name="Progress dialogs pill text"/>
          <p:cNvSpPr txBox="1"/>
          <p:nvPr/>
        </p:nvSpPr>
        <p:spPr>
          <a:xfrm>
            <a:off x="10195560" y="43434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Experimental</a:t>
            </a:r>
            <a:endParaRPr lang="en-US" sz="1000" dirty="0"/>
          </a:p>
        </p:txBody>
      </p:sp>
      <p:sp>
        <p:nvSpPr>
          <p:cNvPr id="43" name="Progress dialogs title"/>
          <p:cNvSpPr txBox="1"/>
          <p:nvPr/>
        </p:nvSpPr>
        <p:spPr>
          <a:xfrm>
            <a:off x="8321040" y="4892040"/>
            <a:ext cx="3017520" cy="365760"/>
          </a:xfrm>
          <a:prstGeom prst="rect">
            <a:avLst/>
          </a:prstGeom>
          <a:noFill/>
          <a:ln/>
        </p:spPr>
        <p:txBody>
          <a:bodyPr wrap="square" lIns="0" tIns="0" rIns="0" bIns="0" rtlCol="0" anchor="ctr"/>
          <a:lstStyle/>
          <a:p>
            <a:pPr indent="0" marL="0">
              <a:buNone/>
            </a:pPr>
            <a:r>
              <a:rPr lang="en-US" sz="1800" b="1" dirty="0">
                <a:solidFill>
                  <a:schemeClr val="tx2"/>
                </a:solidFill>
              </a:rPr>
              <a:t>Progress dialogs</a:t>
            </a:r>
            <a:endParaRPr lang="en-US" sz="1800" dirty="0"/>
          </a:p>
        </p:txBody>
      </p:sp>
      <p:sp>
        <p:nvSpPr>
          <p:cNvPr id="44" name="Progress dialogs body"/>
          <p:cNvSpPr txBox="1"/>
          <p:nvPr/>
        </p:nvSpPr>
        <p:spPr>
          <a:xfrm>
            <a:off x="8321040" y="5303520"/>
            <a:ext cx="3017520" cy="822960"/>
          </a:xfrm>
          <a:prstGeom prst="rect">
            <a:avLst/>
          </a:prstGeom>
          <a:noFill/>
          <a:ln/>
        </p:spPr>
        <p:txBody>
          <a:bodyPr wrap="square" lIns="0" tIns="0" rIns="0" bIns="0" rtlCol="0" anchor="t"/>
          <a:lstStyle/>
          <a:p>
            <a:pPr indent="0" marL="0">
              <a:buNone/>
            </a:pPr>
            <a:r>
              <a:rPr lang="en-US" sz="1400" dirty="0">
                <a:solidFill>
                  <a:schemeClr val="tx1"/>
                </a:solidFill>
              </a:rPr>
              <a:t>Show a progress dialog while a long command runs, with optional cancel</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 fresh look and sharper filtering</a:t>
            </a:r>
            <a:endParaRPr lang="en-US" sz="3400" dirty="0"/>
          </a:p>
        </p:txBody>
      </p:sp>
      <p:sp>
        <p:nvSpPr>
          <p:cNvPr id="3" name="Refresh card"/>
          <p:cNvSpPr/>
          <p:nvPr/>
        </p:nvSpPr>
        <p:spPr>
          <a:xfrm>
            <a:off x="548640" y="1325880"/>
            <a:ext cx="4754880" cy="4846320"/>
          </a:xfrm>
          <a:prstGeom prst="roundRect">
            <a:avLst>
              <a:gd name="adj" fmla="val 1923"/>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4" name="Refresh title"/>
          <p:cNvSpPr txBox="1"/>
          <p:nvPr/>
        </p:nvSpPr>
        <p:spPr>
          <a:xfrm>
            <a:off x="868680" y="1600200"/>
            <a:ext cx="4114800" cy="411480"/>
          </a:xfrm>
          <a:prstGeom prst="rect">
            <a:avLst/>
          </a:prstGeom>
          <a:noFill/>
          <a:ln/>
        </p:spPr>
        <p:txBody>
          <a:bodyPr wrap="square" lIns="0" tIns="0" rIns="0" bIns="0" rtlCol="0" anchor="ctr"/>
          <a:lstStyle/>
          <a:p>
            <a:pPr indent="0" marL="0">
              <a:buNone/>
            </a:pPr>
            <a:r>
              <a:rPr lang="en-US" sz="2200" b="1" dirty="0">
                <a:solidFill>
                  <a:schemeClr val="tx2"/>
                </a:solidFill>
              </a:rPr>
              <a:t>Refreshed UI</a:t>
            </a:r>
            <a:endParaRPr lang="en-US" sz="2200" dirty="0"/>
          </a:p>
        </p:txBody>
      </p:sp>
      <p:sp>
        <p:nvSpPr>
          <p:cNvPr id="5" name="Refresh bullets"/>
          <p:cNvSpPr txBox="1"/>
          <p:nvPr/>
        </p:nvSpPr>
        <p:spPr>
          <a:xfrm>
            <a:off x="868680" y="2148840"/>
            <a:ext cx="4206240" cy="37490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Official Aspire colors and logo in light and dark themes</a:t>
            </a:r>
            <a:endParaRPr lang="en-US" sz="1500" dirty="0"/>
          </a:p>
          <a:p>
            <a:pPr marL="342900" indent="-342900">
              <a:spcAft>
                <a:spcPts val="1000"/>
              </a:spcAft>
              <a:buSzPct val="100000"/>
              <a:buChar char="•"/>
            </a:pPr>
            <a:r>
              <a:rPr lang="en-US" sz="1500" dirty="0">
                <a:solidFill>
                  <a:schemeClr val="tx1"/>
                </a:solidFill>
              </a:rPr>
              <a:t>Built on a new design-token system (shared named values for colors and spacing)</a:t>
            </a:r>
            <a:endParaRPr lang="en-US" sz="1500" dirty="0"/>
          </a:p>
          <a:p>
            <a:pPr marL="342900" indent="-342900">
              <a:spcAft>
                <a:spcPts val="1000"/>
              </a:spcAft>
              <a:buSzPct val="100000"/>
              <a:buChar char="•"/>
            </a:pPr>
            <a:r>
              <a:rPr lang="en-US" sz="1500" dirty="0">
                <a:solidFill>
                  <a:schemeClr val="tx1"/>
                </a:solidFill>
              </a:rPr>
              <a:t>Contrast checked to WCAG AA, a common accessibility standard</a:t>
            </a:r>
            <a:endParaRPr lang="en-US" sz="1500" dirty="0"/>
          </a:p>
          <a:p>
            <a:pPr marL="342900" indent="-342900">
              <a:spcAft>
                <a:spcPts val="1000"/>
              </a:spcAft>
              <a:buSzPct val="100000"/>
              <a:buChar char="•"/>
            </a:pPr>
            <a:r>
              <a:rPr lang="en-US" sz="1500" dirty="0">
                <a:solidFill>
                  <a:schemeClr val="tx1"/>
                </a:solidFill>
              </a:rPr>
              <a:t>Same layout as before, so everything is where you expect it</a:t>
            </a:r>
            <a:endParaRPr lang="en-US" sz="1500" dirty="0"/>
          </a:p>
          <a:p>
            <a:pPr marL="342900" indent="-342900">
              <a:spcAft>
                <a:spcPts val="1000"/>
              </a:spcAft>
              <a:buSzPct val="100000"/>
              <a:buChar char="•"/>
            </a:pPr>
            <a:r>
              <a:rPr lang="en-US" sz="1500" dirty="0">
                <a:solidFill>
                  <a:schemeClr val="tx1"/>
                </a:solidFill>
              </a:rPr>
              <a:t>Friendlier health-check error messages instead of raw stack traces</a:t>
            </a:r>
            <a:endParaRPr lang="en-US" sz="1500" dirty="0"/>
          </a:p>
        </p:txBody>
      </p:sp>
      <p:sp>
        <p:nvSpPr>
          <p:cNvPr id="6" name="Filter by timestamp circle"/>
          <p:cNvSpPr/>
          <p:nvPr/>
        </p:nvSpPr>
        <p:spPr>
          <a:xfrm>
            <a:off x="5760720" y="1371600"/>
            <a:ext cx="731520" cy="731520"/>
          </a:xfrm>
          <a:prstGeom prst="ellipse">
            <a:avLst/>
          </a:prstGeom>
          <a:solidFill>
            <a:schemeClr val="bg2"/>
          </a:solidFill>
          <a:ln w="12700">
            <a:solidFill>
              <a:schemeClr val="bg2"/>
            </a:solidFill>
            <a:prstDash val="solid"/>
          </a:ln>
        </p:spPr>
      </p:sp>
      <p:pic>
        <p:nvPicPr>
          <p:cNvPr id="7" name="Filter by timestamp icon" descr="preencoded.png">    </p:cNvPr>
          <p:cNvPicPr>
            <a:picLocks noChangeAspect="1"/>
          </p:cNvPicPr>
          <p:nvPr/>
        </p:nvPicPr>
        <p:blipFill>
          <a:blip r:embed="rId1"/>
          <a:stretch>
            <a:fillRect/>
          </a:stretch>
        </p:blipFill>
        <p:spPr>
          <a:xfrm>
            <a:off x="5943600" y="1554480"/>
            <a:ext cx="365760" cy="365760"/>
          </a:xfrm>
          <a:prstGeom prst="rect">
            <a:avLst/>
          </a:prstGeom>
        </p:spPr>
      </p:pic>
      <p:sp>
        <p:nvSpPr>
          <p:cNvPr id="8" name="Filter by timestamp title"/>
          <p:cNvSpPr txBox="1"/>
          <p:nvPr/>
        </p:nvSpPr>
        <p:spPr>
          <a:xfrm>
            <a:off x="6720840" y="1353312"/>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Filter by timestamp</a:t>
            </a:r>
            <a:endParaRPr lang="en-US" sz="1700" dirty="0"/>
          </a:p>
        </p:txBody>
      </p:sp>
      <p:sp>
        <p:nvSpPr>
          <p:cNvPr id="9" name="Filter by timestamp body"/>
          <p:cNvSpPr txBox="1"/>
          <p:nvPr/>
        </p:nvSpPr>
        <p:spPr>
          <a:xfrm>
            <a:off x="6720840" y="1737360"/>
            <a:ext cx="4892040" cy="640080"/>
          </a:xfrm>
          <a:prstGeom prst="rect">
            <a:avLst/>
          </a:prstGeom>
          <a:noFill/>
          <a:ln/>
        </p:spPr>
        <p:txBody>
          <a:bodyPr wrap="square" lIns="0" tIns="0" rIns="0" bIns="0" rtlCol="0" anchor="t"/>
          <a:lstStyle/>
          <a:p>
            <a:pPr indent="0" marL="0">
              <a:buNone/>
            </a:pPr>
            <a:r>
              <a:rPr lang="en-US" sz="1400" dirty="0">
                <a:solidFill>
                  <a:schemeClr val="tx1"/>
                </a:solidFill>
              </a:rPr>
              <a:t>A dedicated search qualifier narrows logs and traces to a time range</a:t>
            </a:r>
            <a:endParaRPr lang="en-US" sz="1400" dirty="0"/>
          </a:p>
        </p:txBody>
      </p:sp>
      <p:sp>
        <p:nvSpPr>
          <p:cNvPr id="10" name="Exact numeric matching circle"/>
          <p:cNvSpPr/>
          <p:nvPr/>
        </p:nvSpPr>
        <p:spPr>
          <a:xfrm>
            <a:off x="5760720" y="2587752"/>
            <a:ext cx="731520" cy="731520"/>
          </a:xfrm>
          <a:prstGeom prst="ellipse">
            <a:avLst/>
          </a:prstGeom>
          <a:solidFill>
            <a:schemeClr val="bg2"/>
          </a:solidFill>
          <a:ln w="12700">
            <a:solidFill>
              <a:schemeClr val="bg2"/>
            </a:solidFill>
            <a:prstDash val="solid"/>
          </a:ln>
        </p:spPr>
      </p:sp>
      <p:pic>
        <p:nvPicPr>
          <p:cNvPr id="11" name="Exact numeric matching icon" descr="preencoded.png">    </p:cNvPr>
          <p:cNvPicPr>
            <a:picLocks noChangeAspect="1"/>
          </p:cNvPicPr>
          <p:nvPr/>
        </p:nvPicPr>
        <p:blipFill>
          <a:blip r:embed="rId2"/>
          <a:stretch>
            <a:fillRect/>
          </a:stretch>
        </p:blipFill>
        <p:spPr>
          <a:xfrm>
            <a:off x="5943600" y="2770632"/>
            <a:ext cx="365760" cy="365760"/>
          </a:xfrm>
          <a:prstGeom prst="rect">
            <a:avLst/>
          </a:prstGeom>
        </p:spPr>
      </p:pic>
      <p:sp>
        <p:nvSpPr>
          <p:cNvPr id="12" name="Exact numeric matching title"/>
          <p:cNvSpPr txBox="1"/>
          <p:nvPr/>
        </p:nvSpPr>
        <p:spPr>
          <a:xfrm>
            <a:off x="6720840" y="2569464"/>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Exact numeric matching</a:t>
            </a:r>
            <a:endParaRPr lang="en-US" sz="1700" dirty="0"/>
          </a:p>
        </p:txBody>
      </p:sp>
      <p:sp>
        <p:nvSpPr>
          <p:cNvPr id="13" name="Exact numeric matching body"/>
          <p:cNvSpPr txBox="1"/>
          <p:nvPr/>
        </p:nvSpPr>
        <p:spPr>
          <a:xfrm>
            <a:off x="6720840" y="2953512"/>
            <a:ext cx="4892040" cy="640080"/>
          </a:xfrm>
          <a:prstGeom prst="rect">
            <a:avLst/>
          </a:prstGeom>
          <a:noFill/>
          <a:ln/>
        </p:spPr>
        <p:txBody>
          <a:bodyPr wrap="square" lIns="0" tIns="0" rIns="0" bIns="0" rtlCol="0" anchor="t"/>
          <a:lstStyle/>
          <a:p>
            <a:pPr indent="0" marL="0">
              <a:buNone/>
            </a:pPr>
            <a:r>
              <a:rPr lang="en-US" sz="1400" dirty="0">
                <a:solidFill>
                  <a:schemeClr val="tx1"/>
                </a:solidFill>
              </a:rPr>
              <a:t>New == and != operators match exact values (for example, a status code)</a:t>
            </a:r>
            <a:endParaRPr lang="en-US" sz="1400" dirty="0"/>
          </a:p>
        </p:txBody>
      </p:sp>
      <p:sp>
        <p:nvSpPr>
          <p:cNvPr id="14" name="Search console logs circle"/>
          <p:cNvSpPr/>
          <p:nvPr/>
        </p:nvSpPr>
        <p:spPr>
          <a:xfrm>
            <a:off x="5760720" y="3803904"/>
            <a:ext cx="731520" cy="731520"/>
          </a:xfrm>
          <a:prstGeom prst="ellipse">
            <a:avLst/>
          </a:prstGeom>
          <a:solidFill>
            <a:schemeClr val="bg2"/>
          </a:solidFill>
          <a:ln w="12700">
            <a:solidFill>
              <a:schemeClr val="bg2"/>
            </a:solidFill>
            <a:prstDash val="solid"/>
          </a:ln>
        </p:spPr>
      </p:sp>
      <p:pic>
        <p:nvPicPr>
          <p:cNvPr id="15" name="Search console logs icon" descr="preencoded.png">    </p:cNvPr>
          <p:cNvPicPr>
            <a:picLocks noChangeAspect="1"/>
          </p:cNvPicPr>
          <p:nvPr/>
        </p:nvPicPr>
        <p:blipFill>
          <a:blip r:embed="rId3"/>
          <a:stretch>
            <a:fillRect/>
          </a:stretch>
        </p:blipFill>
        <p:spPr>
          <a:xfrm>
            <a:off x="5943600" y="3986784"/>
            <a:ext cx="365760" cy="365760"/>
          </a:xfrm>
          <a:prstGeom prst="rect">
            <a:avLst/>
          </a:prstGeom>
        </p:spPr>
      </p:pic>
      <p:sp>
        <p:nvSpPr>
          <p:cNvPr id="16" name="Search console logs title"/>
          <p:cNvSpPr txBox="1"/>
          <p:nvPr/>
        </p:nvSpPr>
        <p:spPr>
          <a:xfrm>
            <a:off x="6720840" y="3785616"/>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Search console logs</a:t>
            </a:r>
            <a:endParaRPr lang="en-US" sz="1700" dirty="0"/>
          </a:p>
        </p:txBody>
      </p:sp>
      <p:sp>
        <p:nvSpPr>
          <p:cNvPr id="17" name="Search console logs body"/>
          <p:cNvSpPr txBox="1"/>
          <p:nvPr/>
        </p:nvSpPr>
        <p:spPr>
          <a:xfrm>
            <a:off x="6720840" y="4169664"/>
            <a:ext cx="4892040" cy="640080"/>
          </a:xfrm>
          <a:prstGeom prst="rect">
            <a:avLst/>
          </a:prstGeom>
          <a:noFill/>
          <a:ln/>
        </p:spPr>
        <p:txBody>
          <a:bodyPr wrap="square" lIns="0" tIns="0" rIns="0" bIns="0" rtlCol="0" anchor="t"/>
          <a:lstStyle/>
          <a:p>
            <a:pPr indent="0" marL="0">
              <a:buNone/>
            </a:pPr>
            <a:r>
              <a:rPr lang="en-US" sz="1400" dirty="0">
                <a:solidFill>
                  <a:schemeClr val="tx1"/>
                </a:solidFill>
              </a:rPr>
              <a:t>Filter console output by text; the search is case-insensitive</a:t>
            </a:r>
            <a:endParaRPr lang="en-US" sz="1400" dirty="0"/>
          </a:p>
        </p:txBody>
      </p:sp>
      <p:sp>
        <p:nvSpPr>
          <p:cNvPr id="18" name="Clearer reconnects circle"/>
          <p:cNvSpPr/>
          <p:nvPr/>
        </p:nvSpPr>
        <p:spPr>
          <a:xfrm>
            <a:off x="5760720" y="5020056"/>
            <a:ext cx="731520" cy="731520"/>
          </a:xfrm>
          <a:prstGeom prst="ellipse">
            <a:avLst/>
          </a:prstGeom>
          <a:solidFill>
            <a:schemeClr val="bg2"/>
          </a:solidFill>
          <a:ln w="12700">
            <a:solidFill>
              <a:schemeClr val="bg2"/>
            </a:solidFill>
            <a:prstDash val="solid"/>
          </a:ln>
        </p:spPr>
      </p:sp>
      <p:pic>
        <p:nvPicPr>
          <p:cNvPr id="19" name="Clearer reconnects icon" descr="preencoded.png">    </p:cNvPr>
          <p:cNvPicPr>
            <a:picLocks noChangeAspect="1"/>
          </p:cNvPicPr>
          <p:nvPr/>
        </p:nvPicPr>
        <p:blipFill>
          <a:blip r:embed="rId4"/>
          <a:stretch>
            <a:fillRect/>
          </a:stretch>
        </p:blipFill>
        <p:spPr>
          <a:xfrm>
            <a:off x="5943600" y="5202936"/>
            <a:ext cx="365760" cy="365760"/>
          </a:xfrm>
          <a:prstGeom prst="rect">
            <a:avLst/>
          </a:prstGeom>
        </p:spPr>
      </p:pic>
      <p:sp>
        <p:nvSpPr>
          <p:cNvPr id="20" name="Clearer reconnects title"/>
          <p:cNvSpPr txBox="1"/>
          <p:nvPr/>
        </p:nvSpPr>
        <p:spPr>
          <a:xfrm>
            <a:off x="6720840" y="5001768"/>
            <a:ext cx="4892040" cy="365760"/>
          </a:xfrm>
          <a:prstGeom prst="rect">
            <a:avLst/>
          </a:prstGeom>
          <a:noFill/>
          <a:ln/>
        </p:spPr>
        <p:txBody>
          <a:bodyPr wrap="square" lIns="0" tIns="0" rIns="0" bIns="0" rtlCol="0" anchor="ctr"/>
          <a:lstStyle/>
          <a:p>
            <a:pPr indent="0" marL="0">
              <a:buNone/>
            </a:pPr>
            <a:r>
              <a:rPr lang="en-US" sz="1700" b="1" dirty="0">
                <a:solidFill>
                  <a:schemeClr val="tx2"/>
                </a:solidFill>
              </a:rPr>
              <a:t>Clearer reconnects</a:t>
            </a:r>
            <a:endParaRPr lang="en-US" sz="1700" dirty="0"/>
          </a:p>
        </p:txBody>
      </p:sp>
      <p:sp>
        <p:nvSpPr>
          <p:cNvPr id="21" name="Clearer reconnects body"/>
          <p:cNvSpPr txBox="1"/>
          <p:nvPr/>
        </p:nvSpPr>
        <p:spPr>
          <a:xfrm>
            <a:off x="6720840" y="5385816"/>
            <a:ext cx="4892040" cy="640080"/>
          </a:xfrm>
          <a:prstGeom prst="rect">
            <a:avLst/>
          </a:prstGeom>
          <a:noFill/>
          <a:ln/>
        </p:spPr>
        <p:txBody>
          <a:bodyPr wrap="square" lIns="0" tIns="0" rIns="0" bIns="0" rtlCol="0" anchor="t"/>
          <a:lstStyle/>
          <a:p>
            <a:pPr indent="0" marL="0">
              <a:buNone/>
            </a:pPr>
            <a:r>
              <a:rPr lang="en-US" sz="1400" dirty="0">
                <a:solidFill>
                  <a:schemeClr val="tx1"/>
                </a:solidFill>
              </a:rPr>
              <a:t>A clearer dialog when the dashboard loses its AppHost connection</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Add an interactive terminal: WithTerminal()</a:t>
            </a:r>
            <a:endParaRPr lang="en-US" sz="3400" dirty="0"/>
          </a:p>
        </p:txBody>
      </p:sp>
      <p:sp>
        <p:nvSpPr>
          <p:cNvPr id="3" name="Terminal CS panel"/>
          <p:cNvSpPr/>
          <p:nvPr/>
        </p:nvSpPr>
        <p:spPr>
          <a:xfrm>
            <a:off x="548640" y="1325880"/>
            <a:ext cx="6949440" cy="3840480"/>
          </a:xfrm>
          <a:prstGeom prst="roundRect">
            <a:avLst>
              <a:gd name="adj" fmla="val 1905"/>
            </a:avLst>
          </a:prstGeom>
          <a:solidFill>
            <a:srgbClr val="1C1830"/>
          </a:solidFill>
          <a:ln w="12700">
            <a:solidFill>
              <a:srgbClr val="1C1830"/>
            </a:solidFill>
            <a:prstDash val="solid"/>
          </a:ln>
        </p:spPr>
      </p:sp>
      <p:sp>
        <p:nvSpPr>
          <p:cNvPr id="4" name="Terminal CS label"/>
          <p:cNvSpPr txBox="1"/>
          <p:nvPr/>
        </p:nvSpPr>
        <p:spPr>
          <a:xfrm>
            <a:off x="777240" y="141732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Terminal CS text"/>
          <p:cNvSpPr txBox="1"/>
          <p:nvPr/>
        </p:nvSpPr>
        <p:spPr>
          <a:xfrm>
            <a:off x="777240" y="1737360"/>
            <a:ext cx="6492240" cy="3337560"/>
          </a:xfrm>
          <a:prstGeom prst="rect">
            <a:avLst/>
          </a:prstGeom>
          <a:noFill/>
          <a:ln/>
        </p:spPr>
        <p:txBody>
          <a:bodyPr wrap="square" lIns="0" tIns="0" rIns="0" bIns="0" rtlCol="0" anchor="t"/>
          <a:lstStyle/>
          <a:p>
            <a:pPr indent="0" marL="0">
              <a:buNone/>
            </a:pPr>
            <a:r>
              <a:rPr lang="en-US" sz="1300" i="1" dirty="0">
                <a:solidFill>
                  <a:srgbClr val="8B87A3"/>
                </a:solidFill>
                <a:latin typeface="Courier New" pitchFamily="34" charset="0"/>
                <a:ea typeface="Courier New" pitchFamily="34" charset="-122"/>
                <a:cs typeface="Courier New" pitchFamily="34" charset="-120"/>
              </a:rPr>
              <a:t>#pragma warning disable ASPIRETERMINAL001 // experimental API</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var</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7CC7FF"/>
                </a:solidFill>
                <a:latin typeface="Courier New" pitchFamily="34" charset="0"/>
                <a:ea typeface="Courier New" pitchFamily="34" charset="-122"/>
                <a:cs typeface="Courier New" pitchFamily="34" charset="-120"/>
              </a:rPr>
              <a:t>DistributedApplication</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args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AddContainer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"db"</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"postgres"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WithTerminal</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options</a:t>
            </a:r>
            <a:pPr indent="0" marL="0">
              <a:buNone/>
            </a:pPr>
            <a:r>
              <a:rPr lang="en-US" sz="1300" dirty="0">
                <a:solidFill>
                  <a:srgbClr val="E8E6F0"/>
                </a:solidFill>
                <a:latin typeface="Courier New" pitchFamily="34" charset="0"/>
                <a:ea typeface="Courier New" pitchFamily="34" charset="-122"/>
                <a:cs typeface="Courier New" pitchFamily="34" charset="-120"/>
              </a:rPr>
              <a:t> =&gt;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options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Columns</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F8C77A"/>
                </a:solidFill>
                <a:latin typeface="Courier New" pitchFamily="34" charset="0"/>
                <a:ea typeface="Courier New" pitchFamily="34" charset="-122"/>
                <a:cs typeface="Courier New" pitchFamily="34" charset="-120"/>
              </a:rPr>
              <a:t>200</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i="1" dirty="0">
                <a:solidFill>
                  <a:srgbClr val="8B87A3"/>
                </a:solidFill>
                <a:latin typeface="Courier New" pitchFamily="34" charset="0"/>
                <a:ea typeface="Courier New" pitchFamily="34" charset="-122"/>
                <a:cs typeface="Courier New" pitchFamily="34" charset="-120"/>
              </a:rPr>
              <a:t>// default is 120</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options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Rows</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F8C77A"/>
                </a:solidFill>
                <a:latin typeface="Courier New" pitchFamily="34" charset="0"/>
                <a:ea typeface="Courier New" pitchFamily="34" charset="-122"/>
                <a:cs typeface="Courier New" pitchFamily="34" charset="-120"/>
              </a:rPr>
              <a:t>50</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i="1" dirty="0">
                <a:solidFill>
                  <a:srgbClr val="8B87A3"/>
                </a:solidFill>
                <a:latin typeface="Courier New" pitchFamily="34" charset="0"/>
                <a:ea typeface="Courier New" pitchFamily="34" charset="-122"/>
                <a:cs typeface="Courier New" pitchFamily="34" charset="-120"/>
              </a:rPr>
              <a:t>// default is 30</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Build</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Run</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p:txBody>
      </p:sp>
      <p:sp>
        <p:nvSpPr>
          <p:cNvPr id="6" name="Terminal notes panel"/>
          <p:cNvSpPr/>
          <p:nvPr/>
        </p:nvSpPr>
        <p:spPr>
          <a:xfrm>
            <a:off x="7772400" y="1325880"/>
            <a:ext cx="3840480" cy="4846320"/>
          </a:xfrm>
          <a:prstGeom prst="roundRect">
            <a:avLst>
              <a:gd name="adj" fmla="val 2381"/>
            </a:avLst>
          </a:prstGeom>
          <a:solidFill>
            <a:schemeClr val="bg2"/>
          </a:solidFill>
          <a:ln w="12700">
            <a:solidFill>
              <a:schemeClr val="bg2"/>
            </a:solidFill>
            <a:prstDash val="solid"/>
          </a:ln>
        </p:spPr>
      </p:sp>
      <p:sp>
        <p:nvSpPr>
          <p:cNvPr id="7" name="Terminal notes text"/>
          <p:cNvSpPr txBox="1"/>
          <p:nvPr/>
        </p:nvSpPr>
        <p:spPr>
          <a:xfrm>
            <a:off x="8046720" y="1554480"/>
            <a:ext cx="3291840" cy="4389120"/>
          </a:xfrm>
          <a:prstGeom prst="rect">
            <a:avLst/>
          </a:prstGeom>
          <a:noFill/>
          <a:ln/>
        </p:spPr>
        <p:txBody>
          <a:bodyPr wrap="square" lIns="0" tIns="0" rIns="0" bIns="0" rtlCol="0" anchor="t"/>
          <a:lstStyle/>
          <a:p>
            <a:pPr indent="0" marL="0">
              <a:buNone/>
            </a:pPr>
            <a:r>
              <a:rPr lang="en-US" sz="1500" b="1" dirty="0">
                <a:solidFill>
                  <a:schemeClr val="tx2"/>
                </a:solidFill>
              </a:rPr>
              <a:t>What it does</a:t>
            </a:r>
            <a:endParaRPr lang="en-US" sz="1500" dirty="0"/>
          </a:p>
          <a:p>
            <a:pPr indent="0" marL="0">
              <a:spcAft>
                <a:spcPts val="1200"/>
              </a:spcAft>
              <a:buNone/>
            </a:pPr>
            <a:r>
              <a:rPr lang="en-US" sz="1400" dirty="0">
                <a:solidFill>
                  <a:schemeClr val="tx1"/>
                </a:solidFill>
              </a:rPr>
              <a:t>The resource gets a live terminal session you can type into from the dashboard: shells, REPLs (interactive prompts like psql or Python) and text-based apps.</a:t>
            </a:r>
            <a:endParaRPr lang="en-US" sz="1500" dirty="0"/>
          </a:p>
          <a:p>
            <a:pPr indent="0" marL="0">
              <a:buNone/>
            </a:pPr>
            <a:r>
              <a:rPr lang="en-US" sz="1500" b="1" dirty="0">
                <a:solidFill>
                  <a:schemeClr val="tx2"/>
                </a:solidFill>
              </a:rPr>
              <a:t>Opens automatically</a:t>
            </a:r>
            <a:endParaRPr lang="en-US" sz="1500" dirty="0"/>
          </a:p>
          <a:p>
            <a:pPr indent="0" marL="0">
              <a:spcAft>
                <a:spcPts val="1200"/>
              </a:spcAft>
              <a:buNone/>
            </a:pPr>
            <a:r>
              <a:rPr lang="en-US" sz="1400" dirty="0">
                <a:solidFill>
                  <a:schemeClr val="tx1"/>
                </a:solidFill>
              </a:rPr>
              <a:t>A running resource with a terminal opens in the terminal view. Before it is running, you see console logs instead.</a:t>
            </a:r>
            <a:endParaRPr lang="en-US" sz="1500" dirty="0"/>
          </a:p>
          <a:p>
            <a:pPr indent="0" marL="0">
              <a:buNone/>
            </a:pPr>
            <a:r>
              <a:rPr lang="en-US" sz="1500" b="1" dirty="0">
                <a:solidFill>
                  <a:schemeClr val="tx2"/>
                </a:solidFill>
              </a:rPr>
              <a:t>Many viewers</a:t>
            </a:r>
            <a:endParaRPr lang="en-US" sz="1500" dirty="0"/>
          </a:p>
          <a:p>
            <a:pPr indent="0" marL="0">
              <a:spcAft>
                <a:spcPts val="1200"/>
              </a:spcAft>
              <a:buNone/>
            </a:pPr>
            <a:r>
              <a:rPr lang="en-US" sz="1400" dirty="0">
                <a:solidFill>
                  <a:schemeClr val="tx1"/>
                </a:solidFill>
              </a:rPr>
              <a:t>Several people or tabs can attach to the same session.</a:t>
            </a:r>
            <a:endParaRPr lang="en-US" sz="1500" dirty="0"/>
          </a:p>
        </p:txBody>
      </p:sp>
      <p:pic>
        <p:nvPicPr>
          <p:cNvPr id="8" name="Experimental icon" descr="preencoded.png">    </p:cNvPr>
          <p:cNvPicPr>
            <a:picLocks noChangeAspect="1"/>
          </p:cNvPicPr>
          <p:nvPr/>
        </p:nvPicPr>
        <p:blipFill>
          <a:blip r:embed="rId1"/>
          <a:stretch>
            <a:fillRect/>
          </a:stretch>
        </p:blipFill>
        <p:spPr>
          <a:xfrm>
            <a:off x="548640" y="5440680"/>
            <a:ext cx="365760" cy="365760"/>
          </a:xfrm>
          <a:prstGeom prst="rect">
            <a:avLst/>
          </a:prstGeom>
        </p:spPr>
      </p:pic>
      <p:sp>
        <p:nvSpPr>
          <p:cNvPr id="9" name="Experimental note"/>
          <p:cNvSpPr txBox="1"/>
          <p:nvPr/>
        </p:nvSpPr>
        <p:spPr>
          <a:xfrm>
            <a:off x="1051560" y="5394960"/>
            <a:ext cx="6400800" cy="457200"/>
          </a:xfrm>
          <a:prstGeom prst="rect">
            <a:avLst/>
          </a:prstGeom>
          <a:noFill/>
          <a:ln/>
        </p:spPr>
        <p:txBody>
          <a:bodyPr wrap="square" lIns="0" tIns="0" rIns="0" bIns="0" rtlCol="0" anchor="ctr"/>
          <a:lstStyle/>
          <a:p>
            <a:pPr indent="0" marL="0">
              <a:buNone/>
            </a:pPr>
            <a:r>
              <a:rPr lang="en-US" sz="1400" dirty="0">
                <a:solidFill>
                  <a:schemeClr val="tx1"/>
                </a:solidFill>
              </a:rPr>
              <a:t>Experimental: C# must suppress ASPIRETERMINAL001, and the API may change.</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it looks like: the terminal view</a:t>
            </a:r>
            <a:endParaRPr lang="en-US" sz="3400" dirty="0"/>
          </a:p>
        </p:txBody>
      </p:sp>
      <p:sp>
        <p:nvSpPr>
          <p:cNvPr id="3" name="Mock box 1"/>
          <p:cNvSpPr/>
          <p:nvPr/>
        </p:nvSpPr>
        <p:spPr>
          <a:xfrm>
            <a:off x="548640" y="1234440"/>
            <a:ext cx="7680960" cy="4572000"/>
          </a:xfrm>
          <a:prstGeom prst="roundRect">
            <a:avLst>
              <a:gd name="adj" fmla="val 2000"/>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4" name="Mock rect 2"/>
          <p:cNvSpPr/>
          <p:nvPr/>
        </p:nvSpPr>
        <p:spPr>
          <a:xfrm>
            <a:off x="566928" y="1252728"/>
            <a:ext cx="7644384" cy="329184"/>
          </a:xfrm>
          <a:prstGeom prst="rect">
            <a:avLst/>
          </a:prstGeom>
          <a:solidFill>
            <a:srgbClr val="F2EEFB"/>
          </a:solidFill>
          <a:ln w="12700">
            <a:solidFill>
              <a:srgbClr val="F2EEFB"/>
            </a:solidFill>
            <a:prstDash val="solid"/>
          </a:ln>
        </p:spPr>
      </p:sp>
      <p:sp>
        <p:nvSpPr>
          <p:cNvPr id="5" name="Window dot 3"/>
          <p:cNvSpPr/>
          <p:nvPr/>
        </p:nvSpPr>
        <p:spPr>
          <a:xfrm>
            <a:off x="685800" y="1353312"/>
            <a:ext cx="100584" cy="100584"/>
          </a:xfrm>
          <a:prstGeom prst="ellipse">
            <a:avLst/>
          </a:prstGeom>
          <a:solidFill>
            <a:srgbClr val="F87171"/>
          </a:solidFill>
          <a:ln w="12700">
            <a:solidFill>
              <a:srgbClr val="F87171"/>
            </a:solidFill>
            <a:prstDash val="solid"/>
          </a:ln>
        </p:spPr>
      </p:sp>
      <p:sp>
        <p:nvSpPr>
          <p:cNvPr id="6" name="Window dot 4"/>
          <p:cNvSpPr/>
          <p:nvPr/>
        </p:nvSpPr>
        <p:spPr>
          <a:xfrm>
            <a:off x="850392" y="1353312"/>
            <a:ext cx="100584" cy="100584"/>
          </a:xfrm>
          <a:prstGeom prst="ellipse">
            <a:avLst/>
          </a:prstGeom>
          <a:solidFill>
            <a:srgbClr val="FBBF24"/>
          </a:solidFill>
          <a:ln w="12700">
            <a:solidFill>
              <a:srgbClr val="FBBF24"/>
            </a:solidFill>
            <a:prstDash val="solid"/>
          </a:ln>
        </p:spPr>
      </p:sp>
      <p:sp>
        <p:nvSpPr>
          <p:cNvPr id="7" name="Window dot 5"/>
          <p:cNvSpPr/>
          <p:nvPr/>
        </p:nvSpPr>
        <p:spPr>
          <a:xfrm>
            <a:off x="1014984" y="1353312"/>
            <a:ext cx="100584" cy="100584"/>
          </a:xfrm>
          <a:prstGeom prst="ellipse">
            <a:avLst/>
          </a:prstGeom>
          <a:solidFill>
            <a:srgbClr val="34D399"/>
          </a:solidFill>
          <a:ln w="12700">
            <a:solidFill>
              <a:srgbClr val="34D399"/>
            </a:solidFill>
            <a:prstDash val="solid"/>
          </a:ln>
        </p:spPr>
      </p:sp>
      <p:sp>
        <p:nvSpPr>
          <p:cNvPr id="8" name="Mock box 6"/>
          <p:cNvSpPr/>
          <p:nvPr/>
        </p:nvSpPr>
        <p:spPr>
          <a:xfrm>
            <a:off x="1280160" y="1307592"/>
            <a:ext cx="2377440" cy="201168"/>
          </a:xfrm>
          <a:prstGeom prst="roundRect">
            <a:avLst>
              <a:gd name="adj" fmla="val 45455"/>
            </a:avLst>
          </a:prstGeom>
          <a:solidFill>
            <a:srgbClr val="FFFFFF"/>
          </a:solidFill>
          <a:ln w="12700">
            <a:solidFill>
              <a:srgbClr val="E4DEF5"/>
            </a:solidFill>
            <a:prstDash val="solid"/>
          </a:ln>
        </p:spPr>
      </p:sp>
      <p:sp>
        <p:nvSpPr>
          <p:cNvPr id="9" name="Mock text 7"/>
          <p:cNvSpPr txBox="1"/>
          <p:nvPr/>
        </p:nvSpPr>
        <p:spPr>
          <a:xfrm>
            <a:off x="1371600" y="13075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10" name="Mock rect 8"/>
          <p:cNvSpPr/>
          <p:nvPr/>
        </p:nvSpPr>
        <p:spPr>
          <a:xfrm>
            <a:off x="566928" y="1581912"/>
            <a:ext cx="868680" cy="4206240"/>
          </a:xfrm>
          <a:prstGeom prst="rect">
            <a:avLst/>
          </a:prstGeom>
          <a:solidFill>
            <a:srgbClr val="FBFAFF"/>
          </a:solidFill>
          <a:ln w="12700">
            <a:solidFill>
              <a:srgbClr val="FBFAFF"/>
            </a:solidFill>
            <a:prstDash val="solid"/>
          </a:ln>
        </p:spPr>
      </p:sp>
      <p:sp>
        <p:nvSpPr>
          <p:cNvPr id="11" name="Mock text 9"/>
          <p:cNvSpPr txBox="1"/>
          <p:nvPr/>
        </p:nvSpPr>
        <p:spPr>
          <a:xfrm>
            <a:off x="685800" y="16733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12" name="Mock box 10"/>
          <p:cNvSpPr/>
          <p:nvPr/>
        </p:nvSpPr>
        <p:spPr>
          <a:xfrm>
            <a:off x="621792" y="2039112"/>
            <a:ext cx="740664" cy="256032"/>
          </a:xfrm>
          <a:prstGeom prst="roundRect">
            <a:avLst>
              <a:gd name="adj" fmla="val 28571"/>
            </a:avLst>
          </a:prstGeom>
          <a:solidFill>
            <a:srgbClr val="E9E2FC"/>
          </a:solidFill>
          <a:ln w="12700">
            <a:solidFill>
              <a:srgbClr val="E9E2FC"/>
            </a:solidFill>
            <a:prstDash val="solid"/>
          </a:ln>
        </p:spPr>
      </p:sp>
      <p:sp>
        <p:nvSpPr>
          <p:cNvPr id="13" name="Mock text 11"/>
          <p:cNvSpPr txBox="1"/>
          <p:nvPr/>
        </p:nvSpPr>
        <p:spPr>
          <a:xfrm>
            <a:off x="694944" y="20391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14" name="Mock text 12"/>
          <p:cNvSpPr txBox="1"/>
          <p:nvPr/>
        </p:nvSpPr>
        <p:spPr>
          <a:xfrm>
            <a:off x="694944" y="23682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15" name="Mock text 13"/>
          <p:cNvSpPr txBox="1"/>
          <p:nvPr/>
        </p:nvSpPr>
        <p:spPr>
          <a:xfrm>
            <a:off x="694944" y="26974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16" name="Mock text 14"/>
          <p:cNvSpPr txBox="1"/>
          <p:nvPr/>
        </p:nvSpPr>
        <p:spPr>
          <a:xfrm>
            <a:off x="694944" y="30266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17" name="Mock text 15"/>
          <p:cNvSpPr txBox="1"/>
          <p:nvPr/>
        </p:nvSpPr>
        <p:spPr>
          <a:xfrm>
            <a:off x="694944" y="33558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18" name="Mock text 16"/>
          <p:cNvSpPr txBox="1"/>
          <p:nvPr/>
        </p:nvSpPr>
        <p:spPr>
          <a:xfrm>
            <a:off x="1618488" y="1691640"/>
            <a:ext cx="9144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db</a:t>
            </a:r>
            <a:endParaRPr lang="en-US" sz="1400" dirty="0"/>
          </a:p>
        </p:txBody>
      </p:sp>
      <p:sp>
        <p:nvSpPr>
          <p:cNvPr id="19" name="Running dot"/>
          <p:cNvSpPr/>
          <p:nvPr/>
        </p:nvSpPr>
        <p:spPr>
          <a:xfrm>
            <a:off x="2029968" y="1810512"/>
            <a:ext cx="91440" cy="91440"/>
          </a:xfrm>
          <a:prstGeom prst="ellipse">
            <a:avLst/>
          </a:prstGeom>
          <a:solidFill>
            <a:srgbClr val="22A06B"/>
          </a:solidFill>
          <a:ln w="12700">
            <a:solidFill>
              <a:srgbClr val="22A06B"/>
            </a:solidFill>
            <a:prstDash val="solid"/>
          </a:ln>
        </p:spPr>
      </p:sp>
      <p:sp>
        <p:nvSpPr>
          <p:cNvPr id="20" name="Mock text 17"/>
          <p:cNvSpPr txBox="1"/>
          <p:nvPr/>
        </p:nvSpPr>
        <p:spPr>
          <a:xfrm>
            <a:off x="2185416" y="1691640"/>
            <a:ext cx="2286000" cy="320040"/>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Running  ·  postgres</a:t>
            </a:r>
            <a:endParaRPr lang="en-US" sz="1050" dirty="0"/>
          </a:p>
        </p:txBody>
      </p:sp>
      <p:sp>
        <p:nvSpPr>
          <p:cNvPr id="21" name="Mock text 18"/>
          <p:cNvSpPr txBox="1"/>
          <p:nvPr/>
        </p:nvSpPr>
        <p:spPr>
          <a:xfrm>
            <a:off x="1618488" y="2084832"/>
            <a:ext cx="1143000" cy="274320"/>
          </a:xfrm>
          <a:prstGeom prst="rect">
            <a:avLst/>
          </a:prstGeom>
          <a:noFill/>
          <a:ln/>
        </p:spPr>
        <p:txBody>
          <a:bodyPr wrap="square" lIns="0" tIns="0" rIns="0" bIns="0" rtlCol="0" anchor="ctr"/>
          <a:lstStyle/>
          <a:p>
            <a:pPr algn="ctr" indent="0" marL="0">
              <a:buNone/>
            </a:pPr>
            <a:r>
              <a:rPr lang="en-US" sz="1050" dirty="0">
                <a:solidFill>
                  <a:srgbClr val="6B6785"/>
                </a:solidFill>
                <a:latin typeface="Calibri" pitchFamily="34" charset="0"/>
                <a:ea typeface="Calibri" pitchFamily="34" charset="-122"/>
                <a:cs typeface="Calibri" pitchFamily="34" charset="-120"/>
              </a:rPr>
              <a:t>Console logs</a:t>
            </a:r>
            <a:endParaRPr lang="en-US" sz="1050" dirty="0"/>
          </a:p>
        </p:txBody>
      </p:sp>
      <p:sp>
        <p:nvSpPr>
          <p:cNvPr id="22" name="Mock text 19"/>
          <p:cNvSpPr txBox="1"/>
          <p:nvPr/>
        </p:nvSpPr>
        <p:spPr>
          <a:xfrm>
            <a:off x="2852928" y="2084832"/>
            <a:ext cx="1143000" cy="274320"/>
          </a:xfrm>
          <a:prstGeom prst="rect">
            <a:avLst/>
          </a:prstGeom>
          <a:noFill/>
          <a:ln/>
        </p:spPr>
        <p:txBody>
          <a:bodyPr wrap="square" lIns="0" tIns="0" rIns="0" bIns="0" rtlCol="0" anchor="ctr"/>
          <a:lstStyle/>
          <a:p>
            <a:pPr algn="ctr" indent="0" marL="0">
              <a:buNone/>
            </a:pPr>
            <a:r>
              <a:rPr lang="en-US" sz="1050" b="1" dirty="0">
                <a:solidFill>
                  <a:schemeClr val="accent1"/>
                </a:solidFill>
                <a:latin typeface="Calibri" pitchFamily="34" charset="0"/>
                <a:ea typeface="Calibri" pitchFamily="34" charset="-122"/>
                <a:cs typeface="Calibri" pitchFamily="34" charset="-120"/>
              </a:rPr>
              <a:t>Terminal</a:t>
            </a:r>
            <a:endParaRPr lang="en-US" sz="1050" dirty="0"/>
          </a:p>
        </p:txBody>
      </p:sp>
      <p:sp>
        <p:nvSpPr>
          <p:cNvPr id="23" name="Mock rect 20"/>
          <p:cNvSpPr/>
          <p:nvPr/>
        </p:nvSpPr>
        <p:spPr>
          <a:xfrm>
            <a:off x="2990088" y="2368296"/>
            <a:ext cx="868680" cy="36576"/>
          </a:xfrm>
          <a:prstGeom prst="rect">
            <a:avLst/>
          </a:prstGeom>
          <a:solidFill>
            <a:schemeClr val="accent1"/>
          </a:solidFill>
          <a:ln w="12700">
            <a:solidFill>
              <a:schemeClr val="accent1"/>
            </a:solidFill>
            <a:prstDash val="solid"/>
          </a:ln>
        </p:spPr>
      </p:sp>
      <p:sp>
        <p:nvSpPr>
          <p:cNvPr id="24" name="Mock box 21"/>
          <p:cNvSpPr/>
          <p:nvPr/>
        </p:nvSpPr>
        <p:spPr>
          <a:xfrm>
            <a:off x="1618488" y="2496312"/>
            <a:ext cx="6409944" cy="3154680"/>
          </a:xfrm>
          <a:prstGeom prst="roundRect">
            <a:avLst>
              <a:gd name="adj" fmla="val 1449"/>
            </a:avLst>
          </a:prstGeom>
          <a:solidFill>
            <a:srgbClr val="1C1830"/>
          </a:solidFill>
          <a:ln w="12700">
            <a:solidFill>
              <a:srgbClr val="1C1830"/>
            </a:solidFill>
            <a:prstDash val="solid"/>
          </a:ln>
        </p:spPr>
      </p:sp>
      <p:sp>
        <p:nvSpPr>
          <p:cNvPr id="25" name="Terminal output"/>
          <p:cNvSpPr txBox="1"/>
          <p:nvPr/>
        </p:nvSpPr>
        <p:spPr>
          <a:xfrm>
            <a:off x="1801368" y="2633472"/>
            <a:ext cx="6044184" cy="2880360"/>
          </a:xfrm>
          <a:prstGeom prst="rect">
            <a:avLst/>
          </a:prstGeom>
          <a:noFill/>
          <a:ln/>
        </p:spPr>
        <p:txBody>
          <a:bodyPr wrap="square" lIns="0" tIns="0" rIns="0" bIns="0" rtlCol="0" anchor="t"/>
          <a:lstStyle/>
          <a:p>
            <a:pPr indent="0" marL="0">
              <a:buNone/>
            </a:pPr>
            <a:r>
              <a:rPr lang="en-US" sz="1200" dirty="0">
                <a:solidFill>
                  <a:srgbClr val="8B87A3"/>
                </a:solidFill>
                <a:latin typeface="Courier New" pitchFamily="34" charset="0"/>
                <a:ea typeface="Courier New" pitchFamily="34" charset="-122"/>
                <a:cs typeface="Courier New" pitchFamily="34" charset="-120"/>
              </a:rPr>
              <a:t>$ </a:t>
            </a:r>
            <a:pPr indent="0" marL="0">
              <a:buNone/>
            </a:pPr>
            <a:r>
              <a:rPr lang="en-US" sz="1200" dirty="0">
                <a:solidFill>
                  <a:srgbClr val="E8E6F0"/>
                </a:solidFill>
                <a:latin typeface="Courier New" pitchFamily="34" charset="0"/>
                <a:ea typeface="Courier New" pitchFamily="34" charset="-122"/>
                <a:cs typeface="Courier New" pitchFamily="34" charset="-120"/>
              </a:rPr>
              <a:t>psql -U postgres</a:t>
            </a:r>
            <a:endParaRPr lang="en-US" sz="1200" dirty="0"/>
          </a:p>
          <a:p>
            <a:pPr indent="0" marL="0">
              <a:buNone/>
            </a:pPr>
            <a:r>
              <a:rPr lang="en-US" sz="1200" dirty="0">
                <a:solidFill>
                  <a:srgbClr val="8B87A3"/>
                </a:solidFill>
                <a:latin typeface="Courier New" pitchFamily="34" charset="0"/>
                <a:ea typeface="Courier New" pitchFamily="34" charset="-122"/>
                <a:cs typeface="Courier New" pitchFamily="34" charset="-120"/>
              </a:rPr>
              <a:t>psql (16.x)</a:t>
            </a:r>
            <a:endParaRPr lang="en-US" sz="1200" dirty="0"/>
          </a:p>
          <a:p>
            <a:pPr indent="0" marL="0">
              <a:buNone/>
            </a:pPr>
            <a:r>
              <a:rPr lang="en-US" sz="1200" dirty="0">
                <a:solidFill>
                  <a:srgbClr val="8B87A3"/>
                </a:solidFill>
                <a:latin typeface="Courier New" pitchFamily="34" charset="0"/>
                <a:ea typeface="Courier New" pitchFamily="34" charset="-122"/>
                <a:cs typeface="Courier New" pitchFamily="34" charset="-120"/>
              </a:rPr>
              <a:t>Type "help" for help.</a:t>
            </a:r>
            <a:endParaRPr lang="en-US" sz="1200" dirty="0"/>
          </a:p>
          <a:p>
            <a:pPr indent="0" marL="0">
              <a:buNone/>
            </a:pPr>
            <a:r>
              <a:rPr lang="en-US" sz="1200" dirty="0">
                <a:solidFill>
                  <a:srgbClr val="E8E6F0"/>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E3B0"/>
                </a:solidFill>
                <a:latin typeface="Courier New" pitchFamily="34" charset="0"/>
                <a:ea typeface="Courier New" pitchFamily="34" charset="-122"/>
                <a:cs typeface="Courier New" pitchFamily="34" charset="-120"/>
              </a:rPr>
              <a:t>postgres=# </a:t>
            </a:r>
            <a:pPr indent="0" marL="0">
              <a:buNone/>
            </a:pPr>
            <a:r>
              <a:rPr lang="en-US" sz="1200" dirty="0">
                <a:solidFill>
                  <a:srgbClr val="E8E6F0"/>
                </a:solidFill>
                <a:latin typeface="Courier New" pitchFamily="34" charset="0"/>
                <a:ea typeface="Courier New" pitchFamily="34" charset="-122"/>
                <a:cs typeface="Courier New" pitchFamily="34" charset="-120"/>
              </a:rPr>
              <a:t>\l</a:t>
            </a:r>
            <a:endParaRPr lang="en-US" sz="1200" dirty="0"/>
          </a:p>
          <a:p>
            <a:pPr indent="0" marL="0">
              <a:buNone/>
            </a:pPr>
            <a:r>
              <a:rPr lang="en-US" sz="1200" dirty="0">
                <a:solidFill>
                  <a:srgbClr val="8B87A3"/>
                </a:solidFill>
                <a:latin typeface="Courier New" pitchFamily="34" charset="0"/>
                <a:ea typeface="Courier New" pitchFamily="34" charset="-122"/>
                <a:cs typeface="Courier New" pitchFamily="34" charset="-120"/>
              </a:rPr>
              <a:t>  Name    | Owner    | Encoding</a:t>
            </a:r>
            <a:endParaRPr lang="en-US" sz="1200" dirty="0"/>
          </a:p>
          <a:p>
            <a:pPr indent="0" marL="0">
              <a:buNone/>
            </a:pPr>
            <a:r>
              <a:rPr lang="en-US" sz="1200" dirty="0">
                <a:solidFill>
                  <a:srgbClr val="8B87A3"/>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8E6F0"/>
                </a:solidFill>
                <a:latin typeface="Courier New" pitchFamily="34" charset="0"/>
                <a:ea typeface="Courier New" pitchFamily="34" charset="-122"/>
                <a:cs typeface="Courier New" pitchFamily="34" charset="-120"/>
              </a:rPr>
              <a:t>  postgres| postgres | UTF8</a:t>
            </a:r>
            <a:endParaRPr lang="en-US" sz="1200" dirty="0"/>
          </a:p>
          <a:p>
            <a:pPr indent="0" marL="0">
              <a:buNone/>
            </a:pPr>
            <a:r>
              <a:rPr lang="en-US" sz="1200" dirty="0">
                <a:solidFill>
                  <a:srgbClr val="E8E6F0"/>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8FE3B0"/>
                </a:solidFill>
                <a:latin typeface="Courier New" pitchFamily="34" charset="0"/>
                <a:ea typeface="Courier New" pitchFamily="34" charset="-122"/>
                <a:cs typeface="Courier New" pitchFamily="34" charset="-120"/>
              </a:rPr>
              <a:t>postgres=# </a:t>
            </a:r>
            <a:pPr indent="0" marL="0">
              <a:buNone/>
            </a:pPr>
            <a:r>
              <a:rPr lang="en-US" sz="1200" dirty="0">
                <a:solidFill>
                  <a:srgbClr val="E8E6F0"/>
                </a:solidFill>
                <a:latin typeface="Courier New" pitchFamily="34" charset="0"/>
                <a:ea typeface="Courier New" pitchFamily="34" charset="-122"/>
                <a:cs typeface="Courier New" pitchFamily="34" charset="-120"/>
              </a:rPr>
              <a:t>█</a:t>
            </a:r>
            <a:endParaRPr lang="en-US" sz="1200" dirty="0"/>
          </a:p>
        </p:txBody>
      </p:sp>
      <p:sp>
        <p:nvSpPr>
          <p:cNvPr id="26" name="Mock text 22"/>
          <p:cNvSpPr txBox="1"/>
          <p:nvPr/>
        </p:nvSpPr>
        <p:spPr>
          <a:xfrm>
            <a:off x="7114032" y="5330952"/>
            <a:ext cx="777240" cy="228600"/>
          </a:xfrm>
          <a:prstGeom prst="rect">
            <a:avLst/>
          </a:prstGeom>
          <a:noFill/>
          <a:ln/>
        </p:spPr>
        <p:txBody>
          <a:bodyPr wrap="square" lIns="0" tIns="0" rIns="0" bIns="0" rtlCol="0" anchor="ctr"/>
          <a:lstStyle/>
          <a:p>
            <a:pPr algn="r" indent="0" marL="0">
              <a:buNone/>
            </a:pPr>
            <a:r>
              <a:rPr lang="en-US" sz="900" dirty="0">
                <a:solidFill>
                  <a:srgbClr val="8B87A3"/>
                </a:solidFill>
                <a:latin typeface="Courier New" pitchFamily="34" charset="0"/>
                <a:ea typeface="Courier New" pitchFamily="34" charset="-122"/>
                <a:cs typeface="Courier New" pitchFamily="34" charset="-120"/>
              </a:rPr>
              <a:t>200 × 50</a:t>
            </a:r>
            <a:endParaRPr lang="en-US" sz="900" dirty="0"/>
          </a:p>
        </p:txBody>
      </p:sp>
      <p:sp>
        <p:nvSpPr>
          <p:cNvPr id="27" name="Tag line 23"/>
          <p:cNvSpPr/>
          <p:nvPr/>
        </p:nvSpPr>
        <p:spPr>
          <a:xfrm>
            <a:off x="7891272" y="5449824"/>
            <a:ext cx="475488" cy="0"/>
          </a:xfrm>
          <a:prstGeom prst="line">
            <a:avLst/>
          </a:prstGeom>
          <a:noFill/>
          <a:ln w="12700">
            <a:solidFill>
              <a:srgbClr val="D97706"/>
            </a:solidFill>
            <a:prstDash val="dash"/>
          </a:ln>
        </p:spPr>
      </p:sp>
      <p:sp>
        <p:nvSpPr>
          <p:cNvPr id="28" name="Mock box 24"/>
          <p:cNvSpPr/>
          <p:nvPr/>
        </p:nvSpPr>
        <p:spPr>
          <a:xfrm>
            <a:off x="8366760" y="5321808"/>
            <a:ext cx="2139696" cy="256032"/>
          </a:xfrm>
          <a:prstGeom prst="roundRect">
            <a:avLst>
              <a:gd name="adj" fmla="val 21429"/>
            </a:avLst>
          </a:prstGeom>
          <a:solidFill>
            <a:srgbClr val="FFF4E0"/>
          </a:solidFill>
          <a:ln w="12700">
            <a:solidFill>
              <a:srgbClr val="D97706"/>
            </a:solidFill>
            <a:prstDash val="solid"/>
          </a:ln>
        </p:spPr>
      </p:sp>
      <p:sp>
        <p:nvSpPr>
          <p:cNvPr id="29" name="Mock text 25"/>
          <p:cNvSpPr txBox="1"/>
          <p:nvPr/>
        </p:nvSpPr>
        <p:spPr>
          <a:xfrm>
            <a:off x="8366760" y="5321808"/>
            <a:ext cx="2139696"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Columns = 200, Rows = 50</a:t>
            </a:r>
            <a:endParaRPr lang="en-US" sz="1000" dirty="0"/>
          </a:p>
        </p:txBody>
      </p:sp>
      <p:sp>
        <p:nvSpPr>
          <p:cNvPr id="30" name="Step circle 26"/>
          <p:cNvSpPr/>
          <p:nvPr/>
        </p:nvSpPr>
        <p:spPr>
          <a:xfrm>
            <a:off x="8503920" y="1325880"/>
            <a:ext cx="347472" cy="347472"/>
          </a:xfrm>
          <a:prstGeom prst="ellipse">
            <a:avLst/>
          </a:prstGeom>
          <a:solidFill>
            <a:schemeClr val="accent1"/>
          </a:solidFill>
          <a:ln w="12700">
            <a:solidFill>
              <a:schemeClr val="accent1"/>
            </a:solidFill>
            <a:prstDash val="solid"/>
          </a:ln>
        </p:spPr>
      </p:sp>
      <p:sp>
        <p:nvSpPr>
          <p:cNvPr id="31" name="Mock text 27"/>
          <p:cNvSpPr txBox="1"/>
          <p:nvPr/>
        </p:nvSpPr>
        <p:spPr>
          <a:xfrm>
            <a:off x="85039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32" name="Mock text 28"/>
          <p:cNvSpPr txBox="1"/>
          <p:nvPr/>
        </p:nvSpPr>
        <p:spPr>
          <a:xfrm>
            <a:off x="8961120" y="1325880"/>
            <a:ext cx="26517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Open the resource</a:t>
            </a:r>
            <a:endParaRPr lang="en-US" sz="1500" dirty="0"/>
          </a:p>
        </p:txBody>
      </p:sp>
      <p:sp>
        <p:nvSpPr>
          <p:cNvPr id="33" name="Mock text 29"/>
          <p:cNvSpPr txBox="1"/>
          <p:nvPr/>
        </p:nvSpPr>
        <p:spPr>
          <a:xfrm>
            <a:off x="8961120" y="1709928"/>
            <a:ext cx="265176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Select db on the Resources page.</a:t>
            </a:r>
            <a:endParaRPr lang="en-US" sz="1300" dirty="0"/>
          </a:p>
        </p:txBody>
      </p:sp>
      <p:sp>
        <p:nvSpPr>
          <p:cNvPr id="34" name="Step circle 30"/>
          <p:cNvSpPr/>
          <p:nvPr/>
        </p:nvSpPr>
        <p:spPr>
          <a:xfrm>
            <a:off x="8503920" y="2514600"/>
            <a:ext cx="347472" cy="347472"/>
          </a:xfrm>
          <a:prstGeom prst="ellipse">
            <a:avLst/>
          </a:prstGeom>
          <a:solidFill>
            <a:schemeClr val="accent1"/>
          </a:solidFill>
          <a:ln w="12700">
            <a:solidFill>
              <a:schemeClr val="accent1"/>
            </a:solidFill>
            <a:prstDash val="solid"/>
          </a:ln>
        </p:spPr>
      </p:sp>
      <p:sp>
        <p:nvSpPr>
          <p:cNvPr id="35" name="Mock text 31"/>
          <p:cNvSpPr txBox="1"/>
          <p:nvPr/>
        </p:nvSpPr>
        <p:spPr>
          <a:xfrm>
            <a:off x="8503920" y="25146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36" name="Mock text 32"/>
          <p:cNvSpPr txBox="1"/>
          <p:nvPr/>
        </p:nvSpPr>
        <p:spPr>
          <a:xfrm>
            <a:off x="8961120" y="2514600"/>
            <a:ext cx="26517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Terminal opens by itself</a:t>
            </a:r>
            <a:endParaRPr lang="en-US" sz="1500" dirty="0"/>
          </a:p>
        </p:txBody>
      </p:sp>
      <p:sp>
        <p:nvSpPr>
          <p:cNvPr id="37" name="Mock text 33"/>
          <p:cNvSpPr txBox="1"/>
          <p:nvPr/>
        </p:nvSpPr>
        <p:spPr>
          <a:xfrm>
            <a:off x="8961120" y="2898648"/>
            <a:ext cx="265176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Because db is running and has WithTerminal(), the Terminal tab is shown first.</a:t>
            </a:r>
            <a:endParaRPr lang="en-US" sz="1300" dirty="0"/>
          </a:p>
        </p:txBody>
      </p:sp>
      <p:sp>
        <p:nvSpPr>
          <p:cNvPr id="38" name="Step circle 34"/>
          <p:cNvSpPr/>
          <p:nvPr/>
        </p:nvSpPr>
        <p:spPr>
          <a:xfrm>
            <a:off x="8503920" y="3703320"/>
            <a:ext cx="347472" cy="347472"/>
          </a:xfrm>
          <a:prstGeom prst="ellipse">
            <a:avLst/>
          </a:prstGeom>
          <a:solidFill>
            <a:schemeClr val="accent1"/>
          </a:solidFill>
          <a:ln w="12700">
            <a:solidFill>
              <a:schemeClr val="accent1"/>
            </a:solidFill>
            <a:prstDash val="solid"/>
          </a:ln>
        </p:spPr>
      </p:sp>
      <p:sp>
        <p:nvSpPr>
          <p:cNvPr id="39" name="Mock text 35"/>
          <p:cNvSpPr txBox="1"/>
          <p:nvPr/>
        </p:nvSpPr>
        <p:spPr>
          <a:xfrm>
            <a:off x="8503920" y="37033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40" name="Mock text 36"/>
          <p:cNvSpPr txBox="1"/>
          <p:nvPr/>
        </p:nvSpPr>
        <p:spPr>
          <a:xfrm>
            <a:off x="8961120" y="3703320"/>
            <a:ext cx="26517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Type like a normal shell</a:t>
            </a:r>
            <a:endParaRPr lang="en-US" sz="1500" dirty="0"/>
          </a:p>
        </p:txBody>
      </p:sp>
      <p:sp>
        <p:nvSpPr>
          <p:cNvPr id="41" name="Mock text 37"/>
          <p:cNvSpPr txBox="1"/>
          <p:nvPr/>
        </p:nvSpPr>
        <p:spPr>
          <a:xfrm>
            <a:off x="8961120" y="4087368"/>
            <a:ext cx="265176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Keystrokes go to the live session. The size comes from Columns and Rows.</a:t>
            </a:r>
            <a:endParaRPr lang="en-US" sz="1300" dirty="0"/>
          </a:p>
        </p:txBody>
      </p:sp>
      <p:sp>
        <p:nvSpPr>
          <p:cNvPr id="42" name="Mock text 38"/>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Illustrative mockup of the Aspire dashboard, not a screenshot. Exact layout, labels and button text may differ.</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same terminal from TypeScript and the CLI</a:t>
            </a:r>
            <a:endParaRPr lang="en-US" sz="3400" dirty="0"/>
          </a:p>
        </p:txBody>
      </p:sp>
      <p:sp>
        <p:nvSpPr>
          <p:cNvPr id="3" name="Terminal TS panel"/>
          <p:cNvSpPr/>
          <p:nvPr/>
        </p:nvSpPr>
        <p:spPr>
          <a:xfrm>
            <a:off x="548640" y="1325880"/>
            <a:ext cx="6949440" cy="3108960"/>
          </a:xfrm>
          <a:prstGeom prst="roundRect">
            <a:avLst>
              <a:gd name="adj" fmla="val 2353"/>
            </a:avLst>
          </a:prstGeom>
          <a:solidFill>
            <a:srgbClr val="1C1830"/>
          </a:solidFill>
          <a:ln w="12700">
            <a:solidFill>
              <a:srgbClr val="1C1830"/>
            </a:solidFill>
            <a:prstDash val="solid"/>
          </a:ln>
        </p:spPr>
      </p:sp>
      <p:sp>
        <p:nvSpPr>
          <p:cNvPr id="4" name="Terminal TS label"/>
          <p:cNvSpPr txBox="1"/>
          <p:nvPr/>
        </p:nvSpPr>
        <p:spPr>
          <a:xfrm>
            <a:off x="777240" y="141732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TYPESCRIPT  ·  apphost.mts</a:t>
            </a:r>
            <a:endParaRPr lang="en-US" sz="1000" dirty="0"/>
          </a:p>
        </p:txBody>
      </p:sp>
      <p:sp>
        <p:nvSpPr>
          <p:cNvPr id="5" name="Terminal TS text"/>
          <p:cNvSpPr txBox="1"/>
          <p:nvPr/>
        </p:nvSpPr>
        <p:spPr>
          <a:xfrm>
            <a:off x="777240" y="1737360"/>
            <a:ext cx="6492240" cy="2606040"/>
          </a:xfrm>
          <a:prstGeom prst="rect">
            <a:avLst/>
          </a:prstGeom>
          <a:noFill/>
          <a:ln/>
        </p:spPr>
        <p:txBody>
          <a:bodyPr wrap="square" lIns="0" tIns="0" rIns="0" bIns="0" rtlCol="0" anchor="t"/>
          <a:lstStyle/>
          <a:p>
            <a:pPr indent="0" marL="0">
              <a:buNone/>
            </a:pPr>
            <a:r>
              <a:rPr lang="en-US" sz="1300" dirty="0">
                <a:solidFill>
                  <a:srgbClr val="C4A7FF"/>
                </a:solidFill>
                <a:latin typeface="Courier New" pitchFamily="34" charset="0"/>
                <a:ea typeface="Courier New" pitchFamily="34" charset="-122"/>
                <a:cs typeface="Courier New" pitchFamily="34" charset="-120"/>
              </a:rPr>
              <a:t>import</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from</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'./.aspire/modules/aspire.mjs'</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const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 = </a:t>
            </a:r>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createBuilder</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TypeScript exposes a parameterless withTerminal().</a:t>
            </a:r>
            <a:endParaRPr lang="en-US" sz="1300" dirty="0"/>
          </a:p>
          <a:p>
            <a:pPr indent="0" marL="0">
              <a:buNone/>
            </a:pPr>
            <a:r>
              <a:rPr lang="en-US" sz="1300" i="1" dirty="0">
                <a:solidFill>
                  <a:srgbClr val="8B87A3"/>
                </a:solidFill>
                <a:latin typeface="Courier New" pitchFamily="34" charset="0"/>
                <a:ea typeface="Courier New" pitchFamily="34" charset="-122"/>
                <a:cs typeface="Courier New" pitchFamily="34" charset="-120"/>
              </a:rPr>
              <a:t>// Columns/Rows can only be set from C#.</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addContainer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8FE3B0"/>
                </a:solidFill>
                <a:latin typeface="Courier New" pitchFamily="34" charset="0"/>
                <a:ea typeface="Courier New" pitchFamily="34" charset="-122"/>
                <a:cs typeface="Courier New" pitchFamily="34" charset="-120"/>
              </a:rPr>
              <a:t>'db'</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8FE3B0"/>
                </a:solidFill>
                <a:latin typeface="Courier New" pitchFamily="34" charset="0"/>
                <a:ea typeface="Courier New" pitchFamily="34" charset="-122"/>
                <a:cs typeface="Courier New" pitchFamily="34" charset="-120"/>
              </a:rPr>
              <a:t>'postgres'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withTerminal</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C4A7FF"/>
                </a:solidFill>
                <a:latin typeface="Courier New" pitchFamily="34" charset="0"/>
                <a:ea typeface="Courier New" pitchFamily="34" charset="-122"/>
                <a:cs typeface="Courier New" pitchFamily="34" charset="-120"/>
              </a:rPr>
              <a:t>await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builder</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build</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run</a:t>
            </a:r>
            <a:pPr indent="0" marL="0">
              <a:buNone/>
            </a:pPr>
            <a:r>
              <a:rPr lang="en-US" sz="1300" dirty="0">
                <a:solidFill>
                  <a:srgbClr val="E8E6F0"/>
                </a:solidFill>
                <a:latin typeface="Courier New" pitchFamily="34" charset="0"/>
                <a:ea typeface="Courier New" pitchFamily="34" charset="-122"/>
                <a:cs typeface="Courier New" pitchFamily="34" charset="-120"/>
              </a:rPr>
              <a:t>();</a:t>
            </a:r>
            <a:endParaRPr lang="en-US" sz="1300" dirty="0"/>
          </a:p>
        </p:txBody>
      </p:sp>
      <p:sp>
        <p:nvSpPr>
          <p:cNvPr id="6" name="Terminal CLI panel"/>
          <p:cNvSpPr/>
          <p:nvPr/>
        </p:nvSpPr>
        <p:spPr>
          <a:xfrm>
            <a:off x="548640" y="4663440"/>
            <a:ext cx="6949440" cy="1280160"/>
          </a:xfrm>
          <a:prstGeom prst="roundRect">
            <a:avLst>
              <a:gd name="adj" fmla="val 5714"/>
            </a:avLst>
          </a:prstGeom>
          <a:solidFill>
            <a:srgbClr val="1C1830"/>
          </a:solidFill>
          <a:ln w="12700">
            <a:solidFill>
              <a:srgbClr val="1C1830"/>
            </a:solidFill>
            <a:prstDash val="solid"/>
          </a:ln>
        </p:spPr>
      </p:sp>
      <p:sp>
        <p:nvSpPr>
          <p:cNvPr id="7" name="Terminal CLI label"/>
          <p:cNvSpPr txBox="1"/>
          <p:nvPr/>
        </p:nvSpPr>
        <p:spPr>
          <a:xfrm>
            <a:off x="777240" y="4754880"/>
            <a:ext cx="64922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TERMINAL  ·  Aspire CLI</a:t>
            </a:r>
            <a:endParaRPr lang="en-US" sz="1000" dirty="0"/>
          </a:p>
        </p:txBody>
      </p:sp>
      <p:sp>
        <p:nvSpPr>
          <p:cNvPr id="8" name="Terminal CLI text"/>
          <p:cNvSpPr txBox="1"/>
          <p:nvPr/>
        </p:nvSpPr>
        <p:spPr>
          <a:xfrm>
            <a:off x="777240" y="5074920"/>
            <a:ext cx="6492240" cy="777240"/>
          </a:xfrm>
          <a:prstGeom prst="rect">
            <a:avLst/>
          </a:prstGeom>
          <a:noFill/>
          <a:ln/>
        </p:spPr>
        <p:txBody>
          <a:bodyPr wrap="square" lIns="0" tIns="0" rIns="0" bIns="0" rtlCol="0" anchor="t"/>
          <a:lstStyle/>
          <a:p>
            <a:pPr indent="0" marL="0">
              <a:buNone/>
            </a:pPr>
            <a:r>
              <a:rPr lang="en-US" sz="1300" i="1" dirty="0">
                <a:solidFill>
                  <a:srgbClr val="8B87A3"/>
                </a:solidFill>
                <a:latin typeface="Courier New" pitchFamily="34" charset="0"/>
                <a:ea typeface="Courier New" pitchFamily="34" charset="-122"/>
                <a:cs typeface="Courier New" pitchFamily="34" charset="-120"/>
              </a:rPr>
              <a:t>// Turn on the experimental terminal commands</a:t>
            </a:r>
            <a:endParaRPr lang="en-US" sz="1300" dirty="0"/>
          </a:p>
          <a:p>
            <a:pPr indent="0" marL="0">
              <a:buNone/>
            </a:pPr>
            <a:r>
              <a:rPr lang="en-US" sz="1300" dirty="0">
                <a:solidFill>
                  <a:srgbClr val="E8E6F0"/>
                </a:solidFill>
                <a:latin typeface="Courier New" pitchFamily="34" charset="0"/>
                <a:ea typeface="Courier New" pitchFamily="34" charset="-122"/>
                <a:cs typeface="Courier New" pitchFamily="34" charset="-120"/>
              </a:rPr>
              <a:t>aspire</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config</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set</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E8E6F0"/>
                </a:solidFill>
                <a:latin typeface="Courier New" pitchFamily="34" charset="0"/>
                <a:ea typeface="Courier New" pitchFamily="34" charset="-122"/>
                <a:cs typeface="Courier New" pitchFamily="34" charset="-120"/>
              </a:rPr>
              <a:t>features</a:t>
            </a:r>
            <a:pPr indent="0" marL="0">
              <a:buNone/>
            </a:pPr>
            <a:r>
              <a:rPr lang="en-US" sz="1300" dirty="0">
                <a:solidFill>
                  <a:srgbClr val="E8E6F0"/>
                </a:solidFill>
                <a:latin typeface="Courier New" pitchFamily="34" charset="0"/>
                <a:ea typeface="Courier New" pitchFamily="34" charset="-122"/>
                <a:cs typeface="Courier New" pitchFamily="34" charset="-120"/>
              </a:rPr>
              <a:t>.</a:t>
            </a:r>
            <a:pPr indent="0" marL="0">
              <a:buNone/>
            </a:pPr>
            <a:r>
              <a:rPr lang="en-US" sz="1300" dirty="0">
                <a:solidFill>
                  <a:srgbClr val="E8E6F0"/>
                </a:solidFill>
                <a:latin typeface="Courier New" pitchFamily="34" charset="0"/>
                <a:ea typeface="Courier New" pitchFamily="34" charset="-122"/>
                <a:cs typeface="Courier New" pitchFamily="34" charset="-120"/>
              </a:rPr>
              <a:t>terminalCommandsEnabled</a:t>
            </a:r>
            <a:pPr indent="0" marL="0">
              <a:buNone/>
            </a:pPr>
            <a:r>
              <a:rPr lang="en-US" sz="1300" dirty="0">
                <a:solidFill>
                  <a:srgbClr val="E8E6F0"/>
                </a:solidFill>
                <a:latin typeface="Courier New" pitchFamily="34" charset="0"/>
                <a:ea typeface="Courier New" pitchFamily="34" charset="-122"/>
                <a:cs typeface="Courier New" pitchFamily="34" charset="-120"/>
              </a:rPr>
              <a:t> </a:t>
            </a:r>
            <a:pPr indent="0" marL="0">
              <a:buNone/>
            </a:pPr>
            <a:r>
              <a:rPr lang="en-US" sz="1300" dirty="0">
                <a:solidFill>
                  <a:srgbClr val="C4A7FF"/>
                </a:solidFill>
                <a:latin typeface="Courier New" pitchFamily="34" charset="0"/>
                <a:ea typeface="Courier New" pitchFamily="34" charset="-122"/>
                <a:cs typeface="Courier New" pitchFamily="34" charset="-120"/>
              </a:rPr>
              <a:t>true</a:t>
            </a:r>
            <a:endParaRPr lang="en-US" sz="1300" dirty="0"/>
          </a:p>
        </p:txBody>
      </p:sp>
      <p:sp>
        <p:nvSpPr>
          <p:cNvPr id="9" name="TS notes panel"/>
          <p:cNvSpPr/>
          <p:nvPr/>
        </p:nvSpPr>
        <p:spPr>
          <a:xfrm>
            <a:off x="7772400" y="1325880"/>
            <a:ext cx="3840480" cy="4846320"/>
          </a:xfrm>
          <a:prstGeom prst="roundRect">
            <a:avLst>
              <a:gd name="adj" fmla="val 2381"/>
            </a:avLst>
          </a:prstGeom>
          <a:solidFill>
            <a:schemeClr val="bg2"/>
          </a:solidFill>
          <a:ln w="12700">
            <a:solidFill>
              <a:schemeClr val="bg2"/>
            </a:solidFill>
            <a:prstDash val="solid"/>
          </a:ln>
        </p:spPr>
      </p:sp>
      <p:sp>
        <p:nvSpPr>
          <p:cNvPr id="10" name="TS notes text"/>
          <p:cNvSpPr txBox="1"/>
          <p:nvPr/>
        </p:nvSpPr>
        <p:spPr>
          <a:xfrm>
            <a:off x="8046720" y="1554480"/>
            <a:ext cx="3291840" cy="4389120"/>
          </a:xfrm>
          <a:prstGeom prst="rect">
            <a:avLst/>
          </a:prstGeom>
          <a:noFill/>
          <a:ln/>
        </p:spPr>
        <p:txBody>
          <a:bodyPr wrap="square" lIns="0" tIns="0" rIns="0" bIns="0" rtlCol="0" anchor="t"/>
          <a:lstStyle/>
          <a:p>
            <a:pPr indent="0" marL="0">
              <a:buNone/>
            </a:pPr>
            <a:r>
              <a:rPr lang="en-US" sz="1500" b="1" dirty="0">
                <a:solidFill>
                  <a:schemeClr val="tx2"/>
                </a:solidFill>
              </a:rPr>
              <a:t>TypeScript AppHosts</a:t>
            </a:r>
            <a:endParaRPr lang="en-US" sz="1500" dirty="0"/>
          </a:p>
          <a:p>
            <a:pPr indent="0" marL="0">
              <a:spcAft>
                <a:spcPts val="1200"/>
              </a:spcAft>
              <a:buNone/>
            </a:pPr>
            <a:r>
              <a:rPr lang="en-US" sz="1400" dirty="0">
                <a:solidFill>
                  <a:schemeClr val="tx1"/>
                </a:solidFill>
              </a:rPr>
              <a:t>TypeScript AppHosts are generally available (fully supported) in 13.5, so this works without any experimental opt-in for TypeScript itself.</a:t>
            </a:r>
            <a:endParaRPr lang="en-US" sz="1500" dirty="0"/>
          </a:p>
          <a:p>
            <a:pPr indent="0" marL="0">
              <a:buNone/>
            </a:pPr>
            <a:r>
              <a:rPr lang="en-US" sz="1500" b="1" dirty="0">
                <a:solidFill>
                  <a:schemeClr val="tx2"/>
                </a:solidFill>
              </a:rPr>
              <a:t>Attach from your shell</a:t>
            </a:r>
            <a:endParaRPr lang="en-US" sz="1500" dirty="0"/>
          </a:p>
          <a:p>
            <a:pPr indent="0" marL="0">
              <a:spcAft>
                <a:spcPts val="1200"/>
              </a:spcAft>
              <a:buNone/>
            </a:pPr>
            <a:r>
              <a:rPr lang="en-US" sz="1400" dirty="0">
                <a:solidFill>
                  <a:schemeClr val="tx1"/>
                </a:solidFill>
              </a:rPr>
              <a:t>After enabling the feature flag, the aspire terminal commands can list sessions and attach from your own terminal.</a:t>
            </a:r>
            <a:endParaRPr lang="en-US" sz="1500" dirty="0"/>
          </a:p>
          <a:p>
            <a:pPr indent="0" marL="0">
              <a:buNone/>
            </a:pPr>
            <a:r>
              <a:rPr lang="en-US" sz="1500" b="1" dirty="0">
                <a:solidFill>
                  <a:schemeClr val="tx2"/>
                </a:solidFill>
              </a:rPr>
              <a:t>Try it</a:t>
            </a:r>
            <a:endParaRPr lang="en-US" sz="1500" dirty="0"/>
          </a:p>
          <a:p>
            <a:pPr indent="0" marL="0">
              <a:spcAft>
                <a:spcPts val="1200"/>
              </a:spcAft>
              <a:buNone/>
            </a:pPr>
            <a:r>
              <a:rPr lang="en-US" sz="1400" dirty="0">
                <a:solidFill>
                  <a:schemeClr val="tx1"/>
                </a:solidFill>
              </a:rPr>
              <a:t>The Aspire repo has a small guessing-game playground you can play inside the dashboard.</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Ask the user for input from a command</a:t>
            </a:r>
            <a:endParaRPr lang="en-US" sz="3400" dirty="0"/>
          </a:p>
        </p:txBody>
      </p:sp>
      <p:sp>
        <p:nvSpPr>
          <p:cNvPr id="3" name="Prompt CS panel"/>
          <p:cNvSpPr/>
          <p:nvPr/>
        </p:nvSpPr>
        <p:spPr>
          <a:xfrm>
            <a:off x="548640" y="1234440"/>
            <a:ext cx="7589520" cy="5074920"/>
          </a:xfrm>
          <a:prstGeom prst="roundRect">
            <a:avLst>
              <a:gd name="adj" fmla="val 1441"/>
            </a:avLst>
          </a:prstGeom>
          <a:solidFill>
            <a:srgbClr val="1C1830"/>
          </a:solidFill>
          <a:ln w="12700">
            <a:solidFill>
              <a:srgbClr val="1C1830"/>
            </a:solidFill>
            <a:prstDash val="solid"/>
          </a:ln>
        </p:spPr>
      </p:sp>
      <p:sp>
        <p:nvSpPr>
          <p:cNvPr id="4" name="Prompt CS label"/>
          <p:cNvSpPr txBox="1"/>
          <p:nvPr/>
        </p:nvSpPr>
        <p:spPr>
          <a:xfrm>
            <a:off x="777240" y="132588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  (needs using Microsoft.Extensions.DependencyInjection;)</a:t>
            </a:r>
            <a:endParaRPr lang="en-US" sz="1000" dirty="0"/>
          </a:p>
        </p:txBody>
      </p:sp>
      <p:sp>
        <p:nvSpPr>
          <p:cNvPr id="5" name="Prompt CS text"/>
          <p:cNvSpPr txBox="1"/>
          <p:nvPr/>
        </p:nvSpPr>
        <p:spPr>
          <a:xfrm>
            <a:off x="777240" y="1645920"/>
            <a:ext cx="7132320" cy="4572000"/>
          </a:xfrm>
          <a:prstGeom prst="rect">
            <a:avLst/>
          </a:prstGeom>
          <a:noFill/>
          <a:ln/>
        </p:spPr>
        <p:txBody>
          <a:bodyPr wrap="square" lIns="0" tIns="0" rIns="0" bIns="0" rtlCol="0" anchor="t"/>
          <a:lstStyle/>
          <a:p>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7CC7FF"/>
                </a:solidFill>
                <a:latin typeface="Courier New" pitchFamily="34" charset="0"/>
                <a:ea typeface="Courier New" pitchFamily="34" charset="-122"/>
                <a:cs typeface="Courier New" pitchFamily="34" charset="-120"/>
              </a:rPr>
              <a:t>DistributedApplication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CreateBuilder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args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api</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AddContainer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"api"</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"nginx"</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api</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WithCommand</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"configure-region"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"Configure region"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async</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 =&gt;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Services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GetRequiredService</a:t>
            </a:r>
            <a:pPr indent="0" marL="0">
              <a:buNone/>
            </a:pPr>
            <a:r>
              <a:rPr lang="en-US" sz="1050" dirty="0">
                <a:solidFill>
                  <a:srgbClr val="E8E6F0"/>
                </a:solidFill>
                <a:latin typeface="Courier New" pitchFamily="34" charset="0"/>
                <a:ea typeface="Courier New" pitchFamily="34" charset="-122"/>
                <a:cs typeface="Courier New" pitchFamily="34" charset="-120"/>
              </a:rPr>
              <a:t>&lt;</a:t>
            </a:r>
            <a:pPr indent="0" marL="0">
              <a:buNone/>
            </a:pPr>
            <a:r>
              <a:rPr lang="en-US" sz="1050" dirty="0">
                <a:solidFill>
                  <a:srgbClr val="7CC7FF"/>
                </a:solidFill>
                <a:latin typeface="Courier New" pitchFamily="34" charset="0"/>
                <a:ea typeface="Courier New" pitchFamily="34" charset="-122"/>
                <a:cs typeface="Courier New" pitchFamily="34" charset="-120"/>
              </a:rPr>
              <a:t>IInteractionService</a:t>
            </a:r>
            <a:pPr indent="0" marL="0">
              <a:buNone/>
            </a:pPr>
            <a:r>
              <a:rPr lang="en-US" sz="1050" dirty="0">
                <a:solidFill>
                  <a:srgbClr val="E8E6F0"/>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i="1" dirty="0">
                <a:solidFill>
                  <a:srgbClr val="8B87A3"/>
                </a:solidFill>
                <a:latin typeface="Courier New" pitchFamily="34" charset="0"/>
                <a:ea typeface="Courier New" pitchFamily="34" charset="-122"/>
                <a:cs typeface="Courier New" pitchFamily="34" charset="-120"/>
              </a:rPr>
              <a:t>// Commands run from the CLI have no UI, so only prompt when one exists.</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IsAvailable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await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PromptInputsAsync</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title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"Configure region"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message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"Choose the region to deploy to."</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inputs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InteractionInput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Name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Label</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Choice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Options</a:t>
            </a:r>
            <a:pPr indent="0" marL="0">
              <a:buNone/>
            </a:pPr>
            <a:r>
              <a:rPr lang="en-US" sz="1050" dirty="0">
                <a:solidFill>
                  <a:srgbClr val="E8E6F0"/>
                </a:solidFill>
                <a:latin typeface="Courier New" pitchFamily="34" charset="0"/>
                <a:ea typeface="Courier New" pitchFamily="34" charset="-122"/>
                <a:cs typeface="Courier New" pitchFamily="34" charset="-120"/>
              </a:rPr>
              <a:t> = [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"us"</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"United States"</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"eu"</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"Europe"</a:t>
            </a:r>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Data</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"region"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Value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Build</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Run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p:txBody>
      </p:sp>
      <p:sp>
        <p:nvSpPr>
          <p:cNvPr id="6" name="Prompt notes panel"/>
          <p:cNvSpPr/>
          <p:nvPr/>
        </p:nvSpPr>
        <p:spPr>
          <a:xfrm>
            <a:off x="8366760" y="1234440"/>
            <a:ext cx="3246120" cy="5074920"/>
          </a:xfrm>
          <a:prstGeom prst="roundRect">
            <a:avLst>
              <a:gd name="adj" fmla="val 2817"/>
            </a:avLst>
          </a:prstGeom>
          <a:solidFill>
            <a:schemeClr val="bg2"/>
          </a:solidFill>
          <a:ln w="12700">
            <a:solidFill>
              <a:schemeClr val="bg2"/>
            </a:solidFill>
            <a:prstDash val="solid"/>
          </a:ln>
        </p:spPr>
      </p:sp>
      <p:sp>
        <p:nvSpPr>
          <p:cNvPr id="7" name="Prompt notes text"/>
          <p:cNvSpPr txBox="1"/>
          <p:nvPr/>
        </p:nvSpPr>
        <p:spPr>
          <a:xfrm>
            <a:off x="8641080" y="1463040"/>
            <a:ext cx="2697480" cy="4617720"/>
          </a:xfrm>
          <a:prstGeom prst="rect">
            <a:avLst/>
          </a:prstGeom>
          <a:noFill/>
          <a:ln/>
        </p:spPr>
        <p:txBody>
          <a:bodyPr wrap="square" lIns="0" tIns="0" rIns="0" bIns="0" rtlCol="0" anchor="t"/>
          <a:lstStyle/>
          <a:p>
            <a:pPr indent="0" marL="0">
              <a:buNone/>
            </a:pPr>
            <a:r>
              <a:rPr lang="en-US" sz="1500" b="1" dirty="0">
                <a:solidFill>
                  <a:schemeClr val="tx2"/>
                </a:solidFill>
              </a:rPr>
              <a:t>Interaction Service</a:t>
            </a:r>
            <a:endParaRPr lang="en-US" sz="1500" dirty="0"/>
          </a:p>
          <a:p>
            <a:pPr indent="0" marL="0">
              <a:spcAft>
                <a:spcPts val="1200"/>
              </a:spcAft>
              <a:buNone/>
            </a:pPr>
            <a:r>
              <a:rPr lang="en-US" sz="1400" dirty="0">
                <a:solidFill>
                  <a:schemeClr val="tx1"/>
                </a:solidFill>
              </a:rPr>
              <a:t>The AppHost's way to show dialogs, prompts and notifications in the dashboard.</a:t>
            </a:r>
            <a:endParaRPr lang="en-US" sz="1500" dirty="0"/>
          </a:p>
          <a:p>
            <a:pPr indent="0" marL="0">
              <a:buNone/>
            </a:pPr>
            <a:r>
              <a:rPr lang="en-US" sz="1500" b="1" dirty="0">
                <a:solidFill>
                  <a:schemeClr val="tx2"/>
                </a:solidFill>
              </a:rPr>
              <a:t>Now stable</a:t>
            </a:r>
            <a:endParaRPr lang="en-US" sz="1500" dirty="0"/>
          </a:p>
          <a:p>
            <a:pPr indent="0" marL="0">
              <a:spcAft>
                <a:spcPts val="1200"/>
              </a:spcAft>
              <a:buNone/>
            </a:pPr>
            <a:r>
              <a:rPr lang="en-US" sz="1400" dirty="0">
                <a:solidFill>
                  <a:schemeClr val="tx1"/>
                </a:solidFill>
              </a:rPr>
              <a:t>PromptInputAsync, PromptInputsAsync and InteractionInput are stable. No ASPIREINTERACTION001 suppression needed.</a:t>
            </a:r>
            <a:endParaRPr lang="en-US" sz="1500" dirty="0"/>
          </a:p>
          <a:p>
            <a:pPr indent="0" marL="0">
              <a:buNone/>
            </a:pPr>
            <a:r>
              <a:rPr lang="en-US" sz="1500" b="1" dirty="0">
                <a:solidFill>
                  <a:schemeClr val="tx2"/>
                </a:solidFill>
              </a:rPr>
              <a:t>C# and TypeScript</a:t>
            </a:r>
            <a:endParaRPr lang="en-US" sz="1500" dirty="0"/>
          </a:p>
          <a:p>
            <a:pPr indent="0" marL="0">
              <a:spcAft>
                <a:spcPts val="1200"/>
              </a:spcAft>
              <a:buNone/>
            </a:pPr>
            <a:r>
              <a:rPr lang="en-US" sz="1400" dirty="0">
                <a:solidFill>
                  <a:schemeClr val="tx1"/>
                </a:solidFill>
              </a:rPr>
              <a:t>Works the same way from both AppHost languages.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it looks like: the region prompt</a:t>
            </a:r>
            <a:endParaRPr lang="en-US" sz="3400" dirty="0"/>
          </a:p>
        </p:txBody>
      </p:sp>
      <p:sp>
        <p:nvSpPr>
          <p:cNvPr id="3" name="Step circle 39"/>
          <p:cNvSpPr/>
          <p:nvPr/>
        </p:nvSpPr>
        <p:spPr>
          <a:xfrm>
            <a:off x="548640" y="1188720"/>
            <a:ext cx="347472" cy="347472"/>
          </a:xfrm>
          <a:prstGeom prst="ellipse">
            <a:avLst/>
          </a:prstGeom>
          <a:solidFill>
            <a:schemeClr val="accent1"/>
          </a:solidFill>
          <a:ln w="12700">
            <a:solidFill>
              <a:schemeClr val="accent1"/>
            </a:solidFill>
            <a:prstDash val="solid"/>
          </a:ln>
        </p:spPr>
      </p:sp>
      <p:sp>
        <p:nvSpPr>
          <p:cNvPr id="4" name="Mock text 40"/>
          <p:cNvSpPr txBox="1"/>
          <p:nvPr/>
        </p:nvSpPr>
        <p:spPr>
          <a:xfrm>
            <a:off x="548640" y="11887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Mock text 41"/>
          <p:cNvSpPr txBox="1"/>
          <p:nvPr/>
        </p:nvSpPr>
        <p:spPr>
          <a:xfrm>
            <a:off x="1005840" y="1188720"/>
            <a:ext cx="41148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Click ••• on "api", then "Configure region"</a:t>
            </a:r>
            <a:endParaRPr lang="en-US" sz="1500" dirty="0"/>
          </a:p>
        </p:txBody>
      </p:sp>
      <p:sp>
        <p:nvSpPr>
          <p:cNvPr id="6" name="Step circle 42"/>
          <p:cNvSpPr/>
          <p:nvPr/>
        </p:nvSpPr>
        <p:spPr>
          <a:xfrm>
            <a:off x="5303520" y="1188720"/>
            <a:ext cx="347472" cy="347472"/>
          </a:xfrm>
          <a:prstGeom prst="ellipse">
            <a:avLst/>
          </a:prstGeom>
          <a:solidFill>
            <a:schemeClr val="accent1"/>
          </a:solidFill>
          <a:ln w="12700">
            <a:solidFill>
              <a:schemeClr val="accent1"/>
            </a:solidFill>
            <a:prstDash val="solid"/>
          </a:ln>
        </p:spPr>
      </p:sp>
      <p:sp>
        <p:nvSpPr>
          <p:cNvPr id="7" name="Mock text 43"/>
          <p:cNvSpPr txBox="1"/>
          <p:nvPr/>
        </p:nvSpPr>
        <p:spPr>
          <a:xfrm>
            <a:off x="5303520" y="11887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8" name="Mock text 44"/>
          <p:cNvSpPr txBox="1"/>
          <p:nvPr/>
        </p:nvSpPr>
        <p:spPr>
          <a:xfrm>
            <a:off x="5760720" y="1188720"/>
            <a:ext cx="58521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The dialog from PromptInputsAsync appears</a:t>
            </a:r>
            <a:endParaRPr lang="en-US" sz="1500" dirty="0"/>
          </a:p>
        </p:txBody>
      </p:sp>
      <p:sp>
        <p:nvSpPr>
          <p:cNvPr id="9" name="Mock box 45"/>
          <p:cNvSpPr/>
          <p:nvPr/>
        </p:nvSpPr>
        <p:spPr>
          <a:xfrm>
            <a:off x="548640" y="1691640"/>
            <a:ext cx="4480560" cy="4069080"/>
          </a:xfrm>
          <a:prstGeom prst="roundRect">
            <a:avLst>
              <a:gd name="adj" fmla="val 224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10" name="Mock rect 46"/>
          <p:cNvSpPr/>
          <p:nvPr/>
        </p:nvSpPr>
        <p:spPr>
          <a:xfrm>
            <a:off x="566928" y="1709928"/>
            <a:ext cx="4443984" cy="329184"/>
          </a:xfrm>
          <a:prstGeom prst="rect">
            <a:avLst/>
          </a:prstGeom>
          <a:solidFill>
            <a:srgbClr val="F2EEFB"/>
          </a:solidFill>
          <a:ln w="12700">
            <a:solidFill>
              <a:srgbClr val="F2EEFB"/>
            </a:solidFill>
            <a:prstDash val="solid"/>
          </a:ln>
        </p:spPr>
      </p:sp>
      <p:sp>
        <p:nvSpPr>
          <p:cNvPr id="11" name="Window dot 47"/>
          <p:cNvSpPr/>
          <p:nvPr/>
        </p:nvSpPr>
        <p:spPr>
          <a:xfrm>
            <a:off x="685800" y="1810512"/>
            <a:ext cx="100584" cy="100584"/>
          </a:xfrm>
          <a:prstGeom prst="ellipse">
            <a:avLst/>
          </a:prstGeom>
          <a:solidFill>
            <a:srgbClr val="F87171"/>
          </a:solidFill>
          <a:ln w="12700">
            <a:solidFill>
              <a:srgbClr val="F87171"/>
            </a:solidFill>
            <a:prstDash val="solid"/>
          </a:ln>
        </p:spPr>
      </p:sp>
      <p:sp>
        <p:nvSpPr>
          <p:cNvPr id="12" name="Window dot 48"/>
          <p:cNvSpPr/>
          <p:nvPr/>
        </p:nvSpPr>
        <p:spPr>
          <a:xfrm>
            <a:off x="850392" y="1810512"/>
            <a:ext cx="100584" cy="100584"/>
          </a:xfrm>
          <a:prstGeom prst="ellipse">
            <a:avLst/>
          </a:prstGeom>
          <a:solidFill>
            <a:srgbClr val="FBBF24"/>
          </a:solidFill>
          <a:ln w="12700">
            <a:solidFill>
              <a:srgbClr val="FBBF24"/>
            </a:solidFill>
            <a:prstDash val="solid"/>
          </a:ln>
        </p:spPr>
      </p:sp>
      <p:sp>
        <p:nvSpPr>
          <p:cNvPr id="13" name="Window dot 49"/>
          <p:cNvSpPr/>
          <p:nvPr/>
        </p:nvSpPr>
        <p:spPr>
          <a:xfrm>
            <a:off x="1014984" y="1810512"/>
            <a:ext cx="100584" cy="100584"/>
          </a:xfrm>
          <a:prstGeom prst="ellipse">
            <a:avLst/>
          </a:prstGeom>
          <a:solidFill>
            <a:srgbClr val="34D399"/>
          </a:solidFill>
          <a:ln w="12700">
            <a:solidFill>
              <a:srgbClr val="34D399"/>
            </a:solidFill>
            <a:prstDash val="solid"/>
          </a:ln>
        </p:spPr>
      </p:sp>
      <p:sp>
        <p:nvSpPr>
          <p:cNvPr id="14" name="Mock box 50"/>
          <p:cNvSpPr/>
          <p:nvPr/>
        </p:nvSpPr>
        <p:spPr>
          <a:xfrm>
            <a:off x="1280160" y="1764792"/>
            <a:ext cx="2377440" cy="201168"/>
          </a:xfrm>
          <a:prstGeom prst="roundRect">
            <a:avLst>
              <a:gd name="adj" fmla="val 45455"/>
            </a:avLst>
          </a:prstGeom>
          <a:solidFill>
            <a:srgbClr val="FFFFFF"/>
          </a:solidFill>
          <a:ln w="12700">
            <a:solidFill>
              <a:srgbClr val="E4DEF5"/>
            </a:solidFill>
            <a:prstDash val="solid"/>
          </a:ln>
        </p:spPr>
      </p:sp>
      <p:sp>
        <p:nvSpPr>
          <p:cNvPr id="15" name="Mock text 51"/>
          <p:cNvSpPr txBox="1"/>
          <p:nvPr/>
        </p:nvSpPr>
        <p:spPr>
          <a:xfrm>
            <a:off x="1371600" y="17647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16" name="Mock rect 52"/>
          <p:cNvSpPr/>
          <p:nvPr/>
        </p:nvSpPr>
        <p:spPr>
          <a:xfrm>
            <a:off x="566928" y="2039112"/>
            <a:ext cx="868680" cy="3703320"/>
          </a:xfrm>
          <a:prstGeom prst="rect">
            <a:avLst/>
          </a:prstGeom>
          <a:solidFill>
            <a:srgbClr val="FBFAFF"/>
          </a:solidFill>
          <a:ln w="12700">
            <a:solidFill>
              <a:srgbClr val="FBFAFF"/>
            </a:solidFill>
            <a:prstDash val="solid"/>
          </a:ln>
        </p:spPr>
      </p:sp>
      <p:sp>
        <p:nvSpPr>
          <p:cNvPr id="17" name="Mock text 53"/>
          <p:cNvSpPr txBox="1"/>
          <p:nvPr/>
        </p:nvSpPr>
        <p:spPr>
          <a:xfrm>
            <a:off x="685800" y="21305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18" name="Mock box 54"/>
          <p:cNvSpPr/>
          <p:nvPr/>
        </p:nvSpPr>
        <p:spPr>
          <a:xfrm>
            <a:off x="621792" y="2496312"/>
            <a:ext cx="740664" cy="256032"/>
          </a:xfrm>
          <a:prstGeom prst="roundRect">
            <a:avLst>
              <a:gd name="adj" fmla="val 28571"/>
            </a:avLst>
          </a:prstGeom>
          <a:solidFill>
            <a:srgbClr val="E9E2FC"/>
          </a:solidFill>
          <a:ln w="12700">
            <a:solidFill>
              <a:srgbClr val="E9E2FC"/>
            </a:solidFill>
            <a:prstDash val="solid"/>
          </a:ln>
        </p:spPr>
      </p:sp>
      <p:sp>
        <p:nvSpPr>
          <p:cNvPr id="19" name="Mock text 55"/>
          <p:cNvSpPr txBox="1"/>
          <p:nvPr/>
        </p:nvSpPr>
        <p:spPr>
          <a:xfrm>
            <a:off x="694944" y="24963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20" name="Mock text 56"/>
          <p:cNvSpPr txBox="1"/>
          <p:nvPr/>
        </p:nvSpPr>
        <p:spPr>
          <a:xfrm>
            <a:off x="694944" y="28254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21" name="Mock text 57"/>
          <p:cNvSpPr txBox="1"/>
          <p:nvPr/>
        </p:nvSpPr>
        <p:spPr>
          <a:xfrm>
            <a:off x="694944" y="31546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22" name="Mock text 58"/>
          <p:cNvSpPr txBox="1"/>
          <p:nvPr/>
        </p:nvSpPr>
        <p:spPr>
          <a:xfrm>
            <a:off x="694944" y="34838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23" name="Mock text 59"/>
          <p:cNvSpPr txBox="1"/>
          <p:nvPr/>
        </p:nvSpPr>
        <p:spPr>
          <a:xfrm>
            <a:off x="694944" y="38130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24" name="Mock text 60"/>
          <p:cNvSpPr txBox="1"/>
          <p:nvPr/>
        </p:nvSpPr>
        <p:spPr>
          <a:xfrm>
            <a:off x="1618488" y="2148840"/>
            <a:ext cx="18288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Resources</a:t>
            </a:r>
            <a:endParaRPr lang="en-US" sz="1400" dirty="0"/>
          </a:p>
        </p:txBody>
      </p:sp>
      <p:sp>
        <p:nvSpPr>
          <p:cNvPr id="25" name="Mock rect 61"/>
          <p:cNvSpPr/>
          <p:nvPr/>
        </p:nvSpPr>
        <p:spPr>
          <a:xfrm>
            <a:off x="1618488" y="2587752"/>
            <a:ext cx="3209544" cy="274320"/>
          </a:xfrm>
          <a:prstGeom prst="rect">
            <a:avLst/>
          </a:prstGeom>
          <a:solidFill>
            <a:srgbClr val="F2EEFB"/>
          </a:solidFill>
          <a:ln w="12700">
            <a:solidFill>
              <a:srgbClr val="F2EEFB"/>
            </a:solidFill>
            <a:prstDash val="solid"/>
          </a:ln>
        </p:spPr>
      </p:sp>
      <p:sp>
        <p:nvSpPr>
          <p:cNvPr id="26" name="Mock text 62"/>
          <p:cNvSpPr txBox="1"/>
          <p:nvPr/>
        </p:nvSpPr>
        <p:spPr>
          <a:xfrm>
            <a:off x="1691640" y="2587752"/>
            <a:ext cx="834481"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Name</a:t>
            </a:r>
            <a:endParaRPr lang="en-US" sz="950" dirty="0"/>
          </a:p>
        </p:txBody>
      </p:sp>
      <p:sp>
        <p:nvSpPr>
          <p:cNvPr id="27" name="Mock text 63"/>
          <p:cNvSpPr txBox="1"/>
          <p:nvPr/>
        </p:nvSpPr>
        <p:spPr>
          <a:xfrm>
            <a:off x="2526121" y="2587752"/>
            <a:ext cx="898672"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State</a:t>
            </a:r>
            <a:endParaRPr lang="en-US" sz="950" dirty="0"/>
          </a:p>
        </p:txBody>
      </p:sp>
      <p:sp>
        <p:nvSpPr>
          <p:cNvPr id="28" name="Mock text 64"/>
          <p:cNvSpPr txBox="1"/>
          <p:nvPr/>
        </p:nvSpPr>
        <p:spPr>
          <a:xfrm>
            <a:off x="3424794" y="2587752"/>
            <a:ext cx="834481"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Source</a:t>
            </a:r>
            <a:endParaRPr lang="en-US" sz="950" dirty="0"/>
          </a:p>
        </p:txBody>
      </p:sp>
      <p:sp>
        <p:nvSpPr>
          <p:cNvPr id="29" name="Mock text 65"/>
          <p:cNvSpPr txBox="1"/>
          <p:nvPr/>
        </p:nvSpPr>
        <p:spPr>
          <a:xfrm>
            <a:off x="4259275" y="2587752"/>
            <a:ext cx="64190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Actions</a:t>
            </a:r>
            <a:endParaRPr lang="en-US" sz="950" dirty="0"/>
          </a:p>
        </p:txBody>
      </p:sp>
      <p:sp>
        <p:nvSpPr>
          <p:cNvPr id="30" name="Mock rect 66"/>
          <p:cNvSpPr/>
          <p:nvPr/>
        </p:nvSpPr>
        <p:spPr>
          <a:xfrm>
            <a:off x="1618488" y="2880360"/>
            <a:ext cx="3209544" cy="347472"/>
          </a:xfrm>
          <a:prstGeom prst="rect">
            <a:avLst/>
          </a:prstGeom>
          <a:solidFill>
            <a:srgbClr val="FAF8FF"/>
          </a:solidFill>
          <a:ln w="6350">
            <a:solidFill>
              <a:srgbClr val="E4DEF5"/>
            </a:solidFill>
            <a:prstDash val="solid"/>
          </a:ln>
        </p:spPr>
      </p:sp>
      <p:sp>
        <p:nvSpPr>
          <p:cNvPr id="31" name="Mock text 67"/>
          <p:cNvSpPr txBox="1"/>
          <p:nvPr/>
        </p:nvSpPr>
        <p:spPr>
          <a:xfrm>
            <a:off x="1691640" y="2880360"/>
            <a:ext cx="834481" cy="347472"/>
          </a:xfrm>
          <a:prstGeom prst="rect">
            <a:avLst/>
          </a:prstGeom>
          <a:noFill/>
          <a:ln/>
        </p:spPr>
        <p:txBody>
          <a:bodyPr wrap="square" lIns="0" tIns="0" rIns="0" bIns="0" rtlCol="0" anchor="ctr"/>
          <a:lstStyle/>
          <a:p>
            <a:pPr indent="0" marL="0">
              <a:buNone/>
            </a:pPr>
            <a:r>
              <a:rPr lang="en-US" sz="1050" b="1" dirty="0">
                <a:solidFill>
                  <a:schemeClr val="tx2"/>
                </a:solidFill>
                <a:latin typeface="Calibri" pitchFamily="34" charset="0"/>
                <a:ea typeface="Calibri" pitchFamily="34" charset="-122"/>
                <a:cs typeface="Calibri" pitchFamily="34" charset="-120"/>
              </a:rPr>
              <a:t>api</a:t>
            </a:r>
            <a:endParaRPr lang="en-US" sz="1050" dirty="0"/>
          </a:p>
        </p:txBody>
      </p:sp>
      <p:sp>
        <p:nvSpPr>
          <p:cNvPr id="32" name="State dot 68"/>
          <p:cNvSpPr/>
          <p:nvPr/>
        </p:nvSpPr>
        <p:spPr>
          <a:xfrm>
            <a:off x="2526121" y="3008376"/>
            <a:ext cx="91440" cy="91440"/>
          </a:xfrm>
          <a:prstGeom prst="ellipse">
            <a:avLst/>
          </a:prstGeom>
          <a:solidFill>
            <a:srgbClr val="22A06B"/>
          </a:solidFill>
          <a:ln w="12700">
            <a:solidFill>
              <a:srgbClr val="22A06B"/>
            </a:solidFill>
            <a:prstDash val="solid"/>
          </a:ln>
        </p:spPr>
      </p:sp>
      <p:sp>
        <p:nvSpPr>
          <p:cNvPr id="33" name="Mock text 69"/>
          <p:cNvSpPr txBox="1"/>
          <p:nvPr/>
        </p:nvSpPr>
        <p:spPr>
          <a:xfrm>
            <a:off x="2672425" y="2880360"/>
            <a:ext cx="802386" cy="347472"/>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Running</a:t>
            </a:r>
            <a:endParaRPr lang="en-US" sz="1050" dirty="0"/>
          </a:p>
        </p:txBody>
      </p:sp>
      <p:sp>
        <p:nvSpPr>
          <p:cNvPr id="34" name="Mock text 70"/>
          <p:cNvSpPr txBox="1"/>
          <p:nvPr/>
        </p:nvSpPr>
        <p:spPr>
          <a:xfrm>
            <a:off x="3424794" y="2880360"/>
            <a:ext cx="834481" cy="347472"/>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nginx</a:t>
            </a:r>
            <a:endParaRPr lang="en-US" sz="1050" dirty="0"/>
          </a:p>
        </p:txBody>
      </p:sp>
      <p:sp>
        <p:nvSpPr>
          <p:cNvPr id="35" name="Mock box 71"/>
          <p:cNvSpPr/>
          <p:nvPr/>
        </p:nvSpPr>
        <p:spPr>
          <a:xfrm>
            <a:off x="4277563" y="2944368"/>
            <a:ext cx="347472" cy="219456"/>
          </a:xfrm>
          <a:prstGeom prst="roundRect">
            <a:avLst>
              <a:gd name="adj" fmla="val 25000"/>
            </a:avLst>
          </a:prstGeom>
          <a:solidFill>
            <a:srgbClr val="E9E2FC"/>
          </a:solidFill>
          <a:ln w="12700">
            <a:solidFill>
              <a:schemeClr val="accent1"/>
            </a:solidFill>
            <a:prstDash val="solid"/>
          </a:ln>
        </p:spPr>
      </p:sp>
      <p:sp>
        <p:nvSpPr>
          <p:cNvPr id="36" name="Mock text 72"/>
          <p:cNvSpPr txBox="1"/>
          <p:nvPr/>
        </p:nvSpPr>
        <p:spPr>
          <a:xfrm>
            <a:off x="4277563" y="2944368"/>
            <a:ext cx="347472" cy="219456"/>
          </a:xfrm>
          <a:prstGeom prst="rect">
            <a:avLst/>
          </a:prstGeom>
          <a:noFill/>
          <a:ln/>
        </p:spPr>
        <p:txBody>
          <a:bodyPr wrap="square" lIns="0" tIns="0" rIns="0" bIns="0" rtlCol="0" anchor="ctr"/>
          <a:lstStyle/>
          <a:p>
            <a:pPr algn="ctr" indent="0" marL="0">
              <a:buNone/>
            </a:pPr>
            <a:r>
              <a:rPr lang="en-US" sz="900" b="1" dirty="0">
                <a:solidFill>
                  <a:schemeClr val="accent1"/>
                </a:solidFill>
                <a:latin typeface="Calibri" pitchFamily="34" charset="0"/>
                <a:ea typeface="Calibri" pitchFamily="34" charset="-122"/>
                <a:cs typeface="Calibri" pitchFamily="34" charset="-120"/>
              </a:rPr>
              <a:t>•••</a:t>
            </a:r>
            <a:endParaRPr lang="en-US" sz="900" dirty="0"/>
          </a:p>
        </p:txBody>
      </p:sp>
      <p:sp>
        <p:nvSpPr>
          <p:cNvPr id="37" name="Mock box 73"/>
          <p:cNvSpPr/>
          <p:nvPr/>
        </p:nvSpPr>
        <p:spPr>
          <a:xfrm>
            <a:off x="2951683" y="3209544"/>
            <a:ext cx="1737360" cy="1481328"/>
          </a:xfrm>
          <a:prstGeom prst="roundRect">
            <a:avLst>
              <a:gd name="adj" fmla="val 3704"/>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38" name="Mock text 74"/>
          <p:cNvSpPr txBox="1"/>
          <p:nvPr/>
        </p:nvSpPr>
        <p:spPr>
          <a:xfrm>
            <a:off x="3088843" y="326440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View details</a:t>
            </a:r>
            <a:endParaRPr lang="en-US" sz="1050" dirty="0"/>
          </a:p>
        </p:txBody>
      </p:sp>
      <p:sp>
        <p:nvSpPr>
          <p:cNvPr id="39" name="Mock text 75"/>
          <p:cNvSpPr txBox="1"/>
          <p:nvPr/>
        </p:nvSpPr>
        <p:spPr>
          <a:xfrm>
            <a:off x="3088843" y="353872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Console logs</a:t>
            </a:r>
            <a:endParaRPr lang="en-US" sz="1050" dirty="0"/>
          </a:p>
        </p:txBody>
      </p:sp>
      <p:sp>
        <p:nvSpPr>
          <p:cNvPr id="40" name="Mock box 76"/>
          <p:cNvSpPr/>
          <p:nvPr/>
        </p:nvSpPr>
        <p:spPr>
          <a:xfrm>
            <a:off x="2997403" y="3813048"/>
            <a:ext cx="1645920" cy="274320"/>
          </a:xfrm>
          <a:prstGeom prst="roundRect">
            <a:avLst>
              <a:gd name="adj" fmla="val 16667"/>
            </a:avLst>
          </a:prstGeom>
          <a:solidFill>
            <a:srgbClr val="E9E2FC"/>
          </a:solidFill>
          <a:ln w="12700">
            <a:solidFill>
              <a:srgbClr val="E9E2FC"/>
            </a:solidFill>
            <a:prstDash val="solid"/>
          </a:ln>
        </p:spPr>
      </p:sp>
      <p:sp>
        <p:nvSpPr>
          <p:cNvPr id="41" name="Mock text 77"/>
          <p:cNvSpPr txBox="1"/>
          <p:nvPr/>
        </p:nvSpPr>
        <p:spPr>
          <a:xfrm>
            <a:off x="3088843" y="3813048"/>
            <a:ext cx="1508760" cy="27432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Configure region</a:t>
            </a:r>
            <a:endParaRPr lang="en-US" sz="1050" dirty="0"/>
          </a:p>
        </p:txBody>
      </p:sp>
      <p:sp>
        <p:nvSpPr>
          <p:cNvPr id="42" name="Mock text 78"/>
          <p:cNvSpPr txBox="1"/>
          <p:nvPr/>
        </p:nvSpPr>
        <p:spPr>
          <a:xfrm>
            <a:off x="3088843" y="408736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Stop</a:t>
            </a:r>
            <a:endParaRPr lang="en-US" sz="1050" dirty="0"/>
          </a:p>
        </p:txBody>
      </p:sp>
      <p:sp>
        <p:nvSpPr>
          <p:cNvPr id="43" name="Mock text 79"/>
          <p:cNvSpPr txBox="1"/>
          <p:nvPr/>
        </p:nvSpPr>
        <p:spPr>
          <a:xfrm>
            <a:off x="3088843" y="436168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Restart</a:t>
            </a:r>
            <a:endParaRPr lang="en-US" sz="1050" dirty="0"/>
          </a:p>
        </p:txBody>
      </p:sp>
      <p:sp>
        <p:nvSpPr>
          <p:cNvPr id="44" name="Cursor 80"/>
          <p:cNvSpPr/>
          <p:nvPr/>
        </p:nvSpPr>
        <p:spPr>
          <a:xfrm>
            <a:off x="4323283" y="3922776"/>
            <a:ext cx="146304" cy="219456"/>
          </a:xfrm>
          <a:prstGeom prst="rtTriangle">
            <a:avLst/>
          </a:prstGeom>
          <a:solidFill>
            <a:schemeClr val="tx1"/>
          </a:solidFill>
          <a:ln w="9525">
            <a:solidFill>
              <a:srgbClr val="FFFFFF"/>
            </a:solidFill>
            <a:prstDash val="solid"/>
          </a:ln>
        </p:spPr>
      </p:sp>
      <p:sp>
        <p:nvSpPr>
          <p:cNvPr id="45" name="Mock box 81"/>
          <p:cNvSpPr/>
          <p:nvPr/>
        </p:nvSpPr>
        <p:spPr>
          <a:xfrm>
            <a:off x="5303520" y="1691640"/>
            <a:ext cx="6309360" cy="4069080"/>
          </a:xfrm>
          <a:prstGeom prst="roundRect">
            <a:avLst>
              <a:gd name="adj" fmla="val 224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46" name="Mock rect 82"/>
          <p:cNvSpPr/>
          <p:nvPr/>
        </p:nvSpPr>
        <p:spPr>
          <a:xfrm>
            <a:off x="5321808" y="1709928"/>
            <a:ext cx="6272784" cy="329184"/>
          </a:xfrm>
          <a:prstGeom prst="rect">
            <a:avLst/>
          </a:prstGeom>
          <a:solidFill>
            <a:srgbClr val="F2EEFB"/>
          </a:solidFill>
          <a:ln w="12700">
            <a:solidFill>
              <a:srgbClr val="F2EEFB"/>
            </a:solidFill>
            <a:prstDash val="solid"/>
          </a:ln>
        </p:spPr>
      </p:sp>
      <p:sp>
        <p:nvSpPr>
          <p:cNvPr id="47" name="Window dot 83"/>
          <p:cNvSpPr/>
          <p:nvPr/>
        </p:nvSpPr>
        <p:spPr>
          <a:xfrm>
            <a:off x="5440680" y="1810512"/>
            <a:ext cx="100584" cy="100584"/>
          </a:xfrm>
          <a:prstGeom prst="ellipse">
            <a:avLst/>
          </a:prstGeom>
          <a:solidFill>
            <a:srgbClr val="F87171"/>
          </a:solidFill>
          <a:ln w="12700">
            <a:solidFill>
              <a:srgbClr val="F87171"/>
            </a:solidFill>
            <a:prstDash val="solid"/>
          </a:ln>
        </p:spPr>
      </p:sp>
      <p:sp>
        <p:nvSpPr>
          <p:cNvPr id="48" name="Window dot 84"/>
          <p:cNvSpPr/>
          <p:nvPr/>
        </p:nvSpPr>
        <p:spPr>
          <a:xfrm>
            <a:off x="5605272" y="1810512"/>
            <a:ext cx="100584" cy="100584"/>
          </a:xfrm>
          <a:prstGeom prst="ellipse">
            <a:avLst/>
          </a:prstGeom>
          <a:solidFill>
            <a:srgbClr val="FBBF24"/>
          </a:solidFill>
          <a:ln w="12700">
            <a:solidFill>
              <a:srgbClr val="FBBF24"/>
            </a:solidFill>
            <a:prstDash val="solid"/>
          </a:ln>
        </p:spPr>
      </p:sp>
      <p:sp>
        <p:nvSpPr>
          <p:cNvPr id="49" name="Window dot 85"/>
          <p:cNvSpPr/>
          <p:nvPr/>
        </p:nvSpPr>
        <p:spPr>
          <a:xfrm>
            <a:off x="5769864" y="1810512"/>
            <a:ext cx="100584" cy="100584"/>
          </a:xfrm>
          <a:prstGeom prst="ellipse">
            <a:avLst/>
          </a:prstGeom>
          <a:solidFill>
            <a:srgbClr val="34D399"/>
          </a:solidFill>
          <a:ln w="12700">
            <a:solidFill>
              <a:srgbClr val="34D399"/>
            </a:solidFill>
            <a:prstDash val="solid"/>
          </a:ln>
        </p:spPr>
      </p:sp>
      <p:sp>
        <p:nvSpPr>
          <p:cNvPr id="50" name="Mock box 86"/>
          <p:cNvSpPr/>
          <p:nvPr/>
        </p:nvSpPr>
        <p:spPr>
          <a:xfrm>
            <a:off x="6035040" y="1764792"/>
            <a:ext cx="2377440" cy="201168"/>
          </a:xfrm>
          <a:prstGeom prst="roundRect">
            <a:avLst>
              <a:gd name="adj" fmla="val 45455"/>
            </a:avLst>
          </a:prstGeom>
          <a:solidFill>
            <a:srgbClr val="FFFFFF"/>
          </a:solidFill>
          <a:ln w="12700">
            <a:solidFill>
              <a:srgbClr val="E4DEF5"/>
            </a:solidFill>
            <a:prstDash val="solid"/>
          </a:ln>
        </p:spPr>
      </p:sp>
      <p:sp>
        <p:nvSpPr>
          <p:cNvPr id="51" name="Mock text 87"/>
          <p:cNvSpPr txBox="1"/>
          <p:nvPr/>
        </p:nvSpPr>
        <p:spPr>
          <a:xfrm>
            <a:off x="6126480" y="17647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52" name="Mock rect 88"/>
          <p:cNvSpPr/>
          <p:nvPr/>
        </p:nvSpPr>
        <p:spPr>
          <a:xfrm>
            <a:off x="5321808" y="2039112"/>
            <a:ext cx="868680" cy="3703320"/>
          </a:xfrm>
          <a:prstGeom prst="rect">
            <a:avLst/>
          </a:prstGeom>
          <a:solidFill>
            <a:srgbClr val="FBFAFF"/>
          </a:solidFill>
          <a:ln w="12700">
            <a:solidFill>
              <a:srgbClr val="FBFAFF"/>
            </a:solidFill>
            <a:prstDash val="solid"/>
          </a:ln>
        </p:spPr>
      </p:sp>
      <p:sp>
        <p:nvSpPr>
          <p:cNvPr id="53" name="Mock text 89"/>
          <p:cNvSpPr txBox="1"/>
          <p:nvPr/>
        </p:nvSpPr>
        <p:spPr>
          <a:xfrm>
            <a:off x="5440680" y="21305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54" name="Mock box 90"/>
          <p:cNvSpPr/>
          <p:nvPr/>
        </p:nvSpPr>
        <p:spPr>
          <a:xfrm>
            <a:off x="5376672" y="2496312"/>
            <a:ext cx="740664" cy="256032"/>
          </a:xfrm>
          <a:prstGeom prst="roundRect">
            <a:avLst>
              <a:gd name="adj" fmla="val 28571"/>
            </a:avLst>
          </a:prstGeom>
          <a:solidFill>
            <a:srgbClr val="E9E2FC"/>
          </a:solidFill>
          <a:ln w="12700">
            <a:solidFill>
              <a:srgbClr val="E9E2FC"/>
            </a:solidFill>
            <a:prstDash val="solid"/>
          </a:ln>
        </p:spPr>
      </p:sp>
      <p:sp>
        <p:nvSpPr>
          <p:cNvPr id="55" name="Mock text 91"/>
          <p:cNvSpPr txBox="1"/>
          <p:nvPr/>
        </p:nvSpPr>
        <p:spPr>
          <a:xfrm>
            <a:off x="5449824" y="24963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56" name="Mock text 92"/>
          <p:cNvSpPr txBox="1"/>
          <p:nvPr/>
        </p:nvSpPr>
        <p:spPr>
          <a:xfrm>
            <a:off x="5449824" y="28254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57" name="Mock text 93"/>
          <p:cNvSpPr txBox="1"/>
          <p:nvPr/>
        </p:nvSpPr>
        <p:spPr>
          <a:xfrm>
            <a:off x="5449824" y="31546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58" name="Mock text 94"/>
          <p:cNvSpPr txBox="1"/>
          <p:nvPr/>
        </p:nvSpPr>
        <p:spPr>
          <a:xfrm>
            <a:off x="5449824" y="34838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59" name="Mock text 95"/>
          <p:cNvSpPr txBox="1"/>
          <p:nvPr/>
        </p:nvSpPr>
        <p:spPr>
          <a:xfrm>
            <a:off x="5449824" y="38130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60" name="Mock text 96"/>
          <p:cNvSpPr txBox="1"/>
          <p:nvPr/>
        </p:nvSpPr>
        <p:spPr>
          <a:xfrm>
            <a:off x="6373368" y="2148840"/>
            <a:ext cx="18288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Resources</a:t>
            </a:r>
            <a:endParaRPr lang="en-US" sz="1400" dirty="0"/>
          </a:p>
        </p:txBody>
      </p:sp>
      <p:sp>
        <p:nvSpPr>
          <p:cNvPr id="61" name="Mock rect 97"/>
          <p:cNvSpPr/>
          <p:nvPr/>
        </p:nvSpPr>
        <p:spPr>
          <a:xfrm>
            <a:off x="6373368" y="2587752"/>
            <a:ext cx="5038344" cy="274320"/>
          </a:xfrm>
          <a:prstGeom prst="rect">
            <a:avLst/>
          </a:prstGeom>
          <a:solidFill>
            <a:srgbClr val="F2EEFB"/>
          </a:solidFill>
          <a:ln w="12700">
            <a:solidFill>
              <a:srgbClr val="F2EEFB"/>
            </a:solidFill>
            <a:prstDash val="solid"/>
          </a:ln>
        </p:spPr>
      </p:sp>
      <p:sp>
        <p:nvSpPr>
          <p:cNvPr id="62" name="Mock text 98"/>
          <p:cNvSpPr txBox="1"/>
          <p:nvPr/>
        </p:nvSpPr>
        <p:spPr>
          <a:xfrm>
            <a:off x="6446520" y="2587752"/>
            <a:ext cx="13099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Name</a:t>
            </a:r>
            <a:endParaRPr lang="en-US" sz="950" dirty="0"/>
          </a:p>
        </p:txBody>
      </p:sp>
      <p:sp>
        <p:nvSpPr>
          <p:cNvPr id="63" name="Mock text 99"/>
          <p:cNvSpPr txBox="1"/>
          <p:nvPr/>
        </p:nvSpPr>
        <p:spPr>
          <a:xfrm>
            <a:off x="7756489" y="2587752"/>
            <a:ext cx="1410736"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State</a:t>
            </a:r>
            <a:endParaRPr lang="en-US" sz="950" dirty="0"/>
          </a:p>
        </p:txBody>
      </p:sp>
      <p:sp>
        <p:nvSpPr>
          <p:cNvPr id="64" name="Mock text 100"/>
          <p:cNvSpPr txBox="1"/>
          <p:nvPr/>
        </p:nvSpPr>
        <p:spPr>
          <a:xfrm>
            <a:off x="9167226" y="2587752"/>
            <a:ext cx="13099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Source</a:t>
            </a:r>
            <a:endParaRPr lang="en-US" sz="950" dirty="0"/>
          </a:p>
        </p:txBody>
      </p:sp>
      <p:sp>
        <p:nvSpPr>
          <p:cNvPr id="65" name="Mock text 101"/>
          <p:cNvSpPr txBox="1"/>
          <p:nvPr/>
        </p:nvSpPr>
        <p:spPr>
          <a:xfrm>
            <a:off x="10477195" y="2587752"/>
            <a:ext cx="10076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Actions</a:t>
            </a:r>
            <a:endParaRPr lang="en-US" sz="950" dirty="0"/>
          </a:p>
        </p:txBody>
      </p:sp>
      <p:sp>
        <p:nvSpPr>
          <p:cNvPr id="66" name="Mock rect 102"/>
          <p:cNvSpPr/>
          <p:nvPr/>
        </p:nvSpPr>
        <p:spPr>
          <a:xfrm>
            <a:off x="6373368" y="2880360"/>
            <a:ext cx="5038344" cy="347472"/>
          </a:xfrm>
          <a:prstGeom prst="rect">
            <a:avLst/>
          </a:prstGeom>
          <a:solidFill>
            <a:srgbClr val="FAF8FF"/>
          </a:solidFill>
          <a:ln w="6350">
            <a:solidFill>
              <a:srgbClr val="E4DEF5"/>
            </a:solidFill>
            <a:prstDash val="solid"/>
          </a:ln>
        </p:spPr>
      </p:sp>
      <p:sp>
        <p:nvSpPr>
          <p:cNvPr id="67" name="Mock text 103"/>
          <p:cNvSpPr txBox="1"/>
          <p:nvPr/>
        </p:nvSpPr>
        <p:spPr>
          <a:xfrm>
            <a:off x="6446520" y="2880360"/>
            <a:ext cx="1309969" cy="347472"/>
          </a:xfrm>
          <a:prstGeom prst="rect">
            <a:avLst/>
          </a:prstGeom>
          <a:noFill/>
          <a:ln/>
        </p:spPr>
        <p:txBody>
          <a:bodyPr wrap="square" lIns="0" tIns="0" rIns="0" bIns="0" rtlCol="0" anchor="ctr"/>
          <a:lstStyle/>
          <a:p>
            <a:pPr indent="0" marL="0">
              <a:buNone/>
            </a:pPr>
            <a:r>
              <a:rPr lang="en-US" sz="1050" b="1" dirty="0">
                <a:solidFill>
                  <a:schemeClr val="tx2"/>
                </a:solidFill>
                <a:latin typeface="Calibri" pitchFamily="34" charset="0"/>
                <a:ea typeface="Calibri" pitchFamily="34" charset="-122"/>
                <a:cs typeface="Calibri" pitchFamily="34" charset="-120"/>
              </a:rPr>
              <a:t>api</a:t>
            </a:r>
            <a:endParaRPr lang="en-US" sz="1050" dirty="0"/>
          </a:p>
        </p:txBody>
      </p:sp>
      <p:sp>
        <p:nvSpPr>
          <p:cNvPr id="68" name="State dot 104"/>
          <p:cNvSpPr/>
          <p:nvPr/>
        </p:nvSpPr>
        <p:spPr>
          <a:xfrm>
            <a:off x="7756489" y="3008376"/>
            <a:ext cx="91440" cy="91440"/>
          </a:xfrm>
          <a:prstGeom prst="ellipse">
            <a:avLst/>
          </a:prstGeom>
          <a:solidFill>
            <a:srgbClr val="22A06B"/>
          </a:solidFill>
          <a:ln w="12700">
            <a:solidFill>
              <a:srgbClr val="22A06B"/>
            </a:solidFill>
            <a:prstDash val="solid"/>
          </a:ln>
        </p:spPr>
      </p:sp>
      <p:sp>
        <p:nvSpPr>
          <p:cNvPr id="69" name="Mock text 105"/>
          <p:cNvSpPr txBox="1"/>
          <p:nvPr/>
        </p:nvSpPr>
        <p:spPr>
          <a:xfrm>
            <a:off x="7902793" y="2880360"/>
            <a:ext cx="1259586" cy="347472"/>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Running</a:t>
            </a:r>
            <a:endParaRPr lang="en-US" sz="1050" dirty="0"/>
          </a:p>
        </p:txBody>
      </p:sp>
      <p:sp>
        <p:nvSpPr>
          <p:cNvPr id="70" name="Mock text 106"/>
          <p:cNvSpPr txBox="1"/>
          <p:nvPr/>
        </p:nvSpPr>
        <p:spPr>
          <a:xfrm>
            <a:off x="9167226" y="2880360"/>
            <a:ext cx="1309969" cy="347472"/>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nginx</a:t>
            </a:r>
            <a:endParaRPr lang="en-US" sz="1050" dirty="0"/>
          </a:p>
        </p:txBody>
      </p:sp>
      <p:sp>
        <p:nvSpPr>
          <p:cNvPr id="71" name="Mock box 107"/>
          <p:cNvSpPr/>
          <p:nvPr/>
        </p:nvSpPr>
        <p:spPr>
          <a:xfrm>
            <a:off x="10495483" y="2944368"/>
            <a:ext cx="347472" cy="219456"/>
          </a:xfrm>
          <a:prstGeom prst="roundRect">
            <a:avLst>
              <a:gd name="adj" fmla="val 25000"/>
            </a:avLst>
          </a:prstGeom>
          <a:solidFill>
            <a:srgbClr val="FFFFFF"/>
          </a:solidFill>
          <a:ln w="12700">
            <a:solidFill>
              <a:srgbClr val="E4DEF5"/>
            </a:solidFill>
            <a:prstDash val="solid"/>
          </a:ln>
        </p:spPr>
      </p:sp>
      <p:sp>
        <p:nvSpPr>
          <p:cNvPr id="72" name="Mock text 108"/>
          <p:cNvSpPr txBox="1"/>
          <p:nvPr/>
        </p:nvSpPr>
        <p:spPr>
          <a:xfrm>
            <a:off x="10495483" y="2944368"/>
            <a:ext cx="347472" cy="219456"/>
          </a:xfrm>
          <a:prstGeom prst="rect">
            <a:avLst/>
          </a:prstGeom>
          <a:noFill/>
          <a:ln/>
        </p:spPr>
        <p:txBody>
          <a:bodyPr wrap="square" lIns="0" tIns="0" rIns="0" bIns="0" rtlCol="0" anchor="ctr"/>
          <a:lstStyle/>
          <a:p>
            <a:pPr algn="ctr" indent="0" marL="0">
              <a:buNone/>
            </a:pPr>
            <a:r>
              <a:rPr lang="en-US" sz="900" b="1" dirty="0">
                <a:solidFill>
                  <a:schemeClr val="accent1"/>
                </a:solidFill>
                <a:latin typeface="Calibri" pitchFamily="34" charset="0"/>
                <a:ea typeface="Calibri" pitchFamily="34" charset="-122"/>
                <a:cs typeface="Calibri" pitchFamily="34" charset="-120"/>
              </a:rPr>
              <a:t>•••</a:t>
            </a:r>
            <a:endParaRPr lang="en-US" sz="900" dirty="0"/>
          </a:p>
        </p:txBody>
      </p:sp>
      <p:sp>
        <p:nvSpPr>
          <p:cNvPr id="73" name="Mock rect 109"/>
          <p:cNvSpPr/>
          <p:nvPr/>
        </p:nvSpPr>
        <p:spPr>
          <a:xfrm>
            <a:off x="5321808" y="2039112"/>
            <a:ext cx="6272784" cy="3685032"/>
          </a:xfrm>
          <a:prstGeom prst="rect">
            <a:avLst/>
          </a:prstGeom>
          <a:solidFill>
            <a:srgbClr val="17122B">
              <a:alpha val="45000"/>
            </a:srgbClr>
          </a:solidFill>
          <a:ln w="12700">
            <a:solidFill>
              <a:srgbClr val="17122B">
                <a:alpha val="0"/>
              </a:srgbClr>
            </a:solidFill>
            <a:prstDash val="solid"/>
          </a:ln>
        </p:spPr>
      </p:sp>
      <p:sp>
        <p:nvSpPr>
          <p:cNvPr id="74" name="Mock text 110"/>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Illustrative mockup of the Aspire dashboard, not a screenshot. Exact layout, labels and button text may differ.</a:t>
            </a:r>
            <a:endParaRPr lang="en-US" sz="1100" dirty="0"/>
          </a:p>
        </p:txBody>
      </p:sp>
      <p:sp>
        <p:nvSpPr>
          <p:cNvPr id="75" name="Mock box 111"/>
          <p:cNvSpPr/>
          <p:nvPr/>
        </p:nvSpPr>
        <p:spPr>
          <a:xfrm>
            <a:off x="6281928" y="2450592"/>
            <a:ext cx="2926080" cy="2651760"/>
          </a:xfrm>
          <a:prstGeom prst="roundRect">
            <a:avLst>
              <a:gd name="adj" fmla="val 2759"/>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76" name="Mock text 112"/>
          <p:cNvSpPr txBox="1"/>
          <p:nvPr/>
        </p:nvSpPr>
        <p:spPr>
          <a:xfrm>
            <a:off x="6510528" y="2587752"/>
            <a:ext cx="22860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Configure region</a:t>
            </a:r>
            <a:endParaRPr lang="en-US" sz="1500" dirty="0"/>
          </a:p>
        </p:txBody>
      </p:sp>
      <p:sp>
        <p:nvSpPr>
          <p:cNvPr id="77" name="Mock text 113"/>
          <p:cNvSpPr txBox="1"/>
          <p:nvPr/>
        </p:nvSpPr>
        <p:spPr>
          <a:xfrm>
            <a:off x="6510528" y="2999232"/>
            <a:ext cx="2468880" cy="27432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Choose the region to deploy to.</a:t>
            </a:r>
            <a:endParaRPr lang="en-US" sz="1100" dirty="0"/>
          </a:p>
        </p:txBody>
      </p:sp>
      <p:sp>
        <p:nvSpPr>
          <p:cNvPr id="78" name="Mock text 114"/>
          <p:cNvSpPr txBox="1"/>
          <p:nvPr/>
        </p:nvSpPr>
        <p:spPr>
          <a:xfrm>
            <a:off x="6510528" y="3410712"/>
            <a:ext cx="1371600" cy="228600"/>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Region</a:t>
            </a:r>
            <a:endParaRPr lang="en-US" sz="1050" dirty="0"/>
          </a:p>
        </p:txBody>
      </p:sp>
      <p:sp>
        <p:nvSpPr>
          <p:cNvPr id="79" name="Mock box 115"/>
          <p:cNvSpPr/>
          <p:nvPr/>
        </p:nvSpPr>
        <p:spPr>
          <a:xfrm>
            <a:off x="6510528" y="3685032"/>
            <a:ext cx="2468880" cy="329184"/>
          </a:xfrm>
          <a:prstGeom prst="roundRect">
            <a:avLst>
              <a:gd name="adj" fmla="val 16667"/>
            </a:avLst>
          </a:prstGeom>
          <a:solidFill>
            <a:srgbClr val="FFFFFF"/>
          </a:solidFill>
          <a:ln w="15875">
            <a:solidFill>
              <a:schemeClr val="accent1"/>
            </a:solidFill>
            <a:prstDash val="solid"/>
          </a:ln>
        </p:spPr>
      </p:sp>
      <p:sp>
        <p:nvSpPr>
          <p:cNvPr id="80" name="Mock text 116"/>
          <p:cNvSpPr txBox="1"/>
          <p:nvPr/>
        </p:nvSpPr>
        <p:spPr>
          <a:xfrm>
            <a:off x="6629400" y="3685032"/>
            <a:ext cx="1828800" cy="329184"/>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United States</a:t>
            </a:r>
            <a:endParaRPr lang="en-US" sz="1100" dirty="0"/>
          </a:p>
        </p:txBody>
      </p:sp>
      <p:sp>
        <p:nvSpPr>
          <p:cNvPr id="81" name="Mock text 117"/>
          <p:cNvSpPr txBox="1"/>
          <p:nvPr/>
        </p:nvSpPr>
        <p:spPr>
          <a:xfrm>
            <a:off x="8705088" y="3685032"/>
            <a:ext cx="182880" cy="329184"/>
          </a:xfrm>
          <a:prstGeom prst="rect">
            <a:avLst/>
          </a:prstGeom>
          <a:noFill/>
          <a:ln/>
        </p:spPr>
        <p:txBody>
          <a:bodyPr wrap="square" lIns="0" tIns="0" rIns="0" bIns="0" rtlCol="0" anchor="ctr"/>
          <a:lstStyle/>
          <a:p>
            <a:pPr indent="0" marL="0">
              <a:buNone/>
            </a:pPr>
            <a:r>
              <a:rPr lang="en-US" sz="1100" dirty="0">
                <a:solidFill>
                  <a:srgbClr val="6B6785"/>
                </a:solidFill>
                <a:latin typeface="Calibri" pitchFamily="34" charset="0"/>
                <a:ea typeface="Calibri" pitchFamily="34" charset="-122"/>
                <a:cs typeface="Calibri" pitchFamily="34" charset="-120"/>
              </a:rPr>
              <a:t>▾</a:t>
            </a:r>
            <a:endParaRPr lang="en-US" sz="1100" dirty="0"/>
          </a:p>
        </p:txBody>
      </p:sp>
      <p:sp>
        <p:nvSpPr>
          <p:cNvPr id="82" name="Mock box 118"/>
          <p:cNvSpPr/>
          <p:nvPr/>
        </p:nvSpPr>
        <p:spPr>
          <a:xfrm>
            <a:off x="6510528" y="4041648"/>
            <a:ext cx="2468880" cy="566928"/>
          </a:xfrm>
          <a:prstGeom prst="roundRect">
            <a:avLst>
              <a:gd name="adj" fmla="val 967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83" name="Mock box 119"/>
          <p:cNvSpPr/>
          <p:nvPr/>
        </p:nvSpPr>
        <p:spPr>
          <a:xfrm>
            <a:off x="6556248" y="4078224"/>
            <a:ext cx="2377440" cy="237744"/>
          </a:xfrm>
          <a:prstGeom prst="roundRect">
            <a:avLst>
              <a:gd name="adj" fmla="val 15385"/>
            </a:avLst>
          </a:prstGeom>
          <a:solidFill>
            <a:srgbClr val="E9E2FC"/>
          </a:solidFill>
          <a:ln w="12700">
            <a:solidFill>
              <a:srgbClr val="E9E2FC"/>
            </a:solidFill>
            <a:prstDash val="solid"/>
          </a:ln>
        </p:spPr>
      </p:sp>
      <p:sp>
        <p:nvSpPr>
          <p:cNvPr id="84" name="Mock text 120"/>
          <p:cNvSpPr txBox="1"/>
          <p:nvPr/>
        </p:nvSpPr>
        <p:spPr>
          <a:xfrm>
            <a:off x="6647688" y="4078224"/>
            <a:ext cx="1828800" cy="237744"/>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United States</a:t>
            </a:r>
            <a:endParaRPr lang="en-US" sz="1050" dirty="0"/>
          </a:p>
        </p:txBody>
      </p:sp>
      <p:sp>
        <p:nvSpPr>
          <p:cNvPr id="85" name="Mock text 121"/>
          <p:cNvSpPr txBox="1"/>
          <p:nvPr/>
        </p:nvSpPr>
        <p:spPr>
          <a:xfrm>
            <a:off x="6647688" y="4334256"/>
            <a:ext cx="1828800" cy="237744"/>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Europe</a:t>
            </a:r>
            <a:endParaRPr lang="en-US" sz="1050" dirty="0"/>
          </a:p>
        </p:txBody>
      </p:sp>
      <p:sp>
        <p:nvSpPr>
          <p:cNvPr id="86" name="Mock box 122"/>
          <p:cNvSpPr/>
          <p:nvPr/>
        </p:nvSpPr>
        <p:spPr>
          <a:xfrm>
            <a:off x="8293608" y="4718304"/>
            <a:ext cx="685800" cy="292608"/>
          </a:xfrm>
          <a:prstGeom prst="roundRect">
            <a:avLst>
              <a:gd name="adj" fmla="val 18750"/>
            </a:avLst>
          </a:prstGeom>
          <a:solidFill>
            <a:schemeClr val="accent1"/>
          </a:solidFill>
          <a:ln w="12700">
            <a:solidFill>
              <a:schemeClr val="accent1"/>
            </a:solidFill>
            <a:prstDash val="solid"/>
          </a:ln>
        </p:spPr>
      </p:sp>
      <p:sp>
        <p:nvSpPr>
          <p:cNvPr id="87" name="Mock text 123"/>
          <p:cNvSpPr txBox="1"/>
          <p:nvPr/>
        </p:nvSpPr>
        <p:spPr>
          <a:xfrm>
            <a:off x="8293608" y="4718304"/>
            <a:ext cx="685800" cy="292608"/>
          </a:xfrm>
          <a:prstGeom prst="rect">
            <a:avLst/>
          </a:prstGeom>
          <a:noFill/>
          <a:ln/>
        </p:spPr>
        <p:txBody>
          <a:bodyPr wrap="square" lIns="0" tIns="0" rIns="0" bIns="0" rtlCol="0" anchor="ctr"/>
          <a:lstStyle/>
          <a:p>
            <a:pPr algn="ctr" indent="0" marL="0">
              <a:buNone/>
            </a:pPr>
            <a:r>
              <a:rPr lang="en-US" sz="1050" b="1" dirty="0">
                <a:solidFill>
                  <a:schemeClr val="bg1"/>
                </a:solidFill>
                <a:latin typeface="Calibri" pitchFamily="34" charset="0"/>
                <a:ea typeface="Calibri" pitchFamily="34" charset="-122"/>
                <a:cs typeface="Calibri" pitchFamily="34" charset="-120"/>
              </a:rPr>
              <a:t>OK</a:t>
            </a:r>
            <a:endParaRPr lang="en-US" sz="1050" dirty="0"/>
          </a:p>
        </p:txBody>
      </p:sp>
      <p:sp>
        <p:nvSpPr>
          <p:cNvPr id="88" name="Mock box 124"/>
          <p:cNvSpPr/>
          <p:nvPr/>
        </p:nvSpPr>
        <p:spPr>
          <a:xfrm>
            <a:off x="7251192" y="4718304"/>
            <a:ext cx="932688" cy="292608"/>
          </a:xfrm>
          <a:prstGeom prst="roundRect">
            <a:avLst>
              <a:gd name="adj" fmla="val 18750"/>
            </a:avLst>
          </a:prstGeom>
          <a:solidFill>
            <a:srgbClr val="FFFFFF"/>
          </a:solidFill>
          <a:ln w="12700">
            <a:solidFill>
              <a:srgbClr val="E4DEF5"/>
            </a:solidFill>
            <a:prstDash val="solid"/>
          </a:ln>
        </p:spPr>
      </p:sp>
      <p:sp>
        <p:nvSpPr>
          <p:cNvPr id="89" name="Mock text 125"/>
          <p:cNvSpPr txBox="1"/>
          <p:nvPr/>
        </p:nvSpPr>
        <p:spPr>
          <a:xfrm>
            <a:off x="7251192" y="4718304"/>
            <a:ext cx="932688" cy="29260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Cancel</a:t>
            </a:r>
            <a:endParaRPr lang="en-US" sz="1050" dirty="0"/>
          </a:p>
        </p:txBody>
      </p:sp>
      <p:sp>
        <p:nvSpPr>
          <p:cNvPr id="90" name="Tag line 126"/>
          <p:cNvSpPr/>
          <p:nvPr/>
        </p:nvSpPr>
        <p:spPr>
          <a:xfrm>
            <a:off x="8659368" y="2761488"/>
            <a:ext cx="731520" cy="0"/>
          </a:xfrm>
          <a:prstGeom prst="line">
            <a:avLst/>
          </a:prstGeom>
          <a:noFill/>
          <a:ln w="12700">
            <a:solidFill>
              <a:srgbClr val="D97706"/>
            </a:solidFill>
            <a:prstDash val="dash"/>
          </a:ln>
        </p:spPr>
      </p:sp>
      <p:sp>
        <p:nvSpPr>
          <p:cNvPr id="91" name="Mock box 127"/>
          <p:cNvSpPr/>
          <p:nvPr/>
        </p:nvSpPr>
        <p:spPr>
          <a:xfrm>
            <a:off x="9390888" y="2633472"/>
            <a:ext cx="662940" cy="256032"/>
          </a:xfrm>
          <a:prstGeom prst="roundRect">
            <a:avLst>
              <a:gd name="adj" fmla="val 21429"/>
            </a:avLst>
          </a:prstGeom>
          <a:solidFill>
            <a:srgbClr val="FFF4E0"/>
          </a:solidFill>
          <a:ln w="12700">
            <a:solidFill>
              <a:srgbClr val="D97706"/>
            </a:solidFill>
            <a:prstDash val="solid"/>
          </a:ln>
        </p:spPr>
      </p:sp>
      <p:sp>
        <p:nvSpPr>
          <p:cNvPr id="92" name="Mock text 128"/>
          <p:cNvSpPr txBox="1"/>
          <p:nvPr/>
        </p:nvSpPr>
        <p:spPr>
          <a:xfrm>
            <a:off x="9390888" y="2633472"/>
            <a:ext cx="662940"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title</a:t>
            </a:r>
            <a:endParaRPr lang="en-US" sz="1000" dirty="0"/>
          </a:p>
        </p:txBody>
      </p:sp>
      <p:sp>
        <p:nvSpPr>
          <p:cNvPr id="93" name="Tag line 129"/>
          <p:cNvSpPr/>
          <p:nvPr/>
        </p:nvSpPr>
        <p:spPr>
          <a:xfrm>
            <a:off x="8796528" y="3136392"/>
            <a:ext cx="594360" cy="0"/>
          </a:xfrm>
          <a:prstGeom prst="line">
            <a:avLst/>
          </a:prstGeom>
          <a:noFill/>
          <a:ln w="12700">
            <a:solidFill>
              <a:srgbClr val="D97706"/>
            </a:solidFill>
            <a:prstDash val="dash"/>
          </a:ln>
        </p:spPr>
      </p:sp>
      <p:sp>
        <p:nvSpPr>
          <p:cNvPr id="94" name="Mock box 130"/>
          <p:cNvSpPr/>
          <p:nvPr/>
        </p:nvSpPr>
        <p:spPr>
          <a:xfrm>
            <a:off x="9390888" y="3008376"/>
            <a:ext cx="818388" cy="256032"/>
          </a:xfrm>
          <a:prstGeom prst="roundRect">
            <a:avLst>
              <a:gd name="adj" fmla="val 21429"/>
            </a:avLst>
          </a:prstGeom>
          <a:solidFill>
            <a:srgbClr val="FFF4E0"/>
          </a:solidFill>
          <a:ln w="12700">
            <a:solidFill>
              <a:srgbClr val="D97706"/>
            </a:solidFill>
            <a:prstDash val="solid"/>
          </a:ln>
        </p:spPr>
      </p:sp>
      <p:sp>
        <p:nvSpPr>
          <p:cNvPr id="95" name="Mock text 131"/>
          <p:cNvSpPr txBox="1"/>
          <p:nvPr/>
        </p:nvSpPr>
        <p:spPr>
          <a:xfrm>
            <a:off x="9390888" y="3008376"/>
            <a:ext cx="818388"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message</a:t>
            </a:r>
            <a:endParaRPr lang="en-US" sz="1000" dirty="0"/>
          </a:p>
        </p:txBody>
      </p:sp>
      <p:sp>
        <p:nvSpPr>
          <p:cNvPr id="96" name="Tag line 132"/>
          <p:cNvSpPr/>
          <p:nvPr/>
        </p:nvSpPr>
        <p:spPr>
          <a:xfrm>
            <a:off x="7059168" y="3520440"/>
            <a:ext cx="2331720" cy="0"/>
          </a:xfrm>
          <a:prstGeom prst="line">
            <a:avLst/>
          </a:prstGeom>
          <a:noFill/>
          <a:ln w="12700">
            <a:solidFill>
              <a:srgbClr val="D97706"/>
            </a:solidFill>
            <a:prstDash val="dash"/>
          </a:ln>
        </p:spPr>
      </p:sp>
      <p:sp>
        <p:nvSpPr>
          <p:cNvPr id="97" name="Mock box 133"/>
          <p:cNvSpPr/>
          <p:nvPr/>
        </p:nvSpPr>
        <p:spPr>
          <a:xfrm>
            <a:off x="9390888" y="3392424"/>
            <a:ext cx="662940" cy="256032"/>
          </a:xfrm>
          <a:prstGeom prst="roundRect">
            <a:avLst>
              <a:gd name="adj" fmla="val 21429"/>
            </a:avLst>
          </a:prstGeom>
          <a:solidFill>
            <a:srgbClr val="FFF4E0"/>
          </a:solidFill>
          <a:ln w="12700">
            <a:solidFill>
              <a:srgbClr val="D97706"/>
            </a:solidFill>
            <a:prstDash val="solid"/>
          </a:ln>
        </p:spPr>
      </p:sp>
      <p:sp>
        <p:nvSpPr>
          <p:cNvPr id="98" name="Mock text 134"/>
          <p:cNvSpPr txBox="1"/>
          <p:nvPr/>
        </p:nvSpPr>
        <p:spPr>
          <a:xfrm>
            <a:off x="9390888" y="3392424"/>
            <a:ext cx="662940"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Label</a:t>
            </a:r>
            <a:endParaRPr lang="en-US" sz="1000" dirty="0"/>
          </a:p>
        </p:txBody>
      </p:sp>
      <p:sp>
        <p:nvSpPr>
          <p:cNvPr id="99" name="Tag line 135"/>
          <p:cNvSpPr/>
          <p:nvPr/>
        </p:nvSpPr>
        <p:spPr>
          <a:xfrm>
            <a:off x="8979408" y="3849624"/>
            <a:ext cx="411480" cy="0"/>
          </a:xfrm>
          <a:prstGeom prst="line">
            <a:avLst/>
          </a:prstGeom>
          <a:noFill/>
          <a:ln w="12700">
            <a:solidFill>
              <a:srgbClr val="D97706"/>
            </a:solidFill>
            <a:prstDash val="dash"/>
          </a:ln>
        </p:spPr>
      </p:sp>
      <p:sp>
        <p:nvSpPr>
          <p:cNvPr id="100" name="Mock box 136"/>
          <p:cNvSpPr/>
          <p:nvPr/>
        </p:nvSpPr>
        <p:spPr>
          <a:xfrm>
            <a:off x="9390888" y="3721608"/>
            <a:ext cx="1517904" cy="256032"/>
          </a:xfrm>
          <a:prstGeom prst="roundRect">
            <a:avLst>
              <a:gd name="adj" fmla="val 21429"/>
            </a:avLst>
          </a:prstGeom>
          <a:solidFill>
            <a:srgbClr val="FFF4E0"/>
          </a:solidFill>
          <a:ln w="12700">
            <a:solidFill>
              <a:srgbClr val="D97706"/>
            </a:solidFill>
            <a:prstDash val="solid"/>
          </a:ln>
        </p:spPr>
      </p:sp>
      <p:sp>
        <p:nvSpPr>
          <p:cNvPr id="101" name="Mock text 137"/>
          <p:cNvSpPr txBox="1"/>
          <p:nvPr/>
        </p:nvSpPr>
        <p:spPr>
          <a:xfrm>
            <a:off x="9390888" y="3721608"/>
            <a:ext cx="1517904"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InputType.Choice</a:t>
            </a:r>
            <a:endParaRPr lang="en-US" sz="1000" dirty="0"/>
          </a:p>
        </p:txBody>
      </p:sp>
      <p:sp>
        <p:nvSpPr>
          <p:cNvPr id="102" name="Tag line 138"/>
          <p:cNvSpPr/>
          <p:nvPr/>
        </p:nvSpPr>
        <p:spPr>
          <a:xfrm>
            <a:off x="8979408" y="4325112"/>
            <a:ext cx="411480" cy="0"/>
          </a:xfrm>
          <a:prstGeom prst="line">
            <a:avLst/>
          </a:prstGeom>
          <a:noFill/>
          <a:ln w="12700">
            <a:solidFill>
              <a:srgbClr val="D97706"/>
            </a:solidFill>
            <a:prstDash val="dash"/>
          </a:ln>
        </p:spPr>
      </p:sp>
      <p:sp>
        <p:nvSpPr>
          <p:cNvPr id="103" name="Mock box 139"/>
          <p:cNvSpPr/>
          <p:nvPr/>
        </p:nvSpPr>
        <p:spPr>
          <a:xfrm>
            <a:off x="9390888" y="4197096"/>
            <a:ext cx="818388" cy="256032"/>
          </a:xfrm>
          <a:prstGeom prst="roundRect">
            <a:avLst>
              <a:gd name="adj" fmla="val 21429"/>
            </a:avLst>
          </a:prstGeom>
          <a:solidFill>
            <a:srgbClr val="FFF4E0"/>
          </a:solidFill>
          <a:ln w="12700">
            <a:solidFill>
              <a:srgbClr val="D97706"/>
            </a:solidFill>
            <a:prstDash val="solid"/>
          </a:ln>
        </p:spPr>
      </p:sp>
      <p:sp>
        <p:nvSpPr>
          <p:cNvPr id="104" name="Mock text 140"/>
          <p:cNvSpPr txBox="1"/>
          <p:nvPr/>
        </p:nvSpPr>
        <p:spPr>
          <a:xfrm>
            <a:off x="9390888" y="4197096"/>
            <a:ext cx="818388"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Options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Let users upload a file</a:t>
            </a:r>
            <a:endParaRPr lang="en-US" sz="3400" dirty="0"/>
          </a:p>
        </p:txBody>
      </p:sp>
      <p:sp>
        <p:nvSpPr>
          <p:cNvPr id="3" name="Upload CS panel"/>
          <p:cNvSpPr/>
          <p:nvPr/>
        </p:nvSpPr>
        <p:spPr>
          <a:xfrm>
            <a:off x="548640" y="1234440"/>
            <a:ext cx="7589520" cy="5074920"/>
          </a:xfrm>
          <a:prstGeom prst="roundRect">
            <a:avLst>
              <a:gd name="adj" fmla="val 1441"/>
            </a:avLst>
          </a:prstGeom>
          <a:solidFill>
            <a:srgbClr val="1C1830"/>
          </a:solidFill>
          <a:ln w="12700">
            <a:solidFill>
              <a:srgbClr val="1C1830"/>
            </a:solidFill>
            <a:prstDash val="solid"/>
          </a:ln>
        </p:spPr>
      </p:sp>
      <p:sp>
        <p:nvSpPr>
          <p:cNvPr id="4" name="Upload CS label"/>
          <p:cNvSpPr txBox="1"/>
          <p:nvPr/>
        </p:nvSpPr>
        <p:spPr>
          <a:xfrm>
            <a:off x="777240" y="132588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Upload CS text"/>
          <p:cNvSpPr txBox="1"/>
          <p:nvPr/>
        </p:nvSpPr>
        <p:spPr>
          <a:xfrm>
            <a:off x="777240" y="1645920"/>
            <a:ext cx="7132320" cy="4572000"/>
          </a:xfrm>
          <a:prstGeom prst="rect">
            <a:avLst/>
          </a:prstGeom>
          <a:noFill/>
          <a:ln/>
        </p:spPr>
        <p:txBody>
          <a:bodyPr wrap="square" lIns="0" tIns="0" rIns="0" bIns="0" rtlCol="0" anchor="t"/>
          <a:lstStyle/>
          <a:p>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importer</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builder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AddContainer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"importer"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"nginx"</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importer</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WithCommand</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"import-data"</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"Import data"</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async</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 =&gt;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Services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GetRequiredService</a:t>
            </a:r>
            <a:pPr indent="0" marL="0">
              <a:buNone/>
            </a:pPr>
            <a:r>
              <a:rPr lang="en-US" sz="1050" dirty="0">
                <a:solidFill>
                  <a:srgbClr val="E8E6F0"/>
                </a:solidFill>
                <a:latin typeface="Courier New" pitchFamily="34" charset="0"/>
                <a:ea typeface="Courier New" pitchFamily="34" charset="-122"/>
                <a:cs typeface="Courier New" pitchFamily="34" charset="-120"/>
              </a:rPr>
              <a:t>&lt;</a:t>
            </a:r>
            <a:pPr indent="0" marL="0">
              <a:buNone/>
            </a:pPr>
            <a:r>
              <a:rPr lang="en-US" sz="1050" dirty="0">
                <a:solidFill>
                  <a:srgbClr val="7CC7FF"/>
                </a:solidFill>
                <a:latin typeface="Courier New" pitchFamily="34" charset="0"/>
                <a:ea typeface="Courier New" pitchFamily="34" charset="-122"/>
                <a:cs typeface="Courier New" pitchFamily="34" charset="-120"/>
              </a:rPr>
              <a:t>IInteractionService</a:t>
            </a:r>
            <a:pPr indent="0" marL="0">
              <a:buNone/>
            </a:pPr>
            <a:r>
              <a:rPr lang="en-US" sz="1050" dirty="0">
                <a:solidFill>
                  <a:srgbClr val="E8E6F0"/>
                </a:solidFill>
                <a:latin typeface="Courier New" pitchFamily="34" charset="0"/>
                <a:ea typeface="Courier New" pitchFamily="34" charset="-122"/>
                <a:cs typeface="Courier New" pitchFamily="34" charset="-120"/>
              </a:rPr>
              <a:t>&gt;();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IsAvailable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await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interaction</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PromptInputsAsync</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title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"Import data"</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message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8FE3B0"/>
                </a:solidFill>
                <a:latin typeface="Courier New" pitchFamily="34" charset="0"/>
                <a:ea typeface="Courier New" pitchFamily="34" charset="-122"/>
                <a:cs typeface="Courier New" pitchFamily="34" charset="-120"/>
              </a:rPr>
              <a:t>"Select a JSON file to import."</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inputs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new</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InteractionInput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Name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"dataFile"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Label</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"Data file"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7CC7FF"/>
                </a:solidFill>
                <a:latin typeface="Courier New" pitchFamily="34" charset="0"/>
                <a:ea typeface="Courier New" pitchFamily="34" charset="-122"/>
                <a:cs typeface="Courier New" pitchFamily="34" charset="-120"/>
              </a:rPr>
              <a:t>InputType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FileFilter</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8FE3B0"/>
                </a:solidFill>
                <a:latin typeface="Courier New" pitchFamily="34" charset="0"/>
                <a:ea typeface="Courier New" pitchFamily="34" charset="-122"/>
                <a:cs typeface="Courier New" pitchFamily="34" charset="-120"/>
              </a:rPr>
              <a:t>".json"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MaxFileSize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F8C77A"/>
                </a:solidFill>
                <a:latin typeface="Courier New" pitchFamily="34" charset="0"/>
                <a:ea typeface="Courier New" pitchFamily="34" charset="-122"/>
                <a:cs typeface="Courier New" pitchFamily="34" charset="-120"/>
              </a:rPr>
              <a:t>10</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F8C77A"/>
                </a:solidFill>
                <a:latin typeface="Courier New" pitchFamily="34" charset="0"/>
                <a:ea typeface="Courier New" pitchFamily="34" charset="-122"/>
                <a:cs typeface="Courier New" pitchFamily="34" charset="-120"/>
              </a:rPr>
              <a:t>1024</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F8C77A"/>
                </a:solidFill>
                <a:latin typeface="Courier New" pitchFamily="34" charset="0"/>
                <a:ea typeface="Courier New" pitchFamily="34" charset="-122"/>
                <a:cs typeface="Courier New" pitchFamily="34" charset="-120"/>
              </a:rPr>
              <a:t>1024</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i="1" dirty="0">
                <a:solidFill>
                  <a:srgbClr val="8B87A3"/>
                </a:solidFill>
                <a:latin typeface="Courier New" pitchFamily="34" charset="0"/>
                <a:ea typeface="Courier New" pitchFamily="34" charset="-122"/>
                <a:cs typeface="Courier New" pitchFamily="34" charset="-120"/>
              </a:rPr>
              <a:t>// 10 MB</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Required</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true</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Canceled</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E8E6F0"/>
                </a:solidFill>
                <a:latin typeface="Courier New" pitchFamily="34" charset="0"/>
                <a:ea typeface="Courier New" pitchFamily="34" charset="-122"/>
                <a:cs typeface="Courier New" pitchFamily="34" charset="-120"/>
              </a:rPr>
              <a:t>result</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Data</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"dataFile"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Files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F8C77A"/>
                </a:solidFill>
                <a:latin typeface="Courier New" pitchFamily="34" charset="0"/>
                <a:ea typeface="Courier New" pitchFamily="34" charset="-122"/>
                <a:cs typeface="Courier New" pitchFamily="34" charset="-120"/>
              </a:rPr>
              <a:t>0</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if</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is</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null</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Failure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8FE3B0"/>
                </a:solidFill>
                <a:latin typeface="Courier New" pitchFamily="34" charset="0"/>
                <a:ea typeface="Courier New" pitchFamily="34" charset="-122"/>
                <a:cs typeface="Courier New" pitchFamily="34" charset="-120"/>
              </a:rPr>
              <a:t>"No file was uploaded."</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var</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bytes</a:t>
            </a:r>
            <a:pPr indent="0" marL="0">
              <a:buNone/>
            </a:pPr>
            <a:r>
              <a:rPr lang="en-US" sz="1050" dirty="0">
                <a:solidFill>
                  <a:srgbClr val="E8E6F0"/>
                </a:solidFill>
                <a:latin typeface="Courier New" pitchFamily="34" charset="0"/>
                <a:ea typeface="Courier New" pitchFamily="34" charset="-122"/>
                <a:cs typeface="Courier New" pitchFamily="34" charset="-120"/>
              </a:rPr>
              <a:t> = </a:t>
            </a:r>
            <a:pPr indent="0" marL="0">
              <a:buNone/>
            </a:pPr>
            <a:r>
              <a:rPr lang="en-US" sz="1050" dirty="0">
                <a:solidFill>
                  <a:srgbClr val="C4A7FF"/>
                </a:solidFill>
                <a:latin typeface="Courier New" pitchFamily="34" charset="0"/>
                <a:ea typeface="Courier New" pitchFamily="34" charset="-122"/>
                <a:cs typeface="Courier New" pitchFamily="34" charset="-120"/>
              </a:rPr>
              <a:t>await</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E8E6F0"/>
                </a:solidFill>
                <a:latin typeface="Courier New" pitchFamily="34" charset="0"/>
                <a:ea typeface="Courier New" pitchFamily="34" charset="-122"/>
                <a:cs typeface="Courier New" pitchFamily="34" charset="-120"/>
              </a:rPr>
              <a:t>file</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ReadAllBytesAsync</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ctx</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C4A7FF"/>
                </a:solidFill>
                <a:latin typeface="Courier New" pitchFamily="34" charset="0"/>
                <a:ea typeface="Courier New" pitchFamily="34" charset="-122"/>
                <a:cs typeface="Courier New" pitchFamily="34" charset="-120"/>
              </a:rPr>
              <a:t>return</a:t>
            </a:r>
            <a:pPr indent="0" marL="0">
              <a:buNone/>
            </a:pPr>
            <a:r>
              <a:rPr lang="en-US" sz="1050" dirty="0">
                <a:solidFill>
                  <a:srgbClr val="E8E6F0"/>
                </a:solidFill>
                <a:latin typeface="Courier New" pitchFamily="34" charset="0"/>
                <a:ea typeface="Courier New" pitchFamily="34" charset="-122"/>
                <a:cs typeface="Courier New" pitchFamily="34" charset="-120"/>
              </a:rPr>
              <a:t> </a:t>
            </a:r>
            <a:pPr indent="0" marL="0">
              <a:buNone/>
            </a:pPr>
            <a:r>
              <a:rPr lang="en-US" sz="1050" dirty="0">
                <a:solidFill>
                  <a:srgbClr val="7CC7FF"/>
                </a:solidFill>
                <a:latin typeface="Courier New" pitchFamily="34" charset="0"/>
                <a:ea typeface="Courier New" pitchFamily="34" charset="-122"/>
                <a:cs typeface="Courier New" pitchFamily="34" charset="-120"/>
              </a:rPr>
              <a:t>CommandResults</a:t>
            </a:r>
            <a:pPr indent="0" marL="0">
              <a:buNone/>
            </a:pPr>
            <a:r>
              <a:rPr lang="en-US" sz="1050" dirty="0">
                <a:solidFill>
                  <a:srgbClr val="E8E6F0"/>
                </a:solidFill>
                <a:latin typeface="Courier New" pitchFamily="34" charset="0"/>
                <a:ea typeface="Courier New" pitchFamily="34" charset="-122"/>
                <a:cs typeface="Courier New" pitchFamily="34" charset="-120"/>
              </a:rPr>
              <a:t>.</a:t>
            </a:r>
            <a:pPr indent="0" marL="0">
              <a:buNone/>
            </a:pPr>
            <a:r>
              <a:rPr lang="en-US" sz="1050" dirty="0">
                <a:solidFill>
                  <a:srgbClr val="E8E6F0"/>
                </a:solidFill>
                <a:latin typeface="Courier New" pitchFamily="34" charset="0"/>
                <a:ea typeface="Courier New" pitchFamily="34" charset="-122"/>
                <a:cs typeface="Courier New" pitchFamily="34" charset="-120"/>
              </a:rPr>
              <a:t>Success</a:t>
            </a:r>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8E6F0"/>
                </a:solidFill>
                <a:latin typeface="Courier New" pitchFamily="34" charset="0"/>
                <a:ea typeface="Courier New" pitchFamily="34" charset="-122"/>
                <a:cs typeface="Courier New" pitchFamily="34" charset="-120"/>
              </a:rPr>
              <a:t>});</a:t>
            </a:r>
            <a:endParaRPr lang="en-US" sz="1050" dirty="0"/>
          </a:p>
        </p:txBody>
      </p:sp>
      <p:sp>
        <p:nvSpPr>
          <p:cNvPr id="6" name="Upload notes panel"/>
          <p:cNvSpPr/>
          <p:nvPr/>
        </p:nvSpPr>
        <p:spPr>
          <a:xfrm>
            <a:off x="8366760" y="1234440"/>
            <a:ext cx="3246120" cy="5074920"/>
          </a:xfrm>
          <a:prstGeom prst="roundRect">
            <a:avLst>
              <a:gd name="adj" fmla="val 2817"/>
            </a:avLst>
          </a:prstGeom>
          <a:solidFill>
            <a:schemeClr val="bg2"/>
          </a:solidFill>
          <a:ln w="12700">
            <a:solidFill>
              <a:schemeClr val="bg2"/>
            </a:solidFill>
            <a:prstDash val="solid"/>
          </a:ln>
        </p:spPr>
      </p:sp>
      <p:sp>
        <p:nvSpPr>
          <p:cNvPr id="7" name="Upload notes text"/>
          <p:cNvSpPr txBox="1"/>
          <p:nvPr/>
        </p:nvSpPr>
        <p:spPr>
          <a:xfrm>
            <a:off x="8641080" y="1463040"/>
            <a:ext cx="2697480" cy="4617720"/>
          </a:xfrm>
          <a:prstGeom prst="rect">
            <a:avLst/>
          </a:prstGeom>
          <a:noFill/>
          <a:ln/>
        </p:spPr>
        <p:txBody>
          <a:bodyPr wrap="square" lIns="0" tIns="0" rIns="0" bIns="0" rtlCol="0" anchor="t"/>
          <a:lstStyle/>
          <a:p>
            <a:pPr indent="0" marL="0">
              <a:buNone/>
            </a:pPr>
            <a:r>
              <a:rPr lang="en-US" sz="1500" b="1" dirty="0">
                <a:solidFill>
                  <a:schemeClr val="tx2"/>
                </a:solidFill>
              </a:rPr>
              <a:t>InputType.File</a:t>
            </a:r>
            <a:endParaRPr lang="en-US" sz="1500" dirty="0"/>
          </a:p>
          <a:p>
            <a:pPr indent="0" marL="0">
              <a:spcAft>
                <a:spcPts val="1200"/>
              </a:spcAft>
              <a:buNone/>
            </a:pPr>
            <a:r>
              <a:rPr lang="en-US" sz="1400" dirty="0">
                <a:solidFill>
                  <a:schemeClr val="tx1"/>
                </a:solidFill>
              </a:rPr>
              <a:t>The dashboard shows a file picker, limited by FileFilter and MaxFileSize.</a:t>
            </a:r>
            <a:endParaRPr lang="en-US" sz="1500" dirty="0"/>
          </a:p>
          <a:p>
            <a:pPr indent="0" marL="0">
              <a:buNone/>
            </a:pPr>
            <a:r>
              <a:rPr lang="en-US" sz="1500" b="1" dirty="0">
                <a:solidFill>
                  <a:schemeClr val="tx2"/>
                </a:solidFill>
              </a:rPr>
              <a:t>Read the file</a:t>
            </a:r>
            <a:endParaRPr lang="en-US" sz="1500" dirty="0"/>
          </a:p>
          <a:p>
            <a:pPr indent="0" marL="0">
              <a:spcAft>
                <a:spcPts val="1200"/>
              </a:spcAft>
              <a:buNone/>
            </a:pPr>
            <a:r>
              <a:rPr lang="en-US" sz="1400" dirty="0">
                <a:solidFill>
                  <a:schemeClr val="tx1"/>
                </a:solidFill>
              </a:rPr>
              <a:t>C#: ReadAllBytesAsync() or OpenRead(). TypeScript: read the path in file.filePath with Node's fs.</a:t>
            </a:r>
            <a:endParaRPr lang="en-US" sz="1500" dirty="0"/>
          </a:p>
          <a:p>
            <a:pPr indent="0" marL="0">
              <a:buNone/>
            </a:pPr>
            <a:r>
              <a:rPr lang="en-US" sz="1500" b="1" dirty="0">
                <a:solidFill>
                  <a:schemeClr val="tx2"/>
                </a:solidFill>
              </a:rPr>
              <a:t>Stable</a:t>
            </a:r>
            <a:endParaRPr lang="en-US" sz="1500" dirty="0"/>
          </a:p>
          <a:p>
            <a:pPr indent="0" marL="0">
              <a:spcAft>
                <a:spcPts val="1200"/>
              </a:spcAft>
              <a:buNone/>
            </a:pPr>
            <a:r>
              <a:rPr lang="en-US" sz="1400" dirty="0">
                <a:solidFill>
                  <a:schemeClr val="tx1"/>
                </a:solidFill>
              </a:rPr>
              <a:t>File input needs no suppression.</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it looks like: the file picker</a:t>
            </a:r>
            <a:endParaRPr lang="en-US" sz="3400" dirty="0"/>
          </a:p>
        </p:txBody>
      </p:sp>
      <p:sp>
        <p:nvSpPr>
          <p:cNvPr id="3" name="Step circle 141"/>
          <p:cNvSpPr/>
          <p:nvPr/>
        </p:nvSpPr>
        <p:spPr>
          <a:xfrm>
            <a:off x="548640" y="1188720"/>
            <a:ext cx="347472" cy="347472"/>
          </a:xfrm>
          <a:prstGeom prst="ellipse">
            <a:avLst/>
          </a:prstGeom>
          <a:solidFill>
            <a:schemeClr val="accent1"/>
          </a:solidFill>
          <a:ln w="12700">
            <a:solidFill>
              <a:schemeClr val="accent1"/>
            </a:solidFill>
            <a:prstDash val="solid"/>
          </a:ln>
        </p:spPr>
      </p:sp>
      <p:sp>
        <p:nvSpPr>
          <p:cNvPr id="4" name="Mock text 142"/>
          <p:cNvSpPr txBox="1"/>
          <p:nvPr/>
        </p:nvSpPr>
        <p:spPr>
          <a:xfrm>
            <a:off x="548640" y="11887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Mock text 143"/>
          <p:cNvSpPr txBox="1"/>
          <p:nvPr/>
        </p:nvSpPr>
        <p:spPr>
          <a:xfrm>
            <a:off x="1005840" y="1188720"/>
            <a:ext cx="41148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Click ••• on "importer", then "Import data"</a:t>
            </a:r>
            <a:endParaRPr lang="en-US" sz="1500" dirty="0"/>
          </a:p>
        </p:txBody>
      </p:sp>
      <p:sp>
        <p:nvSpPr>
          <p:cNvPr id="6" name="Step circle 144"/>
          <p:cNvSpPr/>
          <p:nvPr/>
        </p:nvSpPr>
        <p:spPr>
          <a:xfrm>
            <a:off x="5303520" y="1188720"/>
            <a:ext cx="347472" cy="347472"/>
          </a:xfrm>
          <a:prstGeom prst="ellipse">
            <a:avLst/>
          </a:prstGeom>
          <a:solidFill>
            <a:schemeClr val="accent1"/>
          </a:solidFill>
          <a:ln w="12700">
            <a:solidFill>
              <a:schemeClr val="accent1"/>
            </a:solidFill>
            <a:prstDash val="solid"/>
          </a:ln>
        </p:spPr>
      </p:sp>
      <p:sp>
        <p:nvSpPr>
          <p:cNvPr id="7" name="Mock text 145"/>
          <p:cNvSpPr txBox="1"/>
          <p:nvPr/>
        </p:nvSpPr>
        <p:spPr>
          <a:xfrm>
            <a:off x="5303520" y="11887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8" name="Mock text 146"/>
          <p:cNvSpPr txBox="1"/>
          <p:nvPr/>
        </p:nvSpPr>
        <p:spPr>
          <a:xfrm>
            <a:off x="5760720" y="1188720"/>
            <a:ext cx="58521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A file picker appears (InputType.File)</a:t>
            </a:r>
            <a:endParaRPr lang="en-US" sz="1500" dirty="0"/>
          </a:p>
        </p:txBody>
      </p:sp>
      <p:sp>
        <p:nvSpPr>
          <p:cNvPr id="9" name="Mock box 147"/>
          <p:cNvSpPr/>
          <p:nvPr/>
        </p:nvSpPr>
        <p:spPr>
          <a:xfrm>
            <a:off x="548640" y="1691640"/>
            <a:ext cx="4480560" cy="4069080"/>
          </a:xfrm>
          <a:prstGeom prst="roundRect">
            <a:avLst>
              <a:gd name="adj" fmla="val 224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10" name="Mock rect 148"/>
          <p:cNvSpPr/>
          <p:nvPr/>
        </p:nvSpPr>
        <p:spPr>
          <a:xfrm>
            <a:off x="566928" y="1709928"/>
            <a:ext cx="4443984" cy="329184"/>
          </a:xfrm>
          <a:prstGeom prst="rect">
            <a:avLst/>
          </a:prstGeom>
          <a:solidFill>
            <a:srgbClr val="F2EEFB"/>
          </a:solidFill>
          <a:ln w="12700">
            <a:solidFill>
              <a:srgbClr val="F2EEFB"/>
            </a:solidFill>
            <a:prstDash val="solid"/>
          </a:ln>
        </p:spPr>
      </p:sp>
      <p:sp>
        <p:nvSpPr>
          <p:cNvPr id="11" name="Window dot 149"/>
          <p:cNvSpPr/>
          <p:nvPr/>
        </p:nvSpPr>
        <p:spPr>
          <a:xfrm>
            <a:off x="685800" y="1810512"/>
            <a:ext cx="100584" cy="100584"/>
          </a:xfrm>
          <a:prstGeom prst="ellipse">
            <a:avLst/>
          </a:prstGeom>
          <a:solidFill>
            <a:srgbClr val="F87171"/>
          </a:solidFill>
          <a:ln w="12700">
            <a:solidFill>
              <a:srgbClr val="F87171"/>
            </a:solidFill>
            <a:prstDash val="solid"/>
          </a:ln>
        </p:spPr>
      </p:sp>
      <p:sp>
        <p:nvSpPr>
          <p:cNvPr id="12" name="Window dot 150"/>
          <p:cNvSpPr/>
          <p:nvPr/>
        </p:nvSpPr>
        <p:spPr>
          <a:xfrm>
            <a:off x="850392" y="1810512"/>
            <a:ext cx="100584" cy="100584"/>
          </a:xfrm>
          <a:prstGeom prst="ellipse">
            <a:avLst/>
          </a:prstGeom>
          <a:solidFill>
            <a:srgbClr val="FBBF24"/>
          </a:solidFill>
          <a:ln w="12700">
            <a:solidFill>
              <a:srgbClr val="FBBF24"/>
            </a:solidFill>
            <a:prstDash val="solid"/>
          </a:ln>
        </p:spPr>
      </p:sp>
      <p:sp>
        <p:nvSpPr>
          <p:cNvPr id="13" name="Window dot 151"/>
          <p:cNvSpPr/>
          <p:nvPr/>
        </p:nvSpPr>
        <p:spPr>
          <a:xfrm>
            <a:off x="1014984" y="1810512"/>
            <a:ext cx="100584" cy="100584"/>
          </a:xfrm>
          <a:prstGeom prst="ellipse">
            <a:avLst/>
          </a:prstGeom>
          <a:solidFill>
            <a:srgbClr val="34D399"/>
          </a:solidFill>
          <a:ln w="12700">
            <a:solidFill>
              <a:srgbClr val="34D399"/>
            </a:solidFill>
            <a:prstDash val="solid"/>
          </a:ln>
        </p:spPr>
      </p:sp>
      <p:sp>
        <p:nvSpPr>
          <p:cNvPr id="14" name="Mock box 152"/>
          <p:cNvSpPr/>
          <p:nvPr/>
        </p:nvSpPr>
        <p:spPr>
          <a:xfrm>
            <a:off x="1280160" y="1764792"/>
            <a:ext cx="2377440" cy="201168"/>
          </a:xfrm>
          <a:prstGeom prst="roundRect">
            <a:avLst>
              <a:gd name="adj" fmla="val 45455"/>
            </a:avLst>
          </a:prstGeom>
          <a:solidFill>
            <a:srgbClr val="FFFFFF"/>
          </a:solidFill>
          <a:ln w="12700">
            <a:solidFill>
              <a:srgbClr val="E4DEF5"/>
            </a:solidFill>
            <a:prstDash val="solid"/>
          </a:ln>
        </p:spPr>
      </p:sp>
      <p:sp>
        <p:nvSpPr>
          <p:cNvPr id="15" name="Mock text 153"/>
          <p:cNvSpPr txBox="1"/>
          <p:nvPr/>
        </p:nvSpPr>
        <p:spPr>
          <a:xfrm>
            <a:off x="1371600" y="17647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16" name="Mock rect 154"/>
          <p:cNvSpPr/>
          <p:nvPr/>
        </p:nvSpPr>
        <p:spPr>
          <a:xfrm>
            <a:off x="566928" y="2039112"/>
            <a:ext cx="868680" cy="3703320"/>
          </a:xfrm>
          <a:prstGeom prst="rect">
            <a:avLst/>
          </a:prstGeom>
          <a:solidFill>
            <a:srgbClr val="FBFAFF"/>
          </a:solidFill>
          <a:ln w="12700">
            <a:solidFill>
              <a:srgbClr val="FBFAFF"/>
            </a:solidFill>
            <a:prstDash val="solid"/>
          </a:ln>
        </p:spPr>
      </p:sp>
      <p:sp>
        <p:nvSpPr>
          <p:cNvPr id="17" name="Mock text 155"/>
          <p:cNvSpPr txBox="1"/>
          <p:nvPr/>
        </p:nvSpPr>
        <p:spPr>
          <a:xfrm>
            <a:off x="685800" y="21305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18" name="Mock box 156"/>
          <p:cNvSpPr/>
          <p:nvPr/>
        </p:nvSpPr>
        <p:spPr>
          <a:xfrm>
            <a:off x="621792" y="2496312"/>
            <a:ext cx="740664" cy="256032"/>
          </a:xfrm>
          <a:prstGeom prst="roundRect">
            <a:avLst>
              <a:gd name="adj" fmla="val 28571"/>
            </a:avLst>
          </a:prstGeom>
          <a:solidFill>
            <a:srgbClr val="E9E2FC"/>
          </a:solidFill>
          <a:ln w="12700">
            <a:solidFill>
              <a:srgbClr val="E9E2FC"/>
            </a:solidFill>
            <a:prstDash val="solid"/>
          </a:ln>
        </p:spPr>
      </p:sp>
      <p:sp>
        <p:nvSpPr>
          <p:cNvPr id="19" name="Mock text 157"/>
          <p:cNvSpPr txBox="1"/>
          <p:nvPr/>
        </p:nvSpPr>
        <p:spPr>
          <a:xfrm>
            <a:off x="694944" y="24963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20" name="Mock text 158"/>
          <p:cNvSpPr txBox="1"/>
          <p:nvPr/>
        </p:nvSpPr>
        <p:spPr>
          <a:xfrm>
            <a:off x="694944" y="28254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21" name="Mock text 159"/>
          <p:cNvSpPr txBox="1"/>
          <p:nvPr/>
        </p:nvSpPr>
        <p:spPr>
          <a:xfrm>
            <a:off x="694944" y="31546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22" name="Mock text 160"/>
          <p:cNvSpPr txBox="1"/>
          <p:nvPr/>
        </p:nvSpPr>
        <p:spPr>
          <a:xfrm>
            <a:off x="694944" y="34838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23" name="Mock text 161"/>
          <p:cNvSpPr txBox="1"/>
          <p:nvPr/>
        </p:nvSpPr>
        <p:spPr>
          <a:xfrm>
            <a:off x="694944" y="38130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24" name="Mock text 162"/>
          <p:cNvSpPr txBox="1"/>
          <p:nvPr/>
        </p:nvSpPr>
        <p:spPr>
          <a:xfrm>
            <a:off x="1618488" y="2148840"/>
            <a:ext cx="18288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Resources</a:t>
            </a:r>
            <a:endParaRPr lang="en-US" sz="1400" dirty="0"/>
          </a:p>
        </p:txBody>
      </p:sp>
      <p:sp>
        <p:nvSpPr>
          <p:cNvPr id="25" name="Mock rect 163"/>
          <p:cNvSpPr/>
          <p:nvPr/>
        </p:nvSpPr>
        <p:spPr>
          <a:xfrm>
            <a:off x="1618488" y="2587752"/>
            <a:ext cx="3209544" cy="274320"/>
          </a:xfrm>
          <a:prstGeom prst="rect">
            <a:avLst/>
          </a:prstGeom>
          <a:solidFill>
            <a:srgbClr val="F2EEFB"/>
          </a:solidFill>
          <a:ln w="12700">
            <a:solidFill>
              <a:srgbClr val="F2EEFB"/>
            </a:solidFill>
            <a:prstDash val="solid"/>
          </a:ln>
        </p:spPr>
      </p:sp>
      <p:sp>
        <p:nvSpPr>
          <p:cNvPr id="26" name="Mock text 164"/>
          <p:cNvSpPr txBox="1"/>
          <p:nvPr/>
        </p:nvSpPr>
        <p:spPr>
          <a:xfrm>
            <a:off x="1691640" y="2587752"/>
            <a:ext cx="834481"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Name</a:t>
            </a:r>
            <a:endParaRPr lang="en-US" sz="950" dirty="0"/>
          </a:p>
        </p:txBody>
      </p:sp>
      <p:sp>
        <p:nvSpPr>
          <p:cNvPr id="27" name="Mock text 165"/>
          <p:cNvSpPr txBox="1"/>
          <p:nvPr/>
        </p:nvSpPr>
        <p:spPr>
          <a:xfrm>
            <a:off x="2526121" y="2587752"/>
            <a:ext cx="898672"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State</a:t>
            </a:r>
            <a:endParaRPr lang="en-US" sz="950" dirty="0"/>
          </a:p>
        </p:txBody>
      </p:sp>
      <p:sp>
        <p:nvSpPr>
          <p:cNvPr id="28" name="Mock text 166"/>
          <p:cNvSpPr txBox="1"/>
          <p:nvPr/>
        </p:nvSpPr>
        <p:spPr>
          <a:xfrm>
            <a:off x="3424794" y="2587752"/>
            <a:ext cx="834481"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Source</a:t>
            </a:r>
            <a:endParaRPr lang="en-US" sz="950" dirty="0"/>
          </a:p>
        </p:txBody>
      </p:sp>
      <p:sp>
        <p:nvSpPr>
          <p:cNvPr id="29" name="Mock text 167"/>
          <p:cNvSpPr txBox="1"/>
          <p:nvPr/>
        </p:nvSpPr>
        <p:spPr>
          <a:xfrm>
            <a:off x="4259275" y="2587752"/>
            <a:ext cx="64190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Actions</a:t>
            </a:r>
            <a:endParaRPr lang="en-US" sz="950" dirty="0"/>
          </a:p>
        </p:txBody>
      </p:sp>
      <p:sp>
        <p:nvSpPr>
          <p:cNvPr id="30" name="Mock rect 168"/>
          <p:cNvSpPr/>
          <p:nvPr/>
        </p:nvSpPr>
        <p:spPr>
          <a:xfrm>
            <a:off x="1618488" y="2880360"/>
            <a:ext cx="3209544" cy="347472"/>
          </a:xfrm>
          <a:prstGeom prst="rect">
            <a:avLst/>
          </a:prstGeom>
          <a:solidFill>
            <a:srgbClr val="FAF8FF"/>
          </a:solidFill>
          <a:ln w="6350">
            <a:solidFill>
              <a:srgbClr val="E4DEF5"/>
            </a:solidFill>
            <a:prstDash val="solid"/>
          </a:ln>
        </p:spPr>
      </p:sp>
      <p:sp>
        <p:nvSpPr>
          <p:cNvPr id="31" name="Mock text 169"/>
          <p:cNvSpPr txBox="1"/>
          <p:nvPr/>
        </p:nvSpPr>
        <p:spPr>
          <a:xfrm>
            <a:off x="1691640" y="2880360"/>
            <a:ext cx="834481" cy="347472"/>
          </a:xfrm>
          <a:prstGeom prst="rect">
            <a:avLst/>
          </a:prstGeom>
          <a:noFill/>
          <a:ln/>
        </p:spPr>
        <p:txBody>
          <a:bodyPr wrap="square" lIns="0" tIns="0" rIns="0" bIns="0" rtlCol="0" anchor="ctr"/>
          <a:lstStyle/>
          <a:p>
            <a:pPr indent="0" marL="0">
              <a:buNone/>
            </a:pPr>
            <a:r>
              <a:rPr lang="en-US" sz="1050" b="1" dirty="0">
                <a:solidFill>
                  <a:schemeClr val="tx2"/>
                </a:solidFill>
                <a:latin typeface="Calibri" pitchFamily="34" charset="0"/>
                <a:ea typeface="Calibri" pitchFamily="34" charset="-122"/>
                <a:cs typeface="Calibri" pitchFamily="34" charset="-120"/>
              </a:rPr>
              <a:t>importer</a:t>
            </a:r>
            <a:endParaRPr lang="en-US" sz="1050" dirty="0"/>
          </a:p>
        </p:txBody>
      </p:sp>
      <p:sp>
        <p:nvSpPr>
          <p:cNvPr id="32" name="State dot 170"/>
          <p:cNvSpPr/>
          <p:nvPr/>
        </p:nvSpPr>
        <p:spPr>
          <a:xfrm>
            <a:off x="2526121" y="3008376"/>
            <a:ext cx="91440" cy="91440"/>
          </a:xfrm>
          <a:prstGeom prst="ellipse">
            <a:avLst/>
          </a:prstGeom>
          <a:solidFill>
            <a:srgbClr val="22A06B"/>
          </a:solidFill>
          <a:ln w="12700">
            <a:solidFill>
              <a:srgbClr val="22A06B"/>
            </a:solidFill>
            <a:prstDash val="solid"/>
          </a:ln>
        </p:spPr>
      </p:sp>
      <p:sp>
        <p:nvSpPr>
          <p:cNvPr id="33" name="Mock text 171"/>
          <p:cNvSpPr txBox="1"/>
          <p:nvPr/>
        </p:nvSpPr>
        <p:spPr>
          <a:xfrm>
            <a:off x="2672425" y="2880360"/>
            <a:ext cx="802386" cy="347472"/>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Running</a:t>
            </a:r>
            <a:endParaRPr lang="en-US" sz="1050" dirty="0"/>
          </a:p>
        </p:txBody>
      </p:sp>
      <p:sp>
        <p:nvSpPr>
          <p:cNvPr id="34" name="Mock text 172"/>
          <p:cNvSpPr txBox="1"/>
          <p:nvPr/>
        </p:nvSpPr>
        <p:spPr>
          <a:xfrm>
            <a:off x="3424794" y="2880360"/>
            <a:ext cx="834481" cy="347472"/>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nginx</a:t>
            </a:r>
            <a:endParaRPr lang="en-US" sz="1050" dirty="0"/>
          </a:p>
        </p:txBody>
      </p:sp>
      <p:sp>
        <p:nvSpPr>
          <p:cNvPr id="35" name="Mock box 173"/>
          <p:cNvSpPr/>
          <p:nvPr/>
        </p:nvSpPr>
        <p:spPr>
          <a:xfrm>
            <a:off x="4277563" y="2944368"/>
            <a:ext cx="347472" cy="219456"/>
          </a:xfrm>
          <a:prstGeom prst="roundRect">
            <a:avLst>
              <a:gd name="adj" fmla="val 25000"/>
            </a:avLst>
          </a:prstGeom>
          <a:solidFill>
            <a:srgbClr val="E9E2FC"/>
          </a:solidFill>
          <a:ln w="12700">
            <a:solidFill>
              <a:schemeClr val="accent1"/>
            </a:solidFill>
            <a:prstDash val="solid"/>
          </a:ln>
        </p:spPr>
      </p:sp>
      <p:sp>
        <p:nvSpPr>
          <p:cNvPr id="36" name="Mock text 174"/>
          <p:cNvSpPr txBox="1"/>
          <p:nvPr/>
        </p:nvSpPr>
        <p:spPr>
          <a:xfrm>
            <a:off x="4277563" y="2944368"/>
            <a:ext cx="347472" cy="219456"/>
          </a:xfrm>
          <a:prstGeom prst="rect">
            <a:avLst/>
          </a:prstGeom>
          <a:noFill/>
          <a:ln/>
        </p:spPr>
        <p:txBody>
          <a:bodyPr wrap="square" lIns="0" tIns="0" rIns="0" bIns="0" rtlCol="0" anchor="ctr"/>
          <a:lstStyle/>
          <a:p>
            <a:pPr algn="ctr" indent="0" marL="0">
              <a:buNone/>
            </a:pPr>
            <a:r>
              <a:rPr lang="en-US" sz="900" b="1" dirty="0">
                <a:solidFill>
                  <a:schemeClr val="accent1"/>
                </a:solidFill>
                <a:latin typeface="Calibri" pitchFamily="34" charset="0"/>
                <a:ea typeface="Calibri" pitchFamily="34" charset="-122"/>
                <a:cs typeface="Calibri" pitchFamily="34" charset="-120"/>
              </a:rPr>
              <a:t>•••</a:t>
            </a:r>
            <a:endParaRPr lang="en-US" sz="900" dirty="0"/>
          </a:p>
        </p:txBody>
      </p:sp>
      <p:sp>
        <p:nvSpPr>
          <p:cNvPr id="37" name="Mock box 175"/>
          <p:cNvSpPr/>
          <p:nvPr/>
        </p:nvSpPr>
        <p:spPr>
          <a:xfrm>
            <a:off x="2951683" y="3209544"/>
            <a:ext cx="1737360" cy="1481328"/>
          </a:xfrm>
          <a:prstGeom prst="roundRect">
            <a:avLst>
              <a:gd name="adj" fmla="val 3704"/>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38" name="Mock text 176"/>
          <p:cNvSpPr txBox="1"/>
          <p:nvPr/>
        </p:nvSpPr>
        <p:spPr>
          <a:xfrm>
            <a:off x="3088843" y="326440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View details</a:t>
            </a:r>
            <a:endParaRPr lang="en-US" sz="1050" dirty="0"/>
          </a:p>
        </p:txBody>
      </p:sp>
      <p:sp>
        <p:nvSpPr>
          <p:cNvPr id="39" name="Mock text 177"/>
          <p:cNvSpPr txBox="1"/>
          <p:nvPr/>
        </p:nvSpPr>
        <p:spPr>
          <a:xfrm>
            <a:off x="3088843" y="353872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Console logs</a:t>
            </a:r>
            <a:endParaRPr lang="en-US" sz="1050" dirty="0"/>
          </a:p>
        </p:txBody>
      </p:sp>
      <p:sp>
        <p:nvSpPr>
          <p:cNvPr id="40" name="Mock box 178"/>
          <p:cNvSpPr/>
          <p:nvPr/>
        </p:nvSpPr>
        <p:spPr>
          <a:xfrm>
            <a:off x="2997403" y="3813048"/>
            <a:ext cx="1645920" cy="274320"/>
          </a:xfrm>
          <a:prstGeom prst="roundRect">
            <a:avLst>
              <a:gd name="adj" fmla="val 16667"/>
            </a:avLst>
          </a:prstGeom>
          <a:solidFill>
            <a:srgbClr val="E9E2FC"/>
          </a:solidFill>
          <a:ln w="12700">
            <a:solidFill>
              <a:srgbClr val="E9E2FC"/>
            </a:solidFill>
            <a:prstDash val="solid"/>
          </a:ln>
        </p:spPr>
      </p:sp>
      <p:sp>
        <p:nvSpPr>
          <p:cNvPr id="41" name="Mock text 179"/>
          <p:cNvSpPr txBox="1"/>
          <p:nvPr/>
        </p:nvSpPr>
        <p:spPr>
          <a:xfrm>
            <a:off x="3088843" y="3813048"/>
            <a:ext cx="1508760" cy="27432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Import data</a:t>
            </a:r>
            <a:endParaRPr lang="en-US" sz="1050" dirty="0"/>
          </a:p>
        </p:txBody>
      </p:sp>
      <p:sp>
        <p:nvSpPr>
          <p:cNvPr id="42" name="Mock text 180"/>
          <p:cNvSpPr txBox="1"/>
          <p:nvPr/>
        </p:nvSpPr>
        <p:spPr>
          <a:xfrm>
            <a:off x="3088843" y="408736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Stop</a:t>
            </a:r>
            <a:endParaRPr lang="en-US" sz="1050" dirty="0"/>
          </a:p>
        </p:txBody>
      </p:sp>
      <p:sp>
        <p:nvSpPr>
          <p:cNvPr id="43" name="Mock text 181"/>
          <p:cNvSpPr txBox="1"/>
          <p:nvPr/>
        </p:nvSpPr>
        <p:spPr>
          <a:xfrm>
            <a:off x="3088843" y="436168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Restart</a:t>
            </a:r>
            <a:endParaRPr lang="en-US" sz="1050" dirty="0"/>
          </a:p>
        </p:txBody>
      </p:sp>
      <p:sp>
        <p:nvSpPr>
          <p:cNvPr id="44" name="Cursor 182"/>
          <p:cNvSpPr/>
          <p:nvPr/>
        </p:nvSpPr>
        <p:spPr>
          <a:xfrm>
            <a:off x="4323283" y="3922776"/>
            <a:ext cx="146304" cy="219456"/>
          </a:xfrm>
          <a:prstGeom prst="rtTriangle">
            <a:avLst/>
          </a:prstGeom>
          <a:solidFill>
            <a:schemeClr val="tx1"/>
          </a:solidFill>
          <a:ln w="9525">
            <a:solidFill>
              <a:srgbClr val="FFFFFF"/>
            </a:solidFill>
            <a:prstDash val="solid"/>
          </a:ln>
        </p:spPr>
      </p:sp>
      <p:sp>
        <p:nvSpPr>
          <p:cNvPr id="45" name="Mock box 183"/>
          <p:cNvSpPr/>
          <p:nvPr/>
        </p:nvSpPr>
        <p:spPr>
          <a:xfrm>
            <a:off x="5303520" y="1691640"/>
            <a:ext cx="6309360" cy="4069080"/>
          </a:xfrm>
          <a:prstGeom prst="roundRect">
            <a:avLst>
              <a:gd name="adj" fmla="val 224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46" name="Mock rect 184"/>
          <p:cNvSpPr/>
          <p:nvPr/>
        </p:nvSpPr>
        <p:spPr>
          <a:xfrm>
            <a:off x="5321808" y="1709928"/>
            <a:ext cx="6272784" cy="329184"/>
          </a:xfrm>
          <a:prstGeom prst="rect">
            <a:avLst/>
          </a:prstGeom>
          <a:solidFill>
            <a:srgbClr val="F2EEFB"/>
          </a:solidFill>
          <a:ln w="12700">
            <a:solidFill>
              <a:srgbClr val="F2EEFB"/>
            </a:solidFill>
            <a:prstDash val="solid"/>
          </a:ln>
        </p:spPr>
      </p:sp>
      <p:sp>
        <p:nvSpPr>
          <p:cNvPr id="47" name="Window dot 185"/>
          <p:cNvSpPr/>
          <p:nvPr/>
        </p:nvSpPr>
        <p:spPr>
          <a:xfrm>
            <a:off x="5440680" y="1810512"/>
            <a:ext cx="100584" cy="100584"/>
          </a:xfrm>
          <a:prstGeom prst="ellipse">
            <a:avLst/>
          </a:prstGeom>
          <a:solidFill>
            <a:srgbClr val="F87171"/>
          </a:solidFill>
          <a:ln w="12700">
            <a:solidFill>
              <a:srgbClr val="F87171"/>
            </a:solidFill>
            <a:prstDash val="solid"/>
          </a:ln>
        </p:spPr>
      </p:sp>
      <p:sp>
        <p:nvSpPr>
          <p:cNvPr id="48" name="Window dot 186"/>
          <p:cNvSpPr/>
          <p:nvPr/>
        </p:nvSpPr>
        <p:spPr>
          <a:xfrm>
            <a:off x="5605272" y="1810512"/>
            <a:ext cx="100584" cy="100584"/>
          </a:xfrm>
          <a:prstGeom prst="ellipse">
            <a:avLst/>
          </a:prstGeom>
          <a:solidFill>
            <a:srgbClr val="FBBF24"/>
          </a:solidFill>
          <a:ln w="12700">
            <a:solidFill>
              <a:srgbClr val="FBBF24"/>
            </a:solidFill>
            <a:prstDash val="solid"/>
          </a:ln>
        </p:spPr>
      </p:sp>
      <p:sp>
        <p:nvSpPr>
          <p:cNvPr id="49" name="Window dot 187"/>
          <p:cNvSpPr/>
          <p:nvPr/>
        </p:nvSpPr>
        <p:spPr>
          <a:xfrm>
            <a:off x="5769864" y="1810512"/>
            <a:ext cx="100584" cy="100584"/>
          </a:xfrm>
          <a:prstGeom prst="ellipse">
            <a:avLst/>
          </a:prstGeom>
          <a:solidFill>
            <a:srgbClr val="34D399"/>
          </a:solidFill>
          <a:ln w="12700">
            <a:solidFill>
              <a:srgbClr val="34D399"/>
            </a:solidFill>
            <a:prstDash val="solid"/>
          </a:ln>
        </p:spPr>
      </p:sp>
      <p:sp>
        <p:nvSpPr>
          <p:cNvPr id="50" name="Mock box 188"/>
          <p:cNvSpPr/>
          <p:nvPr/>
        </p:nvSpPr>
        <p:spPr>
          <a:xfrm>
            <a:off x="6035040" y="1764792"/>
            <a:ext cx="2377440" cy="201168"/>
          </a:xfrm>
          <a:prstGeom prst="roundRect">
            <a:avLst>
              <a:gd name="adj" fmla="val 45455"/>
            </a:avLst>
          </a:prstGeom>
          <a:solidFill>
            <a:srgbClr val="FFFFFF"/>
          </a:solidFill>
          <a:ln w="12700">
            <a:solidFill>
              <a:srgbClr val="E4DEF5"/>
            </a:solidFill>
            <a:prstDash val="solid"/>
          </a:ln>
        </p:spPr>
      </p:sp>
      <p:sp>
        <p:nvSpPr>
          <p:cNvPr id="51" name="Mock text 189"/>
          <p:cNvSpPr txBox="1"/>
          <p:nvPr/>
        </p:nvSpPr>
        <p:spPr>
          <a:xfrm>
            <a:off x="6126480" y="17647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52" name="Mock rect 190"/>
          <p:cNvSpPr/>
          <p:nvPr/>
        </p:nvSpPr>
        <p:spPr>
          <a:xfrm>
            <a:off x="5321808" y="2039112"/>
            <a:ext cx="868680" cy="3703320"/>
          </a:xfrm>
          <a:prstGeom prst="rect">
            <a:avLst/>
          </a:prstGeom>
          <a:solidFill>
            <a:srgbClr val="FBFAFF"/>
          </a:solidFill>
          <a:ln w="12700">
            <a:solidFill>
              <a:srgbClr val="FBFAFF"/>
            </a:solidFill>
            <a:prstDash val="solid"/>
          </a:ln>
        </p:spPr>
      </p:sp>
      <p:sp>
        <p:nvSpPr>
          <p:cNvPr id="53" name="Mock text 191"/>
          <p:cNvSpPr txBox="1"/>
          <p:nvPr/>
        </p:nvSpPr>
        <p:spPr>
          <a:xfrm>
            <a:off x="5440680" y="21305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54" name="Mock box 192"/>
          <p:cNvSpPr/>
          <p:nvPr/>
        </p:nvSpPr>
        <p:spPr>
          <a:xfrm>
            <a:off x="5376672" y="2496312"/>
            <a:ext cx="740664" cy="256032"/>
          </a:xfrm>
          <a:prstGeom prst="roundRect">
            <a:avLst>
              <a:gd name="adj" fmla="val 28571"/>
            </a:avLst>
          </a:prstGeom>
          <a:solidFill>
            <a:srgbClr val="E9E2FC"/>
          </a:solidFill>
          <a:ln w="12700">
            <a:solidFill>
              <a:srgbClr val="E9E2FC"/>
            </a:solidFill>
            <a:prstDash val="solid"/>
          </a:ln>
        </p:spPr>
      </p:sp>
      <p:sp>
        <p:nvSpPr>
          <p:cNvPr id="55" name="Mock text 193"/>
          <p:cNvSpPr txBox="1"/>
          <p:nvPr/>
        </p:nvSpPr>
        <p:spPr>
          <a:xfrm>
            <a:off x="5449824" y="24963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56" name="Mock text 194"/>
          <p:cNvSpPr txBox="1"/>
          <p:nvPr/>
        </p:nvSpPr>
        <p:spPr>
          <a:xfrm>
            <a:off x="5449824" y="28254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57" name="Mock text 195"/>
          <p:cNvSpPr txBox="1"/>
          <p:nvPr/>
        </p:nvSpPr>
        <p:spPr>
          <a:xfrm>
            <a:off x="5449824" y="31546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58" name="Mock text 196"/>
          <p:cNvSpPr txBox="1"/>
          <p:nvPr/>
        </p:nvSpPr>
        <p:spPr>
          <a:xfrm>
            <a:off x="5449824" y="34838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59" name="Mock text 197"/>
          <p:cNvSpPr txBox="1"/>
          <p:nvPr/>
        </p:nvSpPr>
        <p:spPr>
          <a:xfrm>
            <a:off x="5449824" y="38130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60" name="Mock text 198"/>
          <p:cNvSpPr txBox="1"/>
          <p:nvPr/>
        </p:nvSpPr>
        <p:spPr>
          <a:xfrm>
            <a:off x="6373368" y="2148840"/>
            <a:ext cx="18288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Resources</a:t>
            </a:r>
            <a:endParaRPr lang="en-US" sz="1400" dirty="0"/>
          </a:p>
        </p:txBody>
      </p:sp>
      <p:sp>
        <p:nvSpPr>
          <p:cNvPr id="61" name="Mock rect 199"/>
          <p:cNvSpPr/>
          <p:nvPr/>
        </p:nvSpPr>
        <p:spPr>
          <a:xfrm>
            <a:off x="6373368" y="2587752"/>
            <a:ext cx="5038344" cy="274320"/>
          </a:xfrm>
          <a:prstGeom prst="rect">
            <a:avLst/>
          </a:prstGeom>
          <a:solidFill>
            <a:srgbClr val="F2EEFB"/>
          </a:solidFill>
          <a:ln w="12700">
            <a:solidFill>
              <a:srgbClr val="F2EEFB"/>
            </a:solidFill>
            <a:prstDash val="solid"/>
          </a:ln>
        </p:spPr>
      </p:sp>
      <p:sp>
        <p:nvSpPr>
          <p:cNvPr id="62" name="Mock text 200"/>
          <p:cNvSpPr txBox="1"/>
          <p:nvPr/>
        </p:nvSpPr>
        <p:spPr>
          <a:xfrm>
            <a:off x="6446520" y="2587752"/>
            <a:ext cx="13099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Name</a:t>
            </a:r>
            <a:endParaRPr lang="en-US" sz="950" dirty="0"/>
          </a:p>
        </p:txBody>
      </p:sp>
      <p:sp>
        <p:nvSpPr>
          <p:cNvPr id="63" name="Mock text 201"/>
          <p:cNvSpPr txBox="1"/>
          <p:nvPr/>
        </p:nvSpPr>
        <p:spPr>
          <a:xfrm>
            <a:off x="7756489" y="2587752"/>
            <a:ext cx="1410736"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State</a:t>
            </a:r>
            <a:endParaRPr lang="en-US" sz="950" dirty="0"/>
          </a:p>
        </p:txBody>
      </p:sp>
      <p:sp>
        <p:nvSpPr>
          <p:cNvPr id="64" name="Mock text 202"/>
          <p:cNvSpPr txBox="1"/>
          <p:nvPr/>
        </p:nvSpPr>
        <p:spPr>
          <a:xfrm>
            <a:off x="9167226" y="2587752"/>
            <a:ext cx="13099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Source</a:t>
            </a:r>
            <a:endParaRPr lang="en-US" sz="950" dirty="0"/>
          </a:p>
        </p:txBody>
      </p:sp>
      <p:sp>
        <p:nvSpPr>
          <p:cNvPr id="65" name="Mock text 203"/>
          <p:cNvSpPr txBox="1"/>
          <p:nvPr/>
        </p:nvSpPr>
        <p:spPr>
          <a:xfrm>
            <a:off x="10477195" y="2587752"/>
            <a:ext cx="10076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Actions</a:t>
            </a:r>
            <a:endParaRPr lang="en-US" sz="950" dirty="0"/>
          </a:p>
        </p:txBody>
      </p:sp>
      <p:sp>
        <p:nvSpPr>
          <p:cNvPr id="66" name="Mock rect 204"/>
          <p:cNvSpPr/>
          <p:nvPr/>
        </p:nvSpPr>
        <p:spPr>
          <a:xfrm>
            <a:off x="6373368" y="2880360"/>
            <a:ext cx="5038344" cy="347472"/>
          </a:xfrm>
          <a:prstGeom prst="rect">
            <a:avLst/>
          </a:prstGeom>
          <a:solidFill>
            <a:srgbClr val="FAF8FF"/>
          </a:solidFill>
          <a:ln w="6350">
            <a:solidFill>
              <a:srgbClr val="E4DEF5"/>
            </a:solidFill>
            <a:prstDash val="solid"/>
          </a:ln>
        </p:spPr>
      </p:sp>
      <p:sp>
        <p:nvSpPr>
          <p:cNvPr id="67" name="Mock text 205"/>
          <p:cNvSpPr txBox="1"/>
          <p:nvPr/>
        </p:nvSpPr>
        <p:spPr>
          <a:xfrm>
            <a:off x="6446520" y="2880360"/>
            <a:ext cx="1309969" cy="347472"/>
          </a:xfrm>
          <a:prstGeom prst="rect">
            <a:avLst/>
          </a:prstGeom>
          <a:noFill/>
          <a:ln/>
        </p:spPr>
        <p:txBody>
          <a:bodyPr wrap="square" lIns="0" tIns="0" rIns="0" bIns="0" rtlCol="0" anchor="ctr"/>
          <a:lstStyle/>
          <a:p>
            <a:pPr indent="0" marL="0">
              <a:buNone/>
            </a:pPr>
            <a:r>
              <a:rPr lang="en-US" sz="1050" b="1" dirty="0">
                <a:solidFill>
                  <a:schemeClr val="tx2"/>
                </a:solidFill>
                <a:latin typeface="Calibri" pitchFamily="34" charset="0"/>
                <a:ea typeface="Calibri" pitchFamily="34" charset="-122"/>
                <a:cs typeface="Calibri" pitchFamily="34" charset="-120"/>
              </a:rPr>
              <a:t>importer</a:t>
            </a:r>
            <a:endParaRPr lang="en-US" sz="1050" dirty="0"/>
          </a:p>
        </p:txBody>
      </p:sp>
      <p:sp>
        <p:nvSpPr>
          <p:cNvPr id="68" name="State dot 206"/>
          <p:cNvSpPr/>
          <p:nvPr/>
        </p:nvSpPr>
        <p:spPr>
          <a:xfrm>
            <a:off x="7756489" y="3008376"/>
            <a:ext cx="91440" cy="91440"/>
          </a:xfrm>
          <a:prstGeom prst="ellipse">
            <a:avLst/>
          </a:prstGeom>
          <a:solidFill>
            <a:srgbClr val="22A06B"/>
          </a:solidFill>
          <a:ln w="12700">
            <a:solidFill>
              <a:srgbClr val="22A06B"/>
            </a:solidFill>
            <a:prstDash val="solid"/>
          </a:ln>
        </p:spPr>
      </p:sp>
      <p:sp>
        <p:nvSpPr>
          <p:cNvPr id="69" name="Mock text 207"/>
          <p:cNvSpPr txBox="1"/>
          <p:nvPr/>
        </p:nvSpPr>
        <p:spPr>
          <a:xfrm>
            <a:off x="7902793" y="2880360"/>
            <a:ext cx="1259586" cy="347472"/>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Running</a:t>
            </a:r>
            <a:endParaRPr lang="en-US" sz="1050" dirty="0"/>
          </a:p>
        </p:txBody>
      </p:sp>
      <p:sp>
        <p:nvSpPr>
          <p:cNvPr id="70" name="Mock text 208"/>
          <p:cNvSpPr txBox="1"/>
          <p:nvPr/>
        </p:nvSpPr>
        <p:spPr>
          <a:xfrm>
            <a:off x="9167226" y="2880360"/>
            <a:ext cx="1309969" cy="347472"/>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nginx</a:t>
            </a:r>
            <a:endParaRPr lang="en-US" sz="1050" dirty="0"/>
          </a:p>
        </p:txBody>
      </p:sp>
      <p:sp>
        <p:nvSpPr>
          <p:cNvPr id="71" name="Mock box 209"/>
          <p:cNvSpPr/>
          <p:nvPr/>
        </p:nvSpPr>
        <p:spPr>
          <a:xfrm>
            <a:off x="10495483" y="2944368"/>
            <a:ext cx="347472" cy="219456"/>
          </a:xfrm>
          <a:prstGeom prst="roundRect">
            <a:avLst>
              <a:gd name="adj" fmla="val 25000"/>
            </a:avLst>
          </a:prstGeom>
          <a:solidFill>
            <a:srgbClr val="FFFFFF"/>
          </a:solidFill>
          <a:ln w="12700">
            <a:solidFill>
              <a:srgbClr val="E4DEF5"/>
            </a:solidFill>
            <a:prstDash val="solid"/>
          </a:ln>
        </p:spPr>
      </p:sp>
      <p:sp>
        <p:nvSpPr>
          <p:cNvPr id="72" name="Mock text 210"/>
          <p:cNvSpPr txBox="1"/>
          <p:nvPr/>
        </p:nvSpPr>
        <p:spPr>
          <a:xfrm>
            <a:off x="10495483" y="2944368"/>
            <a:ext cx="347472" cy="219456"/>
          </a:xfrm>
          <a:prstGeom prst="rect">
            <a:avLst/>
          </a:prstGeom>
          <a:noFill/>
          <a:ln/>
        </p:spPr>
        <p:txBody>
          <a:bodyPr wrap="square" lIns="0" tIns="0" rIns="0" bIns="0" rtlCol="0" anchor="ctr"/>
          <a:lstStyle/>
          <a:p>
            <a:pPr algn="ctr" indent="0" marL="0">
              <a:buNone/>
            </a:pPr>
            <a:r>
              <a:rPr lang="en-US" sz="900" b="1" dirty="0">
                <a:solidFill>
                  <a:schemeClr val="accent1"/>
                </a:solidFill>
                <a:latin typeface="Calibri" pitchFamily="34" charset="0"/>
                <a:ea typeface="Calibri" pitchFamily="34" charset="-122"/>
                <a:cs typeface="Calibri" pitchFamily="34" charset="-120"/>
              </a:rPr>
              <a:t>•••</a:t>
            </a:r>
            <a:endParaRPr lang="en-US" sz="900" dirty="0"/>
          </a:p>
        </p:txBody>
      </p:sp>
      <p:sp>
        <p:nvSpPr>
          <p:cNvPr id="73" name="Mock rect 211"/>
          <p:cNvSpPr/>
          <p:nvPr/>
        </p:nvSpPr>
        <p:spPr>
          <a:xfrm>
            <a:off x="5321808" y="2039112"/>
            <a:ext cx="6272784" cy="3685032"/>
          </a:xfrm>
          <a:prstGeom prst="rect">
            <a:avLst/>
          </a:prstGeom>
          <a:solidFill>
            <a:srgbClr val="17122B">
              <a:alpha val="45000"/>
            </a:srgbClr>
          </a:solidFill>
          <a:ln w="12700">
            <a:solidFill>
              <a:srgbClr val="17122B">
                <a:alpha val="0"/>
              </a:srgbClr>
            </a:solidFill>
            <a:prstDash val="solid"/>
          </a:ln>
        </p:spPr>
      </p:sp>
      <p:sp>
        <p:nvSpPr>
          <p:cNvPr id="74" name="Mock text 212"/>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Illustrative mockup of the Aspire dashboard, not a screenshot. Exact layout, labels and button text may differ.</a:t>
            </a:r>
            <a:endParaRPr lang="en-US" sz="1100" dirty="0"/>
          </a:p>
        </p:txBody>
      </p:sp>
      <p:sp>
        <p:nvSpPr>
          <p:cNvPr id="75" name="Mock box 213"/>
          <p:cNvSpPr/>
          <p:nvPr/>
        </p:nvSpPr>
        <p:spPr>
          <a:xfrm>
            <a:off x="6281928" y="2450592"/>
            <a:ext cx="2926080" cy="2651760"/>
          </a:xfrm>
          <a:prstGeom prst="roundRect">
            <a:avLst>
              <a:gd name="adj" fmla="val 2759"/>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76" name="Mock text 214"/>
          <p:cNvSpPr txBox="1"/>
          <p:nvPr/>
        </p:nvSpPr>
        <p:spPr>
          <a:xfrm>
            <a:off x="6510528" y="2587752"/>
            <a:ext cx="22860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Import data</a:t>
            </a:r>
            <a:endParaRPr lang="en-US" sz="1500" dirty="0"/>
          </a:p>
        </p:txBody>
      </p:sp>
      <p:sp>
        <p:nvSpPr>
          <p:cNvPr id="77" name="Mock text 215"/>
          <p:cNvSpPr txBox="1"/>
          <p:nvPr/>
        </p:nvSpPr>
        <p:spPr>
          <a:xfrm>
            <a:off x="6510528" y="2999232"/>
            <a:ext cx="2468880" cy="27432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Select a JSON file to import.</a:t>
            </a:r>
            <a:endParaRPr lang="en-US" sz="1100" dirty="0"/>
          </a:p>
        </p:txBody>
      </p:sp>
      <p:sp>
        <p:nvSpPr>
          <p:cNvPr id="78" name="Mock text 216"/>
          <p:cNvSpPr txBox="1"/>
          <p:nvPr/>
        </p:nvSpPr>
        <p:spPr>
          <a:xfrm>
            <a:off x="6510528" y="3410712"/>
            <a:ext cx="1371600" cy="228600"/>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Data file </a:t>
            </a:r>
            <a:pPr indent="0" marL="0">
              <a:buNone/>
            </a:pPr>
            <a:r>
              <a:rPr lang="en-US" sz="1050" b="1" dirty="0">
                <a:solidFill>
                  <a:srgbClr val="DC2626"/>
                </a:solidFill>
                <a:latin typeface="Calibri" pitchFamily="34" charset="0"/>
                <a:ea typeface="Calibri" pitchFamily="34" charset="-122"/>
                <a:cs typeface="Calibri" pitchFamily="34" charset="-120"/>
              </a:rPr>
              <a:t>*</a:t>
            </a:r>
            <a:endParaRPr lang="en-US" sz="1050" dirty="0"/>
          </a:p>
        </p:txBody>
      </p:sp>
      <p:sp>
        <p:nvSpPr>
          <p:cNvPr id="79" name="Mock box 217"/>
          <p:cNvSpPr/>
          <p:nvPr/>
        </p:nvSpPr>
        <p:spPr>
          <a:xfrm>
            <a:off x="6510528" y="3685032"/>
            <a:ext cx="2468880" cy="566928"/>
          </a:xfrm>
          <a:prstGeom prst="roundRect">
            <a:avLst>
              <a:gd name="adj" fmla="val 9677"/>
            </a:avLst>
          </a:prstGeom>
          <a:solidFill>
            <a:srgbClr val="FBFAFF"/>
          </a:solidFill>
          <a:ln w="12700">
            <a:solidFill>
              <a:schemeClr val="accent2"/>
            </a:solidFill>
            <a:prstDash val="dash"/>
          </a:ln>
        </p:spPr>
      </p:sp>
      <p:sp>
        <p:nvSpPr>
          <p:cNvPr id="80" name="Mock box 218"/>
          <p:cNvSpPr/>
          <p:nvPr/>
        </p:nvSpPr>
        <p:spPr>
          <a:xfrm>
            <a:off x="6629400" y="3803904"/>
            <a:ext cx="914400" cy="329184"/>
          </a:xfrm>
          <a:prstGeom prst="roundRect">
            <a:avLst>
              <a:gd name="adj" fmla="val 16667"/>
            </a:avLst>
          </a:prstGeom>
          <a:solidFill>
            <a:srgbClr val="FFFFFF"/>
          </a:solidFill>
          <a:ln w="12700">
            <a:solidFill>
              <a:srgbClr val="E4DEF5"/>
            </a:solidFill>
            <a:prstDash val="solid"/>
          </a:ln>
        </p:spPr>
      </p:sp>
      <p:sp>
        <p:nvSpPr>
          <p:cNvPr id="81" name="Mock text 219"/>
          <p:cNvSpPr txBox="1"/>
          <p:nvPr/>
        </p:nvSpPr>
        <p:spPr>
          <a:xfrm>
            <a:off x="6629400" y="3803904"/>
            <a:ext cx="914400" cy="329184"/>
          </a:xfrm>
          <a:prstGeom prst="rect">
            <a:avLst/>
          </a:prstGeom>
          <a:noFill/>
          <a:ln/>
        </p:spPr>
        <p:txBody>
          <a:bodyPr wrap="square" lIns="0" tIns="0" rIns="0" bIns="0" rtlCol="0" anchor="ctr"/>
          <a:lstStyle/>
          <a:p>
            <a:pPr algn="ctr" indent="0" marL="0">
              <a:buNone/>
            </a:pPr>
            <a:r>
              <a:rPr lang="en-US" sz="1000" b="1" dirty="0">
                <a:solidFill>
                  <a:schemeClr val="tx1"/>
                </a:solidFill>
                <a:latin typeface="Calibri" pitchFamily="34" charset="0"/>
                <a:ea typeface="Calibri" pitchFamily="34" charset="-122"/>
                <a:cs typeface="Calibri" pitchFamily="34" charset="-120"/>
              </a:rPr>
              <a:t>Choose file</a:t>
            </a:r>
            <a:endParaRPr lang="en-US" sz="1000" dirty="0"/>
          </a:p>
        </p:txBody>
      </p:sp>
      <p:sp>
        <p:nvSpPr>
          <p:cNvPr id="82" name="Mock text 220"/>
          <p:cNvSpPr txBox="1"/>
          <p:nvPr/>
        </p:nvSpPr>
        <p:spPr>
          <a:xfrm>
            <a:off x="7653528" y="3803904"/>
            <a:ext cx="1280160" cy="329184"/>
          </a:xfrm>
          <a:prstGeom prst="rect">
            <a:avLst/>
          </a:prstGeom>
          <a:noFill/>
          <a:ln/>
        </p:spPr>
        <p:txBody>
          <a:bodyPr wrap="square" lIns="0" tIns="0" rIns="0" bIns="0" rtlCol="0" anchor="ctr"/>
          <a:lstStyle/>
          <a:p>
            <a:pPr indent="0" marL="0">
              <a:buNone/>
            </a:pPr>
            <a:r>
              <a:rPr lang="en-US" sz="1050" dirty="0">
                <a:solidFill>
                  <a:schemeClr val="tx2"/>
                </a:solidFill>
                <a:latin typeface="Calibri" pitchFamily="34" charset="0"/>
                <a:ea typeface="Calibri" pitchFamily="34" charset="-122"/>
                <a:cs typeface="Calibri" pitchFamily="34" charset="-120"/>
              </a:rPr>
              <a:t>orders.json</a:t>
            </a:r>
            <a:endParaRPr lang="en-US" sz="1050" dirty="0"/>
          </a:p>
        </p:txBody>
      </p:sp>
      <p:sp>
        <p:nvSpPr>
          <p:cNvPr id="83" name="Mock text 221"/>
          <p:cNvSpPr txBox="1"/>
          <p:nvPr/>
        </p:nvSpPr>
        <p:spPr>
          <a:xfrm>
            <a:off x="6510528" y="4279392"/>
            <a:ext cx="2468880" cy="228600"/>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Accepts .json · up to 10 MB</a:t>
            </a:r>
            <a:endParaRPr lang="en-US" sz="950" dirty="0"/>
          </a:p>
        </p:txBody>
      </p:sp>
      <p:sp>
        <p:nvSpPr>
          <p:cNvPr id="84" name="Mock box 222"/>
          <p:cNvSpPr/>
          <p:nvPr/>
        </p:nvSpPr>
        <p:spPr>
          <a:xfrm>
            <a:off x="8293608" y="4645152"/>
            <a:ext cx="685800" cy="292608"/>
          </a:xfrm>
          <a:prstGeom prst="roundRect">
            <a:avLst>
              <a:gd name="adj" fmla="val 18750"/>
            </a:avLst>
          </a:prstGeom>
          <a:solidFill>
            <a:schemeClr val="accent1"/>
          </a:solidFill>
          <a:ln w="12700">
            <a:solidFill>
              <a:schemeClr val="accent1"/>
            </a:solidFill>
            <a:prstDash val="solid"/>
          </a:ln>
        </p:spPr>
      </p:sp>
      <p:sp>
        <p:nvSpPr>
          <p:cNvPr id="85" name="Mock text 223"/>
          <p:cNvSpPr txBox="1"/>
          <p:nvPr/>
        </p:nvSpPr>
        <p:spPr>
          <a:xfrm>
            <a:off x="8293608" y="4645152"/>
            <a:ext cx="685800" cy="292608"/>
          </a:xfrm>
          <a:prstGeom prst="rect">
            <a:avLst/>
          </a:prstGeom>
          <a:noFill/>
          <a:ln/>
        </p:spPr>
        <p:txBody>
          <a:bodyPr wrap="square" lIns="0" tIns="0" rIns="0" bIns="0" rtlCol="0" anchor="ctr"/>
          <a:lstStyle/>
          <a:p>
            <a:pPr algn="ctr" indent="0" marL="0">
              <a:buNone/>
            </a:pPr>
            <a:r>
              <a:rPr lang="en-US" sz="1050" b="1" dirty="0">
                <a:solidFill>
                  <a:schemeClr val="bg1"/>
                </a:solidFill>
                <a:latin typeface="Calibri" pitchFamily="34" charset="0"/>
                <a:ea typeface="Calibri" pitchFamily="34" charset="-122"/>
                <a:cs typeface="Calibri" pitchFamily="34" charset="-120"/>
              </a:rPr>
              <a:t>OK</a:t>
            </a:r>
            <a:endParaRPr lang="en-US" sz="1050" dirty="0"/>
          </a:p>
        </p:txBody>
      </p:sp>
      <p:sp>
        <p:nvSpPr>
          <p:cNvPr id="86" name="Mock box 224"/>
          <p:cNvSpPr/>
          <p:nvPr/>
        </p:nvSpPr>
        <p:spPr>
          <a:xfrm>
            <a:off x="7251192" y="4645152"/>
            <a:ext cx="932688" cy="292608"/>
          </a:xfrm>
          <a:prstGeom prst="roundRect">
            <a:avLst>
              <a:gd name="adj" fmla="val 18750"/>
            </a:avLst>
          </a:prstGeom>
          <a:solidFill>
            <a:srgbClr val="FFFFFF"/>
          </a:solidFill>
          <a:ln w="12700">
            <a:solidFill>
              <a:srgbClr val="E4DEF5"/>
            </a:solidFill>
            <a:prstDash val="solid"/>
          </a:ln>
        </p:spPr>
      </p:sp>
      <p:sp>
        <p:nvSpPr>
          <p:cNvPr id="87" name="Mock text 225"/>
          <p:cNvSpPr txBox="1"/>
          <p:nvPr/>
        </p:nvSpPr>
        <p:spPr>
          <a:xfrm>
            <a:off x="7251192" y="4645152"/>
            <a:ext cx="932688" cy="29260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Cancel</a:t>
            </a:r>
            <a:endParaRPr lang="en-US" sz="1050" dirty="0"/>
          </a:p>
        </p:txBody>
      </p:sp>
      <p:sp>
        <p:nvSpPr>
          <p:cNvPr id="88" name="Tag line 226"/>
          <p:cNvSpPr/>
          <p:nvPr/>
        </p:nvSpPr>
        <p:spPr>
          <a:xfrm>
            <a:off x="8385048" y="2761488"/>
            <a:ext cx="1005840" cy="0"/>
          </a:xfrm>
          <a:prstGeom prst="line">
            <a:avLst/>
          </a:prstGeom>
          <a:noFill/>
          <a:ln w="12700">
            <a:solidFill>
              <a:srgbClr val="D97706"/>
            </a:solidFill>
            <a:prstDash val="dash"/>
          </a:ln>
        </p:spPr>
      </p:sp>
      <p:sp>
        <p:nvSpPr>
          <p:cNvPr id="89" name="Mock box 227"/>
          <p:cNvSpPr/>
          <p:nvPr/>
        </p:nvSpPr>
        <p:spPr>
          <a:xfrm>
            <a:off x="9390888" y="2633472"/>
            <a:ext cx="662940" cy="256032"/>
          </a:xfrm>
          <a:prstGeom prst="roundRect">
            <a:avLst>
              <a:gd name="adj" fmla="val 21429"/>
            </a:avLst>
          </a:prstGeom>
          <a:solidFill>
            <a:srgbClr val="FFF4E0"/>
          </a:solidFill>
          <a:ln w="12700">
            <a:solidFill>
              <a:srgbClr val="D97706"/>
            </a:solidFill>
            <a:prstDash val="solid"/>
          </a:ln>
        </p:spPr>
      </p:sp>
      <p:sp>
        <p:nvSpPr>
          <p:cNvPr id="90" name="Mock text 228"/>
          <p:cNvSpPr txBox="1"/>
          <p:nvPr/>
        </p:nvSpPr>
        <p:spPr>
          <a:xfrm>
            <a:off x="9390888" y="2633472"/>
            <a:ext cx="662940"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title</a:t>
            </a:r>
            <a:endParaRPr lang="en-US" sz="1000" dirty="0"/>
          </a:p>
        </p:txBody>
      </p:sp>
      <p:sp>
        <p:nvSpPr>
          <p:cNvPr id="91" name="Tag line 229"/>
          <p:cNvSpPr/>
          <p:nvPr/>
        </p:nvSpPr>
        <p:spPr>
          <a:xfrm>
            <a:off x="7379208" y="3520440"/>
            <a:ext cx="2011680" cy="0"/>
          </a:xfrm>
          <a:prstGeom prst="line">
            <a:avLst/>
          </a:prstGeom>
          <a:noFill/>
          <a:ln w="12700">
            <a:solidFill>
              <a:srgbClr val="D97706"/>
            </a:solidFill>
            <a:prstDash val="dash"/>
          </a:ln>
        </p:spPr>
      </p:sp>
      <p:sp>
        <p:nvSpPr>
          <p:cNvPr id="92" name="Mock box 230"/>
          <p:cNvSpPr/>
          <p:nvPr/>
        </p:nvSpPr>
        <p:spPr>
          <a:xfrm>
            <a:off x="9390888" y="3392424"/>
            <a:ext cx="1517904" cy="256032"/>
          </a:xfrm>
          <a:prstGeom prst="roundRect">
            <a:avLst>
              <a:gd name="adj" fmla="val 21429"/>
            </a:avLst>
          </a:prstGeom>
          <a:solidFill>
            <a:srgbClr val="FFF4E0"/>
          </a:solidFill>
          <a:ln w="12700">
            <a:solidFill>
              <a:srgbClr val="D97706"/>
            </a:solidFill>
            <a:prstDash val="solid"/>
          </a:ln>
        </p:spPr>
      </p:sp>
      <p:sp>
        <p:nvSpPr>
          <p:cNvPr id="93" name="Mock text 231"/>
          <p:cNvSpPr txBox="1"/>
          <p:nvPr/>
        </p:nvSpPr>
        <p:spPr>
          <a:xfrm>
            <a:off x="9390888" y="3392424"/>
            <a:ext cx="1517904"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Label + Required</a:t>
            </a:r>
            <a:endParaRPr lang="en-US" sz="1000" dirty="0"/>
          </a:p>
        </p:txBody>
      </p:sp>
      <p:sp>
        <p:nvSpPr>
          <p:cNvPr id="94" name="Tag line 232"/>
          <p:cNvSpPr/>
          <p:nvPr/>
        </p:nvSpPr>
        <p:spPr>
          <a:xfrm>
            <a:off x="8979408" y="3968496"/>
            <a:ext cx="411480" cy="0"/>
          </a:xfrm>
          <a:prstGeom prst="line">
            <a:avLst/>
          </a:prstGeom>
          <a:noFill/>
          <a:ln w="12700">
            <a:solidFill>
              <a:srgbClr val="D97706"/>
            </a:solidFill>
            <a:prstDash val="dash"/>
          </a:ln>
        </p:spPr>
      </p:sp>
      <p:sp>
        <p:nvSpPr>
          <p:cNvPr id="95" name="Mock box 233"/>
          <p:cNvSpPr/>
          <p:nvPr/>
        </p:nvSpPr>
        <p:spPr>
          <a:xfrm>
            <a:off x="9390888" y="3840480"/>
            <a:ext cx="1362456" cy="256032"/>
          </a:xfrm>
          <a:prstGeom prst="roundRect">
            <a:avLst>
              <a:gd name="adj" fmla="val 21429"/>
            </a:avLst>
          </a:prstGeom>
          <a:solidFill>
            <a:srgbClr val="FFF4E0"/>
          </a:solidFill>
          <a:ln w="12700">
            <a:solidFill>
              <a:srgbClr val="D97706"/>
            </a:solidFill>
            <a:prstDash val="solid"/>
          </a:ln>
        </p:spPr>
      </p:sp>
      <p:sp>
        <p:nvSpPr>
          <p:cNvPr id="96" name="Mock text 234"/>
          <p:cNvSpPr txBox="1"/>
          <p:nvPr/>
        </p:nvSpPr>
        <p:spPr>
          <a:xfrm>
            <a:off x="9390888" y="3840480"/>
            <a:ext cx="1362456"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InputType.File</a:t>
            </a:r>
            <a:endParaRPr lang="en-US" sz="1000" dirty="0"/>
          </a:p>
        </p:txBody>
      </p:sp>
      <p:sp>
        <p:nvSpPr>
          <p:cNvPr id="97" name="Tag line 235"/>
          <p:cNvSpPr/>
          <p:nvPr/>
        </p:nvSpPr>
        <p:spPr>
          <a:xfrm>
            <a:off x="8476488" y="4389120"/>
            <a:ext cx="914400" cy="0"/>
          </a:xfrm>
          <a:prstGeom prst="line">
            <a:avLst/>
          </a:prstGeom>
          <a:noFill/>
          <a:ln w="12700">
            <a:solidFill>
              <a:srgbClr val="D97706"/>
            </a:solidFill>
            <a:prstDash val="dash"/>
          </a:ln>
        </p:spPr>
      </p:sp>
      <p:sp>
        <p:nvSpPr>
          <p:cNvPr id="98" name="Mock box 236"/>
          <p:cNvSpPr/>
          <p:nvPr/>
        </p:nvSpPr>
        <p:spPr>
          <a:xfrm>
            <a:off x="9390888" y="4261104"/>
            <a:ext cx="1984248" cy="256032"/>
          </a:xfrm>
          <a:prstGeom prst="roundRect">
            <a:avLst>
              <a:gd name="adj" fmla="val 21429"/>
            </a:avLst>
          </a:prstGeom>
          <a:solidFill>
            <a:srgbClr val="FFF4E0"/>
          </a:solidFill>
          <a:ln w="12700">
            <a:solidFill>
              <a:srgbClr val="D97706"/>
            </a:solidFill>
            <a:prstDash val="solid"/>
          </a:ln>
        </p:spPr>
      </p:sp>
      <p:sp>
        <p:nvSpPr>
          <p:cNvPr id="99" name="Mock text 237"/>
          <p:cNvSpPr txBox="1"/>
          <p:nvPr/>
        </p:nvSpPr>
        <p:spPr>
          <a:xfrm>
            <a:off x="9390888" y="4261104"/>
            <a:ext cx="1984248"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FileFilter/MaxFileSize</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Show progress while long work runs</a:t>
            </a:r>
            <a:endParaRPr lang="en-US" sz="3400" dirty="0"/>
          </a:p>
        </p:txBody>
      </p:sp>
      <p:sp>
        <p:nvSpPr>
          <p:cNvPr id="3" name="Progress CS panel"/>
          <p:cNvSpPr/>
          <p:nvPr/>
        </p:nvSpPr>
        <p:spPr>
          <a:xfrm>
            <a:off x="548640" y="1325880"/>
            <a:ext cx="7589520" cy="3749040"/>
          </a:xfrm>
          <a:prstGeom prst="roundRect">
            <a:avLst>
              <a:gd name="adj" fmla="val 1951"/>
            </a:avLst>
          </a:prstGeom>
          <a:solidFill>
            <a:srgbClr val="1C1830"/>
          </a:solidFill>
          <a:ln w="12700">
            <a:solidFill>
              <a:srgbClr val="1C1830"/>
            </a:solidFill>
            <a:prstDash val="solid"/>
          </a:ln>
        </p:spPr>
      </p:sp>
      <p:sp>
        <p:nvSpPr>
          <p:cNvPr id="4" name="Progress CS label"/>
          <p:cNvSpPr txBox="1"/>
          <p:nvPr/>
        </p:nvSpPr>
        <p:spPr>
          <a:xfrm>
            <a:off x="777240" y="141732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Progress CS text"/>
          <p:cNvSpPr txBox="1"/>
          <p:nvPr/>
        </p:nvSpPr>
        <p:spPr>
          <a:xfrm>
            <a:off x="777240" y="1737360"/>
            <a:ext cx="7132320" cy="3246120"/>
          </a:xfrm>
          <a:prstGeom prst="rect">
            <a:avLst/>
          </a:prstGeom>
          <a:noFill/>
          <a:ln/>
        </p:spPr>
        <p:txBody>
          <a:bodyPr wrap="square" lIns="0" tIns="0" rIns="0" bIns="0" rtlCol="0" anchor="t"/>
          <a:lstStyle/>
          <a:p>
            <a:pPr indent="0" marL="0">
              <a:buNone/>
            </a:pPr>
            <a:r>
              <a:rPr lang="en-US" sz="1100" i="1" dirty="0">
                <a:solidFill>
                  <a:srgbClr val="8B87A3"/>
                </a:solidFill>
                <a:latin typeface="Courier New" pitchFamily="34" charset="0"/>
                <a:ea typeface="Courier New" pitchFamily="34" charset="-122"/>
                <a:cs typeface="Courier New" pitchFamily="34" charset="-120"/>
              </a:rPr>
              <a:t>#pragma warning disable ASPIREINTERACTION001 // experimental API</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i="1" dirty="0">
                <a:solidFill>
                  <a:srgbClr val="8B87A3"/>
                </a:solidFill>
                <a:latin typeface="Courier New" pitchFamily="34" charset="0"/>
                <a:ea typeface="Courier New" pitchFamily="34" charset="-122"/>
                <a:cs typeface="Courier New" pitchFamily="34" charset="-120"/>
              </a:rPr>
              <a:t>// ...inside the "import-data" command, after reading the file:</a:t>
            </a:r>
            <a:endParaRPr lang="en-US" sz="1100" dirty="0"/>
          </a:p>
          <a:p>
            <a:pPr indent="0" marL="0">
              <a:buNone/>
            </a:pPr>
            <a:r>
              <a:rPr lang="en-US" sz="1100" dirty="0">
                <a:solidFill>
                  <a:srgbClr val="C4A7FF"/>
                </a:solidFill>
                <a:latin typeface="Courier New" pitchFamily="34" charset="0"/>
                <a:ea typeface="Courier New" pitchFamily="34" charset="-122"/>
                <a:cs typeface="Courier New" pitchFamily="34" charset="-120"/>
              </a:rPr>
              <a:t>await</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interaction</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PromptProgressAsync</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$"Processing {bytes.Length} bytes"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title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"Importing..."</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options</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new</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ProgressInteractionOptions</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i="1" dirty="0">
                <a:solidFill>
                  <a:srgbClr val="8B87A3"/>
                </a:solidFill>
                <a:latin typeface="Courier New" pitchFamily="34" charset="0"/>
                <a:ea typeface="Courier New" pitchFamily="34" charset="-122"/>
                <a:cs typeface="Courier New" pitchFamily="34" charset="-120"/>
              </a:rPr>
              <a:t>// The dialog stays open while Work runs, then closes.</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Work</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C4A7FF"/>
                </a:solidFill>
                <a:latin typeface="Courier New" pitchFamily="34" charset="0"/>
                <a:ea typeface="Courier New" pitchFamily="34" charset="-122"/>
                <a:cs typeface="Courier New" pitchFamily="34" charset="-120"/>
              </a:rPr>
              <a:t>async</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progress</a:t>
            </a:r>
            <a:pPr indent="0" marL="0">
              <a:buNone/>
            </a:pPr>
            <a:r>
              <a:rPr lang="en-US" sz="1100" dirty="0">
                <a:solidFill>
                  <a:srgbClr val="E8E6F0"/>
                </a:solidFill>
                <a:latin typeface="Courier New" pitchFamily="34" charset="0"/>
                <a:ea typeface="Courier New" pitchFamily="34" charset="-122"/>
                <a:cs typeface="Courier New" pitchFamily="34" charset="-120"/>
              </a:rPr>
              <a:t> =&gt;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await</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Task</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Delay</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7CC7FF"/>
                </a:solidFill>
                <a:latin typeface="Courier New" pitchFamily="34" charset="0"/>
                <a:ea typeface="Courier New" pitchFamily="34" charset="-122"/>
                <a:cs typeface="Courier New" pitchFamily="34" charset="-120"/>
              </a:rPr>
              <a:t>TimeSpan</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FromSeconds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F8C77A"/>
                </a:solidFill>
                <a:latin typeface="Courier New" pitchFamily="34" charset="0"/>
                <a:ea typeface="Courier New" pitchFamily="34" charset="-122"/>
                <a:cs typeface="Courier New" pitchFamily="34" charset="-120"/>
              </a:rPr>
              <a:t>2</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progress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ctx</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CancellationToken</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C4A7FF"/>
                </a:solidFill>
                <a:latin typeface="Courier New" pitchFamily="34" charset="0"/>
                <a:ea typeface="Courier New" pitchFamily="34" charset="-122"/>
                <a:cs typeface="Courier New" pitchFamily="34" charset="-120"/>
              </a:rPr>
              <a:t>return</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CommandResults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Success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p:txBody>
      </p:sp>
      <p:sp>
        <p:nvSpPr>
          <p:cNvPr id="6" name="Progress notes panel"/>
          <p:cNvSpPr/>
          <p:nvPr/>
        </p:nvSpPr>
        <p:spPr>
          <a:xfrm>
            <a:off x="8366760" y="1325880"/>
            <a:ext cx="3246120" cy="4846320"/>
          </a:xfrm>
          <a:prstGeom prst="roundRect">
            <a:avLst>
              <a:gd name="adj" fmla="val 2817"/>
            </a:avLst>
          </a:prstGeom>
          <a:solidFill>
            <a:schemeClr val="bg2"/>
          </a:solidFill>
          <a:ln w="12700">
            <a:solidFill>
              <a:schemeClr val="bg2"/>
            </a:solidFill>
            <a:prstDash val="solid"/>
          </a:ln>
        </p:spPr>
      </p:sp>
      <p:sp>
        <p:nvSpPr>
          <p:cNvPr id="7" name="Progress notes text"/>
          <p:cNvSpPr txBox="1"/>
          <p:nvPr/>
        </p:nvSpPr>
        <p:spPr>
          <a:xfrm>
            <a:off x="8641080" y="1554480"/>
            <a:ext cx="2697480" cy="4389120"/>
          </a:xfrm>
          <a:prstGeom prst="rect">
            <a:avLst/>
          </a:prstGeom>
          <a:noFill/>
          <a:ln/>
        </p:spPr>
        <p:txBody>
          <a:bodyPr wrap="square" lIns="0" tIns="0" rIns="0" bIns="0" rtlCol="0" anchor="t"/>
          <a:lstStyle/>
          <a:p>
            <a:pPr indent="0" marL="0">
              <a:buNone/>
            </a:pPr>
            <a:r>
              <a:rPr lang="en-US" sz="1500" b="1" dirty="0">
                <a:solidFill>
                  <a:schemeClr val="tx2"/>
                </a:solidFill>
              </a:rPr>
              <a:t>Progress dialog</a:t>
            </a:r>
            <a:endParaRPr lang="en-US" sz="1500" dirty="0"/>
          </a:p>
          <a:p>
            <a:pPr indent="0" marL="0">
              <a:spcAft>
                <a:spcPts val="1200"/>
              </a:spcAft>
              <a:buNone/>
            </a:pPr>
            <a:r>
              <a:rPr lang="en-US" sz="1400" dirty="0">
                <a:solidFill>
                  <a:schemeClr val="tx1"/>
                </a:solidFill>
              </a:rPr>
              <a:t>A dialog that can't be dismissed while the work runs, with optional cancel support.</a:t>
            </a:r>
            <a:endParaRPr lang="en-US" sz="1500" dirty="0"/>
          </a:p>
          <a:p>
            <a:pPr indent="0" marL="0">
              <a:buNone/>
            </a:pPr>
            <a:r>
              <a:rPr lang="en-US" sz="1500" b="1" dirty="0">
                <a:solidFill>
                  <a:schemeClr val="tx2"/>
                </a:solidFill>
              </a:rPr>
              <a:t>Use Work</a:t>
            </a:r>
            <a:endParaRPr lang="en-US" sz="1500" dirty="0"/>
          </a:p>
          <a:p>
            <a:pPr indent="0" marL="0">
              <a:spcAft>
                <a:spcPts val="1200"/>
              </a:spcAft>
              <a:buNone/>
            </a:pPr>
            <a:r>
              <a:rPr lang="en-US" sz="1400" dirty="0">
                <a:solidFill>
                  <a:schemeClr val="tx1"/>
                </a:solidFill>
              </a:rPr>
              <a:t>Put the slow code in Work. Without it, the dialog stays open until the token is canceled.</a:t>
            </a:r>
            <a:endParaRPr lang="en-US" sz="1500" dirty="0"/>
          </a:p>
          <a:p>
            <a:pPr indent="0" marL="0">
              <a:buNone/>
            </a:pPr>
            <a:r>
              <a:rPr lang="en-US" sz="1500" b="1" dirty="0">
                <a:solidFill>
                  <a:schemeClr val="tx2"/>
                </a:solidFill>
              </a:rPr>
              <a:t>TypeScript</a:t>
            </a:r>
            <a:endParaRPr lang="en-US" sz="1500" dirty="0"/>
          </a:p>
          <a:p>
            <a:pPr indent="0" marL="0">
              <a:spcAft>
                <a:spcPts val="1200"/>
              </a:spcAft>
              <a:buNone/>
            </a:pPr>
            <a:r>
              <a:rPr lang="en-US" sz="1400" dirty="0">
                <a:solidFill>
                  <a:schemeClr val="tx1"/>
                </a:solidFill>
              </a:rPr>
              <a:t>interaction.promptProgress(...) with an options.work callback.</a:t>
            </a:r>
            <a:endParaRPr lang="en-US" sz="1500" dirty="0"/>
          </a:p>
        </p:txBody>
      </p:sp>
      <p:pic>
        <p:nvPicPr>
          <p:cNvPr id="8" name="Experimental icon 2" descr="preencoded.png">    </p:cNvPr>
          <p:cNvPicPr>
            <a:picLocks noChangeAspect="1"/>
          </p:cNvPicPr>
          <p:nvPr/>
        </p:nvPicPr>
        <p:blipFill>
          <a:blip r:embed="rId1"/>
          <a:stretch>
            <a:fillRect/>
          </a:stretch>
        </p:blipFill>
        <p:spPr>
          <a:xfrm>
            <a:off x="548640" y="5349240"/>
            <a:ext cx="365760" cy="365760"/>
          </a:xfrm>
          <a:prstGeom prst="rect">
            <a:avLst/>
          </a:prstGeom>
        </p:spPr>
      </p:pic>
      <p:sp>
        <p:nvSpPr>
          <p:cNvPr id="9" name="Experimental note 2"/>
          <p:cNvSpPr txBox="1"/>
          <p:nvPr/>
        </p:nvSpPr>
        <p:spPr>
          <a:xfrm>
            <a:off x="1051560" y="5303520"/>
            <a:ext cx="7040880" cy="457200"/>
          </a:xfrm>
          <a:prstGeom prst="rect">
            <a:avLst/>
          </a:prstGeom>
          <a:noFill/>
          <a:ln/>
        </p:spPr>
        <p:txBody>
          <a:bodyPr wrap="square" lIns="0" tIns="0" rIns="0" bIns="0" rtlCol="0" anchor="ctr"/>
          <a:lstStyle/>
          <a:p>
            <a:pPr indent="0" marL="0">
              <a:buNone/>
            </a:pPr>
            <a:r>
              <a:rPr lang="en-US" sz="1400" dirty="0">
                <a:solidFill>
                  <a:schemeClr val="tx1"/>
                </a:solidFill>
              </a:rPr>
              <a:t>Experimental: PromptProgressAsync, ProgressInteractionOptions and ProgressContext.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it looks like: the progress dialog</a:t>
            </a:r>
            <a:endParaRPr lang="en-US" sz="3400" dirty="0"/>
          </a:p>
        </p:txBody>
      </p:sp>
      <p:sp>
        <p:nvSpPr>
          <p:cNvPr id="3" name="Mock box 238"/>
          <p:cNvSpPr/>
          <p:nvPr/>
        </p:nvSpPr>
        <p:spPr>
          <a:xfrm>
            <a:off x="548640" y="1234440"/>
            <a:ext cx="7680960" cy="4572000"/>
          </a:xfrm>
          <a:prstGeom prst="roundRect">
            <a:avLst>
              <a:gd name="adj" fmla="val 2000"/>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4" name="Mock rect 239"/>
          <p:cNvSpPr/>
          <p:nvPr/>
        </p:nvSpPr>
        <p:spPr>
          <a:xfrm>
            <a:off x="566928" y="1252728"/>
            <a:ext cx="7644384" cy="329184"/>
          </a:xfrm>
          <a:prstGeom prst="rect">
            <a:avLst/>
          </a:prstGeom>
          <a:solidFill>
            <a:srgbClr val="F2EEFB"/>
          </a:solidFill>
          <a:ln w="12700">
            <a:solidFill>
              <a:srgbClr val="F2EEFB"/>
            </a:solidFill>
            <a:prstDash val="solid"/>
          </a:ln>
        </p:spPr>
      </p:sp>
      <p:sp>
        <p:nvSpPr>
          <p:cNvPr id="5" name="Window dot 240"/>
          <p:cNvSpPr/>
          <p:nvPr/>
        </p:nvSpPr>
        <p:spPr>
          <a:xfrm>
            <a:off x="685800" y="1353312"/>
            <a:ext cx="100584" cy="100584"/>
          </a:xfrm>
          <a:prstGeom prst="ellipse">
            <a:avLst/>
          </a:prstGeom>
          <a:solidFill>
            <a:srgbClr val="F87171"/>
          </a:solidFill>
          <a:ln w="12700">
            <a:solidFill>
              <a:srgbClr val="F87171"/>
            </a:solidFill>
            <a:prstDash val="solid"/>
          </a:ln>
        </p:spPr>
      </p:sp>
      <p:sp>
        <p:nvSpPr>
          <p:cNvPr id="6" name="Window dot 241"/>
          <p:cNvSpPr/>
          <p:nvPr/>
        </p:nvSpPr>
        <p:spPr>
          <a:xfrm>
            <a:off x="850392" y="1353312"/>
            <a:ext cx="100584" cy="100584"/>
          </a:xfrm>
          <a:prstGeom prst="ellipse">
            <a:avLst/>
          </a:prstGeom>
          <a:solidFill>
            <a:srgbClr val="FBBF24"/>
          </a:solidFill>
          <a:ln w="12700">
            <a:solidFill>
              <a:srgbClr val="FBBF24"/>
            </a:solidFill>
            <a:prstDash val="solid"/>
          </a:ln>
        </p:spPr>
      </p:sp>
      <p:sp>
        <p:nvSpPr>
          <p:cNvPr id="7" name="Window dot 242"/>
          <p:cNvSpPr/>
          <p:nvPr/>
        </p:nvSpPr>
        <p:spPr>
          <a:xfrm>
            <a:off x="1014984" y="1353312"/>
            <a:ext cx="100584" cy="100584"/>
          </a:xfrm>
          <a:prstGeom prst="ellipse">
            <a:avLst/>
          </a:prstGeom>
          <a:solidFill>
            <a:srgbClr val="34D399"/>
          </a:solidFill>
          <a:ln w="12700">
            <a:solidFill>
              <a:srgbClr val="34D399"/>
            </a:solidFill>
            <a:prstDash val="solid"/>
          </a:ln>
        </p:spPr>
      </p:sp>
      <p:sp>
        <p:nvSpPr>
          <p:cNvPr id="8" name="Mock box 243"/>
          <p:cNvSpPr/>
          <p:nvPr/>
        </p:nvSpPr>
        <p:spPr>
          <a:xfrm>
            <a:off x="1280160" y="1307592"/>
            <a:ext cx="2377440" cy="201168"/>
          </a:xfrm>
          <a:prstGeom prst="roundRect">
            <a:avLst>
              <a:gd name="adj" fmla="val 45455"/>
            </a:avLst>
          </a:prstGeom>
          <a:solidFill>
            <a:srgbClr val="FFFFFF"/>
          </a:solidFill>
          <a:ln w="12700">
            <a:solidFill>
              <a:srgbClr val="E4DEF5"/>
            </a:solidFill>
            <a:prstDash val="solid"/>
          </a:ln>
        </p:spPr>
      </p:sp>
      <p:sp>
        <p:nvSpPr>
          <p:cNvPr id="9" name="Mock text 244"/>
          <p:cNvSpPr txBox="1"/>
          <p:nvPr/>
        </p:nvSpPr>
        <p:spPr>
          <a:xfrm>
            <a:off x="1371600" y="13075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10" name="Mock rect 245"/>
          <p:cNvSpPr/>
          <p:nvPr/>
        </p:nvSpPr>
        <p:spPr>
          <a:xfrm>
            <a:off x="566928" y="1581912"/>
            <a:ext cx="868680" cy="4206240"/>
          </a:xfrm>
          <a:prstGeom prst="rect">
            <a:avLst/>
          </a:prstGeom>
          <a:solidFill>
            <a:srgbClr val="FBFAFF"/>
          </a:solidFill>
          <a:ln w="12700">
            <a:solidFill>
              <a:srgbClr val="FBFAFF"/>
            </a:solidFill>
            <a:prstDash val="solid"/>
          </a:ln>
        </p:spPr>
      </p:sp>
      <p:sp>
        <p:nvSpPr>
          <p:cNvPr id="11" name="Mock text 246"/>
          <p:cNvSpPr txBox="1"/>
          <p:nvPr/>
        </p:nvSpPr>
        <p:spPr>
          <a:xfrm>
            <a:off x="685800" y="16733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12" name="Mock box 247"/>
          <p:cNvSpPr/>
          <p:nvPr/>
        </p:nvSpPr>
        <p:spPr>
          <a:xfrm>
            <a:off x="621792" y="2039112"/>
            <a:ext cx="740664" cy="256032"/>
          </a:xfrm>
          <a:prstGeom prst="roundRect">
            <a:avLst>
              <a:gd name="adj" fmla="val 28571"/>
            </a:avLst>
          </a:prstGeom>
          <a:solidFill>
            <a:srgbClr val="E9E2FC"/>
          </a:solidFill>
          <a:ln w="12700">
            <a:solidFill>
              <a:srgbClr val="E9E2FC"/>
            </a:solidFill>
            <a:prstDash val="solid"/>
          </a:ln>
        </p:spPr>
      </p:sp>
      <p:sp>
        <p:nvSpPr>
          <p:cNvPr id="13" name="Mock text 248"/>
          <p:cNvSpPr txBox="1"/>
          <p:nvPr/>
        </p:nvSpPr>
        <p:spPr>
          <a:xfrm>
            <a:off x="694944" y="20391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14" name="Mock text 249"/>
          <p:cNvSpPr txBox="1"/>
          <p:nvPr/>
        </p:nvSpPr>
        <p:spPr>
          <a:xfrm>
            <a:off x="694944" y="23682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15" name="Mock text 250"/>
          <p:cNvSpPr txBox="1"/>
          <p:nvPr/>
        </p:nvSpPr>
        <p:spPr>
          <a:xfrm>
            <a:off x="694944" y="26974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16" name="Mock text 251"/>
          <p:cNvSpPr txBox="1"/>
          <p:nvPr/>
        </p:nvSpPr>
        <p:spPr>
          <a:xfrm>
            <a:off x="694944" y="30266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17" name="Mock text 252"/>
          <p:cNvSpPr txBox="1"/>
          <p:nvPr/>
        </p:nvSpPr>
        <p:spPr>
          <a:xfrm>
            <a:off x="694944" y="33558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18" name="Mock text 253"/>
          <p:cNvSpPr txBox="1"/>
          <p:nvPr/>
        </p:nvSpPr>
        <p:spPr>
          <a:xfrm>
            <a:off x="1618488" y="1691640"/>
            <a:ext cx="18288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Resources</a:t>
            </a:r>
            <a:endParaRPr lang="en-US" sz="1400" dirty="0"/>
          </a:p>
        </p:txBody>
      </p:sp>
      <p:sp>
        <p:nvSpPr>
          <p:cNvPr id="19" name="Mock rect 254"/>
          <p:cNvSpPr/>
          <p:nvPr/>
        </p:nvSpPr>
        <p:spPr>
          <a:xfrm>
            <a:off x="1618488" y="2130552"/>
            <a:ext cx="6409944" cy="274320"/>
          </a:xfrm>
          <a:prstGeom prst="rect">
            <a:avLst/>
          </a:prstGeom>
          <a:solidFill>
            <a:srgbClr val="F2EEFB"/>
          </a:solidFill>
          <a:ln w="12700">
            <a:solidFill>
              <a:srgbClr val="F2EEFB"/>
            </a:solidFill>
            <a:prstDash val="solid"/>
          </a:ln>
        </p:spPr>
      </p:sp>
      <p:sp>
        <p:nvSpPr>
          <p:cNvPr id="20" name="Mock text 255"/>
          <p:cNvSpPr txBox="1"/>
          <p:nvPr/>
        </p:nvSpPr>
        <p:spPr>
          <a:xfrm>
            <a:off x="1691640" y="2130552"/>
            <a:ext cx="1666585"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Name</a:t>
            </a:r>
            <a:endParaRPr lang="en-US" sz="950" dirty="0"/>
          </a:p>
        </p:txBody>
      </p:sp>
      <p:sp>
        <p:nvSpPr>
          <p:cNvPr id="21" name="Mock text 256"/>
          <p:cNvSpPr txBox="1"/>
          <p:nvPr/>
        </p:nvSpPr>
        <p:spPr>
          <a:xfrm>
            <a:off x="3358225" y="2130552"/>
            <a:ext cx="1794784"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State</a:t>
            </a:r>
            <a:endParaRPr lang="en-US" sz="950" dirty="0"/>
          </a:p>
        </p:txBody>
      </p:sp>
      <p:sp>
        <p:nvSpPr>
          <p:cNvPr id="22" name="Mock text 257"/>
          <p:cNvSpPr txBox="1"/>
          <p:nvPr/>
        </p:nvSpPr>
        <p:spPr>
          <a:xfrm>
            <a:off x="5153010" y="2130552"/>
            <a:ext cx="1666585"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Source</a:t>
            </a:r>
            <a:endParaRPr lang="en-US" sz="950" dirty="0"/>
          </a:p>
        </p:txBody>
      </p:sp>
      <p:sp>
        <p:nvSpPr>
          <p:cNvPr id="23" name="Mock text 258"/>
          <p:cNvSpPr txBox="1"/>
          <p:nvPr/>
        </p:nvSpPr>
        <p:spPr>
          <a:xfrm>
            <a:off x="6819595" y="2130552"/>
            <a:ext cx="128198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Actions</a:t>
            </a:r>
            <a:endParaRPr lang="en-US" sz="950" dirty="0"/>
          </a:p>
        </p:txBody>
      </p:sp>
      <p:sp>
        <p:nvSpPr>
          <p:cNvPr id="24" name="Mock rect 259"/>
          <p:cNvSpPr/>
          <p:nvPr/>
        </p:nvSpPr>
        <p:spPr>
          <a:xfrm>
            <a:off x="1618488" y="2423160"/>
            <a:ext cx="6409944" cy="347472"/>
          </a:xfrm>
          <a:prstGeom prst="rect">
            <a:avLst/>
          </a:prstGeom>
          <a:solidFill>
            <a:srgbClr val="FAF8FF"/>
          </a:solidFill>
          <a:ln w="6350">
            <a:solidFill>
              <a:srgbClr val="E4DEF5"/>
            </a:solidFill>
            <a:prstDash val="solid"/>
          </a:ln>
        </p:spPr>
      </p:sp>
      <p:sp>
        <p:nvSpPr>
          <p:cNvPr id="25" name="Mock text 260"/>
          <p:cNvSpPr txBox="1"/>
          <p:nvPr/>
        </p:nvSpPr>
        <p:spPr>
          <a:xfrm>
            <a:off x="1691640" y="2423160"/>
            <a:ext cx="1666585" cy="347472"/>
          </a:xfrm>
          <a:prstGeom prst="rect">
            <a:avLst/>
          </a:prstGeom>
          <a:noFill/>
          <a:ln/>
        </p:spPr>
        <p:txBody>
          <a:bodyPr wrap="square" lIns="0" tIns="0" rIns="0" bIns="0" rtlCol="0" anchor="ctr"/>
          <a:lstStyle/>
          <a:p>
            <a:pPr indent="0" marL="0">
              <a:buNone/>
            </a:pPr>
            <a:r>
              <a:rPr lang="en-US" sz="1050" b="1" dirty="0">
                <a:solidFill>
                  <a:schemeClr val="tx2"/>
                </a:solidFill>
                <a:latin typeface="Calibri" pitchFamily="34" charset="0"/>
                <a:ea typeface="Calibri" pitchFamily="34" charset="-122"/>
                <a:cs typeface="Calibri" pitchFamily="34" charset="-120"/>
              </a:rPr>
              <a:t>importer</a:t>
            </a:r>
            <a:endParaRPr lang="en-US" sz="1050" dirty="0"/>
          </a:p>
        </p:txBody>
      </p:sp>
      <p:sp>
        <p:nvSpPr>
          <p:cNvPr id="26" name="State dot 261"/>
          <p:cNvSpPr/>
          <p:nvPr/>
        </p:nvSpPr>
        <p:spPr>
          <a:xfrm>
            <a:off x="3358225" y="2551176"/>
            <a:ext cx="91440" cy="91440"/>
          </a:xfrm>
          <a:prstGeom prst="ellipse">
            <a:avLst/>
          </a:prstGeom>
          <a:solidFill>
            <a:srgbClr val="22A06B"/>
          </a:solidFill>
          <a:ln w="12700">
            <a:solidFill>
              <a:srgbClr val="22A06B"/>
            </a:solidFill>
            <a:prstDash val="solid"/>
          </a:ln>
        </p:spPr>
      </p:sp>
      <p:sp>
        <p:nvSpPr>
          <p:cNvPr id="27" name="Mock text 262"/>
          <p:cNvSpPr txBox="1"/>
          <p:nvPr/>
        </p:nvSpPr>
        <p:spPr>
          <a:xfrm>
            <a:off x="3504529" y="2423160"/>
            <a:ext cx="1602486" cy="347472"/>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Running</a:t>
            </a:r>
            <a:endParaRPr lang="en-US" sz="1050" dirty="0"/>
          </a:p>
        </p:txBody>
      </p:sp>
      <p:sp>
        <p:nvSpPr>
          <p:cNvPr id="28" name="Mock text 263"/>
          <p:cNvSpPr txBox="1"/>
          <p:nvPr/>
        </p:nvSpPr>
        <p:spPr>
          <a:xfrm>
            <a:off x="5153010" y="2423160"/>
            <a:ext cx="1666585" cy="347472"/>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nginx</a:t>
            </a:r>
            <a:endParaRPr lang="en-US" sz="1050" dirty="0"/>
          </a:p>
        </p:txBody>
      </p:sp>
      <p:sp>
        <p:nvSpPr>
          <p:cNvPr id="29" name="Mock box 264"/>
          <p:cNvSpPr/>
          <p:nvPr/>
        </p:nvSpPr>
        <p:spPr>
          <a:xfrm>
            <a:off x="6837883" y="2487168"/>
            <a:ext cx="347472" cy="219456"/>
          </a:xfrm>
          <a:prstGeom prst="roundRect">
            <a:avLst>
              <a:gd name="adj" fmla="val 25000"/>
            </a:avLst>
          </a:prstGeom>
          <a:solidFill>
            <a:srgbClr val="FFFFFF"/>
          </a:solidFill>
          <a:ln w="12700">
            <a:solidFill>
              <a:srgbClr val="E4DEF5"/>
            </a:solidFill>
            <a:prstDash val="solid"/>
          </a:ln>
        </p:spPr>
      </p:sp>
      <p:sp>
        <p:nvSpPr>
          <p:cNvPr id="30" name="Mock text 265"/>
          <p:cNvSpPr txBox="1"/>
          <p:nvPr/>
        </p:nvSpPr>
        <p:spPr>
          <a:xfrm>
            <a:off x="6837883" y="2487168"/>
            <a:ext cx="347472" cy="219456"/>
          </a:xfrm>
          <a:prstGeom prst="rect">
            <a:avLst/>
          </a:prstGeom>
          <a:noFill/>
          <a:ln/>
        </p:spPr>
        <p:txBody>
          <a:bodyPr wrap="square" lIns="0" tIns="0" rIns="0" bIns="0" rtlCol="0" anchor="ctr"/>
          <a:lstStyle/>
          <a:p>
            <a:pPr algn="ctr" indent="0" marL="0">
              <a:buNone/>
            </a:pPr>
            <a:r>
              <a:rPr lang="en-US" sz="900" b="1" dirty="0">
                <a:solidFill>
                  <a:schemeClr val="accent1"/>
                </a:solidFill>
                <a:latin typeface="Calibri" pitchFamily="34" charset="0"/>
                <a:ea typeface="Calibri" pitchFamily="34" charset="-122"/>
                <a:cs typeface="Calibri" pitchFamily="34" charset="-120"/>
              </a:rPr>
              <a:t>•••</a:t>
            </a:r>
            <a:endParaRPr lang="en-US" sz="900" dirty="0"/>
          </a:p>
        </p:txBody>
      </p:sp>
      <p:sp>
        <p:nvSpPr>
          <p:cNvPr id="31" name="Mock rect 266"/>
          <p:cNvSpPr/>
          <p:nvPr/>
        </p:nvSpPr>
        <p:spPr>
          <a:xfrm>
            <a:off x="566928" y="1581912"/>
            <a:ext cx="7644384" cy="4187952"/>
          </a:xfrm>
          <a:prstGeom prst="rect">
            <a:avLst/>
          </a:prstGeom>
          <a:solidFill>
            <a:srgbClr val="17122B">
              <a:alpha val="45000"/>
            </a:srgbClr>
          </a:solidFill>
          <a:ln w="12700">
            <a:solidFill>
              <a:srgbClr val="17122B">
                <a:alpha val="0"/>
              </a:srgbClr>
            </a:solidFill>
            <a:prstDash val="solid"/>
          </a:ln>
        </p:spPr>
      </p:sp>
      <p:sp>
        <p:nvSpPr>
          <p:cNvPr id="32" name="Mock box 267"/>
          <p:cNvSpPr/>
          <p:nvPr/>
        </p:nvSpPr>
        <p:spPr>
          <a:xfrm>
            <a:off x="1984248" y="2404872"/>
            <a:ext cx="3840480" cy="2194560"/>
          </a:xfrm>
          <a:prstGeom prst="roundRect">
            <a:avLst>
              <a:gd name="adj" fmla="val 3333"/>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33" name="Mock text 268"/>
          <p:cNvSpPr txBox="1"/>
          <p:nvPr/>
        </p:nvSpPr>
        <p:spPr>
          <a:xfrm>
            <a:off x="2212848" y="2542032"/>
            <a:ext cx="32004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Importing...</a:t>
            </a:r>
            <a:endParaRPr lang="en-US" sz="1500" dirty="0"/>
          </a:p>
        </p:txBody>
      </p:sp>
      <p:sp>
        <p:nvSpPr>
          <p:cNvPr id="34" name="Mock text 269"/>
          <p:cNvSpPr txBox="1"/>
          <p:nvPr/>
        </p:nvSpPr>
        <p:spPr>
          <a:xfrm>
            <a:off x="2212848" y="2999232"/>
            <a:ext cx="3383280" cy="274320"/>
          </a:xfrm>
          <a:prstGeom prst="rect">
            <a:avLst/>
          </a:prstGeom>
          <a:noFill/>
          <a:ln/>
        </p:spPr>
        <p:txBody>
          <a:bodyPr wrap="square" lIns="0" tIns="0" rIns="0" bIns="0" rtlCol="0" anchor="ctr"/>
          <a:lstStyle/>
          <a:p>
            <a:pPr indent="0" marL="0">
              <a:buNone/>
            </a:pPr>
            <a:r>
              <a:rPr lang="en-US" sz="1150" dirty="0">
                <a:solidFill>
                  <a:schemeClr val="tx1"/>
                </a:solidFill>
                <a:latin typeface="Calibri" pitchFamily="34" charset="0"/>
                <a:ea typeface="Calibri" pitchFamily="34" charset="-122"/>
                <a:cs typeface="Calibri" pitchFamily="34" charset="-120"/>
              </a:rPr>
              <a:t>Processing 2048 bytes</a:t>
            </a:r>
            <a:endParaRPr lang="en-US" sz="1150" dirty="0"/>
          </a:p>
        </p:txBody>
      </p:sp>
      <p:sp>
        <p:nvSpPr>
          <p:cNvPr id="35" name="Mock box 270"/>
          <p:cNvSpPr/>
          <p:nvPr/>
        </p:nvSpPr>
        <p:spPr>
          <a:xfrm>
            <a:off x="2212848" y="3456432"/>
            <a:ext cx="3383280" cy="128016"/>
          </a:xfrm>
          <a:prstGeom prst="roundRect">
            <a:avLst>
              <a:gd name="adj" fmla="val 50000"/>
            </a:avLst>
          </a:prstGeom>
          <a:solidFill>
            <a:srgbClr val="E9E2FC"/>
          </a:solidFill>
          <a:ln w="12700">
            <a:solidFill>
              <a:srgbClr val="E9E2FC"/>
            </a:solidFill>
            <a:prstDash val="solid"/>
          </a:ln>
        </p:spPr>
      </p:sp>
      <p:sp>
        <p:nvSpPr>
          <p:cNvPr id="36" name="Mock box 271"/>
          <p:cNvSpPr/>
          <p:nvPr/>
        </p:nvSpPr>
        <p:spPr>
          <a:xfrm>
            <a:off x="2212848" y="3456432"/>
            <a:ext cx="1522476" cy="128016"/>
          </a:xfrm>
          <a:prstGeom prst="roundRect">
            <a:avLst>
              <a:gd name="adj" fmla="val 50000"/>
            </a:avLst>
          </a:prstGeom>
          <a:solidFill>
            <a:schemeClr val="accent1"/>
          </a:solidFill>
          <a:ln w="12700">
            <a:solidFill>
              <a:schemeClr val="accent1"/>
            </a:solidFill>
            <a:prstDash val="solid"/>
          </a:ln>
        </p:spPr>
      </p:sp>
      <p:sp>
        <p:nvSpPr>
          <p:cNvPr id="37" name="Mock box 272"/>
          <p:cNvSpPr/>
          <p:nvPr/>
        </p:nvSpPr>
        <p:spPr>
          <a:xfrm>
            <a:off x="4910328" y="4142232"/>
            <a:ext cx="685800" cy="292608"/>
          </a:xfrm>
          <a:prstGeom prst="roundRect">
            <a:avLst>
              <a:gd name="adj" fmla="val 18750"/>
            </a:avLst>
          </a:prstGeom>
          <a:solidFill>
            <a:srgbClr val="FFFFFF"/>
          </a:solidFill>
          <a:ln w="12700">
            <a:solidFill>
              <a:srgbClr val="E4DEF5"/>
            </a:solidFill>
            <a:prstDash val="solid"/>
          </a:ln>
        </p:spPr>
      </p:sp>
      <p:sp>
        <p:nvSpPr>
          <p:cNvPr id="38" name="Mock text 273"/>
          <p:cNvSpPr txBox="1"/>
          <p:nvPr/>
        </p:nvSpPr>
        <p:spPr>
          <a:xfrm>
            <a:off x="4910328" y="4142232"/>
            <a:ext cx="685800" cy="29260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Cancel</a:t>
            </a:r>
            <a:endParaRPr lang="en-US" sz="1050" dirty="0"/>
          </a:p>
        </p:txBody>
      </p:sp>
      <p:sp>
        <p:nvSpPr>
          <p:cNvPr id="39" name="Tag line 274"/>
          <p:cNvSpPr/>
          <p:nvPr/>
        </p:nvSpPr>
        <p:spPr>
          <a:xfrm>
            <a:off x="3538728" y="2715768"/>
            <a:ext cx="2514600" cy="0"/>
          </a:xfrm>
          <a:prstGeom prst="line">
            <a:avLst/>
          </a:prstGeom>
          <a:noFill/>
          <a:ln w="12700">
            <a:solidFill>
              <a:srgbClr val="D97706"/>
            </a:solidFill>
            <a:prstDash val="dash"/>
          </a:ln>
        </p:spPr>
      </p:sp>
      <p:sp>
        <p:nvSpPr>
          <p:cNvPr id="40" name="Mock box 275"/>
          <p:cNvSpPr/>
          <p:nvPr/>
        </p:nvSpPr>
        <p:spPr>
          <a:xfrm>
            <a:off x="6053328" y="2587752"/>
            <a:ext cx="662940" cy="256032"/>
          </a:xfrm>
          <a:prstGeom prst="roundRect">
            <a:avLst>
              <a:gd name="adj" fmla="val 21429"/>
            </a:avLst>
          </a:prstGeom>
          <a:solidFill>
            <a:srgbClr val="FFF4E0"/>
          </a:solidFill>
          <a:ln w="12700">
            <a:solidFill>
              <a:srgbClr val="D97706"/>
            </a:solidFill>
            <a:prstDash val="solid"/>
          </a:ln>
        </p:spPr>
      </p:sp>
      <p:sp>
        <p:nvSpPr>
          <p:cNvPr id="41" name="Mock text 276"/>
          <p:cNvSpPr txBox="1"/>
          <p:nvPr/>
        </p:nvSpPr>
        <p:spPr>
          <a:xfrm>
            <a:off x="6053328" y="2587752"/>
            <a:ext cx="662940"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title</a:t>
            </a:r>
            <a:endParaRPr lang="en-US" sz="1000" dirty="0"/>
          </a:p>
        </p:txBody>
      </p:sp>
      <p:sp>
        <p:nvSpPr>
          <p:cNvPr id="42" name="Tag line 277"/>
          <p:cNvSpPr/>
          <p:nvPr/>
        </p:nvSpPr>
        <p:spPr>
          <a:xfrm>
            <a:off x="4087368" y="3136392"/>
            <a:ext cx="1965960" cy="0"/>
          </a:xfrm>
          <a:prstGeom prst="line">
            <a:avLst/>
          </a:prstGeom>
          <a:noFill/>
          <a:ln w="12700">
            <a:solidFill>
              <a:srgbClr val="D97706"/>
            </a:solidFill>
            <a:prstDash val="dash"/>
          </a:ln>
        </p:spPr>
      </p:sp>
      <p:sp>
        <p:nvSpPr>
          <p:cNvPr id="43" name="Mock box 278"/>
          <p:cNvSpPr/>
          <p:nvPr/>
        </p:nvSpPr>
        <p:spPr>
          <a:xfrm>
            <a:off x="6053328" y="3008376"/>
            <a:ext cx="818388" cy="256032"/>
          </a:xfrm>
          <a:prstGeom prst="roundRect">
            <a:avLst>
              <a:gd name="adj" fmla="val 21429"/>
            </a:avLst>
          </a:prstGeom>
          <a:solidFill>
            <a:srgbClr val="FFF4E0"/>
          </a:solidFill>
          <a:ln w="12700">
            <a:solidFill>
              <a:srgbClr val="D97706"/>
            </a:solidFill>
            <a:prstDash val="solid"/>
          </a:ln>
        </p:spPr>
      </p:sp>
      <p:sp>
        <p:nvSpPr>
          <p:cNvPr id="44" name="Mock text 279"/>
          <p:cNvSpPr txBox="1"/>
          <p:nvPr/>
        </p:nvSpPr>
        <p:spPr>
          <a:xfrm>
            <a:off x="6053328" y="3008376"/>
            <a:ext cx="818388"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message</a:t>
            </a:r>
            <a:endParaRPr lang="en-US" sz="1000" dirty="0"/>
          </a:p>
        </p:txBody>
      </p:sp>
      <p:sp>
        <p:nvSpPr>
          <p:cNvPr id="45" name="Tag line 280"/>
          <p:cNvSpPr/>
          <p:nvPr/>
        </p:nvSpPr>
        <p:spPr>
          <a:xfrm>
            <a:off x="5596128" y="3520440"/>
            <a:ext cx="457200" cy="0"/>
          </a:xfrm>
          <a:prstGeom prst="line">
            <a:avLst/>
          </a:prstGeom>
          <a:noFill/>
          <a:ln w="12700">
            <a:solidFill>
              <a:srgbClr val="D97706"/>
            </a:solidFill>
            <a:prstDash val="dash"/>
          </a:ln>
        </p:spPr>
      </p:sp>
      <p:sp>
        <p:nvSpPr>
          <p:cNvPr id="46" name="Mock box 281"/>
          <p:cNvSpPr/>
          <p:nvPr/>
        </p:nvSpPr>
        <p:spPr>
          <a:xfrm>
            <a:off x="6053328" y="3392424"/>
            <a:ext cx="973836" cy="256032"/>
          </a:xfrm>
          <a:prstGeom prst="roundRect">
            <a:avLst>
              <a:gd name="adj" fmla="val 21429"/>
            </a:avLst>
          </a:prstGeom>
          <a:solidFill>
            <a:srgbClr val="FFF4E0"/>
          </a:solidFill>
          <a:ln w="12700">
            <a:solidFill>
              <a:srgbClr val="D97706"/>
            </a:solidFill>
            <a:prstDash val="solid"/>
          </a:ln>
        </p:spPr>
      </p:sp>
      <p:sp>
        <p:nvSpPr>
          <p:cNvPr id="47" name="Mock text 282"/>
          <p:cNvSpPr txBox="1"/>
          <p:nvPr/>
        </p:nvSpPr>
        <p:spPr>
          <a:xfrm>
            <a:off x="6053328" y="3392424"/>
            <a:ext cx="973836"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Work runs</a:t>
            </a:r>
            <a:endParaRPr lang="en-US" sz="1000" dirty="0"/>
          </a:p>
        </p:txBody>
      </p:sp>
      <p:sp>
        <p:nvSpPr>
          <p:cNvPr id="48" name="Tag line 283"/>
          <p:cNvSpPr/>
          <p:nvPr/>
        </p:nvSpPr>
        <p:spPr>
          <a:xfrm>
            <a:off x="5596128" y="4288536"/>
            <a:ext cx="457200" cy="0"/>
          </a:xfrm>
          <a:prstGeom prst="line">
            <a:avLst/>
          </a:prstGeom>
          <a:noFill/>
          <a:ln w="12700">
            <a:solidFill>
              <a:srgbClr val="D97706"/>
            </a:solidFill>
            <a:prstDash val="dash"/>
          </a:ln>
        </p:spPr>
      </p:sp>
      <p:sp>
        <p:nvSpPr>
          <p:cNvPr id="49" name="Mock box 284"/>
          <p:cNvSpPr/>
          <p:nvPr/>
        </p:nvSpPr>
        <p:spPr>
          <a:xfrm>
            <a:off x="6053328" y="4160520"/>
            <a:ext cx="1595628" cy="256032"/>
          </a:xfrm>
          <a:prstGeom prst="roundRect">
            <a:avLst>
              <a:gd name="adj" fmla="val 21429"/>
            </a:avLst>
          </a:prstGeom>
          <a:solidFill>
            <a:srgbClr val="FFF4E0"/>
          </a:solidFill>
          <a:ln w="12700">
            <a:solidFill>
              <a:srgbClr val="D97706"/>
            </a:solidFill>
            <a:prstDash val="solid"/>
          </a:ln>
        </p:spPr>
      </p:sp>
      <p:sp>
        <p:nvSpPr>
          <p:cNvPr id="50" name="Mock text 285"/>
          <p:cNvSpPr txBox="1"/>
          <p:nvPr/>
        </p:nvSpPr>
        <p:spPr>
          <a:xfrm>
            <a:off x="6053328" y="4160520"/>
            <a:ext cx="1595628"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CancellationToken</a:t>
            </a:r>
            <a:endParaRPr lang="en-US" sz="1000" dirty="0"/>
          </a:p>
        </p:txBody>
      </p:sp>
      <p:sp>
        <p:nvSpPr>
          <p:cNvPr id="51" name="Step circle 286"/>
          <p:cNvSpPr/>
          <p:nvPr/>
        </p:nvSpPr>
        <p:spPr>
          <a:xfrm>
            <a:off x="8503920" y="1325880"/>
            <a:ext cx="347472" cy="347472"/>
          </a:xfrm>
          <a:prstGeom prst="ellipse">
            <a:avLst/>
          </a:prstGeom>
          <a:solidFill>
            <a:schemeClr val="accent1"/>
          </a:solidFill>
          <a:ln w="12700">
            <a:solidFill>
              <a:schemeClr val="accent1"/>
            </a:solidFill>
            <a:prstDash val="solid"/>
          </a:ln>
        </p:spPr>
      </p:sp>
      <p:sp>
        <p:nvSpPr>
          <p:cNvPr id="52" name="Mock text 287"/>
          <p:cNvSpPr txBox="1"/>
          <p:nvPr/>
        </p:nvSpPr>
        <p:spPr>
          <a:xfrm>
            <a:off x="8503920" y="13258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3" name="Mock text 288"/>
          <p:cNvSpPr txBox="1"/>
          <p:nvPr/>
        </p:nvSpPr>
        <p:spPr>
          <a:xfrm>
            <a:off x="8961120" y="1325880"/>
            <a:ext cx="26517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Opens after OK</a:t>
            </a:r>
            <a:endParaRPr lang="en-US" sz="1500" dirty="0"/>
          </a:p>
        </p:txBody>
      </p:sp>
      <p:sp>
        <p:nvSpPr>
          <p:cNvPr id="54" name="Mock text 289"/>
          <p:cNvSpPr txBox="1"/>
          <p:nvPr/>
        </p:nvSpPr>
        <p:spPr>
          <a:xfrm>
            <a:off x="8961120" y="1709928"/>
            <a:ext cx="265176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Right after the file dialog closes, the progress dialog takes over.</a:t>
            </a:r>
            <a:endParaRPr lang="en-US" sz="1300" dirty="0"/>
          </a:p>
        </p:txBody>
      </p:sp>
      <p:sp>
        <p:nvSpPr>
          <p:cNvPr id="55" name="Step circle 290"/>
          <p:cNvSpPr/>
          <p:nvPr/>
        </p:nvSpPr>
        <p:spPr>
          <a:xfrm>
            <a:off x="8503920" y="2514600"/>
            <a:ext cx="347472" cy="347472"/>
          </a:xfrm>
          <a:prstGeom prst="ellipse">
            <a:avLst/>
          </a:prstGeom>
          <a:solidFill>
            <a:schemeClr val="accent1"/>
          </a:solidFill>
          <a:ln w="12700">
            <a:solidFill>
              <a:schemeClr val="accent1"/>
            </a:solidFill>
            <a:prstDash val="solid"/>
          </a:ln>
        </p:spPr>
      </p:sp>
      <p:sp>
        <p:nvSpPr>
          <p:cNvPr id="56" name="Mock text 291"/>
          <p:cNvSpPr txBox="1"/>
          <p:nvPr/>
        </p:nvSpPr>
        <p:spPr>
          <a:xfrm>
            <a:off x="8503920" y="25146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57" name="Mock text 292"/>
          <p:cNvSpPr txBox="1"/>
          <p:nvPr/>
        </p:nvSpPr>
        <p:spPr>
          <a:xfrm>
            <a:off x="8961120" y="2514600"/>
            <a:ext cx="26517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Can't be dismissed</a:t>
            </a:r>
            <a:endParaRPr lang="en-US" sz="1500" dirty="0"/>
          </a:p>
        </p:txBody>
      </p:sp>
      <p:sp>
        <p:nvSpPr>
          <p:cNvPr id="58" name="Mock text 293"/>
          <p:cNvSpPr txBox="1"/>
          <p:nvPr/>
        </p:nvSpPr>
        <p:spPr>
          <a:xfrm>
            <a:off x="8961120" y="2898648"/>
            <a:ext cx="265176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It stays up while the Work callback runs (2 seconds in the sample).</a:t>
            </a:r>
            <a:endParaRPr lang="en-US" sz="1300" dirty="0"/>
          </a:p>
        </p:txBody>
      </p:sp>
      <p:sp>
        <p:nvSpPr>
          <p:cNvPr id="59" name="Step circle 294"/>
          <p:cNvSpPr/>
          <p:nvPr/>
        </p:nvSpPr>
        <p:spPr>
          <a:xfrm>
            <a:off x="8503920" y="3703320"/>
            <a:ext cx="347472" cy="347472"/>
          </a:xfrm>
          <a:prstGeom prst="ellipse">
            <a:avLst/>
          </a:prstGeom>
          <a:solidFill>
            <a:schemeClr val="accent1"/>
          </a:solidFill>
          <a:ln w="12700">
            <a:solidFill>
              <a:schemeClr val="accent1"/>
            </a:solidFill>
            <a:prstDash val="solid"/>
          </a:ln>
        </p:spPr>
      </p:sp>
      <p:sp>
        <p:nvSpPr>
          <p:cNvPr id="60" name="Mock text 295"/>
          <p:cNvSpPr txBox="1"/>
          <p:nvPr/>
        </p:nvSpPr>
        <p:spPr>
          <a:xfrm>
            <a:off x="8503920" y="37033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3</a:t>
            </a:r>
            <a:endParaRPr lang="en-US" sz="1400" dirty="0"/>
          </a:p>
        </p:txBody>
      </p:sp>
      <p:sp>
        <p:nvSpPr>
          <p:cNvPr id="61" name="Mock text 296"/>
          <p:cNvSpPr txBox="1"/>
          <p:nvPr/>
        </p:nvSpPr>
        <p:spPr>
          <a:xfrm>
            <a:off x="8961120" y="3703320"/>
            <a:ext cx="26517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Closes by itself</a:t>
            </a:r>
            <a:endParaRPr lang="en-US" sz="1500" dirty="0"/>
          </a:p>
        </p:txBody>
      </p:sp>
      <p:sp>
        <p:nvSpPr>
          <p:cNvPr id="62" name="Mock text 297"/>
          <p:cNvSpPr txBox="1"/>
          <p:nvPr/>
        </p:nvSpPr>
        <p:spPr>
          <a:xfrm>
            <a:off x="8961120" y="4087368"/>
            <a:ext cx="265176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When Work finishes, the dialog closes and the command reports success.</a:t>
            </a:r>
            <a:endParaRPr lang="en-US" sz="1300" dirty="0"/>
          </a:p>
        </p:txBody>
      </p:sp>
      <p:sp>
        <p:nvSpPr>
          <p:cNvPr id="63" name="Mock text 298"/>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Illustrative mockup of the Aspire dashboard, not a screenshot. Exact layout, labels and button text may differ.</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Commands with named arguments</a:t>
            </a:r>
            <a:endParaRPr lang="en-US" sz="3400" dirty="0"/>
          </a:p>
        </p:txBody>
      </p:sp>
      <p:sp>
        <p:nvSpPr>
          <p:cNvPr id="3" name="Args CS panel"/>
          <p:cNvSpPr/>
          <p:nvPr/>
        </p:nvSpPr>
        <p:spPr>
          <a:xfrm>
            <a:off x="548640" y="1234440"/>
            <a:ext cx="7589520" cy="5074920"/>
          </a:xfrm>
          <a:prstGeom prst="roundRect">
            <a:avLst>
              <a:gd name="adj" fmla="val 1441"/>
            </a:avLst>
          </a:prstGeom>
          <a:solidFill>
            <a:srgbClr val="1C1830"/>
          </a:solidFill>
          <a:ln w="12700">
            <a:solidFill>
              <a:srgbClr val="1C1830"/>
            </a:solidFill>
            <a:prstDash val="solid"/>
          </a:ln>
        </p:spPr>
      </p:sp>
      <p:sp>
        <p:nvSpPr>
          <p:cNvPr id="4" name="Args CS label"/>
          <p:cNvSpPr txBox="1"/>
          <p:nvPr/>
        </p:nvSpPr>
        <p:spPr>
          <a:xfrm>
            <a:off x="777240" y="1325880"/>
            <a:ext cx="713232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C#  ·  AppHost.cs</a:t>
            </a:r>
            <a:endParaRPr lang="en-US" sz="1000" dirty="0"/>
          </a:p>
        </p:txBody>
      </p:sp>
      <p:sp>
        <p:nvSpPr>
          <p:cNvPr id="5" name="Args CS text"/>
          <p:cNvSpPr txBox="1"/>
          <p:nvPr/>
        </p:nvSpPr>
        <p:spPr>
          <a:xfrm>
            <a:off x="777240" y="1645920"/>
            <a:ext cx="7132320" cy="4572000"/>
          </a:xfrm>
          <a:prstGeom prst="rect">
            <a:avLst/>
          </a:prstGeom>
          <a:noFill/>
          <a:ln/>
        </p:spPr>
        <p:txBody>
          <a:bodyPr wrap="square" lIns="0" tIns="0" rIns="0" bIns="0" rtlCol="0" anchor="t"/>
          <a:lstStyle/>
          <a:p>
            <a:pPr indent="0" marL="0">
              <a:buNone/>
            </a:pPr>
            <a:r>
              <a:rPr lang="en-US" sz="1100" dirty="0">
                <a:solidFill>
                  <a:srgbClr val="C4A7FF"/>
                </a:solidFill>
                <a:latin typeface="Courier New" pitchFamily="34" charset="0"/>
                <a:ea typeface="Courier New" pitchFamily="34" charset="-122"/>
                <a:cs typeface="Courier New" pitchFamily="34" charset="-120"/>
              </a:rPr>
              <a:t>var</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7CC7FF"/>
                </a:solidFill>
                <a:latin typeface="Courier New" pitchFamily="34" charset="0"/>
                <a:ea typeface="Courier New" pitchFamily="34" charset="-122"/>
                <a:cs typeface="Courier New" pitchFamily="34" charset="-120"/>
              </a:rPr>
              <a:t>DistributedApplication</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CreateBuilder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args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AddContainer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8FE3B0"/>
                </a:solidFill>
                <a:latin typeface="Courier New" pitchFamily="34" charset="0"/>
                <a:ea typeface="Courier New" pitchFamily="34" charset="-122"/>
                <a:cs typeface="Courier New" pitchFamily="34" charset="-120"/>
              </a:rPr>
              <a:t>"api"</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"nginx"</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WithCommand</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name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"echo"</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displayName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8FE3B0"/>
                </a:solidFill>
                <a:latin typeface="Courier New" pitchFamily="34" charset="0"/>
                <a:ea typeface="Courier New" pitchFamily="34" charset="-122"/>
                <a:cs typeface="Courier New" pitchFamily="34" charset="-120"/>
              </a:rPr>
              <a:t>"Echo"</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executeCommand</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ctx</a:t>
            </a:r>
            <a:pPr indent="0" marL="0">
              <a:buNone/>
            </a:pPr>
            <a:r>
              <a:rPr lang="en-US" sz="1100" dirty="0">
                <a:solidFill>
                  <a:srgbClr val="E8E6F0"/>
                </a:solidFill>
                <a:latin typeface="Courier New" pitchFamily="34" charset="0"/>
                <a:ea typeface="Courier New" pitchFamily="34" charset="-122"/>
                <a:cs typeface="Courier New" pitchFamily="34" charset="-120"/>
              </a:rPr>
              <a:t> =&gt;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var</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E8E6F0"/>
                </a:solidFill>
                <a:latin typeface="Courier New" pitchFamily="34" charset="0"/>
                <a:ea typeface="Courier New" pitchFamily="34" charset="-122"/>
                <a:cs typeface="Courier New" pitchFamily="34" charset="-120"/>
              </a:rPr>
              <a:t>ctx</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Arguments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8FE3B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Value</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i="1" dirty="0">
                <a:solidFill>
                  <a:srgbClr val="8B87A3"/>
                </a:solidFill>
                <a:latin typeface="Courier New" pitchFamily="34" charset="0"/>
                <a:ea typeface="Courier New" pitchFamily="34" charset="-122"/>
                <a:cs typeface="Courier New" pitchFamily="34" charset="-120"/>
              </a:rPr>
              <a:t>// Use the collected argument...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return</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Task</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FromResult</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7CC7FF"/>
                </a:solidFill>
                <a:latin typeface="Courier New" pitchFamily="34" charset="0"/>
                <a:ea typeface="Courier New" pitchFamily="34" charset="-122"/>
                <a:cs typeface="Courier New" pitchFamily="34" charset="-120"/>
              </a:rPr>
              <a:t>CommandResults</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Success</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commandOptions</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new</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CommandOptions</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Description</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8FE3B0"/>
                </a:solidFill>
                <a:latin typeface="Courier New" pitchFamily="34" charset="0"/>
                <a:ea typeface="Courier New" pitchFamily="34" charset="-122"/>
                <a:cs typeface="Courier New" pitchFamily="34" charset="-120"/>
              </a:rPr>
              <a:t>"Echo a message."</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Arguments</a:t>
            </a:r>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C4A7FF"/>
                </a:solidFill>
                <a:latin typeface="Courier New" pitchFamily="34" charset="0"/>
                <a:ea typeface="Courier New" pitchFamily="34" charset="-122"/>
                <a:cs typeface="Courier New" pitchFamily="34" charset="-120"/>
              </a:rPr>
              <a:t>new</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InteractionInput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Name</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8FE3B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Label</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8FE3B0"/>
                </a:solidFill>
                <a:latin typeface="Courier New" pitchFamily="34" charset="0"/>
                <a:ea typeface="Courier New" pitchFamily="34" charset="-122"/>
                <a:cs typeface="Courier New" pitchFamily="34" charset="-120"/>
              </a:rPr>
              <a:t>"Message"</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7CC7FF"/>
                </a:solidFill>
                <a:latin typeface="Courier New" pitchFamily="34" charset="0"/>
                <a:ea typeface="Courier New" pitchFamily="34" charset="-122"/>
                <a:cs typeface="Courier New" pitchFamily="34" charset="-120"/>
              </a:rPr>
              <a:t>InputType</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7CC7FF"/>
                </a:solidFill>
                <a:latin typeface="Courier New" pitchFamily="34" charset="0"/>
                <a:ea typeface="Courier New" pitchFamily="34" charset="-122"/>
                <a:cs typeface="Courier New" pitchFamily="34" charset="-120"/>
              </a:rPr>
              <a:t>InputType</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Text</a:t>
            </a:r>
            <a:pPr indent="0" marL="0">
              <a:buNone/>
            </a:pPr>
            <a:r>
              <a:rPr lang="en-US" sz="1100" dirty="0">
                <a:solidFill>
                  <a:srgbClr val="E8E6F0"/>
                </a:solidFill>
                <a:latin typeface="Courier New" pitchFamily="34" charset="0"/>
                <a:ea typeface="Courier New" pitchFamily="34" charset="-122"/>
                <a:cs typeface="Courier New" pitchFamily="34" charset="-120"/>
              </a:rPr>
              <a:t>, </a:t>
            </a:r>
            <a:pPr indent="0" marL="0">
              <a:buNone/>
            </a:pPr>
            <a:r>
              <a:rPr lang="en-US" sz="1100" dirty="0">
                <a:solidFill>
                  <a:srgbClr val="E8E6F0"/>
                </a:solidFill>
                <a:latin typeface="Courier New" pitchFamily="34" charset="0"/>
                <a:ea typeface="Courier New" pitchFamily="34" charset="-122"/>
                <a:cs typeface="Courier New" pitchFamily="34" charset="-120"/>
              </a:rPr>
              <a:t>Required</a:t>
            </a:r>
            <a:pPr indent="0" marL="0">
              <a:buNone/>
            </a:pPr>
            <a:r>
              <a:rPr lang="en-US" sz="1100" dirty="0">
                <a:solidFill>
                  <a:srgbClr val="E8E6F0"/>
                </a:solidFill>
                <a:latin typeface="Courier New" pitchFamily="34" charset="0"/>
                <a:ea typeface="Courier New" pitchFamily="34" charset="-122"/>
                <a:cs typeface="Courier New" pitchFamily="34" charset="-120"/>
              </a:rPr>
              <a:t> = </a:t>
            </a:r>
            <a:pPr indent="0" marL="0">
              <a:buNone/>
            </a:pPr>
            <a:r>
              <a:rPr lang="en-US" sz="1100" dirty="0">
                <a:solidFill>
                  <a:srgbClr val="C4A7FF"/>
                </a:solidFill>
                <a:latin typeface="Courier New" pitchFamily="34" charset="0"/>
                <a:ea typeface="Courier New" pitchFamily="34" charset="-122"/>
                <a:cs typeface="Courier New" pitchFamily="34" charset="-120"/>
              </a:rPr>
              <a:t>true</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6F0"/>
                </a:solidFill>
                <a:latin typeface="Courier New" pitchFamily="34" charset="0"/>
                <a:ea typeface="Courier New" pitchFamily="34" charset="-122"/>
                <a:cs typeface="Courier New" pitchFamily="34" charset="-120"/>
              </a:rPr>
              <a:t>builder</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Build</a:t>
            </a:r>
            <a:pPr indent="0" marL="0">
              <a:buNone/>
            </a:pPr>
            <a:r>
              <a:rPr lang="en-US" sz="1100" dirty="0">
                <a:solidFill>
                  <a:srgbClr val="E8E6F0"/>
                </a:solidFill>
                <a:latin typeface="Courier New" pitchFamily="34" charset="0"/>
                <a:ea typeface="Courier New" pitchFamily="34" charset="-122"/>
                <a:cs typeface="Courier New" pitchFamily="34" charset="-120"/>
              </a:rPr>
              <a:t>().</a:t>
            </a:r>
            <a:pPr indent="0" marL="0">
              <a:buNone/>
            </a:pPr>
            <a:r>
              <a:rPr lang="en-US" sz="1100" dirty="0">
                <a:solidFill>
                  <a:srgbClr val="E8E6F0"/>
                </a:solidFill>
                <a:latin typeface="Courier New" pitchFamily="34" charset="0"/>
                <a:ea typeface="Courier New" pitchFamily="34" charset="-122"/>
                <a:cs typeface="Courier New" pitchFamily="34" charset="-120"/>
              </a:rPr>
              <a:t>Run</a:t>
            </a:r>
            <a:pPr indent="0" marL="0">
              <a:buNone/>
            </a:pPr>
            <a:r>
              <a:rPr lang="en-US" sz="1100" dirty="0">
                <a:solidFill>
                  <a:srgbClr val="E8E6F0"/>
                </a:solidFill>
                <a:latin typeface="Courier New" pitchFamily="34" charset="0"/>
                <a:ea typeface="Courier New" pitchFamily="34" charset="-122"/>
                <a:cs typeface="Courier New" pitchFamily="34" charset="-120"/>
              </a:rPr>
              <a:t>();</a:t>
            </a:r>
            <a:endParaRPr lang="en-US" sz="1100" dirty="0"/>
          </a:p>
        </p:txBody>
      </p:sp>
      <p:sp>
        <p:nvSpPr>
          <p:cNvPr id="6" name="Args notes panel"/>
          <p:cNvSpPr/>
          <p:nvPr/>
        </p:nvSpPr>
        <p:spPr>
          <a:xfrm>
            <a:off x="8366760" y="1234440"/>
            <a:ext cx="3246120" cy="5074920"/>
          </a:xfrm>
          <a:prstGeom prst="roundRect">
            <a:avLst>
              <a:gd name="adj" fmla="val 2817"/>
            </a:avLst>
          </a:prstGeom>
          <a:solidFill>
            <a:schemeClr val="bg2"/>
          </a:solidFill>
          <a:ln w="12700">
            <a:solidFill>
              <a:schemeClr val="bg2"/>
            </a:solidFill>
            <a:prstDash val="solid"/>
          </a:ln>
        </p:spPr>
      </p:sp>
      <p:sp>
        <p:nvSpPr>
          <p:cNvPr id="7" name="Args notes text"/>
          <p:cNvSpPr txBox="1"/>
          <p:nvPr/>
        </p:nvSpPr>
        <p:spPr>
          <a:xfrm>
            <a:off x="8641080" y="1463040"/>
            <a:ext cx="2697480" cy="4617720"/>
          </a:xfrm>
          <a:prstGeom prst="rect">
            <a:avLst/>
          </a:prstGeom>
          <a:noFill/>
          <a:ln/>
        </p:spPr>
        <p:txBody>
          <a:bodyPr wrap="square" lIns="0" tIns="0" rIns="0" bIns="0" rtlCol="0" anchor="t"/>
          <a:lstStyle/>
          <a:p>
            <a:pPr indent="0" marL="0">
              <a:buNone/>
            </a:pPr>
            <a:r>
              <a:rPr lang="en-US" sz="1500" b="1" dirty="0">
                <a:solidFill>
                  <a:schemeClr val="tx2"/>
                </a:solidFill>
              </a:rPr>
              <a:t>Declare once</a:t>
            </a:r>
            <a:endParaRPr lang="en-US" sz="1500" dirty="0"/>
          </a:p>
          <a:p>
            <a:pPr indent="0" marL="0">
              <a:spcAft>
                <a:spcPts val="1200"/>
              </a:spcAft>
              <a:buNone/>
            </a:pPr>
            <a:r>
              <a:rPr lang="en-US" sz="1400" dirty="0">
                <a:solidFill>
                  <a:schemeClr val="tx1"/>
                </a:solidFill>
              </a:rPr>
              <a:t>Put InteractionInput items in CommandOptions.Arguments.</a:t>
            </a:r>
            <a:endParaRPr lang="en-US" sz="1500" dirty="0"/>
          </a:p>
          <a:p>
            <a:pPr indent="0" marL="0">
              <a:buNone/>
            </a:pPr>
            <a:r>
              <a:rPr lang="en-US" sz="1500" b="1" dirty="0">
                <a:solidFill>
                  <a:schemeClr val="tx2"/>
                </a:solidFill>
              </a:rPr>
              <a:t>Two front ends</a:t>
            </a:r>
            <a:endParaRPr lang="en-US" sz="1500" dirty="0"/>
          </a:p>
          <a:p>
            <a:pPr indent="0" marL="0">
              <a:spcAft>
                <a:spcPts val="1200"/>
              </a:spcAft>
              <a:buNone/>
            </a:pPr>
            <a:r>
              <a:rPr lang="en-US" sz="1400" dirty="0">
                <a:solidFill>
                  <a:schemeClr val="tx1"/>
                </a:solidFill>
              </a:rPr>
              <a:t>Dashboard: a form before the command runs. CLI: each argument becomes a command-line option with the same name.</a:t>
            </a:r>
            <a:endParaRPr lang="en-US" sz="1500" dirty="0"/>
          </a:p>
          <a:p>
            <a:pPr indent="0" marL="0">
              <a:buNone/>
            </a:pPr>
            <a:r>
              <a:rPr lang="en-US" sz="1500" b="1" dirty="0">
                <a:solidFill>
                  <a:schemeClr val="tx2"/>
                </a:solidFill>
              </a:rPr>
              <a:t>Required</a:t>
            </a:r>
            <a:endParaRPr lang="en-US" sz="1500" dirty="0"/>
          </a:p>
          <a:p>
            <a:pPr indent="0" marL="0">
              <a:spcAft>
                <a:spcPts val="1200"/>
              </a:spcAft>
              <a:buNone/>
            </a:pPr>
            <a:r>
              <a:rPr lang="en-US" sz="1400" dirty="0">
                <a:solidFill>
                  <a:schemeClr val="tx1"/>
                </a:solidFill>
              </a:rPr>
              <a:t>The CLI reports an error if a required option is missing. Stable.</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What it looks like: command arguments</a:t>
            </a:r>
            <a:endParaRPr lang="en-US" sz="3400" dirty="0"/>
          </a:p>
        </p:txBody>
      </p:sp>
      <p:sp>
        <p:nvSpPr>
          <p:cNvPr id="3" name="Step circle 299"/>
          <p:cNvSpPr/>
          <p:nvPr/>
        </p:nvSpPr>
        <p:spPr>
          <a:xfrm>
            <a:off x="548640" y="1188720"/>
            <a:ext cx="347472" cy="347472"/>
          </a:xfrm>
          <a:prstGeom prst="ellipse">
            <a:avLst/>
          </a:prstGeom>
          <a:solidFill>
            <a:schemeClr val="accent1"/>
          </a:solidFill>
          <a:ln w="12700">
            <a:solidFill>
              <a:schemeClr val="accent1"/>
            </a:solidFill>
            <a:prstDash val="solid"/>
          </a:ln>
        </p:spPr>
      </p:sp>
      <p:sp>
        <p:nvSpPr>
          <p:cNvPr id="4" name="Mock text 300"/>
          <p:cNvSpPr txBox="1"/>
          <p:nvPr/>
        </p:nvSpPr>
        <p:spPr>
          <a:xfrm>
            <a:off x="548640" y="11887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1</a:t>
            </a:r>
            <a:endParaRPr lang="en-US" sz="1400" dirty="0"/>
          </a:p>
        </p:txBody>
      </p:sp>
      <p:sp>
        <p:nvSpPr>
          <p:cNvPr id="5" name="Mock text 301"/>
          <p:cNvSpPr txBox="1"/>
          <p:nvPr/>
        </p:nvSpPr>
        <p:spPr>
          <a:xfrm>
            <a:off x="1005840" y="1188720"/>
            <a:ext cx="41148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Click ••• on "api", then "Echo"</a:t>
            </a:r>
            <a:endParaRPr lang="en-US" sz="1500" dirty="0"/>
          </a:p>
        </p:txBody>
      </p:sp>
      <p:sp>
        <p:nvSpPr>
          <p:cNvPr id="6" name="Step circle 302"/>
          <p:cNvSpPr/>
          <p:nvPr/>
        </p:nvSpPr>
        <p:spPr>
          <a:xfrm>
            <a:off x="5303520" y="1188720"/>
            <a:ext cx="347472" cy="347472"/>
          </a:xfrm>
          <a:prstGeom prst="ellipse">
            <a:avLst/>
          </a:prstGeom>
          <a:solidFill>
            <a:schemeClr val="accent1"/>
          </a:solidFill>
          <a:ln w="12700">
            <a:solidFill>
              <a:schemeClr val="accent1"/>
            </a:solidFill>
            <a:prstDash val="solid"/>
          </a:ln>
        </p:spPr>
      </p:sp>
      <p:sp>
        <p:nvSpPr>
          <p:cNvPr id="7" name="Mock text 303"/>
          <p:cNvSpPr txBox="1"/>
          <p:nvPr/>
        </p:nvSpPr>
        <p:spPr>
          <a:xfrm>
            <a:off x="5303520" y="11887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2</a:t>
            </a:r>
            <a:endParaRPr lang="en-US" sz="1400" dirty="0"/>
          </a:p>
        </p:txBody>
      </p:sp>
      <p:sp>
        <p:nvSpPr>
          <p:cNvPr id="8" name="Mock text 304"/>
          <p:cNvSpPr txBox="1"/>
          <p:nvPr/>
        </p:nvSpPr>
        <p:spPr>
          <a:xfrm>
            <a:off x="5760720" y="1188720"/>
            <a:ext cx="585216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The dashboard asks for the arguments first</a:t>
            </a:r>
            <a:endParaRPr lang="en-US" sz="1500" dirty="0"/>
          </a:p>
        </p:txBody>
      </p:sp>
      <p:sp>
        <p:nvSpPr>
          <p:cNvPr id="9" name="Mock box 305"/>
          <p:cNvSpPr/>
          <p:nvPr/>
        </p:nvSpPr>
        <p:spPr>
          <a:xfrm>
            <a:off x="548640" y="1691640"/>
            <a:ext cx="4480560" cy="4069080"/>
          </a:xfrm>
          <a:prstGeom prst="roundRect">
            <a:avLst>
              <a:gd name="adj" fmla="val 224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10" name="Mock rect 306"/>
          <p:cNvSpPr/>
          <p:nvPr/>
        </p:nvSpPr>
        <p:spPr>
          <a:xfrm>
            <a:off x="566928" y="1709928"/>
            <a:ext cx="4443984" cy="329184"/>
          </a:xfrm>
          <a:prstGeom prst="rect">
            <a:avLst/>
          </a:prstGeom>
          <a:solidFill>
            <a:srgbClr val="F2EEFB"/>
          </a:solidFill>
          <a:ln w="12700">
            <a:solidFill>
              <a:srgbClr val="F2EEFB"/>
            </a:solidFill>
            <a:prstDash val="solid"/>
          </a:ln>
        </p:spPr>
      </p:sp>
      <p:sp>
        <p:nvSpPr>
          <p:cNvPr id="11" name="Window dot 307"/>
          <p:cNvSpPr/>
          <p:nvPr/>
        </p:nvSpPr>
        <p:spPr>
          <a:xfrm>
            <a:off x="685800" y="1810512"/>
            <a:ext cx="100584" cy="100584"/>
          </a:xfrm>
          <a:prstGeom prst="ellipse">
            <a:avLst/>
          </a:prstGeom>
          <a:solidFill>
            <a:srgbClr val="F87171"/>
          </a:solidFill>
          <a:ln w="12700">
            <a:solidFill>
              <a:srgbClr val="F87171"/>
            </a:solidFill>
            <a:prstDash val="solid"/>
          </a:ln>
        </p:spPr>
      </p:sp>
      <p:sp>
        <p:nvSpPr>
          <p:cNvPr id="12" name="Window dot 308"/>
          <p:cNvSpPr/>
          <p:nvPr/>
        </p:nvSpPr>
        <p:spPr>
          <a:xfrm>
            <a:off x="850392" y="1810512"/>
            <a:ext cx="100584" cy="100584"/>
          </a:xfrm>
          <a:prstGeom prst="ellipse">
            <a:avLst/>
          </a:prstGeom>
          <a:solidFill>
            <a:srgbClr val="FBBF24"/>
          </a:solidFill>
          <a:ln w="12700">
            <a:solidFill>
              <a:srgbClr val="FBBF24"/>
            </a:solidFill>
            <a:prstDash val="solid"/>
          </a:ln>
        </p:spPr>
      </p:sp>
      <p:sp>
        <p:nvSpPr>
          <p:cNvPr id="13" name="Window dot 309"/>
          <p:cNvSpPr/>
          <p:nvPr/>
        </p:nvSpPr>
        <p:spPr>
          <a:xfrm>
            <a:off x="1014984" y="1810512"/>
            <a:ext cx="100584" cy="100584"/>
          </a:xfrm>
          <a:prstGeom prst="ellipse">
            <a:avLst/>
          </a:prstGeom>
          <a:solidFill>
            <a:srgbClr val="34D399"/>
          </a:solidFill>
          <a:ln w="12700">
            <a:solidFill>
              <a:srgbClr val="34D399"/>
            </a:solidFill>
            <a:prstDash val="solid"/>
          </a:ln>
        </p:spPr>
      </p:sp>
      <p:sp>
        <p:nvSpPr>
          <p:cNvPr id="14" name="Mock box 310"/>
          <p:cNvSpPr/>
          <p:nvPr/>
        </p:nvSpPr>
        <p:spPr>
          <a:xfrm>
            <a:off x="1280160" y="1764792"/>
            <a:ext cx="2377440" cy="201168"/>
          </a:xfrm>
          <a:prstGeom prst="roundRect">
            <a:avLst>
              <a:gd name="adj" fmla="val 45455"/>
            </a:avLst>
          </a:prstGeom>
          <a:solidFill>
            <a:srgbClr val="FFFFFF"/>
          </a:solidFill>
          <a:ln w="12700">
            <a:solidFill>
              <a:srgbClr val="E4DEF5"/>
            </a:solidFill>
            <a:prstDash val="solid"/>
          </a:ln>
        </p:spPr>
      </p:sp>
      <p:sp>
        <p:nvSpPr>
          <p:cNvPr id="15" name="Mock text 311"/>
          <p:cNvSpPr txBox="1"/>
          <p:nvPr/>
        </p:nvSpPr>
        <p:spPr>
          <a:xfrm>
            <a:off x="1371600" y="17647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16" name="Mock rect 312"/>
          <p:cNvSpPr/>
          <p:nvPr/>
        </p:nvSpPr>
        <p:spPr>
          <a:xfrm>
            <a:off x="566928" y="2039112"/>
            <a:ext cx="868680" cy="3703320"/>
          </a:xfrm>
          <a:prstGeom prst="rect">
            <a:avLst/>
          </a:prstGeom>
          <a:solidFill>
            <a:srgbClr val="FBFAFF"/>
          </a:solidFill>
          <a:ln w="12700">
            <a:solidFill>
              <a:srgbClr val="FBFAFF"/>
            </a:solidFill>
            <a:prstDash val="solid"/>
          </a:ln>
        </p:spPr>
      </p:sp>
      <p:sp>
        <p:nvSpPr>
          <p:cNvPr id="17" name="Mock text 313"/>
          <p:cNvSpPr txBox="1"/>
          <p:nvPr/>
        </p:nvSpPr>
        <p:spPr>
          <a:xfrm>
            <a:off x="685800" y="21305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18" name="Mock box 314"/>
          <p:cNvSpPr/>
          <p:nvPr/>
        </p:nvSpPr>
        <p:spPr>
          <a:xfrm>
            <a:off x="621792" y="2496312"/>
            <a:ext cx="740664" cy="256032"/>
          </a:xfrm>
          <a:prstGeom prst="roundRect">
            <a:avLst>
              <a:gd name="adj" fmla="val 28571"/>
            </a:avLst>
          </a:prstGeom>
          <a:solidFill>
            <a:srgbClr val="E9E2FC"/>
          </a:solidFill>
          <a:ln w="12700">
            <a:solidFill>
              <a:srgbClr val="E9E2FC"/>
            </a:solidFill>
            <a:prstDash val="solid"/>
          </a:ln>
        </p:spPr>
      </p:sp>
      <p:sp>
        <p:nvSpPr>
          <p:cNvPr id="19" name="Mock text 315"/>
          <p:cNvSpPr txBox="1"/>
          <p:nvPr/>
        </p:nvSpPr>
        <p:spPr>
          <a:xfrm>
            <a:off x="694944" y="24963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20" name="Mock text 316"/>
          <p:cNvSpPr txBox="1"/>
          <p:nvPr/>
        </p:nvSpPr>
        <p:spPr>
          <a:xfrm>
            <a:off x="694944" y="28254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21" name="Mock text 317"/>
          <p:cNvSpPr txBox="1"/>
          <p:nvPr/>
        </p:nvSpPr>
        <p:spPr>
          <a:xfrm>
            <a:off x="694944" y="31546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22" name="Mock text 318"/>
          <p:cNvSpPr txBox="1"/>
          <p:nvPr/>
        </p:nvSpPr>
        <p:spPr>
          <a:xfrm>
            <a:off x="694944" y="34838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23" name="Mock text 319"/>
          <p:cNvSpPr txBox="1"/>
          <p:nvPr/>
        </p:nvSpPr>
        <p:spPr>
          <a:xfrm>
            <a:off x="694944" y="38130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24" name="Mock text 320"/>
          <p:cNvSpPr txBox="1"/>
          <p:nvPr/>
        </p:nvSpPr>
        <p:spPr>
          <a:xfrm>
            <a:off x="1618488" y="2148840"/>
            <a:ext cx="18288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Resources</a:t>
            </a:r>
            <a:endParaRPr lang="en-US" sz="1400" dirty="0"/>
          </a:p>
        </p:txBody>
      </p:sp>
      <p:sp>
        <p:nvSpPr>
          <p:cNvPr id="25" name="Mock rect 321"/>
          <p:cNvSpPr/>
          <p:nvPr/>
        </p:nvSpPr>
        <p:spPr>
          <a:xfrm>
            <a:off x="1618488" y="2587752"/>
            <a:ext cx="3209544" cy="274320"/>
          </a:xfrm>
          <a:prstGeom prst="rect">
            <a:avLst/>
          </a:prstGeom>
          <a:solidFill>
            <a:srgbClr val="F2EEFB"/>
          </a:solidFill>
          <a:ln w="12700">
            <a:solidFill>
              <a:srgbClr val="F2EEFB"/>
            </a:solidFill>
            <a:prstDash val="solid"/>
          </a:ln>
        </p:spPr>
      </p:sp>
      <p:sp>
        <p:nvSpPr>
          <p:cNvPr id="26" name="Mock text 322"/>
          <p:cNvSpPr txBox="1"/>
          <p:nvPr/>
        </p:nvSpPr>
        <p:spPr>
          <a:xfrm>
            <a:off x="1691640" y="2587752"/>
            <a:ext cx="834481"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Name</a:t>
            </a:r>
            <a:endParaRPr lang="en-US" sz="950" dirty="0"/>
          </a:p>
        </p:txBody>
      </p:sp>
      <p:sp>
        <p:nvSpPr>
          <p:cNvPr id="27" name="Mock text 323"/>
          <p:cNvSpPr txBox="1"/>
          <p:nvPr/>
        </p:nvSpPr>
        <p:spPr>
          <a:xfrm>
            <a:off x="2526121" y="2587752"/>
            <a:ext cx="898672"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State</a:t>
            </a:r>
            <a:endParaRPr lang="en-US" sz="950" dirty="0"/>
          </a:p>
        </p:txBody>
      </p:sp>
      <p:sp>
        <p:nvSpPr>
          <p:cNvPr id="28" name="Mock text 324"/>
          <p:cNvSpPr txBox="1"/>
          <p:nvPr/>
        </p:nvSpPr>
        <p:spPr>
          <a:xfrm>
            <a:off x="3424794" y="2587752"/>
            <a:ext cx="834481"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Source</a:t>
            </a:r>
            <a:endParaRPr lang="en-US" sz="950" dirty="0"/>
          </a:p>
        </p:txBody>
      </p:sp>
      <p:sp>
        <p:nvSpPr>
          <p:cNvPr id="29" name="Mock text 325"/>
          <p:cNvSpPr txBox="1"/>
          <p:nvPr/>
        </p:nvSpPr>
        <p:spPr>
          <a:xfrm>
            <a:off x="4259275" y="2587752"/>
            <a:ext cx="64190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Actions</a:t>
            </a:r>
            <a:endParaRPr lang="en-US" sz="950" dirty="0"/>
          </a:p>
        </p:txBody>
      </p:sp>
      <p:sp>
        <p:nvSpPr>
          <p:cNvPr id="30" name="Mock rect 326"/>
          <p:cNvSpPr/>
          <p:nvPr/>
        </p:nvSpPr>
        <p:spPr>
          <a:xfrm>
            <a:off x="1618488" y="2880360"/>
            <a:ext cx="3209544" cy="347472"/>
          </a:xfrm>
          <a:prstGeom prst="rect">
            <a:avLst/>
          </a:prstGeom>
          <a:solidFill>
            <a:srgbClr val="FAF8FF"/>
          </a:solidFill>
          <a:ln w="6350">
            <a:solidFill>
              <a:srgbClr val="E4DEF5"/>
            </a:solidFill>
            <a:prstDash val="solid"/>
          </a:ln>
        </p:spPr>
      </p:sp>
      <p:sp>
        <p:nvSpPr>
          <p:cNvPr id="31" name="Mock text 327"/>
          <p:cNvSpPr txBox="1"/>
          <p:nvPr/>
        </p:nvSpPr>
        <p:spPr>
          <a:xfrm>
            <a:off x="1691640" y="2880360"/>
            <a:ext cx="834481" cy="347472"/>
          </a:xfrm>
          <a:prstGeom prst="rect">
            <a:avLst/>
          </a:prstGeom>
          <a:noFill/>
          <a:ln/>
        </p:spPr>
        <p:txBody>
          <a:bodyPr wrap="square" lIns="0" tIns="0" rIns="0" bIns="0" rtlCol="0" anchor="ctr"/>
          <a:lstStyle/>
          <a:p>
            <a:pPr indent="0" marL="0">
              <a:buNone/>
            </a:pPr>
            <a:r>
              <a:rPr lang="en-US" sz="1050" b="1" dirty="0">
                <a:solidFill>
                  <a:schemeClr val="tx2"/>
                </a:solidFill>
                <a:latin typeface="Calibri" pitchFamily="34" charset="0"/>
                <a:ea typeface="Calibri" pitchFamily="34" charset="-122"/>
                <a:cs typeface="Calibri" pitchFamily="34" charset="-120"/>
              </a:rPr>
              <a:t>api</a:t>
            </a:r>
            <a:endParaRPr lang="en-US" sz="1050" dirty="0"/>
          </a:p>
        </p:txBody>
      </p:sp>
      <p:sp>
        <p:nvSpPr>
          <p:cNvPr id="32" name="State dot 328"/>
          <p:cNvSpPr/>
          <p:nvPr/>
        </p:nvSpPr>
        <p:spPr>
          <a:xfrm>
            <a:off x="2526121" y="3008376"/>
            <a:ext cx="91440" cy="91440"/>
          </a:xfrm>
          <a:prstGeom prst="ellipse">
            <a:avLst/>
          </a:prstGeom>
          <a:solidFill>
            <a:srgbClr val="22A06B"/>
          </a:solidFill>
          <a:ln w="12700">
            <a:solidFill>
              <a:srgbClr val="22A06B"/>
            </a:solidFill>
            <a:prstDash val="solid"/>
          </a:ln>
        </p:spPr>
      </p:sp>
      <p:sp>
        <p:nvSpPr>
          <p:cNvPr id="33" name="Mock text 329"/>
          <p:cNvSpPr txBox="1"/>
          <p:nvPr/>
        </p:nvSpPr>
        <p:spPr>
          <a:xfrm>
            <a:off x="2672425" y="2880360"/>
            <a:ext cx="802386" cy="347472"/>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Running</a:t>
            </a:r>
            <a:endParaRPr lang="en-US" sz="1050" dirty="0"/>
          </a:p>
        </p:txBody>
      </p:sp>
      <p:sp>
        <p:nvSpPr>
          <p:cNvPr id="34" name="Mock text 330"/>
          <p:cNvSpPr txBox="1"/>
          <p:nvPr/>
        </p:nvSpPr>
        <p:spPr>
          <a:xfrm>
            <a:off x="3424794" y="2880360"/>
            <a:ext cx="834481" cy="347472"/>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nginx</a:t>
            </a:r>
            <a:endParaRPr lang="en-US" sz="1050" dirty="0"/>
          </a:p>
        </p:txBody>
      </p:sp>
      <p:sp>
        <p:nvSpPr>
          <p:cNvPr id="35" name="Mock box 331"/>
          <p:cNvSpPr/>
          <p:nvPr/>
        </p:nvSpPr>
        <p:spPr>
          <a:xfrm>
            <a:off x="4277563" y="2944368"/>
            <a:ext cx="347472" cy="219456"/>
          </a:xfrm>
          <a:prstGeom prst="roundRect">
            <a:avLst>
              <a:gd name="adj" fmla="val 25000"/>
            </a:avLst>
          </a:prstGeom>
          <a:solidFill>
            <a:srgbClr val="E9E2FC"/>
          </a:solidFill>
          <a:ln w="12700">
            <a:solidFill>
              <a:schemeClr val="accent1"/>
            </a:solidFill>
            <a:prstDash val="solid"/>
          </a:ln>
        </p:spPr>
      </p:sp>
      <p:sp>
        <p:nvSpPr>
          <p:cNvPr id="36" name="Mock text 332"/>
          <p:cNvSpPr txBox="1"/>
          <p:nvPr/>
        </p:nvSpPr>
        <p:spPr>
          <a:xfrm>
            <a:off x="4277563" y="2944368"/>
            <a:ext cx="347472" cy="219456"/>
          </a:xfrm>
          <a:prstGeom prst="rect">
            <a:avLst/>
          </a:prstGeom>
          <a:noFill/>
          <a:ln/>
        </p:spPr>
        <p:txBody>
          <a:bodyPr wrap="square" lIns="0" tIns="0" rIns="0" bIns="0" rtlCol="0" anchor="ctr"/>
          <a:lstStyle/>
          <a:p>
            <a:pPr algn="ctr" indent="0" marL="0">
              <a:buNone/>
            </a:pPr>
            <a:r>
              <a:rPr lang="en-US" sz="900" b="1" dirty="0">
                <a:solidFill>
                  <a:schemeClr val="accent1"/>
                </a:solidFill>
                <a:latin typeface="Calibri" pitchFamily="34" charset="0"/>
                <a:ea typeface="Calibri" pitchFamily="34" charset="-122"/>
                <a:cs typeface="Calibri" pitchFamily="34" charset="-120"/>
              </a:rPr>
              <a:t>•••</a:t>
            </a:r>
            <a:endParaRPr lang="en-US" sz="900" dirty="0"/>
          </a:p>
        </p:txBody>
      </p:sp>
      <p:sp>
        <p:nvSpPr>
          <p:cNvPr id="37" name="Mock box 333"/>
          <p:cNvSpPr/>
          <p:nvPr/>
        </p:nvSpPr>
        <p:spPr>
          <a:xfrm>
            <a:off x="2951683" y="3209544"/>
            <a:ext cx="1737360" cy="1481328"/>
          </a:xfrm>
          <a:prstGeom prst="roundRect">
            <a:avLst>
              <a:gd name="adj" fmla="val 3704"/>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38" name="Mock text 334"/>
          <p:cNvSpPr txBox="1"/>
          <p:nvPr/>
        </p:nvSpPr>
        <p:spPr>
          <a:xfrm>
            <a:off x="3088843" y="326440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View details</a:t>
            </a:r>
            <a:endParaRPr lang="en-US" sz="1050" dirty="0"/>
          </a:p>
        </p:txBody>
      </p:sp>
      <p:sp>
        <p:nvSpPr>
          <p:cNvPr id="39" name="Mock text 335"/>
          <p:cNvSpPr txBox="1"/>
          <p:nvPr/>
        </p:nvSpPr>
        <p:spPr>
          <a:xfrm>
            <a:off x="3088843" y="353872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Console logs</a:t>
            </a:r>
            <a:endParaRPr lang="en-US" sz="1050" dirty="0"/>
          </a:p>
        </p:txBody>
      </p:sp>
      <p:sp>
        <p:nvSpPr>
          <p:cNvPr id="40" name="Mock box 336"/>
          <p:cNvSpPr/>
          <p:nvPr/>
        </p:nvSpPr>
        <p:spPr>
          <a:xfrm>
            <a:off x="2997403" y="3813048"/>
            <a:ext cx="1645920" cy="274320"/>
          </a:xfrm>
          <a:prstGeom prst="roundRect">
            <a:avLst>
              <a:gd name="adj" fmla="val 16667"/>
            </a:avLst>
          </a:prstGeom>
          <a:solidFill>
            <a:srgbClr val="E9E2FC"/>
          </a:solidFill>
          <a:ln w="12700">
            <a:solidFill>
              <a:srgbClr val="E9E2FC"/>
            </a:solidFill>
            <a:prstDash val="solid"/>
          </a:ln>
        </p:spPr>
      </p:sp>
      <p:sp>
        <p:nvSpPr>
          <p:cNvPr id="41" name="Mock text 337"/>
          <p:cNvSpPr txBox="1"/>
          <p:nvPr/>
        </p:nvSpPr>
        <p:spPr>
          <a:xfrm>
            <a:off x="3088843" y="3813048"/>
            <a:ext cx="1508760" cy="274320"/>
          </a:xfrm>
          <a:prstGeom prst="rect">
            <a:avLst/>
          </a:prstGeom>
          <a:noFill/>
          <a:ln/>
        </p:spPr>
        <p:txBody>
          <a:bodyPr wrap="square" lIns="0" tIns="0" rIns="0" bIns="0" rtlCol="0" anchor="ctr"/>
          <a:lstStyle/>
          <a:p>
            <a:pPr indent="0" marL="0">
              <a:buNone/>
            </a:pPr>
            <a:r>
              <a:rPr lang="en-US" sz="1050" b="1" dirty="0">
                <a:solidFill>
                  <a:schemeClr val="accent1"/>
                </a:solidFill>
                <a:latin typeface="Calibri" pitchFamily="34" charset="0"/>
                <a:ea typeface="Calibri" pitchFamily="34" charset="-122"/>
                <a:cs typeface="Calibri" pitchFamily="34" charset="-120"/>
              </a:rPr>
              <a:t>Echo</a:t>
            </a:r>
            <a:endParaRPr lang="en-US" sz="1050" dirty="0"/>
          </a:p>
        </p:txBody>
      </p:sp>
      <p:sp>
        <p:nvSpPr>
          <p:cNvPr id="42" name="Mock text 338"/>
          <p:cNvSpPr txBox="1"/>
          <p:nvPr/>
        </p:nvSpPr>
        <p:spPr>
          <a:xfrm>
            <a:off x="3088843" y="408736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Stop</a:t>
            </a:r>
            <a:endParaRPr lang="en-US" sz="1050" dirty="0"/>
          </a:p>
        </p:txBody>
      </p:sp>
      <p:sp>
        <p:nvSpPr>
          <p:cNvPr id="43" name="Mock text 339"/>
          <p:cNvSpPr txBox="1"/>
          <p:nvPr/>
        </p:nvSpPr>
        <p:spPr>
          <a:xfrm>
            <a:off x="3088843" y="4361688"/>
            <a:ext cx="1508760" cy="274320"/>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Restart</a:t>
            </a:r>
            <a:endParaRPr lang="en-US" sz="1050" dirty="0"/>
          </a:p>
        </p:txBody>
      </p:sp>
      <p:sp>
        <p:nvSpPr>
          <p:cNvPr id="44" name="Cursor 340"/>
          <p:cNvSpPr/>
          <p:nvPr/>
        </p:nvSpPr>
        <p:spPr>
          <a:xfrm>
            <a:off x="4323283" y="3922776"/>
            <a:ext cx="146304" cy="219456"/>
          </a:xfrm>
          <a:prstGeom prst="rtTriangle">
            <a:avLst/>
          </a:prstGeom>
          <a:solidFill>
            <a:schemeClr val="tx1"/>
          </a:solidFill>
          <a:ln w="9525">
            <a:solidFill>
              <a:srgbClr val="FFFFFF"/>
            </a:solidFill>
            <a:prstDash val="solid"/>
          </a:ln>
        </p:spPr>
      </p:sp>
      <p:sp>
        <p:nvSpPr>
          <p:cNvPr id="45" name="Mock box 341"/>
          <p:cNvSpPr/>
          <p:nvPr/>
        </p:nvSpPr>
        <p:spPr>
          <a:xfrm>
            <a:off x="5303520" y="1691640"/>
            <a:ext cx="6309360" cy="4069080"/>
          </a:xfrm>
          <a:prstGeom prst="roundRect">
            <a:avLst>
              <a:gd name="adj" fmla="val 224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46" name="Mock rect 342"/>
          <p:cNvSpPr/>
          <p:nvPr/>
        </p:nvSpPr>
        <p:spPr>
          <a:xfrm>
            <a:off x="5321808" y="1709928"/>
            <a:ext cx="6272784" cy="329184"/>
          </a:xfrm>
          <a:prstGeom prst="rect">
            <a:avLst/>
          </a:prstGeom>
          <a:solidFill>
            <a:srgbClr val="F2EEFB"/>
          </a:solidFill>
          <a:ln w="12700">
            <a:solidFill>
              <a:srgbClr val="F2EEFB"/>
            </a:solidFill>
            <a:prstDash val="solid"/>
          </a:ln>
        </p:spPr>
      </p:sp>
      <p:sp>
        <p:nvSpPr>
          <p:cNvPr id="47" name="Window dot 343"/>
          <p:cNvSpPr/>
          <p:nvPr/>
        </p:nvSpPr>
        <p:spPr>
          <a:xfrm>
            <a:off x="5440680" y="1810512"/>
            <a:ext cx="100584" cy="100584"/>
          </a:xfrm>
          <a:prstGeom prst="ellipse">
            <a:avLst/>
          </a:prstGeom>
          <a:solidFill>
            <a:srgbClr val="F87171"/>
          </a:solidFill>
          <a:ln w="12700">
            <a:solidFill>
              <a:srgbClr val="F87171"/>
            </a:solidFill>
            <a:prstDash val="solid"/>
          </a:ln>
        </p:spPr>
      </p:sp>
      <p:sp>
        <p:nvSpPr>
          <p:cNvPr id="48" name="Window dot 344"/>
          <p:cNvSpPr/>
          <p:nvPr/>
        </p:nvSpPr>
        <p:spPr>
          <a:xfrm>
            <a:off x="5605272" y="1810512"/>
            <a:ext cx="100584" cy="100584"/>
          </a:xfrm>
          <a:prstGeom prst="ellipse">
            <a:avLst/>
          </a:prstGeom>
          <a:solidFill>
            <a:srgbClr val="FBBF24"/>
          </a:solidFill>
          <a:ln w="12700">
            <a:solidFill>
              <a:srgbClr val="FBBF24"/>
            </a:solidFill>
            <a:prstDash val="solid"/>
          </a:ln>
        </p:spPr>
      </p:sp>
      <p:sp>
        <p:nvSpPr>
          <p:cNvPr id="49" name="Window dot 345"/>
          <p:cNvSpPr/>
          <p:nvPr/>
        </p:nvSpPr>
        <p:spPr>
          <a:xfrm>
            <a:off x="5769864" y="1810512"/>
            <a:ext cx="100584" cy="100584"/>
          </a:xfrm>
          <a:prstGeom prst="ellipse">
            <a:avLst/>
          </a:prstGeom>
          <a:solidFill>
            <a:srgbClr val="34D399"/>
          </a:solidFill>
          <a:ln w="12700">
            <a:solidFill>
              <a:srgbClr val="34D399"/>
            </a:solidFill>
            <a:prstDash val="solid"/>
          </a:ln>
        </p:spPr>
      </p:sp>
      <p:sp>
        <p:nvSpPr>
          <p:cNvPr id="50" name="Mock box 346"/>
          <p:cNvSpPr/>
          <p:nvPr/>
        </p:nvSpPr>
        <p:spPr>
          <a:xfrm>
            <a:off x="6035040" y="1764792"/>
            <a:ext cx="2377440" cy="201168"/>
          </a:xfrm>
          <a:prstGeom prst="roundRect">
            <a:avLst>
              <a:gd name="adj" fmla="val 45455"/>
            </a:avLst>
          </a:prstGeom>
          <a:solidFill>
            <a:srgbClr val="FFFFFF"/>
          </a:solidFill>
          <a:ln w="12700">
            <a:solidFill>
              <a:srgbClr val="E4DEF5"/>
            </a:solidFill>
            <a:prstDash val="solid"/>
          </a:ln>
        </p:spPr>
      </p:sp>
      <p:sp>
        <p:nvSpPr>
          <p:cNvPr id="51" name="Mock text 347"/>
          <p:cNvSpPr txBox="1"/>
          <p:nvPr/>
        </p:nvSpPr>
        <p:spPr>
          <a:xfrm>
            <a:off x="6126480" y="1764792"/>
            <a:ext cx="2194560" cy="201168"/>
          </a:xfrm>
          <a:prstGeom prst="rect">
            <a:avLst/>
          </a:prstGeom>
          <a:noFill/>
          <a:ln/>
        </p:spPr>
        <p:txBody>
          <a:bodyPr wrap="square" lIns="0" tIns="0" rIns="0" bIns="0" rtlCol="0" anchor="ctr"/>
          <a:lstStyle/>
          <a:p>
            <a:pPr indent="0" marL="0">
              <a:buNone/>
            </a:pPr>
            <a:r>
              <a:rPr lang="en-US" sz="900" dirty="0">
                <a:solidFill>
                  <a:srgbClr val="6B6785"/>
                </a:solidFill>
                <a:latin typeface="Calibri" pitchFamily="34" charset="0"/>
                <a:ea typeface="Calibri" pitchFamily="34" charset="-122"/>
                <a:cs typeface="Calibri" pitchFamily="34" charset="-120"/>
              </a:rPr>
              <a:t>https://localhost:17178</a:t>
            </a:r>
            <a:endParaRPr lang="en-US" sz="900" dirty="0"/>
          </a:p>
        </p:txBody>
      </p:sp>
      <p:sp>
        <p:nvSpPr>
          <p:cNvPr id="52" name="Mock rect 348"/>
          <p:cNvSpPr/>
          <p:nvPr/>
        </p:nvSpPr>
        <p:spPr>
          <a:xfrm>
            <a:off x="5321808" y="2039112"/>
            <a:ext cx="868680" cy="3703320"/>
          </a:xfrm>
          <a:prstGeom prst="rect">
            <a:avLst/>
          </a:prstGeom>
          <a:solidFill>
            <a:srgbClr val="FBFAFF"/>
          </a:solidFill>
          <a:ln w="12700">
            <a:solidFill>
              <a:srgbClr val="FBFAFF"/>
            </a:solidFill>
            <a:prstDash val="solid"/>
          </a:ln>
        </p:spPr>
      </p:sp>
      <p:sp>
        <p:nvSpPr>
          <p:cNvPr id="53" name="Mock text 349"/>
          <p:cNvSpPr txBox="1"/>
          <p:nvPr/>
        </p:nvSpPr>
        <p:spPr>
          <a:xfrm>
            <a:off x="5440680" y="2130552"/>
            <a:ext cx="731520" cy="27432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Aspire</a:t>
            </a:r>
            <a:endParaRPr lang="en-US" sz="1200" dirty="0"/>
          </a:p>
        </p:txBody>
      </p:sp>
      <p:sp>
        <p:nvSpPr>
          <p:cNvPr id="54" name="Mock box 350"/>
          <p:cNvSpPr/>
          <p:nvPr/>
        </p:nvSpPr>
        <p:spPr>
          <a:xfrm>
            <a:off x="5376672" y="2496312"/>
            <a:ext cx="740664" cy="256032"/>
          </a:xfrm>
          <a:prstGeom prst="roundRect">
            <a:avLst>
              <a:gd name="adj" fmla="val 28571"/>
            </a:avLst>
          </a:prstGeom>
          <a:solidFill>
            <a:srgbClr val="E9E2FC"/>
          </a:solidFill>
          <a:ln w="12700">
            <a:solidFill>
              <a:srgbClr val="E9E2FC"/>
            </a:solidFill>
            <a:prstDash val="solid"/>
          </a:ln>
        </p:spPr>
      </p:sp>
      <p:sp>
        <p:nvSpPr>
          <p:cNvPr id="55" name="Mock text 351"/>
          <p:cNvSpPr txBox="1"/>
          <p:nvPr/>
        </p:nvSpPr>
        <p:spPr>
          <a:xfrm>
            <a:off x="5449824" y="2496312"/>
            <a:ext cx="685800" cy="256032"/>
          </a:xfrm>
          <a:prstGeom prst="rect">
            <a:avLst/>
          </a:prstGeom>
          <a:noFill/>
          <a:ln/>
        </p:spPr>
        <p:txBody>
          <a:bodyPr wrap="square" lIns="0" tIns="0" rIns="0" bIns="0" rtlCol="0" anchor="ctr"/>
          <a:lstStyle/>
          <a:p>
            <a:pPr indent="0" marL="0">
              <a:buNone/>
            </a:pPr>
            <a:r>
              <a:rPr lang="en-US" sz="950" b="1" dirty="0">
                <a:solidFill>
                  <a:schemeClr val="accent1"/>
                </a:solidFill>
                <a:latin typeface="Calibri" pitchFamily="34" charset="0"/>
                <a:ea typeface="Calibri" pitchFamily="34" charset="-122"/>
                <a:cs typeface="Calibri" pitchFamily="34" charset="-120"/>
              </a:rPr>
              <a:t>Resources</a:t>
            </a:r>
            <a:endParaRPr lang="en-US" sz="950" dirty="0"/>
          </a:p>
        </p:txBody>
      </p:sp>
      <p:sp>
        <p:nvSpPr>
          <p:cNvPr id="56" name="Mock text 352"/>
          <p:cNvSpPr txBox="1"/>
          <p:nvPr/>
        </p:nvSpPr>
        <p:spPr>
          <a:xfrm>
            <a:off x="5449824" y="2825496"/>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Console</a:t>
            </a:r>
            <a:endParaRPr lang="en-US" sz="950" dirty="0"/>
          </a:p>
        </p:txBody>
      </p:sp>
      <p:sp>
        <p:nvSpPr>
          <p:cNvPr id="57" name="Mock text 353"/>
          <p:cNvSpPr txBox="1"/>
          <p:nvPr/>
        </p:nvSpPr>
        <p:spPr>
          <a:xfrm>
            <a:off x="5449824" y="3154680"/>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Structured</a:t>
            </a:r>
            <a:endParaRPr lang="en-US" sz="950" dirty="0"/>
          </a:p>
        </p:txBody>
      </p:sp>
      <p:sp>
        <p:nvSpPr>
          <p:cNvPr id="58" name="Mock text 354"/>
          <p:cNvSpPr txBox="1"/>
          <p:nvPr/>
        </p:nvSpPr>
        <p:spPr>
          <a:xfrm>
            <a:off x="5449824" y="3483864"/>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Traces</a:t>
            </a:r>
            <a:endParaRPr lang="en-US" sz="950" dirty="0"/>
          </a:p>
        </p:txBody>
      </p:sp>
      <p:sp>
        <p:nvSpPr>
          <p:cNvPr id="59" name="Mock text 355"/>
          <p:cNvSpPr txBox="1"/>
          <p:nvPr/>
        </p:nvSpPr>
        <p:spPr>
          <a:xfrm>
            <a:off x="5449824" y="3813048"/>
            <a:ext cx="685800" cy="256032"/>
          </a:xfrm>
          <a:prstGeom prst="rect">
            <a:avLst/>
          </a:prstGeom>
          <a:noFill/>
          <a:ln/>
        </p:spPr>
        <p:txBody>
          <a:bodyPr wrap="square" lIns="0" tIns="0" rIns="0" bIns="0" rtlCol="0" anchor="ctr"/>
          <a:lstStyle/>
          <a:p>
            <a:pPr indent="0" marL="0">
              <a:buNone/>
            </a:pPr>
            <a:r>
              <a:rPr lang="en-US" sz="950" dirty="0">
                <a:solidFill>
                  <a:srgbClr val="6B6785"/>
                </a:solidFill>
                <a:latin typeface="Calibri" pitchFamily="34" charset="0"/>
                <a:ea typeface="Calibri" pitchFamily="34" charset="-122"/>
                <a:cs typeface="Calibri" pitchFamily="34" charset="-120"/>
              </a:rPr>
              <a:t>Metrics</a:t>
            </a:r>
            <a:endParaRPr lang="en-US" sz="950" dirty="0"/>
          </a:p>
        </p:txBody>
      </p:sp>
      <p:sp>
        <p:nvSpPr>
          <p:cNvPr id="60" name="Mock text 356"/>
          <p:cNvSpPr txBox="1"/>
          <p:nvPr/>
        </p:nvSpPr>
        <p:spPr>
          <a:xfrm>
            <a:off x="6373368" y="2148840"/>
            <a:ext cx="1828800" cy="3200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Resources</a:t>
            </a:r>
            <a:endParaRPr lang="en-US" sz="1400" dirty="0"/>
          </a:p>
        </p:txBody>
      </p:sp>
      <p:sp>
        <p:nvSpPr>
          <p:cNvPr id="61" name="Mock rect 357"/>
          <p:cNvSpPr/>
          <p:nvPr/>
        </p:nvSpPr>
        <p:spPr>
          <a:xfrm>
            <a:off x="6373368" y="2587752"/>
            <a:ext cx="5038344" cy="274320"/>
          </a:xfrm>
          <a:prstGeom prst="rect">
            <a:avLst/>
          </a:prstGeom>
          <a:solidFill>
            <a:srgbClr val="F2EEFB"/>
          </a:solidFill>
          <a:ln w="12700">
            <a:solidFill>
              <a:srgbClr val="F2EEFB"/>
            </a:solidFill>
            <a:prstDash val="solid"/>
          </a:ln>
        </p:spPr>
      </p:sp>
      <p:sp>
        <p:nvSpPr>
          <p:cNvPr id="62" name="Mock text 358"/>
          <p:cNvSpPr txBox="1"/>
          <p:nvPr/>
        </p:nvSpPr>
        <p:spPr>
          <a:xfrm>
            <a:off x="6446520" y="2587752"/>
            <a:ext cx="13099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Name</a:t>
            </a:r>
            <a:endParaRPr lang="en-US" sz="950" dirty="0"/>
          </a:p>
        </p:txBody>
      </p:sp>
      <p:sp>
        <p:nvSpPr>
          <p:cNvPr id="63" name="Mock text 359"/>
          <p:cNvSpPr txBox="1"/>
          <p:nvPr/>
        </p:nvSpPr>
        <p:spPr>
          <a:xfrm>
            <a:off x="7756489" y="2587752"/>
            <a:ext cx="1410736"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State</a:t>
            </a:r>
            <a:endParaRPr lang="en-US" sz="950" dirty="0"/>
          </a:p>
        </p:txBody>
      </p:sp>
      <p:sp>
        <p:nvSpPr>
          <p:cNvPr id="64" name="Mock text 360"/>
          <p:cNvSpPr txBox="1"/>
          <p:nvPr/>
        </p:nvSpPr>
        <p:spPr>
          <a:xfrm>
            <a:off x="9167226" y="2587752"/>
            <a:ext cx="13099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Source</a:t>
            </a:r>
            <a:endParaRPr lang="en-US" sz="950" dirty="0"/>
          </a:p>
        </p:txBody>
      </p:sp>
      <p:sp>
        <p:nvSpPr>
          <p:cNvPr id="65" name="Mock text 361"/>
          <p:cNvSpPr txBox="1"/>
          <p:nvPr/>
        </p:nvSpPr>
        <p:spPr>
          <a:xfrm>
            <a:off x="10477195" y="2587752"/>
            <a:ext cx="1007669" cy="274320"/>
          </a:xfrm>
          <a:prstGeom prst="rect">
            <a:avLst/>
          </a:prstGeom>
          <a:noFill/>
          <a:ln/>
        </p:spPr>
        <p:txBody>
          <a:bodyPr wrap="square" lIns="0" tIns="0" rIns="0" bIns="0" rtlCol="0" anchor="ctr"/>
          <a:lstStyle/>
          <a:p>
            <a:pPr indent="0" marL="0">
              <a:buNone/>
            </a:pPr>
            <a:r>
              <a:rPr lang="en-US" sz="950" b="1" dirty="0">
                <a:solidFill>
                  <a:srgbClr val="6B6785"/>
                </a:solidFill>
                <a:latin typeface="Calibri" pitchFamily="34" charset="0"/>
                <a:ea typeface="Calibri" pitchFamily="34" charset="-122"/>
                <a:cs typeface="Calibri" pitchFamily="34" charset="-120"/>
              </a:rPr>
              <a:t>Actions</a:t>
            </a:r>
            <a:endParaRPr lang="en-US" sz="950" dirty="0"/>
          </a:p>
        </p:txBody>
      </p:sp>
      <p:sp>
        <p:nvSpPr>
          <p:cNvPr id="66" name="Mock rect 362"/>
          <p:cNvSpPr/>
          <p:nvPr/>
        </p:nvSpPr>
        <p:spPr>
          <a:xfrm>
            <a:off x="6373368" y="2880360"/>
            <a:ext cx="5038344" cy="347472"/>
          </a:xfrm>
          <a:prstGeom prst="rect">
            <a:avLst/>
          </a:prstGeom>
          <a:solidFill>
            <a:srgbClr val="FAF8FF"/>
          </a:solidFill>
          <a:ln w="6350">
            <a:solidFill>
              <a:srgbClr val="E4DEF5"/>
            </a:solidFill>
            <a:prstDash val="solid"/>
          </a:ln>
        </p:spPr>
      </p:sp>
      <p:sp>
        <p:nvSpPr>
          <p:cNvPr id="67" name="Mock text 363"/>
          <p:cNvSpPr txBox="1"/>
          <p:nvPr/>
        </p:nvSpPr>
        <p:spPr>
          <a:xfrm>
            <a:off x="6446520" y="2880360"/>
            <a:ext cx="1309969" cy="347472"/>
          </a:xfrm>
          <a:prstGeom prst="rect">
            <a:avLst/>
          </a:prstGeom>
          <a:noFill/>
          <a:ln/>
        </p:spPr>
        <p:txBody>
          <a:bodyPr wrap="square" lIns="0" tIns="0" rIns="0" bIns="0" rtlCol="0" anchor="ctr"/>
          <a:lstStyle/>
          <a:p>
            <a:pPr indent="0" marL="0">
              <a:buNone/>
            </a:pPr>
            <a:r>
              <a:rPr lang="en-US" sz="1050" b="1" dirty="0">
                <a:solidFill>
                  <a:schemeClr val="tx2"/>
                </a:solidFill>
                <a:latin typeface="Calibri" pitchFamily="34" charset="0"/>
                <a:ea typeface="Calibri" pitchFamily="34" charset="-122"/>
                <a:cs typeface="Calibri" pitchFamily="34" charset="-120"/>
              </a:rPr>
              <a:t>api</a:t>
            </a:r>
            <a:endParaRPr lang="en-US" sz="1050" dirty="0"/>
          </a:p>
        </p:txBody>
      </p:sp>
      <p:sp>
        <p:nvSpPr>
          <p:cNvPr id="68" name="State dot 364"/>
          <p:cNvSpPr/>
          <p:nvPr/>
        </p:nvSpPr>
        <p:spPr>
          <a:xfrm>
            <a:off x="7756489" y="3008376"/>
            <a:ext cx="91440" cy="91440"/>
          </a:xfrm>
          <a:prstGeom prst="ellipse">
            <a:avLst/>
          </a:prstGeom>
          <a:solidFill>
            <a:srgbClr val="22A06B"/>
          </a:solidFill>
          <a:ln w="12700">
            <a:solidFill>
              <a:srgbClr val="22A06B"/>
            </a:solidFill>
            <a:prstDash val="solid"/>
          </a:ln>
        </p:spPr>
      </p:sp>
      <p:sp>
        <p:nvSpPr>
          <p:cNvPr id="69" name="Mock text 365"/>
          <p:cNvSpPr txBox="1"/>
          <p:nvPr/>
        </p:nvSpPr>
        <p:spPr>
          <a:xfrm>
            <a:off x="7902793" y="2880360"/>
            <a:ext cx="1259586" cy="347472"/>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Running</a:t>
            </a:r>
            <a:endParaRPr lang="en-US" sz="1050" dirty="0"/>
          </a:p>
        </p:txBody>
      </p:sp>
      <p:sp>
        <p:nvSpPr>
          <p:cNvPr id="70" name="Mock text 366"/>
          <p:cNvSpPr txBox="1"/>
          <p:nvPr/>
        </p:nvSpPr>
        <p:spPr>
          <a:xfrm>
            <a:off x="9167226" y="2880360"/>
            <a:ext cx="1309969" cy="347472"/>
          </a:xfrm>
          <a:prstGeom prst="rect">
            <a:avLst/>
          </a:prstGeom>
          <a:noFill/>
          <a:ln/>
        </p:spPr>
        <p:txBody>
          <a:bodyPr wrap="square" lIns="0" tIns="0" rIns="0" bIns="0" rtlCol="0" anchor="ctr"/>
          <a:lstStyle/>
          <a:p>
            <a:pPr indent="0" marL="0">
              <a:buNone/>
            </a:pPr>
            <a:r>
              <a:rPr lang="en-US" sz="1050" dirty="0">
                <a:solidFill>
                  <a:srgbClr val="6B6785"/>
                </a:solidFill>
                <a:latin typeface="Calibri" pitchFamily="34" charset="0"/>
                <a:ea typeface="Calibri" pitchFamily="34" charset="-122"/>
                <a:cs typeface="Calibri" pitchFamily="34" charset="-120"/>
              </a:rPr>
              <a:t>nginx</a:t>
            </a:r>
            <a:endParaRPr lang="en-US" sz="1050" dirty="0"/>
          </a:p>
        </p:txBody>
      </p:sp>
      <p:sp>
        <p:nvSpPr>
          <p:cNvPr id="71" name="Mock box 367"/>
          <p:cNvSpPr/>
          <p:nvPr/>
        </p:nvSpPr>
        <p:spPr>
          <a:xfrm>
            <a:off x="10495483" y="2944368"/>
            <a:ext cx="347472" cy="219456"/>
          </a:xfrm>
          <a:prstGeom prst="roundRect">
            <a:avLst>
              <a:gd name="adj" fmla="val 25000"/>
            </a:avLst>
          </a:prstGeom>
          <a:solidFill>
            <a:srgbClr val="FFFFFF"/>
          </a:solidFill>
          <a:ln w="12700">
            <a:solidFill>
              <a:srgbClr val="E4DEF5"/>
            </a:solidFill>
            <a:prstDash val="solid"/>
          </a:ln>
        </p:spPr>
      </p:sp>
      <p:sp>
        <p:nvSpPr>
          <p:cNvPr id="72" name="Mock text 368"/>
          <p:cNvSpPr txBox="1"/>
          <p:nvPr/>
        </p:nvSpPr>
        <p:spPr>
          <a:xfrm>
            <a:off x="10495483" y="2944368"/>
            <a:ext cx="347472" cy="219456"/>
          </a:xfrm>
          <a:prstGeom prst="rect">
            <a:avLst/>
          </a:prstGeom>
          <a:noFill/>
          <a:ln/>
        </p:spPr>
        <p:txBody>
          <a:bodyPr wrap="square" lIns="0" tIns="0" rIns="0" bIns="0" rtlCol="0" anchor="ctr"/>
          <a:lstStyle/>
          <a:p>
            <a:pPr algn="ctr" indent="0" marL="0">
              <a:buNone/>
            </a:pPr>
            <a:r>
              <a:rPr lang="en-US" sz="900" b="1" dirty="0">
                <a:solidFill>
                  <a:schemeClr val="accent1"/>
                </a:solidFill>
                <a:latin typeface="Calibri" pitchFamily="34" charset="0"/>
                <a:ea typeface="Calibri" pitchFamily="34" charset="-122"/>
                <a:cs typeface="Calibri" pitchFamily="34" charset="-120"/>
              </a:rPr>
              <a:t>•••</a:t>
            </a:r>
            <a:endParaRPr lang="en-US" sz="900" dirty="0"/>
          </a:p>
        </p:txBody>
      </p:sp>
      <p:sp>
        <p:nvSpPr>
          <p:cNvPr id="73" name="Mock rect 369"/>
          <p:cNvSpPr/>
          <p:nvPr/>
        </p:nvSpPr>
        <p:spPr>
          <a:xfrm>
            <a:off x="5321808" y="2039112"/>
            <a:ext cx="6272784" cy="3685032"/>
          </a:xfrm>
          <a:prstGeom prst="rect">
            <a:avLst/>
          </a:prstGeom>
          <a:solidFill>
            <a:srgbClr val="17122B">
              <a:alpha val="45000"/>
            </a:srgbClr>
          </a:solidFill>
          <a:ln w="12700">
            <a:solidFill>
              <a:srgbClr val="17122B">
                <a:alpha val="0"/>
              </a:srgbClr>
            </a:solidFill>
            <a:prstDash val="solid"/>
          </a:ln>
        </p:spPr>
      </p:sp>
      <p:sp>
        <p:nvSpPr>
          <p:cNvPr id="74" name="Mock text 370"/>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rgbClr val="6B6785"/>
                </a:solidFill>
                <a:latin typeface="Calibri" pitchFamily="34" charset="0"/>
                <a:ea typeface="Calibri" pitchFamily="34" charset="-122"/>
                <a:cs typeface="Calibri" pitchFamily="34" charset="-120"/>
              </a:rPr>
              <a:t>Illustrative mockup of the Aspire dashboard, not a screenshot. Exact layout, labels and button text may differ.</a:t>
            </a:r>
            <a:endParaRPr lang="en-US" sz="1100" dirty="0"/>
          </a:p>
        </p:txBody>
      </p:sp>
      <p:sp>
        <p:nvSpPr>
          <p:cNvPr id="75" name="Mock box 371"/>
          <p:cNvSpPr/>
          <p:nvPr/>
        </p:nvSpPr>
        <p:spPr>
          <a:xfrm>
            <a:off x="6281928" y="2450592"/>
            <a:ext cx="2926080" cy="2377440"/>
          </a:xfrm>
          <a:prstGeom prst="roundRect">
            <a:avLst>
              <a:gd name="adj" fmla="val 3077"/>
            </a:avLst>
          </a:prstGeom>
          <a:solidFill>
            <a:srgbClr val="FFFFFF"/>
          </a:solidFill>
          <a:ln w="12700">
            <a:solidFill>
              <a:srgbClr val="E4DEF5"/>
            </a:solidFill>
            <a:prstDash val="solid"/>
          </a:ln>
          <a:effectLst>
            <a:outerShdw sx="100000" sy="100000" kx="0" ky="0" algn="bl" rotWithShape="0" blurRad="101600" dist="38100" dir="5400000">
              <a:srgbClr val="000000">
                <a:alpha val="18000"/>
              </a:srgbClr>
            </a:outerShdw>
          </a:effectLst>
        </p:spPr>
      </p:sp>
      <p:sp>
        <p:nvSpPr>
          <p:cNvPr id="76" name="Mock text 372"/>
          <p:cNvSpPr txBox="1"/>
          <p:nvPr/>
        </p:nvSpPr>
        <p:spPr>
          <a:xfrm>
            <a:off x="6510528" y="2587752"/>
            <a:ext cx="2286000" cy="347472"/>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Echo</a:t>
            </a:r>
            <a:endParaRPr lang="en-US" sz="1500" dirty="0"/>
          </a:p>
        </p:txBody>
      </p:sp>
      <p:sp>
        <p:nvSpPr>
          <p:cNvPr id="77" name="Mock text 373"/>
          <p:cNvSpPr txBox="1"/>
          <p:nvPr/>
        </p:nvSpPr>
        <p:spPr>
          <a:xfrm>
            <a:off x="6510528" y="2999232"/>
            <a:ext cx="2468880" cy="274320"/>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Echo a message.</a:t>
            </a:r>
            <a:endParaRPr lang="en-US" sz="1100" dirty="0"/>
          </a:p>
        </p:txBody>
      </p:sp>
      <p:sp>
        <p:nvSpPr>
          <p:cNvPr id="78" name="Mock text 374"/>
          <p:cNvSpPr txBox="1"/>
          <p:nvPr/>
        </p:nvSpPr>
        <p:spPr>
          <a:xfrm>
            <a:off x="6510528" y="3410712"/>
            <a:ext cx="1371600" cy="228600"/>
          </a:xfrm>
          <a:prstGeom prst="rect">
            <a:avLst/>
          </a:prstGeom>
          <a:noFill/>
          <a:ln/>
        </p:spPr>
        <p:txBody>
          <a:bodyPr wrap="square" lIns="0" tIns="0" rIns="0" bIns="0" rtlCol="0" anchor="ctr"/>
          <a:lstStyle/>
          <a:p>
            <a:pPr indent="0" marL="0">
              <a:buNone/>
            </a:pPr>
            <a:r>
              <a:rPr lang="en-US" sz="1050" b="1" dirty="0">
                <a:solidFill>
                  <a:schemeClr val="tx1"/>
                </a:solidFill>
                <a:latin typeface="Calibri" pitchFamily="34" charset="0"/>
                <a:ea typeface="Calibri" pitchFamily="34" charset="-122"/>
                <a:cs typeface="Calibri" pitchFamily="34" charset="-120"/>
              </a:rPr>
              <a:t>Message </a:t>
            </a:r>
            <a:pPr indent="0" marL="0">
              <a:buNone/>
            </a:pPr>
            <a:r>
              <a:rPr lang="en-US" sz="1050" b="1" dirty="0">
                <a:solidFill>
                  <a:srgbClr val="DC2626"/>
                </a:solidFill>
                <a:latin typeface="Calibri" pitchFamily="34" charset="0"/>
                <a:ea typeface="Calibri" pitchFamily="34" charset="-122"/>
                <a:cs typeface="Calibri" pitchFamily="34" charset="-120"/>
              </a:rPr>
              <a:t>*</a:t>
            </a:r>
            <a:endParaRPr lang="en-US" sz="1050" dirty="0"/>
          </a:p>
        </p:txBody>
      </p:sp>
      <p:sp>
        <p:nvSpPr>
          <p:cNvPr id="79" name="Mock box 375"/>
          <p:cNvSpPr/>
          <p:nvPr/>
        </p:nvSpPr>
        <p:spPr>
          <a:xfrm>
            <a:off x="6510528" y="3685032"/>
            <a:ext cx="2468880" cy="329184"/>
          </a:xfrm>
          <a:prstGeom prst="roundRect">
            <a:avLst>
              <a:gd name="adj" fmla="val 16667"/>
            </a:avLst>
          </a:prstGeom>
          <a:solidFill>
            <a:srgbClr val="FFFFFF"/>
          </a:solidFill>
          <a:ln w="15875">
            <a:solidFill>
              <a:schemeClr val="accent1"/>
            </a:solidFill>
            <a:prstDash val="solid"/>
          </a:ln>
        </p:spPr>
      </p:sp>
      <p:sp>
        <p:nvSpPr>
          <p:cNvPr id="80" name="Mock text 376"/>
          <p:cNvSpPr txBox="1"/>
          <p:nvPr/>
        </p:nvSpPr>
        <p:spPr>
          <a:xfrm>
            <a:off x="6629400" y="3685032"/>
            <a:ext cx="2286000" cy="329184"/>
          </a:xfrm>
          <a:prstGeom prst="rect">
            <a:avLst/>
          </a:prstGeom>
          <a:noFill/>
          <a:ln/>
        </p:spPr>
        <p:txBody>
          <a:bodyPr wrap="square" lIns="0" tIns="0" rIns="0" bIns="0" rtlCol="0" anchor="ctr"/>
          <a:lstStyle/>
          <a:p>
            <a:pPr indent="0" marL="0">
              <a:buNone/>
            </a:pPr>
            <a:r>
              <a:rPr lang="en-US" sz="1100" dirty="0">
                <a:solidFill>
                  <a:schemeClr val="tx1"/>
                </a:solidFill>
                <a:latin typeface="Calibri" pitchFamily="34" charset="0"/>
                <a:ea typeface="Calibri" pitchFamily="34" charset="-122"/>
                <a:cs typeface="Calibri" pitchFamily="34" charset="-120"/>
              </a:rPr>
              <a:t>Hello from Aspire|</a:t>
            </a:r>
            <a:endParaRPr lang="en-US" sz="1100" dirty="0"/>
          </a:p>
        </p:txBody>
      </p:sp>
      <p:sp>
        <p:nvSpPr>
          <p:cNvPr id="81" name="Mock box 377"/>
          <p:cNvSpPr/>
          <p:nvPr/>
        </p:nvSpPr>
        <p:spPr>
          <a:xfrm>
            <a:off x="8293608" y="4370832"/>
            <a:ext cx="685800" cy="292608"/>
          </a:xfrm>
          <a:prstGeom prst="roundRect">
            <a:avLst>
              <a:gd name="adj" fmla="val 18750"/>
            </a:avLst>
          </a:prstGeom>
          <a:solidFill>
            <a:schemeClr val="accent1"/>
          </a:solidFill>
          <a:ln w="12700">
            <a:solidFill>
              <a:schemeClr val="accent1"/>
            </a:solidFill>
            <a:prstDash val="solid"/>
          </a:ln>
        </p:spPr>
      </p:sp>
      <p:sp>
        <p:nvSpPr>
          <p:cNvPr id="82" name="Mock text 378"/>
          <p:cNvSpPr txBox="1"/>
          <p:nvPr/>
        </p:nvSpPr>
        <p:spPr>
          <a:xfrm>
            <a:off x="8293608" y="4370832"/>
            <a:ext cx="685800" cy="292608"/>
          </a:xfrm>
          <a:prstGeom prst="rect">
            <a:avLst/>
          </a:prstGeom>
          <a:noFill/>
          <a:ln/>
        </p:spPr>
        <p:txBody>
          <a:bodyPr wrap="square" lIns="0" tIns="0" rIns="0" bIns="0" rtlCol="0" anchor="ctr"/>
          <a:lstStyle/>
          <a:p>
            <a:pPr algn="ctr" indent="0" marL="0">
              <a:buNone/>
            </a:pPr>
            <a:r>
              <a:rPr lang="en-US" sz="1050" b="1" dirty="0">
                <a:solidFill>
                  <a:schemeClr val="bg1"/>
                </a:solidFill>
                <a:latin typeface="Calibri" pitchFamily="34" charset="0"/>
                <a:ea typeface="Calibri" pitchFamily="34" charset="-122"/>
                <a:cs typeface="Calibri" pitchFamily="34" charset="-120"/>
              </a:rPr>
              <a:t>OK</a:t>
            </a:r>
            <a:endParaRPr lang="en-US" sz="1050" dirty="0"/>
          </a:p>
        </p:txBody>
      </p:sp>
      <p:sp>
        <p:nvSpPr>
          <p:cNvPr id="83" name="Mock box 379"/>
          <p:cNvSpPr/>
          <p:nvPr/>
        </p:nvSpPr>
        <p:spPr>
          <a:xfrm>
            <a:off x="7251192" y="4370832"/>
            <a:ext cx="932688" cy="292608"/>
          </a:xfrm>
          <a:prstGeom prst="roundRect">
            <a:avLst>
              <a:gd name="adj" fmla="val 18750"/>
            </a:avLst>
          </a:prstGeom>
          <a:solidFill>
            <a:srgbClr val="FFFFFF"/>
          </a:solidFill>
          <a:ln w="12700">
            <a:solidFill>
              <a:srgbClr val="E4DEF5"/>
            </a:solidFill>
            <a:prstDash val="solid"/>
          </a:ln>
        </p:spPr>
      </p:sp>
      <p:sp>
        <p:nvSpPr>
          <p:cNvPr id="84" name="Mock text 380"/>
          <p:cNvSpPr txBox="1"/>
          <p:nvPr/>
        </p:nvSpPr>
        <p:spPr>
          <a:xfrm>
            <a:off x="7251192" y="4370832"/>
            <a:ext cx="932688" cy="292608"/>
          </a:xfrm>
          <a:prstGeom prst="rect">
            <a:avLst/>
          </a:prstGeom>
          <a:noFill/>
          <a:ln/>
        </p:spPr>
        <p:txBody>
          <a:bodyPr wrap="square" lIns="0" tIns="0" rIns="0" bIns="0" rtlCol="0" anchor="ctr"/>
          <a:lstStyle/>
          <a:p>
            <a:pPr algn="ctr" indent="0" marL="0">
              <a:buNone/>
            </a:pPr>
            <a:r>
              <a:rPr lang="en-US" sz="1050" b="1" dirty="0">
                <a:solidFill>
                  <a:schemeClr val="tx1"/>
                </a:solidFill>
                <a:latin typeface="Calibri" pitchFamily="34" charset="0"/>
                <a:ea typeface="Calibri" pitchFamily="34" charset="-122"/>
                <a:cs typeface="Calibri" pitchFamily="34" charset="-120"/>
              </a:rPr>
              <a:t>Cancel</a:t>
            </a:r>
            <a:endParaRPr lang="en-US" sz="1050" dirty="0"/>
          </a:p>
        </p:txBody>
      </p:sp>
      <p:sp>
        <p:nvSpPr>
          <p:cNvPr id="85" name="Tag line 381"/>
          <p:cNvSpPr/>
          <p:nvPr/>
        </p:nvSpPr>
        <p:spPr>
          <a:xfrm>
            <a:off x="7196328" y="2761488"/>
            <a:ext cx="2194560" cy="0"/>
          </a:xfrm>
          <a:prstGeom prst="line">
            <a:avLst/>
          </a:prstGeom>
          <a:noFill/>
          <a:ln w="12700">
            <a:solidFill>
              <a:srgbClr val="D97706"/>
            </a:solidFill>
            <a:prstDash val="dash"/>
          </a:ln>
        </p:spPr>
      </p:sp>
      <p:sp>
        <p:nvSpPr>
          <p:cNvPr id="86" name="Mock box 382"/>
          <p:cNvSpPr/>
          <p:nvPr/>
        </p:nvSpPr>
        <p:spPr>
          <a:xfrm>
            <a:off x="9390888" y="2633472"/>
            <a:ext cx="1129284" cy="256032"/>
          </a:xfrm>
          <a:prstGeom prst="roundRect">
            <a:avLst>
              <a:gd name="adj" fmla="val 21429"/>
            </a:avLst>
          </a:prstGeom>
          <a:solidFill>
            <a:srgbClr val="FFF4E0"/>
          </a:solidFill>
          <a:ln w="12700">
            <a:solidFill>
              <a:srgbClr val="D97706"/>
            </a:solidFill>
            <a:prstDash val="solid"/>
          </a:ln>
        </p:spPr>
      </p:sp>
      <p:sp>
        <p:nvSpPr>
          <p:cNvPr id="87" name="Mock text 383"/>
          <p:cNvSpPr txBox="1"/>
          <p:nvPr/>
        </p:nvSpPr>
        <p:spPr>
          <a:xfrm>
            <a:off x="9390888" y="2633472"/>
            <a:ext cx="1129284"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displayName</a:t>
            </a:r>
            <a:endParaRPr lang="en-US" sz="1000" dirty="0"/>
          </a:p>
        </p:txBody>
      </p:sp>
      <p:sp>
        <p:nvSpPr>
          <p:cNvPr id="88" name="Tag line 384"/>
          <p:cNvSpPr/>
          <p:nvPr/>
        </p:nvSpPr>
        <p:spPr>
          <a:xfrm>
            <a:off x="7744968" y="3136392"/>
            <a:ext cx="1645920" cy="0"/>
          </a:xfrm>
          <a:prstGeom prst="line">
            <a:avLst/>
          </a:prstGeom>
          <a:noFill/>
          <a:ln w="12700">
            <a:solidFill>
              <a:srgbClr val="D97706"/>
            </a:solidFill>
            <a:prstDash val="dash"/>
          </a:ln>
        </p:spPr>
      </p:sp>
      <p:sp>
        <p:nvSpPr>
          <p:cNvPr id="89" name="Mock box 385"/>
          <p:cNvSpPr/>
          <p:nvPr/>
        </p:nvSpPr>
        <p:spPr>
          <a:xfrm>
            <a:off x="9390888" y="3008376"/>
            <a:ext cx="1129284" cy="256032"/>
          </a:xfrm>
          <a:prstGeom prst="roundRect">
            <a:avLst>
              <a:gd name="adj" fmla="val 21429"/>
            </a:avLst>
          </a:prstGeom>
          <a:solidFill>
            <a:srgbClr val="FFF4E0"/>
          </a:solidFill>
          <a:ln w="12700">
            <a:solidFill>
              <a:srgbClr val="D97706"/>
            </a:solidFill>
            <a:prstDash val="solid"/>
          </a:ln>
        </p:spPr>
      </p:sp>
      <p:sp>
        <p:nvSpPr>
          <p:cNvPr id="90" name="Mock text 386"/>
          <p:cNvSpPr txBox="1"/>
          <p:nvPr/>
        </p:nvSpPr>
        <p:spPr>
          <a:xfrm>
            <a:off x="9390888" y="3008376"/>
            <a:ext cx="1129284"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Description</a:t>
            </a:r>
            <a:endParaRPr lang="en-US" sz="1000" dirty="0"/>
          </a:p>
        </p:txBody>
      </p:sp>
      <p:sp>
        <p:nvSpPr>
          <p:cNvPr id="91" name="Tag line 387"/>
          <p:cNvSpPr/>
          <p:nvPr/>
        </p:nvSpPr>
        <p:spPr>
          <a:xfrm>
            <a:off x="7424928" y="3520440"/>
            <a:ext cx="1965960" cy="0"/>
          </a:xfrm>
          <a:prstGeom prst="line">
            <a:avLst/>
          </a:prstGeom>
          <a:noFill/>
          <a:ln w="12700">
            <a:solidFill>
              <a:srgbClr val="D97706"/>
            </a:solidFill>
            <a:prstDash val="dash"/>
          </a:ln>
        </p:spPr>
      </p:sp>
      <p:sp>
        <p:nvSpPr>
          <p:cNvPr id="92" name="Mock box 388"/>
          <p:cNvSpPr/>
          <p:nvPr/>
        </p:nvSpPr>
        <p:spPr>
          <a:xfrm>
            <a:off x="9390888" y="3392424"/>
            <a:ext cx="1517904" cy="256032"/>
          </a:xfrm>
          <a:prstGeom prst="roundRect">
            <a:avLst>
              <a:gd name="adj" fmla="val 21429"/>
            </a:avLst>
          </a:prstGeom>
          <a:solidFill>
            <a:srgbClr val="FFF4E0"/>
          </a:solidFill>
          <a:ln w="12700">
            <a:solidFill>
              <a:srgbClr val="D97706"/>
            </a:solidFill>
            <a:prstDash val="solid"/>
          </a:ln>
        </p:spPr>
      </p:sp>
      <p:sp>
        <p:nvSpPr>
          <p:cNvPr id="93" name="Mock text 389"/>
          <p:cNvSpPr txBox="1"/>
          <p:nvPr/>
        </p:nvSpPr>
        <p:spPr>
          <a:xfrm>
            <a:off x="9390888" y="3392424"/>
            <a:ext cx="1517904"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Label + Required</a:t>
            </a:r>
            <a:endParaRPr lang="en-US" sz="1000" dirty="0"/>
          </a:p>
        </p:txBody>
      </p:sp>
      <p:sp>
        <p:nvSpPr>
          <p:cNvPr id="94" name="Tag line 390"/>
          <p:cNvSpPr/>
          <p:nvPr/>
        </p:nvSpPr>
        <p:spPr>
          <a:xfrm>
            <a:off x="8979408" y="3849624"/>
            <a:ext cx="411480" cy="0"/>
          </a:xfrm>
          <a:prstGeom prst="line">
            <a:avLst/>
          </a:prstGeom>
          <a:noFill/>
          <a:ln w="12700">
            <a:solidFill>
              <a:srgbClr val="D97706"/>
            </a:solidFill>
            <a:prstDash val="dash"/>
          </a:ln>
        </p:spPr>
      </p:sp>
      <p:sp>
        <p:nvSpPr>
          <p:cNvPr id="95" name="Mock box 391"/>
          <p:cNvSpPr/>
          <p:nvPr/>
        </p:nvSpPr>
        <p:spPr>
          <a:xfrm>
            <a:off x="9390888" y="3721608"/>
            <a:ext cx="1362456" cy="256032"/>
          </a:xfrm>
          <a:prstGeom prst="roundRect">
            <a:avLst>
              <a:gd name="adj" fmla="val 21429"/>
            </a:avLst>
          </a:prstGeom>
          <a:solidFill>
            <a:srgbClr val="FFF4E0"/>
          </a:solidFill>
          <a:ln w="12700">
            <a:solidFill>
              <a:srgbClr val="D97706"/>
            </a:solidFill>
            <a:prstDash val="solid"/>
          </a:ln>
        </p:spPr>
      </p:sp>
      <p:sp>
        <p:nvSpPr>
          <p:cNvPr id="96" name="Mock text 392"/>
          <p:cNvSpPr txBox="1"/>
          <p:nvPr/>
        </p:nvSpPr>
        <p:spPr>
          <a:xfrm>
            <a:off x="9390888" y="3721608"/>
            <a:ext cx="1362456" cy="256032"/>
          </a:xfrm>
          <a:prstGeom prst="rect">
            <a:avLst/>
          </a:prstGeom>
          <a:noFill/>
          <a:ln/>
        </p:spPr>
        <p:txBody>
          <a:bodyPr wrap="square" lIns="0" tIns="0" rIns="0" bIns="0" rtlCol="0" anchor="ctr"/>
          <a:lstStyle/>
          <a:p>
            <a:pPr algn="ctr" indent="0" marL="0">
              <a:buNone/>
            </a:pPr>
            <a:r>
              <a:rPr lang="en-US" sz="1000" b="1" dirty="0">
                <a:solidFill>
                  <a:srgbClr val="8A4B00"/>
                </a:solidFill>
                <a:latin typeface="Courier New" pitchFamily="34" charset="0"/>
                <a:ea typeface="Courier New" pitchFamily="34" charset="-122"/>
                <a:cs typeface="Courier New" pitchFamily="34" charset="-120"/>
              </a:rPr>
              <a:t>InputType.Text</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Upgrade, and what to watch for</a:t>
            </a:r>
            <a:endParaRPr lang="en-US" sz="3400" dirty="0"/>
          </a:p>
        </p:txBody>
      </p:sp>
      <p:sp>
        <p:nvSpPr>
          <p:cNvPr id="3" name="Upgrade CLI panel"/>
          <p:cNvSpPr/>
          <p:nvPr/>
        </p:nvSpPr>
        <p:spPr>
          <a:xfrm>
            <a:off x="548640" y="1325880"/>
            <a:ext cx="5120640" cy="3291840"/>
          </a:xfrm>
          <a:prstGeom prst="roundRect">
            <a:avLst>
              <a:gd name="adj" fmla="val 2222"/>
            </a:avLst>
          </a:prstGeom>
          <a:solidFill>
            <a:srgbClr val="1C1830"/>
          </a:solidFill>
          <a:ln w="12700">
            <a:solidFill>
              <a:srgbClr val="1C1830"/>
            </a:solidFill>
            <a:prstDash val="solid"/>
          </a:ln>
        </p:spPr>
      </p:sp>
      <p:sp>
        <p:nvSpPr>
          <p:cNvPr id="4" name="Upgrade CLI label"/>
          <p:cNvSpPr txBox="1"/>
          <p:nvPr/>
        </p:nvSpPr>
        <p:spPr>
          <a:xfrm>
            <a:off x="777240" y="1417320"/>
            <a:ext cx="4663440" cy="274320"/>
          </a:xfrm>
          <a:prstGeom prst="rect">
            <a:avLst/>
          </a:prstGeom>
          <a:noFill/>
          <a:ln/>
        </p:spPr>
        <p:txBody>
          <a:bodyPr wrap="square" lIns="0" tIns="0" rIns="0" bIns="0" rtlCol="0" anchor="ctr"/>
          <a:lstStyle/>
          <a:p>
            <a:pPr indent="0" marL="0">
              <a:buNone/>
            </a:pPr>
            <a:r>
              <a:rPr lang="en-US" sz="1000" b="1" spc="100" kern="0" dirty="0">
                <a:solidFill>
                  <a:srgbClr val="8B87A3"/>
                </a:solidFill>
                <a:latin typeface="Calibri" pitchFamily="34" charset="0"/>
                <a:ea typeface="Calibri" pitchFamily="34" charset="-122"/>
                <a:cs typeface="Calibri" pitchFamily="34" charset="-120"/>
              </a:rPr>
              <a:t>TERMINAL  ·  Aspire CLI</a:t>
            </a:r>
            <a:endParaRPr lang="en-US" sz="1000" dirty="0"/>
          </a:p>
        </p:txBody>
      </p:sp>
      <p:sp>
        <p:nvSpPr>
          <p:cNvPr id="5" name="Upgrade CLI text"/>
          <p:cNvSpPr txBox="1"/>
          <p:nvPr/>
        </p:nvSpPr>
        <p:spPr>
          <a:xfrm>
            <a:off x="777240" y="1737360"/>
            <a:ext cx="4663440" cy="2788920"/>
          </a:xfrm>
          <a:prstGeom prst="rect">
            <a:avLst/>
          </a:prstGeom>
          <a:noFill/>
          <a:ln/>
        </p:spPr>
        <p:txBody>
          <a:bodyPr wrap="square" lIns="0" tIns="0" rIns="0" bIns="0" rtlCol="0" anchor="t"/>
          <a:lstStyle/>
          <a:p>
            <a:pPr indent="0" marL="0">
              <a:buNone/>
            </a:pPr>
            <a:r>
              <a:rPr lang="en-US" sz="1400" i="1" dirty="0">
                <a:solidFill>
                  <a:srgbClr val="8B87A3"/>
                </a:solidFill>
                <a:latin typeface="Courier New" pitchFamily="34" charset="0"/>
                <a:ea typeface="Courier New" pitchFamily="34" charset="-122"/>
                <a:cs typeface="Courier New" pitchFamily="34" charset="-120"/>
              </a:rPr>
              <a:t>// 1. Update the Aspire CLI itself</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aspire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update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self</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87A3"/>
                </a:solidFill>
                <a:latin typeface="Courier New" pitchFamily="34" charset="0"/>
                <a:ea typeface="Courier New" pitchFamily="34" charset="-122"/>
                <a:cs typeface="Courier New" pitchFamily="34" charset="-120"/>
              </a:rPr>
              <a:t>// 2. Update your projects (from repo root)</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aspire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update</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 </a:t>
            </a:r>
            <a:endParaRPr lang="en-US" sz="1400" dirty="0"/>
          </a:p>
          <a:p>
            <a:pPr indent="0" marL="0">
              <a:buNone/>
            </a:pPr>
            <a:r>
              <a:rPr lang="en-US" sz="1400" i="1" dirty="0">
                <a:solidFill>
                  <a:srgbClr val="8B87A3"/>
                </a:solidFill>
                <a:latin typeface="Courier New" pitchFamily="34" charset="0"/>
                <a:ea typeface="Courier New" pitchFamily="34" charset="-122"/>
                <a:cs typeface="Courier New" pitchFamily="34" charset="-120"/>
              </a:rPr>
              <a:t>// 3. Run the app + open the dashboard</a:t>
            </a:r>
            <a:endParaRPr lang="en-US" sz="1400" dirty="0"/>
          </a:p>
          <a:p>
            <a:pPr indent="0" marL="0">
              <a:buNone/>
            </a:pPr>
            <a:r>
              <a:rPr lang="en-US" sz="1400" dirty="0">
                <a:solidFill>
                  <a:srgbClr val="E8E6F0"/>
                </a:solidFill>
                <a:latin typeface="Courier New" pitchFamily="34" charset="0"/>
                <a:ea typeface="Courier New" pitchFamily="34" charset="-122"/>
                <a:cs typeface="Courier New" pitchFamily="34" charset="-120"/>
              </a:rPr>
              <a:t>aspire</a:t>
            </a:r>
            <a:pPr indent="0" marL="0">
              <a:buNone/>
            </a:pPr>
            <a:r>
              <a:rPr lang="en-US" sz="1400" dirty="0">
                <a:solidFill>
                  <a:srgbClr val="E8E6F0"/>
                </a:solidFill>
                <a:latin typeface="Courier New" pitchFamily="34" charset="0"/>
                <a:ea typeface="Courier New" pitchFamily="34" charset="-122"/>
                <a:cs typeface="Courier New" pitchFamily="34" charset="-120"/>
              </a:rPr>
              <a:t> </a:t>
            </a:r>
            <a:pPr indent="0" marL="0">
              <a:buNone/>
            </a:pPr>
            <a:r>
              <a:rPr lang="en-US" sz="1400" dirty="0">
                <a:solidFill>
                  <a:srgbClr val="E8E6F0"/>
                </a:solidFill>
                <a:latin typeface="Courier New" pitchFamily="34" charset="0"/>
                <a:ea typeface="Courier New" pitchFamily="34" charset="-122"/>
                <a:cs typeface="Courier New" pitchFamily="34" charset="-120"/>
              </a:rPr>
              <a:t>run</a:t>
            </a:r>
            <a:endParaRPr lang="en-US" sz="1400" dirty="0"/>
          </a:p>
        </p:txBody>
      </p:sp>
      <p:pic>
        <p:nvPicPr>
          <p:cNvPr id="6" name="Watch icon 0" descr="preencoded.png">    </p:cNvPr>
          <p:cNvPicPr>
            <a:picLocks noChangeAspect="1"/>
          </p:cNvPicPr>
          <p:nvPr/>
        </p:nvPicPr>
        <p:blipFill>
          <a:blip r:embed="rId1"/>
          <a:stretch>
            <a:fillRect/>
          </a:stretch>
        </p:blipFill>
        <p:spPr>
          <a:xfrm>
            <a:off x="6035040" y="1371600"/>
            <a:ext cx="411480" cy="411480"/>
          </a:xfrm>
          <a:prstGeom prst="rect">
            <a:avLst/>
          </a:prstGeom>
        </p:spPr>
      </p:pic>
      <p:sp>
        <p:nvSpPr>
          <p:cNvPr id="7" name="Watch title 0"/>
          <p:cNvSpPr txBox="1"/>
          <p:nvPr/>
        </p:nvSpPr>
        <p:spPr>
          <a:xfrm>
            <a:off x="6629400" y="1325880"/>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Don't mix 13.4 and 13.5 packages</a:t>
            </a:r>
            <a:endParaRPr lang="en-US" sz="1600" dirty="0"/>
          </a:p>
        </p:txBody>
      </p:sp>
      <p:sp>
        <p:nvSpPr>
          <p:cNvPr id="8" name="Watch body 0"/>
          <p:cNvSpPr txBox="1"/>
          <p:nvPr/>
        </p:nvSpPr>
        <p:spPr>
          <a:xfrm>
            <a:off x="6629400" y="1709928"/>
            <a:ext cx="4983480" cy="685800"/>
          </a:xfrm>
          <a:prstGeom prst="rect">
            <a:avLst/>
          </a:prstGeom>
          <a:noFill/>
          <a:ln/>
        </p:spPr>
        <p:txBody>
          <a:bodyPr wrap="square" lIns="0" tIns="0" rIns="0" bIns="0" rtlCol="0" anchor="t"/>
          <a:lstStyle/>
          <a:p>
            <a:pPr indent="0" marL="0">
              <a:buNone/>
            </a:pPr>
            <a:r>
              <a:rPr lang="en-US" sz="1400" dirty="0">
                <a:solidFill>
                  <a:schemeClr val="tx1"/>
                </a:solidFill>
              </a:rPr>
              <a:t>Mixed versions can fail at startup. Upgrade the SDK and every Aspire.Hosting.* package together.</a:t>
            </a:r>
            <a:endParaRPr lang="en-US" sz="1400" dirty="0"/>
          </a:p>
        </p:txBody>
      </p:sp>
      <p:pic>
        <p:nvPicPr>
          <p:cNvPr id="9" name="Watch icon 1" descr="preencoded.png">    </p:cNvPr>
          <p:cNvPicPr>
            <a:picLocks noChangeAspect="1"/>
          </p:cNvPicPr>
          <p:nvPr/>
        </p:nvPicPr>
        <p:blipFill>
          <a:blip r:embed="rId2"/>
          <a:stretch>
            <a:fillRect/>
          </a:stretch>
        </p:blipFill>
        <p:spPr>
          <a:xfrm>
            <a:off x="6035040" y="2587752"/>
            <a:ext cx="411480" cy="411480"/>
          </a:xfrm>
          <a:prstGeom prst="rect">
            <a:avLst/>
          </a:prstGeom>
        </p:spPr>
      </p:pic>
      <p:sp>
        <p:nvSpPr>
          <p:cNvPr id="10" name="Watch title 1"/>
          <p:cNvSpPr txBox="1"/>
          <p:nvPr/>
        </p:nvSpPr>
        <p:spPr>
          <a:xfrm>
            <a:off x="6629400" y="2542032"/>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Dashboard AI Assistant removed</a:t>
            </a:r>
            <a:endParaRPr lang="en-US" sz="1600" dirty="0"/>
          </a:p>
        </p:txBody>
      </p:sp>
      <p:sp>
        <p:nvSpPr>
          <p:cNvPr id="11" name="Watch body 1"/>
          <p:cNvSpPr txBox="1"/>
          <p:nvPr/>
        </p:nvSpPr>
        <p:spPr>
          <a:xfrm>
            <a:off x="6629400" y="2926080"/>
            <a:ext cx="4983480" cy="685800"/>
          </a:xfrm>
          <a:prstGeom prst="rect">
            <a:avLst/>
          </a:prstGeom>
          <a:noFill/>
          <a:ln/>
        </p:spPr>
        <p:txBody>
          <a:bodyPr wrap="square" lIns="0" tIns="0" rIns="0" bIns="0" rtlCol="0" anchor="t"/>
          <a:lstStyle/>
          <a:p>
            <a:pPr indent="0" marL="0">
              <a:buNone/>
            </a:pPr>
            <a:r>
              <a:rPr lang="en-US" sz="1400" dirty="0">
                <a:solidFill>
                  <a:schemeClr val="tx1"/>
                </a:solidFill>
              </a:rPr>
              <a:t>The built-in chat is gone. The Aspire MCP server is the supported way to connect AI agents.</a:t>
            </a:r>
            <a:endParaRPr lang="en-US" sz="1400" dirty="0"/>
          </a:p>
        </p:txBody>
      </p:sp>
      <p:pic>
        <p:nvPicPr>
          <p:cNvPr id="12" name="Watch icon 2" descr="preencoded.png">    </p:cNvPr>
          <p:cNvPicPr>
            <a:picLocks noChangeAspect="1"/>
          </p:cNvPicPr>
          <p:nvPr/>
        </p:nvPicPr>
        <p:blipFill>
          <a:blip r:embed="rId3"/>
          <a:stretch>
            <a:fillRect/>
          </a:stretch>
        </p:blipFill>
        <p:spPr>
          <a:xfrm>
            <a:off x="6035040" y="3803904"/>
            <a:ext cx="411480" cy="411480"/>
          </a:xfrm>
          <a:prstGeom prst="rect">
            <a:avLst/>
          </a:prstGeom>
        </p:spPr>
      </p:pic>
      <p:sp>
        <p:nvSpPr>
          <p:cNvPr id="13" name="Watch title 2"/>
          <p:cNvSpPr txBox="1"/>
          <p:nvPr/>
        </p:nvSpPr>
        <p:spPr>
          <a:xfrm>
            <a:off x="6629400" y="3758184"/>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VS Code no longer auto-opens it</a:t>
            </a:r>
            <a:endParaRPr lang="en-US" sz="1600" dirty="0"/>
          </a:p>
        </p:txBody>
      </p:sp>
      <p:sp>
        <p:nvSpPr>
          <p:cNvPr id="14" name="Watch body 2"/>
          <p:cNvSpPr txBox="1"/>
          <p:nvPr/>
        </p:nvSpPr>
        <p:spPr>
          <a:xfrm>
            <a:off x="6629400" y="4142232"/>
            <a:ext cx="4983480" cy="685800"/>
          </a:xfrm>
          <a:prstGeom prst="rect">
            <a:avLst/>
          </a:prstGeom>
          <a:noFill/>
          <a:ln/>
        </p:spPr>
        <p:txBody>
          <a:bodyPr wrap="square" lIns="0" tIns="0" rIns="0" bIns="0" rtlCol="0" anchor="t"/>
          <a:lstStyle/>
          <a:p>
            <a:pPr indent="0" marL="0">
              <a:buNone/>
            </a:pPr>
            <a:r>
              <a:rPr lang="en-US" sz="1400" dirty="0">
                <a:solidFill>
                  <a:schemeClr val="tx1"/>
                </a:solidFill>
              </a:rPr>
              <a:t>Opt in with the Aspire: Dashboard Browser setting or dashboardBrowser in launch.json.</a:t>
            </a:r>
            <a:endParaRPr lang="en-US" sz="1400" dirty="0"/>
          </a:p>
        </p:txBody>
      </p:sp>
      <p:pic>
        <p:nvPicPr>
          <p:cNvPr id="15" name="Watch icon 3" descr="preencoded.png">    </p:cNvPr>
          <p:cNvPicPr>
            <a:picLocks noChangeAspect="1"/>
          </p:cNvPicPr>
          <p:nvPr/>
        </p:nvPicPr>
        <p:blipFill>
          <a:blip r:embed="rId4"/>
          <a:stretch>
            <a:fillRect/>
          </a:stretch>
        </p:blipFill>
        <p:spPr>
          <a:xfrm>
            <a:off x="6035040" y="5020056"/>
            <a:ext cx="411480" cy="411480"/>
          </a:xfrm>
          <a:prstGeom prst="rect">
            <a:avLst/>
          </a:prstGeom>
        </p:spPr>
      </p:pic>
      <p:sp>
        <p:nvSpPr>
          <p:cNvPr id="16" name="Watch title 3"/>
          <p:cNvSpPr txBox="1"/>
          <p:nvPr/>
        </p:nvSpPr>
        <p:spPr>
          <a:xfrm>
            <a:off x="6629400" y="4974336"/>
            <a:ext cx="4983480" cy="365760"/>
          </a:xfrm>
          <a:prstGeom prst="rect">
            <a:avLst/>
          </a:prstGeom>
          <a:noFill/>
          <a:ln/>
        </p:spPr>
        <p:txBody>
          <a:bodyPr wrap="square" lIns="0" tIns="0" rIns="0" bIns="0" rtlCol="0" anchor="ctr"/>
          <a:lstStyle/>
          <a:p>
            <a:pPr indent="0" marL="0">
              <a:buNone/>
            </a:pPr>
            <a:r>
              <a:rPr lang="en-US" sz="1600" b="1" dirty="0">
                <a:solidFill>
                  <a:schemeClr val="tx2"/>
                </a:solidFill>
              </a:rPr>
              <a:t>ServiceProvider is now Services</a:t>
            </a:r>
            <a:endParaRPr lang="en-US" sz="1600" dirty="0"/>
          </a:p>
        </p:txBody>
      </p:sp>
      <p:sp>
        <p:nvSpPr>
          <p:cNvPr id="17" name="Watch body 3"/>
          <p:cNvSpPr txBox="1"/>
          <p:nvPr/>
        </p:nvSpPr>
        <p:spPr>
          <a:xfrm>
            <a:off x="6629400" y="5358384"/>
            <a:ext cx="4983480" cy="685800"/>
          </a:xfrm>
          <a:prstGeom prst="rect">
            <a:avLst/>
          </a:prstGeom>
          <a:noFill/>
          <a:ln/>
        </p:spPr>
        <p:txBody>
          <a:bodyPr wrap="square" lIns="0" tIns="0" rIns="0" bIns="0" rtlCol="0" anchor="t"/>
          <a:lstStyle/>
          <a:p>
            <a:pPr indent="0" marL="0">
              <a:buNone/>
            </a:pPr>
            <a:r>
              <a:rPr lang="en-US" sz="1400" dirty="0">
                <a:solidFill>
                  <a:schemeClr val="tx1"/>
                </a:solidFill>
              </a:rPr>
              <a:t>Rename the property on hosting context types in your AppHost code.</a:t>
            </a:r>
            <a:endParaRPr lang="en-US" sz="1400" dirty="0"/>
          </a:p>
        </p:txBody>
      </p:sp>
      <p:sp>
        <p:nvSpPr>
          <p:cNvPr id="18" name="Next release panel"/>
          <p:cNvSpPr/>
          <p:nvPr/>
        </p:nvSpPr>
        <p:spPr>
          <a:xfrm>
            <a:off x="548640" y="4892040"/>
            <a:ext cx="5120640" cy="1280160"/>
          </a:xfrm>
          <a:prstGeom prst="roundRect">
            <a:avLst>
              <a:gd name="adj" fmla="val 7143"/>
            </a:avLst>
          </a:prstGeom>
          <a:solidFill>
            <a:schemeClr val="bg2"/>
          </a:solidFill>
          <a:ln w="12700">
            <a:solidFill>
              <a:schemeClr val="bg2"/>
            </a:solidFill>
            <a:prstDash val="solid"/>
          </a:ln>
        </p:spPr>
      </p:sp>
      <p:sp>
        <p:nvSpPr>
          <p:cNvPr id="19" name="Next release text"/>
          <p:cNvSpPr txBox="1"/>
          <p:nvPr/>
        </p:nvSpPr>
        <p:spPr>
          <a:xfrm>
            <a:off x="777240" y="4983480"/>
            <a:ext cx="4663440" cy="1097280"/>
          </a:xfrm>
          <a:prstGeom prst="rect">
            <a:avLst/>
          </a:prstGeom>
          <a:noFill/>
          <a:ln/>
        </p:spPr>
        <p:txBody>
          <a:bodyPr wrap="square" lIns="0" tIns="0" rIns="0" bIns="0" rtlCol="0" anchor="ctr"/>
          <a:lstStyle/>
          <a:p>
            <a:pPr indent="0" marL="0">
              <a:buNone/>
            </a:pPr>
            <a:r>
              <a:rPr lang="en-US" sz="1400" b="1" dirty="0">
                <a:solidFill>
                  <a:schemeClr val="tx2"/>
                </a:solidFill>
              </a:rPr>
              <a:t>Heads-up: 13.6 is out</a:t>
            </a:r>
            <a:endParaRPr lang="en-US" sz="1400" dirty="0"/>
          </a:p>
          <a:p>
            <a:pPr indent="0" marL="0">
              <a:buNone/>
            </a:pPr>
            <a:r>
              <a:rPr lang="en-US" sz="1400" dirty="0">
                <a:solidFill>
                  <a:schemeClr val="tx1"/>
                </a:solidFill>
              </a:rPr>
              <a:t>Released Sept 29, 2026. Its headline feature: the dashboard keeps telemetry from past runs.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Supported languages and runtimes</a:t>
            </a:r>
            <a:endParaRPr lang="en-US" sz="3400" dirty="0"/>
          </a:p>
        </p:txBody>
      </p:sp>
      <p:sp>
        <p:nvSpPr>
          <p:cNvPr id="3" name="Langs intro"/>
          <p:cNvSpPr txBox="1"/>
          <p:nvPr/>
        </p:nvSpPr>
        <p:spPr>
          <a:xfrm>
            <a:off x="548640" y="1188720"/>
            <a:ext cx="11064240" cy="640080"/>
          </a:xfrm>
          <a:prstGeom prst="rect">
            <a:avLst/>
          </a:prstGeom>
          <a:noFill/>
          <a:ln/>
        </p:spPr>
        <p:txBody>
          <a:bodyPr wrap="square" lIns="0" tIns="0" rIns="0" bIns="0" rtlCol="0" anchor="ctr"/>
          <a:lstStyle/>
          <a:p>
            <a:pPr indent="0" marL="0">
              <a:buNone/>
            </a:pPr>
            <a:r>
              <a:rPr lang="en-US" sz="1600" dirty="0">
                <a:solidFill>
                  <a:schemeClr val="tx1"/>
                </a:solidFill>
              </a:rPr>
              <a:t>Two separate choices: the AppHost language (how you wire the app together) and the languages your services are written in. They don't need to match.</a:t>
            </a:r>
            <a:endParaRPr lang="en-US" sz="1600" dirty="0"/>
          </a:p>
        </p:txBody>
      </p:sp>
      <p:sp>
        <p:nvSpPr>
          <p:cNvPr id="4" name="Lang card 0"/>
          <p:cNvSpPr/>
          <p:nvPr/>
        </p:nvSpPr>
        <p:spPr>
          <a:xfrm>
            <a:off x="548640" y="2011680"/>
            <a:ext cx="3520440" cy="2834640"/>
          </a:xfrm>
          <a:prstGeom prst="roundRect">
            <a:avLst>
              <a:gd name="adj" fmla="val 3226"/>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5" name="Lang title 0"/>
          <p:cNvSpPr txBox="1"/>
          <p:nvPr/>
        </p:nvSpPr>
        <p:spPr>
          <a:xfrm>
            <a:off x="822960" y="2240280"/>
            <a:ext cx="1783080" cy="685800"/>
          </a:xfrm>
          <a:prstGeom prst="rect">
            <a:avLst/>
          </a:prstGeom>
          <a:noFill/>
          <a:ln/>
        </p:spPr>
        <p:txBody>
          <a:bodyPr wrap="square" lIns="0" tIns="0" rIns="0" bIns="0" rtlCol="0" anchor="t"/>
          <a:lstStyle/>
          <a:p>
            <a:pPr indent="0" marL="0">
              <a:buNone/>
            </a:pPr>
            <a:r>
              <a:rPr lang="en-US" sz="1700" b="1" dirty="0">
                <a:solidFill>
                  <a:schemeClr val="tx2"/>
                </a:solidFill>
              </a:rPr>
              <a:t>AppHost languages</a:t>
            </a:r>
            <a:endParaRPr lang="en-US" sz="1700" dirty="0"/>
          </a:p>
        </p:txBody>
      </p:sp>
      <p:sp>
        <p:nvSpPr>
          <p:cNvPr id="6" name="Lang 0 pill"/>
          <p:cNvSpPr/>
          <p:nvPr/>
        </p:nvSpPr>
        <p:spPr>
          <a:xfrm>
            <a:off x="2651760" y="2286000"/>
            <a:ext cx="1143000" cy="274320"/>
          </a:xfrm>
          <a:prstGeom prst="roundRect">
            <a:avLst>
              <a:gd name="adj" fmla="val 50000"/>
            </a:avLst>
          </a:prstGeom>
          <a:solidFill>
            <a:srgbClr val="6B3FE0"/>
          </a:solidFill>
          <a:ln w="12700">
            <a:solidFill>
              <a:srgbClr val="6B3FE0"/>
            </a:solidFill>
            <a:prstDash val="solid"/>
          </a:ln>
        </p:spPr>
      </p:sp>
      <p:sp>
        <p:nvSpPr>
          <p:cNvPr id="7" name="Lang 0 pill text"/>
          <p:cNvSpPr txBox="1"/>
          <p:nvPr/>
        </p:nvSpPr>
        <p:spPr>
          <a:xfrm>
            <a:off x="2651760" y="22860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Official</a:t>
            </a:r>
            <a:endParaRPr lang="en-US" sz="1000" dirty="0"/>
          </a:p>
        </p:txBody>
      </p:sp>
      <p:sp>
        <p:nvSpPr>
          <p:cNvPr id="8" name="Lang list 0"/>
          <p:cNvSpPr txBox="1"/>
          <p:nvPr/>
        </p:nvSpPr>
        <p:spPr>
          <a:xfrm>
            <a:off x="822960" y="3017520"/>
            <a:ext cx="2971800"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a:t>
            </a:r>
            <a:endParaRPr lang="en-US" sz="1600" dirty="0"/>
          </a:p>
          <a:p>
            <a:pPr marL="342900" indent="-342900">
              <a:spcAft>
                <a:spcPts val="600"/>
              </a:spcAft>
              <a:buSzPct val="100000"/>
              <a:buChar char="•"/>
            </a:pPr>
            <a:r>
              <a:rPr lang="en-US" sz="1600" dirty="0">
                <a:solidFill>
                  <a:schemeClr val="tx1"/>
                </a:solidFill>
              </a:rPr>
              <a:t>TypeScript</a:t>
            </a:r>
            <a:endParaRPr lang="en-US" sz="1600" dirty="0"/>
          </a:p>
        </p:txBody>
      </p:sp>
      <p:sp>
        <p:nvSpPr>
          <p:cNvPr id="9" name="Lang card 1"/>
          <p:cNvSpPr/>
          <p:nvPr/>
        </p:nvSpPr>
        <p:spPr>
          <a:xfrm>
            <a:off x="4320540" y="2011680"/>
            <a:ext cx="3520440" cy="2834640"/>
          </a:xfrm>
          <a:prstGeom prst="roundRect">
            <a:avLst>
              <a:gd name="adj" fmla="val 3226"/>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10" name="Lang title 1"/>
          <p:cNvSpPr txBox="1"/>
          <p:nvPr/>
        </p:nvSpPr>
        <p:spPr>
          <a:xfrm>
            <a:off x="4594860" y="2240280"/>
            <a:ext cx="1783080" cy="685800"/>
          </a:xfrm>
          <a:prstGeom prst="rect">
            <a:avLst/>
          </a:prstGeom>
          <a:noFill/>
          <a:ln/>
        </p:spPr>
        <p:txBody>
          <a:bodyPr wrap="square" lIns="0" tIns="0" rIns="0" bIns="0" rtlCol="0" anchor="t"/>
          <a:lstStyle/>
          <a:p>
            <a:pPr indent="0" marL="0">
              <a:buNone/>
            </a:pPr>
            <a:r>
              <a:rPr lang="en-US" sz="1700" b="1" dirty="0">
                <a:solidFill>
                  <a:schemeClr val="tx2"/>
                </a:solidFill>
              </a:rPr>
              <a:t>App languages: official</a:t>
            </a:r>
            <a:endParaRPr lang="en-US" sz="1700" dirty="0"/>
          </a:p>
        </p:txBody>
      </p:sp>
      <p:sp>
        <p:nvSpPr>
          <p:cNvPr id="11" name="Lang 1 pill"/>
          <p:cNvSpPr/>
          <p:nvPr/>
        </p:nvSpPr>
        <p:spPr>
          <a:xfrm>
            <a:off x="6423660" y="2286000"/>
            <a:ext cx="1143000" cy="274320"/>
          </a:xfrm>
          <a:prstGeom prst="roundRect">
            <a:avLst>
              <a:gd name="adj" fmla="val 50000"/>
            </a:avLst>
          </a:prstGeom>
          <a:solidFill>
            <a:srgbClr val="6B3FE0"/>
          </a:solidFill>
          <a:ln w="12700">
            <a:solidFill>
              <a:srgbClr val="6B3FE0"/>
            </a:solidFill>
            <a:prstDash val="solid"/>
          </a:ln>
        </p:spPr>
      </p:sp>
      <p:sp>
        <p:nvSpPr>
          <p:cNvPr id="12" name="Lang 1 pill text"/>
          <p:cNvSpPr txBox="1"/>
          <p:nvPr/>
        </p:nvSpPr>
        <p:spPr>
          <a:xfrm>
            <a:off x="6423660" y="22860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Official</a:t>
            </a:r>
            <a:endParaRPr lang="en-US" sz="1000" dirty="0"/>
          </a:p>
        </p:txBody>
      </p:sp>
      <p:sp>
        <p:nvSpPr>
          <p:cNvPr id="13" name="Lang list 1"/>
          <p:cNvSpPr txBox="1"/>
          <p:nvPr/>
        </p:nvSpPr>
        <p:spPr>
          <a:xfrm>
            <a:off x="4594860" y="3017520"/>
            <a:ext cx="2971800"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 and .NET</a:t>
            </a:r>
            <a:endParaRPr lang="en-US" sz="1600" dirty="0"/>
          </a:p>
          <a:p>
            <a:pPr marL="342900" indent="-342900">
              <a:spcAft>
                <a:spcPts val="600"/>
              </a:spcAft>
              <a:buSzPct val="100000"/>
              <a:buChar char="•"/>
            </a:pPr>
            <a:r>
              <a:rPr lang="en-US" sz="1600" dirty="0">
                <a:solidFill>
                  <a:schemeClr val="tx1"/>
                </a:solidFill>
              </a:rPr>
              <a:t>JavaScript and Node.js</a:t>
            </a:r>
            <a:endParaRPr lang="en-US" sz="1600" dirty="0"/>
          </a:p>
          <a:p>
            <a:pPr marL="342900" indent="-342900">
              <a:spcAft>
                <a:spcPts val="600"/>
              </a:spcAft>
              <a:buSzPct val="100000"/>
              <a:buChar char="•"/>
            </a:pPr>
            <a:r>
              <a:rPr lang="en-US" sz="1600" dirty="0">
                <a:solidFill>
                  <a:schemeClr val="tx1"/>
                </a:solidFill>
              </a:rPr>
              <a:t>Python</a:t>
            </a:r>
            <a:endParaRPr lang="en-US" sz="1600" dirty="0"/>
          </a:p>
          <a:p>
            <a:pPr marL="342900" indent="-342900">
              <a:spcAft>
                <a:spcPts val="600"/>
              </a:spcAft>
              <a:buSzPct val="100000"/>
              <a:buChar char="•"/>
            </a:pPr>
            <a:r>
              <a:rPr lang="en-US" sz="1600" dirty="0">
                <a:solidFill>
                  <a:schemeClr val="tx1"/>
                </a:solidFill>
              </a:rPr>
              <a:t>Go</a:t>
            </a:r>
            <a:endParaRPr lang="en-US" sz="1600" dirty="0"/>
          </a:p>
        </p:txBody>
      </p:sp>
      <p:sp>
        <p:nvSpPr>
          <p:cNvPr id="14" name="Lang card 2"/>
          <p:cNvSpPr/>
          <p:nvPr/>
        </p:nvSpPr>
        <p:spPr>
          <a:xfrm>
            <a:off x="8092440" y="2011680"/>
            <a:ext cx="3520440" cy="2834640"/>
          </a:xfrm>
          <a:prstGeom prst="roundRect">
            <a:avLst>
              <a:gd name="adj" fmla="val 3226"/>
            </a:avLst>
          </a:prstGeom>
          <a:solidFill>
            <a:schemeClr val="bg1"/>
          </a:solidFill>
          <a:ln w="12700">
            <a:solidFill>
              <a:srgbClr val="E4DEF5"/>
            </a:solidFill>
            <a:prstDash val="solid"/>
          </a:ln>
          <a:effectLst>
            <a:outerShdw sx="100000" sy="100000" kx="0" ky="0" algn="bl" rotWithShape="0" blurRad="76200" dist="25400" dir="5400000">
              <a:srgbClr val="000000">
                <a:alpha val="12000"/>
              </a:srgbClr>
            </a:outerShdw>
          </a:effectLst>
        </p:spPr>
      </p:sp>
      <p:sp>
        <p:nvSpPr>
          <p:cNvPr id="15" name="Lang title 2"/>
          <p:cNvSpPr txBox="1"/>
          <p:nvPr/>
        </p:nvSpPr>
        <p:spPr>
          <a:xfrm>
            <a:off x="8366760" y="2240280"/>
            <a:ext cx="1783080" cy="685800"/>
          </a:xfrm>
          <a:prstGeom prst="rect">
            <a:avLst/>
          </a:prstGeom>
          <a:noFill/>
          <a:ln/>
        </p:spPr>
        <p:txBody>
          <a:bodyPr wrap="square" lIns="0" tIns="0" rIns="0" bIns="0" rtlCol="0" anchor="t"/>
          <a:lstStyle/>
          <a:p>
            <a:pPr indent="0" marL="0">
              <a:buNone/>
            </a:pPr>
            <a:r>
              <a:rPr lang="en-US" sz="1700" b="1" dirty="0">
                <a:solidFill>
                  <a:schemeClr val="tx2"/>
                </a:solidFill>
              </a:rPr>
              <a:t>App languages: community</a:t>
            </a:r>
            <a:endParaRPr lang="en-US" sz="1700" dirty="0"/>
          </a:p>
        </p:txBody>
      </p:sp>
      <p:sp>
        <p:nvSpPr>
          <p:cNvPr id="16" name="Lang 2 pill"/>
          <p:cNvSpPr/>
          <p:nvPr/>
        </p:nvSpPr>
        <p:spPr>
          <a:xfrm>
            <a:off x="10195560" y="2286000"/>
            <a:ext cx="1143000" cy="274320"/>
          </a:xfrm>
          <a:prstGeom prst="roundRect">
            <a:avLst>
              <a:gd name="adj" fmla="val 50000"/>
            </a:avLst>
          </a:prstGeom>
          <a:solidFill>
            <a:srgbClr val="0E9F8E"/>
          </a:solidFill>
          <a:ln w="12700">
            <a:solidFill>
              <a:srgbClr val="0E9F8E"/>
            </a:solidFill>
            <a:prstDash val="solid"/>
          </a:ln>
        </p:spPr>
      </p:sp>
      <p:sp>
        <p:nvSpPr>
          <p:cNvPr id="17" name="Lang 2 pill text"/>
          <p:cNvSpPr txBox="1"/>
          <p:nvPr/>
        </p:nvSpPr>
        <p:spPr>
          <a:xfrm>
            <a:off x="10195560" y="2286000"/>
            <a:ext cx="1143000" cy="274320"/>
          </a:xfrm>
          <a:prstGeom prst="rect">
            <a:avLst/>
          </a:prstGeom>
          <a:noFill/>
          <a:ln/>
        </p:spPr>
        <p:txBody>
          <a:bodyPr wrap="square" lIns="0" tIns="0" rIns="0" bIns="0" rtlCol="0" anchor="ctr"/>
          <a:lstStyle/>
          <a:p>
            <a:pPr algn="ctr" indent="0" marL="0">
              <a:buNone/>
            </a:pPr>
            <a:r>
              <a:rPr lang="en-US" sz="1000" b="1" dirty="0">
                <a:solidFill>
                  <a:schemeClr val="bg1"/>
                </a:solidFill>
              </a:rPr>
              <a:t>Toolkit</a:t>
            </a:r>
            <a:endParaRPr lang="en-US" sz="1000" dirty="0"/>
          </a:p>
        </p:txBody>
      </p:sp>
      <p:sp>
        <p:nvSpPr>
          <p:cNvPr id="18" name="Lang list 2"/>
          <p:cNvSpPr txBox="1"/>
          <p:nvPr/>
        </p:nvSpPr>
        <p:spPr>
          <a:xfrm>
            <a:off x="8366760" y="3017520"/>
            <a:ext cx="2971800" cy="16916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Java</a:t>
            </a:r>
            <a:endParaRPr lang="en-US" sz="1600" dirty="0"/>
          </a:p>
          <a:p>
            <a:pPr marL="342900" indent="-342900">
              <a:spcAft>
                <a:spcPts val="600"/>
              </a:spcAft>
              <a:buSzPct val="100000"/>
              <a:buChar char="•"/>
            </a:pPr>
            <a:r>
              <a:rPr lang="en-US" sz="1600" dirty="0">
                <a:solidFill>
                  <a:schemeClr val="tx1"/>
                </a:solidFill>
              </a:rPr>
              <a:t>Rust</a:t>
            </a:r>
            <a:endParaRPr lang="en-US" sz="1600" dirty="0"/>
          </a:p>
          <a:p>
            <a:pPr marL="342900" indent="-342900">
              <a:spcAft>
                <a:spcPts val="600"/>
              </a:spcAft>
              <a:buSzPct val="100000"/>
              <a:buChar char="•"/>
            </a:pPr>
            <a:r>
              <a:rPr lang="en-US" sz="1600" dirty="0">
                <a:solidFill>
                  <a:schemeClr val="tx1"/>
                </a:solidFill>
              </a:rPr>
              <a:t>PowerShell</a:t>
            </a:r>
            <a:endParaRPr lang="en-US" sz="1600" dirty="0"/>
          </a:p>
        </p:txBody>
      </p:sp>
      <p:sp>
        <p:nvSpPr>
          <p:cNvPr id="19" name="Docs link panel"/>
          <p:cNvSpPr/>
          <p:nvPr/>
        </p:nvSpPr>
        <p:spPr>
          <a:xfrm>
            <a:off x="548640" y="5074920"/>
            <a:ext cx="11064240" cy="1097280"/>
          </a:xfrm>
          <a:prstGeom prst="roundRect">
            <a:avLst>
              <a:gd name="adj" fmla="val 8333"/>
            </a:avLst>
          </a:prstGeom>
          <a:solidFill>
            <a:schemeClr val="tx2"/>
          </a:solidFill>
          <a:ln w="12700">
            <a:solidFill>
              <a:schemeClr val="tx2"/>
            </a:solidFill>
            <a:prstDash val="solid"/>
          </a:ln>
        </p:spPr>
      </p:sp>
      <p:pic>
        <p:nvPicPr>
          <p:cNvPr id="20" name="Docs link icon" descr="preencoded.png">    </p:cNvPr>
          <p:cNvPicPr>
            <a:picLocks noChangeAspect="1"/>
          </p:cNvPicPr>
          <p:nvPr/>
        </p:nvPicPr>
        <p:blipFill>
          <a:blip r:embed="rId1"/>
          <a:stretch>
            <a:fillRect/>
          </a:stretch>
        </p:blipFill>
        <p:spPr>
          <a:xfrm>
            <a:off x="822960" y="5394960"/>
            <a:ext cx="457200" cy="457200"/>
          </a:xfrm>
          <a:prstGeom prst="rect">
            <a:avLst/>
          </a:prstGeom>
        </p:spPr>
      </p:pic>
      <p:sp>
        <p:nvSpPr>
          <p:cNvPr id="21" name="Docs link text"/>
          <p:cNvSpPr txBox="1"/>
          <p:nvPr/>
        </p:nvSpPr>
        <p:spPr>
          <a:xfrm>
            <a:off x="1463040" y="5120640"/>
            <a:ext cx="9966960" cy="1005840"/>
          </a:xfrm>
          <a:prstGeom prst="rect">
            <a:avLst/>
          </a:prstGeom>
          <a:noFill/>
          <a:ln/>
        </p:spPr>
        <p:txBody>
          <a:bodyPr wrap="square" lIns="0" tIns="0" rIns="0" bIns="0" rtlCol="0" anchor="ctr"/>
          <a:lstStyle/>
          <a:p>
            <a:pPr indent="0" marL="0">
              <a:buNone/>
            </a:pPr>
            <a:r>
              <a:rPr lang="en-US" sz="1600" b="1" dirty="0">
                <a:solidFill>
                  <a:schemeClr val="bg1"/>
                </a:solidFill>
              </a:rPr>
              <a:t>Aspire docs: Languages &amp; runtimes</a:t>
            </a:r>
            <a:endParaRPr lang="en-US" sz="1600" dirty="0"/>
          </a:p>
          <a:p>
            <a:pPr indent="0" marL="0">
              <a:buNone/>
            </a:pPr>
            <a:r>
              <a:rPr lang="en-US" sz="1600" u="sng" dirty="0">
                <a:solidFill>
                  <a:srgbClr val="D9CCFF"/>
                </a:solidFill>
                <a:hlinkClick r:id="rId2" invalidUrl="" action="" tgtFrame="" tooltip="Aspire languages and runtimes" history="1" highlightClick="0" endSnd="0">
                  <a:extLst>
                    <a:ext uri="{A12FA001-AC4F-418D-AE19-62706E023703}">
                      <ahyp:hlinkClr xmlns:ahyp="http://schemas.microsoft.com/office/drawing/2018/hyperlinkcolor" val="tx"/>
                    </a:ext>
                  </a:extLst>
                </a:hlinkClick>
              </a:rPr>
              <a:t>https://aspire.dev/languages-and-runtimes/</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Links and sources</a:t>
            </a:r>
            <a:endParaRPr lang="en-US" sz="3600" dirty="0"/>
          </a:p>
        </p:txBody>
      </p:sp>
      <p:sp>
        <p:nvSpPr>
          <p:cNvPr id="3" name="Link card 0"/>
          <p:cNvSpPr/>
          <p:nvPr/>
        </p:nvSpPr>
        <p:spPr>
          <a:xfrm>
            <a:off x="640080" y="1600200"/>
            <a:ext cx="5349240" cy="960120"/>
          </a:xfrm>
          <a:prstGeom prst="roundRect">
            <a:avLst>
              <a:gd name="adj" fmla="val 9524"/>
            </a:avLst>
          </a:prstGeom>
          <a:solidFill>
            <a:srgbClr val="3A2680"/>
          </a:solidFill>
          <a:ln w="12700">
            <a:solidFill>
              <a:srgbClr val="3A2680"/>
            </a:solidFill>
            <a:prstDash val="solid"/>
          </a:ln>
        </p:spPr>
      </p:sp>
      <p:pic>
        <p:nvPicPr>
          <p:cNvPr id="4" name="Link icon 0" descr="preencoded.png">    </p:cNvPr>
          <p:cNvPicPr>
            <a:picLocks noChangeAspect="1"/>
          </p:cNvPicPr>
          <p:nvPr/>
        </p:nvPicPr>
        <p:blipFill>
          <a:blip r:embed="rId1"/>
          <a:stretch>
            <a:fillRect/>
          </a:stretch>
        </p:blipFill>
        <p:spPr>
          <a:xfrm>
            <a:off x="868680" y="1874520"/>
            <a:ext cx="411480" cy="411480"/>
          </a:xfrm>
          <a:prstGeom prst="rect">
            <a:avLst/>
          </a:prstGeom>
        </p:spPr>
      </p:pic>
      <p:sp>
        <p:nvSpPr>
          <p:cNvPr id="5" name="Link text 0"/>
          <p:cNvSpPr txBox="1"/>
          <p:nvPr/>
        </p:nvSpPr>
        <p:spPr>
          <a:xfrm>
            <a:off x="1463040" y="1691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Video: Aspire 13.5 is here!</a:t>
            </a:r>
            <a:endParaRPr lang="en-US" sz="1500" dirty="0"/>
          </a:p>
          <a:p>
            <a:pPr indent="0" marL="0">
              <a:buNone/>
            </a:pPr>
            <a:r>
              <a:rPr lang="en-US" sz="1200" u="sng" dirty="0">
                <a:solidFill>
                  <a:srgbClr val="D9CCFF"/>
                </a:solidFill>
                <a:hlinkClick r:id="rId2" invalidUrl="" action="" tgtFrame="" tooltip="Video: Aspire 13.5 is here!" history="1" highlightClick="0" endSnd="0">
                  <a:extLst>
                    <a:ext uri="{A12FA001-AC4F-418D-AE19-62706E023703}">
                      <ahyp:hlinkClr xmlns:ahyp="http://schemas.microsoft.com/office/drawing/2018/hyperlinkcolor" val="tx"/>
                    </a:ext>
                  </a:extLst>
                </a:hlinkClick>
              </a:rPr>
              <a:t>https://youtu.be/pEbo-qKif1U</a:t>
            </a:r>
            <a:endParaRPr lang="en-US" sz="1500" dirty="0"/>
          </a:p>
        </p:txBody>
      </p:sp>
      <p:sp>
        <p:nvSpPr>
          <p:cNvPr id="6" name="Link card 1"/>
          <p:cNvSpPr/>
          <p:nvPr/>
        </p:nvSpPr>
        <p:spPr>
          <a:xfrm>
            <a:off x="6217920" y="1600200"/>
            <a:ext cx="5349240" cy="960120"/>
          </a:xfrm>
          <a:prstGeom prst="roundRect">
            <a:avLst>
              <a:gd name="adj" fmla="val 9524"/>
            </a:avLst>
          </a:prstGeom>
          <a:solidFill>
            <a:srgbClr val="3A2680"/>
          </a:solidFill>
          <a:ln w="12700">
            <a:solidFill>
              <a:srgbClr val="3A2680"/>
            </a:solidFill>
            <a:prstDash val="solid"/>
          </a:ln>
        </p:spPr>
      </p:sp>
      <p:pic>
        <p:nvPicPr>
          <p:cNvPr id="7" name="Link icon 1" descr="preencoded.png">    </p:cNvPr>
          <p:cNvPicPr>
            <a:picLocks noChangeAspect="1"/>
          </p:cNvPicPr>
          <p:nvPr/>
        </p:nvPicPr>
        <p:blipFill>
          <a:blip r:embed="rId3"/>
          <a:stretch>
            <a:fillRect/>
          </a:stretch>
        </p:blipFill>
        <p:spPr>
          <a:xfrm>
            <a:off x="6446520" y="1874520"/>
            <a:ext cx="411480" cy="411480"/>
          </a:xfrm>
          <a:prstGeom prst="rect">
            <a:avLst/>
          </a:prstGeom>
        </p:spPr>
      </p:pic>
      <p:sp>
        <p:nvSpPr>
          <p:cNvPr id="8" name="Link text 1"/>
          <p:cNvSpPr txBox="1"/>
          <p:nvPr/>
        </p:nvSpPr>
        <p:spPr>
          <a:xfrm>
            <a:off x="7040880" y="1691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What's new in Aspire 13.5</a:t>
            </a:r>
            <a:endParaRPr lang="en-US" sz="1500" dirty="0"/>
          </a:p>
          <a:p>
            <a:pPr indent="0" marL="0">
              <a:buNone/>
            </a:pPr>
            <a:r>
              <a:rPr lang="en-US" sz="1200" u="sng" dirty="0">
                <a:solidFill>
                  <a:srgbClr val="D9CCFF"/>
                </a:solidFill>
                <a:hlinkClick r:id="rId4" invalidUrl="" action="" tgtFrame="" tooltip="What's new in Aspire 13.5" history="1" highlightClick="0" endSnd="0">
                  <a:extLst>
                    <a:ext uri="{A12FA001-AC4F-418D-AE19-62706E023703}">
                      <ahyp:hlinkClr xmlns:ahyp="http://schemas.microsoft.com/office/drawing/2018/hyperlinkcolor" val="tx"/>
                    </a:ext>
                  </a:extLst>
                </a:hlinkClick>
              </a:rPr>
              <a:t>https://aspire.dev/whats-new/aspire-13-5/</a:t>
            </a:r>
            <a:endParaRPr lang="en-US" sz="1500" dirty="0"/>
          </a:p>
        </p:txBody>
      </p:sp>
      <p:sp>
        <p:nvSpPr>
          <p:cNvPr id="9" name="Link card 2"/>
          <p:cNvSpPr/>
          <p:nvPr/>
        </p:nvSpPr>
        <p:spPr>
          <a:xfrm>
            <a:off x="640080" y="2743200"/>
            <a:ext cx="5349240" cy="960120"/>
          </a:xfrm>
          <a:prstGeom prst="roundRect">
            <a:avLst>
              <a:gd name="adj" fmla="val 9524"/>
            </a:avLst>
          </a:prstGeom>
          <a:solidFill>
            <a:srgbClr val="3A2680"/>
          </a:solidFill>
          <a:ln w="12700">
            <a:solidFill>
              <a:srgbClr val="3A2680"/>
            </a:solidFill>
            <a:prstDash val="solid"/>
          </a:ln>
        </p:spPr>
      </p:sp>
      <p:pic>
        <p:nvPicPr>
          <p:cNvPr id="10" name="Link icon 2" descr="preencoded.png">    </p:cNvPr>
          <p:cNvPicPr>
            <a:picLocks noChangeAspect="1"/>
          </p:cNvPicPr>
          <p:nvPr/>
        </p:nvPicPr>
        <p:blipFill>
          <a:blip r:embed="rId5"/>
          <a:stretch>
            <a:fillRect/>
          </a:stretch>
        </p:blipFill>
        <p:spPr>
          <a:xfrm>
            <a:off x="868680" y="3017520"/>
            <a:ext cx="411480" cy="411480"/>
          </a:xfrm>
          <a:prstGeom prst="rect">
            <a:avLst/>
          </a:prstGeom>
        </p:spPr>
      </p:pic>
      <p:sp>
        <p:nvSpPr>
          <p:cNvPr id="11" name="Link text 2"/>
          <p:cNvSpPr txBox="1"/>
          <p:nvPr/>
        </p:nvSpPr>
        <p:spPr>
          <a:xfrm>
            <a:off x="1463040" y="2834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Languages &amp; runtimes</a:t>
            </a:r>
            <a:endParaRPr lang="en-US" sz="1500" dirty="0"/>
          </a:p>
          <a:p>
            <a:pPr indent="0" marL="0">
              <a:buNone/>
            </a:pPr>
            <a:r>
              <a:rPr lang="en-US" sz="1200" u="sng" dirty="0">
                <a:solidFill>
                  <a:srgbClr val="D9CCFF"/>
                </a:solidFill>
                <a:hlinkClick r:id="rId6" invalidUrl="" action="" tgtFrame="" tooltip="Languages &amp; runtimes" history="1" highlightClick="0" endSnd="0">
                  <a:extLst>
                    <a:ext uri="{A12FA001-AC4F-418D-AE19-62706E023703}">
                      <ahyp:hlinkClr xmlns:ahyp="http://schemas.microsoft.com/office/drawing/2018/hyperlinkcolor" val="tx"/>
                    </a:ext>
                  </a:extLst>
                </a:hlinkClick>
              </a:rPr>
              <a:t>https://aspire.dev/languages-and-runtimes/</a:t>
            </a:r>
            <a:endParaRPr lang="en-US" sz="1500" dirty="0"/>
          </a:p>
        </p:txBody>
      </p:sp>
      <p:sp>
        <p:nvSpPr>
          <p:cNvPr id="12" name="Link card 3"/>
          <p:cNvSpPr/>
          <p:nvPr/>
        </p:nvSpPr>
        <p:spPr>
          <a:xfrm>
            <a:off x="6217920" y="2743200"/>
            <a:ext cx="5349240" cy="960120"/>
          </a:xfrm>
          <a:prstGeom prst="roundRect">
            <a:avLst>
              <a:gd name="adj" fmla="val 9524"/>
            </a:avLst>
          </a:prstGeom>
          <a:solidFill>
            <a:srgbClr val="3A2680"/>
          </a:solidFill>
          <a:ln w="12700">
            <a:solidFill>
              <a:srgbClr val="3A2680"/>
            </a:solidFill>
            <a:prstDash val="solid"/>
          </a:ln>
        </p:spPr>
      </p:sp>
      <p:pic>
        <p:nvPicPr>
          <p:cNvPr id="13" name="Link icon 3" descr="preencoded.png">    </p:cNvPr>
          <p:cNvPicPr>
            <a:picLocks noChangeAspect="1"/>
          </p:cNvPicPr>
          <p:nvPr/>
        </p:nvPicPr>
        <p:blipFill>
          <a:blip r:embed="rId7"/>
          <a:stretch>
            <a:fillRect/>
          </a:stretch>
        </p:blipFill>
        <p:spPr>
          <a:xfrm>
            <a:off x="6446520" y="3017520"/>
            <a:ext cx="411480" cy="411480"/>
          </a:xfrm>
          <a:prstGeom prst="rect">
            <a:avLst/>
          </a:prstGeom>
        </p:spPr>
      </p:pic>
      <p:sp>
        <p:nvSpPr>
          <p:cNvPr id="14" name="Link text 3"/>
          <p:cNvSpPr txBox="1"/>
          <p:nvPr/>
        </p:nvSpPr>
        <p:spPr>
          <a:xfrm>
            <a:off x="7040880" y="2834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Dashboard docs</a:t>
            </a:r>
            <a:endParaRPr lang="en-US" sz="1500" dirty="0"/>
          </a:p>
          <a:p>
            <a:pPr indent="0" marL="0">
              <a:buNone/>
            </a:pPr>
            <a:r>
              <a:rPr lang="en-US" sz="1200" u="sng" dirty="0">
                <a:solidFill>
                  <a:srgbClr val="D9CCFF"/>
                </a:solidFill>
                <a:hlinkClick r:id="rId8" invalidUrl="" action="" tgtFrame="" tooltip="Dashboard docs" history="1" highlightClick="0" endSnd="0">
                  <a:extLst>
                    <a:ext uri="{A12FA001-AC4F-418D-AE19-62706E023703}">
                      <ahyp:hlinkClr xmlns:ahyp="http://schemas.microsoft.com/office/drawing/2018/hyperlinkcolor" val="tx"/>
                    </a:ext>
                  </a:extLst>
                </a:hlinkClick>
              </a:rPr>
              <a:t>https://aspire.dev/dashboard/</a:t>
            </a:r>
            <a:endParaRPr lang="en-US" sz="1500" dirty="0"/>
          </a:p>
        </p:txBody>
      </p:sp>
      <p:sp>
        <p:nvSpPr>
          <p:cNvPr id="15" name="Link card 4"/>
          <p:cNvSpPr/>
          <p:nvPr/>
        </p:nvSpPr>
        <p:spPr>
          <a:xfrm>
            <a:off x="640080" y="3886200"/>
            <a:ext cx="5349240" cy="960120"/>
          </a:xfrm>
          <a:prstGeom prst="roundRect">
            <a:avLst>
              <a:gd name="adj" fmla="val 9524"/>
            </a:avLst>
          </a:prstGeom>
          <a:solidFill>
            <a:srgbClr val="3A2680"/>
          </a:solidFill>
          <a:ln w="12700">
            <a:solidFill>
              <a:srgbClr val="3A2680"/>
            </a:solidFill>
            <a:prstDash val="solid"/>
          </a:ln>
        </p:spPr>
      </p:sp>
      <p:pic>
        <p:nvPicPr>
          <p:cNvPr id="16" name="Link icon 4" descr="preencoded.png">    </p:cNvPr>
          <p:cNvPicPr>
            <a:picLocks noChangeAspect="1"/>
          </p:cNvPicPr>
          <p:nvPr/>
        </p:nvPicPr>
        <p:blipFill>
          <a:blip r:embed="rId9"/>
          <a:stretch>
            <a:fillRect/>
          </a:stretch>
        </p:blipFill>
        <p:spPr>
          <a:xfrm>
            <a:off x="868680" y="4160520"/>
            <a:ext cx="411480" cy="411480"/>
          </a:xfrm>
          <a:prstGeom prst="rect">
            <a:avLst/>
          </a:prstGeom>
        </p:spPr>
      </p:pic>
      <p:sp>
        <p:nvSpPr>
          <p:cNvPr id="17" name="Link text 4"/>
          <p:cNvSpPr txBox="1"/>
          <p:nvPr/>
        </p:nvSpPr>
        <p:spPr>
          <a:xfrm>
            <a:off x="1463040" y="3977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Interactive terminals (WithTerminal)</a:t>
            </a:r>
            <a:endParaRPr lang="en-US" sz="1500" dirty="0"/>
          </a:p>
          <a:p>
            <a:pPr indent="0" marL="0">
              <a:buNone/>
            </a:pPr>
            <a:r>
              <a:rPr lang="en-US" sz="1200" u="sng" dirty="0">
                <a:solidFill>
                  <a:srgbClr val="D9CCFF"/>
                </a:solidFill>
                <a:hlinkClick r:id="rId10" invalidUrl="" action="" tgtFrame="" tooltip="Interactive terminals (WithTerminal)" history="1" highlightClick="0" endSnd="0">
                  <a:extLst>
                    <a:ext uri="{A12FA001-AC4F-418D-AE19-62706E023703}">
                      <ahyp:hlinkClr xmlns:ahyp="http://schemas.microsoft.com/office/drawing/2018/hyperlinkcolor" val="tx"/>
                    </a:ext>
                  </a:extLst>
                </a:hlinkClick>
              </a:rPr>
              <a:t>https://aspire.dev/app-host/with-terminal/</a:t>
            </a:r>
            <a:endParaRPr lang="en-US" sz="1500" dirty="0"/>
          </a:p>
        </p:txBody>
      </p:sp>
      <p:sp>
        <p:nvSpPr>
          <p:cNvPr id="18" name="Link card 5"/>
          <p:cNvSpPr/>
          <p:nvPr/>
        </p:nvSpPr>
        <p:spPr>
          <a:xfrm>
            <a:off x="6217920" y="3886200"/>
            <a:ext cx="5349240" cy="960120"/>
          </a:xfrm>
          <a:prstGeom prst="roundRect">
            <a:avLst>
              <a:gd name="adj" fmla="val 9524"/>
            </a:avLst>
          </a:prstGeom>
          <a:solidFill>
            <a:srgbClr val="3A2680"/>
          </a:solidFill>
          <a:ln w="12700">
            <a:solidFill>
              <a:srgbClr val="3A2680"/>
            </a:solidFill>
            <a:prstDash val="solid"/>
          </a:ln>
        </p:spPr>
      </p:sp>
      <p:pic>
        <p:nvPicPr>
          <p:cNvPr id="19" name="Link icon 5" descr="preencoded.png">    </p:cNvPr>
          <p:cNvPicPr>
            <a:picLocks noChangeAspect="1"/>
          </p:cNvPicPr>
          <p:nvPr/>
        </p:nvPicPr>
        <p:blipFill>
          <a:blip r:embed="rId11"/>
          <a:stretch>
            <a:fillRect/>
          </a:stretch>
        </p:blipFill>
        <p:spPr>
          <a:xfrm>
            <a:off x="6446520" y="4160520"/>
            <a:ext cx="411480" cy="411480"/>
          </a:xfrm>
          <a:prstGeom prst="rect">
            <a:avLst/>
          </a:prstGeom>
        </p:spPr>
      </p:pic>
      <p:sp>
        <p:nvSpPr>
          <p:cNvPr id="20" name="Link text 5"/>
          <p:cNvSpPr txBox="1"/>
          <p:nvPr/>
        </p:nvSpPr>
        <p:spPr>
          <a:xfrm>
            <a:off x="7040880" y="3977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Interaction service</a:t>
            </a:r>
            <a:endParaRPr lang="en-US" sz="1500" dirty="0"/>
          </a:p>
          <a:p>
            <a:pPr indent="0" marL="0">
              <a:buNone/>
            </a:pPr>
            <a:r>
              <a:rPr lang="en-US" sz="1200" u="sng" dirty="0">
                <a:solidFill>
                  <a:srgbClr val="D9CCFF"/>
                </a:solidFill>
                <a:hlinkClick r:id="rId12" invalidUrl="" action="" tgtFrame="" tooltip="Interaction service" history="1" highlightClick="0" endSnd="0">
                  <a:extLst>
                    <a:ext uri="{A12FA001-AC4F-418D-AE19-62706E023703}">
                      <ahyp:hlinkClr xmlns:ahyp="http://schemas.microsoft.com/office/drawing/2018/hyperlinkcolor" val="tx"/>
                    </a:ext>
                  </a:extLst>
                </a:hlinkClick>
              </a:rPr>
              <a:t>https://aspire.dev/extensibility/interaction-service/</a:t>
            </a:r>
            <a:endParaRPr lang="en-US" sz="1500" dirty="0"/>
          </a:p>
        </p:txBody>
      </p:sp>
      <p:sp>
        <p:nvSpPr>
          <p:cNvPr id="21" name="Link card 6"/>
          <p:cNvSpPr/>
          <p:nvPr/>
        </p:nvSpPr>
        <p:spPr>
          <a:xfrm>
            <a:off x="640080" y="5029200"/>
            <a:ext cx="5349240" cy="960120"/>
          </a:xfrm>
          <a:prstGeom prst="roundRect">
            <a:avLst>
              <a:gd name="adj" fmla="val 9524"/>
            </a:avLst>
          </a:prstGeom>
          <a:solidFill>
            <a:srgbClr val="3A2680"/>
          </a:solidFill>
          <a:ln w="12700">
            <a:solidFill>
              <a:srgbClr val="3A2680"/>
            </a:solidFill>
            <a:prstDash val="solid"/>
          </a:ln>
        </p:spPr>
      </p:sp>
      <p:pic>
        <p:nvPicPr>
          <p:cNvPr id="22" name="Link icon 6" descr="preencoded.png">    </p:cNvPr>
          <p:cNvPicPr>
            <a:picLocks noChangeAspect="1"/>
          </p:cNvPicPr>
          <p:nvPr/>
        </p:nvPicPr>
        <p:blipFill>
          <a:blip r:embed="rId13"/>
          <a:stretch>
            <a:fillRect/>
          </a:stretch>
        </p:blipFill>
        <p:spPr>
          <a:xfrm>
            <a:off x="868680" y="5303520"/>
            <a:ext cx="411480" cy="411480"/>
          </a:xfrm>
          <a:prstGeom prst="rect">
            <a:avLst/>
          </a:prstGeom>
        </p:spPr>
      </p:pic>
      <p:sp>
        <p:nvSpPr>
          <p:cNvPr id="23" name="Link text 6"/>
          <p:cNvSpPr txBox="1"/>
          <p:nvPr/>
        </p:nvSpPr>
        <p:spPr>
          <a:xfrm>
            <a:off x="1463040" y="5120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Custom resource commands</a:t>
            </a:r>
            <a:endParaRPr lang="en-US" sz="1500" dirty="0"/>
          </a:p>
          <a:p>
            <a:pPr indent="0" marL="0">
              <a:buNone/>
            </a:pPr>
            <a:r>
              <a:rPr lang="en-US" sz="1200" u="sng" dirty="0">
                <a:solidFill>
                  <a:srgbClr val="D9CCFF"/>
                </a:solidFill>
                <a:hlinkClick r:id="rId14" invalidUrl="" action="" tgtFrame="" tooltip="Custom resource commands" history="1" highlightClick="0" endSnd="0">
                  <a:extLst>
                    <a:ext uri="{A12FA001-AC4F-418D-AE19-62706E023703}">
                      <ahyp:hlinkClr xmlns:ahyp="http://schemas.microsoft.com/office/drawing/2018/hyperlinkcolor" val="tx"/>
                    </a:ext>
                  </a:extLst>
                </a:hlinkClick>
              </a:rPr>
              <a:t>https://aspire.dev/fundamentals/custom-resource-commands/</a:t>
            </a:r>
            <a:endParaRPr lang="en-US" sz="1500" dirty="0"/>
          </a:p>
        </p:txBody>
      </p:sp>
      <p:sp>
        <p:nvSpPr>
          <p:cNvPr id="24" name="Link card 7"/>
          <p:cNvSpPr/>
          <p:nvPr/>
        </p:nvSpPr>
        <p:spPr>
          <a:xfrm>
            <a:off x="6217920" y="5029200"/>
            <a:ext cx="5349240" cy="960120"/>
          </a:xfrm>
          <a:prstGeom prst="roundRect">
            <a:avLst>
              <a:gd name="adj" fmla="val 9524"/>
            </a:avLst>
          </a:prstGeom>
          <a:solidFill>
            <a:srgbClr val="3A2680"/>
          </a:solidFill>
          <a:ln w="12700">
            <a:solidFill>
              <a:srgbClr val="3A2680"/>
            </a:solidFill>
            <a:prstDash val="solid"/>
          </a:ln>
        </p:spPr>
      </p:sp>
      <p:pic>
        <p:nvPicPr>
          <p:cNvPr id="25" name="Link icon 7" descr="preencoded.png">    </p:cNvPr>
          <p:cNvPicPr>
            <a:picLocks noChangeAspect="1"/>
          </p:cNvPicPr>
          <p:nvPr/>
        </p:nvPicPr>
        <p:blipFill>
          <a:blip r:embed="rId15"/>
          <a:stretch>
            <a:fillRect/>
          </a:stretch>
        </p:blipFill>
        <p:spPr>
          <a:xfrm>
            <a:off x="6446520" y="5303520"/>
            <a:ext cx="411480" cy="411480"/>
          </a:xfrm>
          <a:prstGeom prst="rect">
            <a:avLst/>
          </a:prstGeom>
        </p:spPr>
      </p:pic>
      <p:sp>
        <p:nvSpPr>
          <p:cNvPr id="26" name="Link text 7"/>
          <p:cNvSpPr txBox="1"/>
          <p:nvPr/>
        </p:nvSpPr>
        <p:spPr>
          <a:xfrm>
            <a:off x="7040880" y="5120640"/>
            <a:ext cx="4389120" cy="777240"/>
          </a:xfrm>
          <a:prstGeom prst="rect">
            <a:avLst/>
          </a:prstGeom>
          <a:noFill/>
          <a:ln/>
        </p:spPr>
        <p:txBody>
          <a:bodyPr wrap="square" lIns="0" tIns="0" rIns="0" bIns="0" rtlCol="0" anchor="ctr"/>
          <a:lstStyle/>
          <a:p>
            <a:pPr indent="0" marL="0">
              <a:buNone/>
            </a:pPr>
            <a:r>
              <a:rPr lang="en-US" sz="1500" b="1" dirty="0">
                <a:solidFill>
                  <a:schemeClr val="bg1"/>
                </a:solidFill>
              </a:rPr>
              <a:t>13.5.0 release on GitHub</a:t>
            </a:r>
            <a:endParaRPr lang="en-US" sz="1500" dirty="0"/>
          </a:p>
          <a:p>
            <a:pPr indent="0" marL="0">
              <a:buNone/>
            </a:pPr>
            <a:r>
              <a:rPr lang="en-US" sz="1200" u="sng" dirty="0">
                <a:solidFill>
                  <a:srgbClr val="D9CCFF"/>
                </a:solidFill>
                <a:hlinkClick r:id="rId16" invalidUrl="" action="" tgtFrame="" tooltip="13.5.0 release on GitHub" history="1" highlightClick="0" endSnd="0">
                  <a:extLst>
                    <a:ext uri="{A12FA001-AC4F-418D-AE19-62706E023703}">
                      <ahyp:hlinkClr xmlns:ahyp="http://schemas.microsoft.com/office/drawing/2018/hyperlinkcolor" val="tx"/>
                    </a:ext>
                  </a:extLst>
                </a:hlinkClick>
              </a:rPr>
              <a:t>https://github.com/microsoft/aspire/releases/tag/v13.5.0</a:t>
            </a:r>
            <a:endParaRPr lang="en-US" sz="1500" dirty="0"/>
          </a:p>
        </p:txBody>
      </p:sp>
    </p:spTree>
  </p:cSld>
  <p:clrMapOvr>
    <a:masterClrMapping/>
  </p:clrMapOvr>
</p:sld>
</file>

<file path=ppt/theme/theme1.xml><?xml version="1.0" encoding="utf-8"?>
<a:theme xmlns:a="http://schemas.openxmlformats.org/drawingml/2006/main" name="Aspire Violet">
  <a:themeElements>
    <a:clrScheme name="Aspire Violet">
      <a:dk1>
        <a:srgbClr val="17122B"/>
      </a:dk1>
      <a:lt1>
        <a:srgbClr val="FFFFFF"/>
      </a:lt1>
      <a:dk2>
        <a:srgbClr val="2B1A63"/>
      </a:dk2>
      <a:lt2>
        <a:srgbClr val="F2EEFB"/>
      </a:lt2>
      <a:accent1>
        <a:srgbClr val="6B3FE0"/>
      </a:accent1>
      <a:accent2>
        <a:srgbClr val="A78BFA"/>
      </a:accent2>
      <a:accent3>
        <a:srgbClr val="0E9F8E"/>
      </a:accent3>
      <a:accent4>
        <a:srgbClr val="D97706"/>
      </a:accent4>
      <a:accent5>
        <a:srgbClr val="DB2777"/>
      </a:accent5>
      <a:accent6>
        <a:srgbClr val="5B6478"/>
      </a:accent6>
      <a:hlink>
        <a:srgbClr val="5B2FD0"/>
      </a:hlink>
      <a:folHlink>
        <a:srgbClr val="7C5CE0"/>
      </a:folHlink>
    </a:clrScheme>
    <a:fontScheme name="Aspire Viol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Aspire Dashboard — What's new in Aspire 13.5</dc:title>
  <dc:subject>PptxGenJS Presentation</dc:subject>
  <dc:creator>ching</dc:creator>
  <cp:lastModifiedBy>ching</cp:lastModifiedBy>
  <cp:revision>1</cp:revision>
  <dcterms:created xsi:type="dcterms:W3CDTF">2026-10-04T05:02:48Z</dcterms:created>
  <dcterms:modified xsi:type="dcterms:W3CDTF">2026-10-04T05:02:48Z</dcterms:modified>
</cp:coreProperties>
</file>