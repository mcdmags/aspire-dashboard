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878b0c4-837c-79f6-1e6a-34a400e0d9d5}">
          <p14:sldIdLst>
            <p14:sldId id="256"/>
            <p14:sldId id="257"/>
          </p14:sldIdLst>
        </p14:section>
        <p14:section name="Fundamentals" id="{9749401a-5714-d84d-081b-35278f04d5aa}">
          <p14:sldIdLst>
            <p14:sldId id="258"/>
            <p14:sldId id="259"/>
            <p14:sldId id="260"/>
            <p14:sldId id="261"/>
            <p14:sldId id="262"/>
            <p14:sldId id="263"/>
            <p14:sldId id="264"/>
            <p14:sldId id="265"/>
            <p14:sldId id="266"/>
            <p14:sldId id="267"/>
          </p14:sldIdLst>
        </p14:section>
        <p14:section name="The dashboard" id="{44fb6ccb-abdd-36e7-bf38-3de32a0c8a91}">
          <p14:sldIdLst>
            <p14:sldId id="268"/>
            <p14:sldId id="269"/>
          </p14:sldIdLst>
        </p14:section>
        <p14:section name="What's new in 13.5" id="{4712ae32-0196-a44d-282b-b72ec3010dcc}">
          <p14:sldIdLst>
            <p14:sldId id="270"/>
            <p14:sldId id="271"/>
            <p14:sldId id="272"/>
          </p14:sldIdLst>
        </p14:section>
        <p14:section name="Code" id="{d89f633e-095f-1811-d523-f5f560d53719}">
          <p14:sldIdLst>
            <p14:sldId id="273"/>
            <p14:sldId id="274"/>
            <p14:sldId id="275"/>
            <p14:sldId id="276"/>
            <p14:sldId id="277"/>
            <p14:sldId id="278"/>
            <p14:sldId id="279"/>
            <p14:sldId id="280"/>
            <p14:sldId id="281"/>
            <p14:sldId id="282"/>
            <p14:sldId id="283"/>
          </p14:sldIdLst>
        </p14:section>
        <p14:section name="Wrap-up" id="{a016a735-b9af-3a38-2750-7a4a1ad86620}">
          <p14:sldIdLst>
            <p14:sldId id="284"/>
            <p14:sldId id="285"/>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Covers dashboard and 13.5 features from “Aspire 13.5 is here!” video. Code samples from aspire.dev “What's new in Aspire 13.5”. Aspire 13.6 shipped Sept 29, 2026, so 13.5 no longer newest.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Audience new to Aspire. Basics first, then dashboard, then 13.5.</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room: how long to get new project running on your laptop? That pain is Aspire's target. Connection string = text app uses to find and log in to database (host, port, user, password).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steps are how aspire.dev describes Aspire. Code-first = app described in C# or TypeScript, not YAML. Kubernetes runs containers in production. Source: https://aspire.dev/</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Terms used on every later slide. Service discovery = find service by name (catalogservice), not hard-coded address. Glossary: https://aspire.dev/hub/glossary/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Sample app from aspire.dev home page: front end, catalog API, Postgres, Redis. Arrows = references. Front end needs API and cache; API needs database. All report telemetry to dashboard. Postgres and Redis run as containers, so Docker or Podman required.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Replaces manual setup from problem slide. Quoted names (catalogdb, basketcache, catalogservice, frontend) appear in dashboard. Code from https://aspire.dev/</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TypeScript AppHosts GA in 13.5. Vite builds and serves JavaScript front ends. Code from https://aspire.dev/</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Values are examples; real connection string also has generated user and password. Double underscore (__) = nesting in .NET config env vars. AddNpgsqlDataSource from Aspire.Npgsql package. Port 7099 matches aspire.dev example.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New solutions include ServiceDefaults project; each .NET service calls AddServiceDefaults() once. OpenTelemetry (OTel) = open standard for telemetry. /health and /alive mapped in development only by default. Why dashboard has data from first request.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Install commands from https://aspire.dev/get-started/install-cli/. aspire new asks for template. // comment lines only for slide coloring; type just commands. First tutorial: https://aspire.dev/get-started/first-app/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AppHost starts dashboard for you. Sources: microsoft/aspire README for Aspire.Dashboard; standalone ports from Milan Jovanovic's standalone dashboard guide. OTLP = standard format for sending logs, traces, metrics.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Stable = rely on API. Experimental = may change; C# must suppress diagnostic warning. Also in 13.5: VS Code extension can open dashboard in side panel; AI Assistant chat removed.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Screenshot: refreshed dashboard (Stress playground), from Aspire 13.5 blog post (devblogs.microsoft.com/aspire/whats-new-aspire-13-5/). UI only, no code: upgrade and it appears. Built on new design tokens. Also new: friendlier health-check failures, telemetry keeps streaming with resource filters 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Code from aspire.dev “What's new in Aspire 13.5”. TerminalOptions: Columns (default 120), Rows (default 30), ShowTerminalHost. Columns and Rows throw if ≤ 0. Old Shell property removed. Docs: https://aspire.dev/app-host/with-terminal/</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Screenshot from Aspire 13.5 blog post. Shows guessing-game playground (JavaScript resource, TypeScript AppHost), not postgres example from previous slide. Terminal lives on Console logs page; resource picked from dropdown. Per blog: type into it, switch replicas, back to logs without stopping; multiple viewers can attach.</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Feature flag command from 13.5 release notes. Feature flag = setting that turns on feature still in testing. Docs: https://aspire.dev/app-host/with-terminal/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WithCommand adds button to resource in dashboard. This one shows dropdown with two regions. Always check IsAvailable: CLI commands run non-interactive and PromptInputsAsync would throw. Docs: https://aspire.dev/extensibility/interaction-service/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 from Aspire 13.5 blog demo video. Sample “Deploy application” command, not configure-region code, but Choice input renders same: dropdown with options. In our code OK returns "us" or "eu" in result.Data["region"].Value; Cancel returns CommandResults.Canceled().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Trimmed from official sample; full version continues into progress dialog on next slide. Docs: https://aspire.dev/extensibility/interaction-service/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Screenshot from Aspire 13.5 blog post. Blog's “Import configuration” command: file picker for JSON or YAML, size limit, file sent to AppHost as stream. Our code uses “Import data”; dialog looks same. No file chosen = CommandResults.Failure.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Swap Task.Delay for real work. CancellationToken = how .NET tells running code to stop, e.g. user clicks Cancel. Docs: https://aspire.dev/extensibility/interaction-service/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 from Aspire 13.5 blog demo video. Spinner, not progress bar. Our message would use bytes.Length. Progress dialogs still experimental (ASPIREINTERACTION001). Cancel optional; clicking it cancels progress.CancellationToken. In video, “Deployment completed” result dialog follows.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values from ctx.Arguments. TypeScript: commandOptions.arguments. Docs: https://aspire.dev/fundamentals/custom-resource-commands/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 from Aspire 13.5 blog demo video. Sample “Deploy application” declares Environment (choice), Release version (text), Run health checks (checkbox). Description sits under title; main button named after command. Our Echo shows one required Message box, read with ctx.Arguments["message"].Value. CLI: --message option.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Upgrade steps and breaking changes from aspire.dev “What's new in Aspire 13.5”. 12 breaking changes total, incl. PublishAsConnectionString obsolete, aspire ps --resources removed (use aspire describe). 13.6 info from blog post “Aspire 13.6: Your dashboard gets memory”.</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https://aspire.dev/languages-and-runtimes/ (checked Oct 4, 2026). Page lists Java and Rust under Community Toolkit, but 13.6 announcement says Java and Rust hosting now first-party; page may lag. Containers, databases, caches, cloud services covered under Integrations.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Links checked Oct 4, 2026.</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2B1A6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6035040" cy="146304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800" dirty="0"/>
          </a:p>
        </p:txBody>
      </p:sp>
      <p:sp>
        <p:nvSpPr>
          <p:cNvPr id="3" name="Text 0"/>
          <p:cNvSpPr/>
          <p:nvPr>
            <p:ph idx="101" type="body" hasCustomPrompt="1"/>
          </p:nvPr>
        </p:nvSpPr>
        <p:spPr>
          <a:xfrm>
            <a:off x="640080" y="3611880"/>
            <a:ext cx="5852160" cy="1280160"/>
          </a:xfrm>
          <a:prstGeom prst="rect">
            <a:avLst/>
          </a:prstGeom>
          <a:noFill/>
          <a:ln/>
        </p:spPr>
        <p:txBody>
          <a:bodyPr wrap="square" rtlCol="0"/>
          <a:lstStyle>
            <a:lvl1pPr algn="l" indent="0" marL="0">
              <a:buNone/>
              <a:defRPr lang="en-US" sz="2000" dirty="0">
                <a:solidFill>
                  <a:srgbClr val="D9CCFF"/>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4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accent6"/>
                </a:solidFill>
                <a:latin typeface="Calibri" pitchFamily="34" charset="0"/>
                <a:ea typeface="Calibri" pitchFamily="34" charset="-122"/>
                <a:cs typeface="Calibri" pitchFamily="34" charset="-120"/>
              </a:rPr>
              <a:t>Aspire Dashboard  ·  Fundamentals &amp; what's new in 13.5</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rgbClr val="2B1A6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82296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Dark">
    <p:bg>
      <p:bgPr>
        <a:solidFill>
          <a:srgbClr val="2B1A6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651760"/>
            <a:ext cx="10515600" cy="109728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822960" y="3794760"/>
            <a:ext cx="10058400" cy="914400"/>
          </a:xfrm>
          <a:prstGeom prst="rect">
            <a:avLst/>
          </a:prstGeom>
          <a:noFill/>
          <a:ln/>
        </p:spPr>
        <p:txBody>
          <a:bodyPr wrap="square" rtlCol="0"/>
          <a:lstStyle>
            <a:lvl1pPr algn="l" indent="0" marL="0">
              <a:buNone/>
              <a:defRPr lang="en-US" sz="2000" dirty="0">
                <a:solidFill>
                  <a:srgbClr val="D9CCFF"/>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3.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 Id="rId7" Type="http://schemas.openxmlformats.org/officeDocument/2006/relationships/image" Target="../media/image6.jpg"/></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jpg"/></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5.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3.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hyperlink" Target="https://aspire.dev/languages-and-runtimes/" TargetMode="External"/><Relationship Id="rId3" Type="http://schemas.openxmlformats.org/officeDocument/2006/relationships/slideLayout" Target="../slideLayouts/slideLayout3.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hyperlink" Target="https://youtu.be/pEbo-qKif1U" TargetMode="External"/><Relationship Id="rId3" Type="http://schemas.openxmlformats.org/officeDocument/2006/relationships/image" Target="../media/image-32-2.png"/><Relationship Id="rId4" Type="http://schemas.openxmlformats.org/officeDocument/2006/relationships/hyperlink" Target="https://aspire.dev/whats-new/aspire-13-5/" TargetMode="External"/><Relationship Id="rId5" Type="http://schemas.openxmlformats.org/officeDocument/2006/relationships/image" Target="../media/image-32-3.png"/><Relationship Id="rId6" Type="http://schemas.openxmlformats.org/officeDocument/2006/relationships/hyperlink" Target="https://aspire.dev/languages-and-runtimes/" TargetMode="External"/><Relationship Id="rId7" Type="http://schemas.openxmlformats.org/officeDocument/2006/relationships/image" Target="../media/image-32-4.png"/><Relationship Id="rId8" Type="http://schemas.openxmlformats.org/officeDocument/2006/relationships/hyperlink" Target="https://aspire.dev/dashboard/" TargetMode="External"/><Relationship Id="rId9" Type="http://schemas.openxmlformats.org/officeDocument/2006/relationships/image" Target="../media/image-32-5.png"/><Relationship Id="rId10" Type="http://schemas.openxmlformats.org/officeDocument/2006/relationships/hyperlink" Target="https://aspire.dev/app-host/with-terminal/" TargetMode="External"/><Relationship Id="rId11" Type="http://schemas.openxmlformats.org/officeDocument/2006/relationships/image" Target="../media/image-32-6.png"/><Relationship Id="rId12" Type="http://schemas.openxmlformats.org/officeDocument/2006/relationships/hyperlink" Target="https://aspire.dev/extensibility/interaction-service/" TargetMode="External"/><Relationship Id="rId13" Type="http://schemas.openxmlformats.org/officeDocument/2006/relationships/image" Target="../media/image-32-7.png"/><Relationship Id="rId14" Type="http://schemas.openxmlformats.org/officeDocument/2006/relationships/hyperlink" Target="https://aspire.dev/fundamentals/custom-resource-commands/" TargetMode="External"/><Relationship Id="rId15" Type="http://schemas.openxmlformats.org/officeDocument/2006/relationships/image" Target="../media/image-32-8.png"/><Relationship Id="rId16" Type="http://schemas.openxmlformats.org/officeDocument/2006/relationships/hyperlink" Target="https://aspire.dev/get-started/first-app/" TargetMode="External"/><Relationship Id="rId17" Type="http://schemas.openxmlformats.org/officeDocument/2006/relationships/slideLayout" Target="../slideLayouts/slideLayout4.xml"/><Relationship Id="rId18"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6035040" cy="1463040"/>
          </a:xfrm>
          <a:prstGeom prst="rect">
            <a:avLst/>
          </a:prstGeom>
          <a:noFill/>
          <a:ln/>
        </p:spPr>
        <p:txBody>
          <a:bodyPr wrap="square" lIns="0" tIns="0" rIns="0" bIns="0"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Aspire Dashboard</a:t>
            </a:r>
            <a:endParaRPr lang="en-US" sz="4800" dirty="0"/>
          </a:p>
        </p:txBody>
      </p:sp>
      <p:sp>
        <p:nvSpPr>
          <p:cNvPr id="3" name="Text 0"/>
          <p:cNvSpPr/>
          <p:nvPr>
            <p:ph idx="101" type="body" hasCustomPrompt="1"/>
          </p:nvPr>
        </p:nvSpPr>
        <p:spPr>
          <a:xfrm>
            <a:off x="640080" y="3611880"/>
            <a:ext cx="5852160" cy="1280160"/>
          </a:xfrm>
          <a:prstGeom prst="rect">
            <a:avLst/>
          </a:prstGeom>
          <a:noFill/>
          <a:ln/>
        </p:spPr>
        <p:txBody>
          <a:bodyPr wrap="square" lIns="0" tIns="0" rIns="0" bIns="0" rtlCol="0" anchor="t"/>
          <a:lstStyle/>
          <a:p>
            <a:pPr algn="l" indent="0" marL="0">
              <a:buNone/>
            </a:pPr>
            <a:r>
              <a:rPr lang="en-US" sz="2000" dirty="0">
                <a:solidFill>
                  <a:srgbClr val="D9CCFF"/>
                </a:solidFill>
                <a:latin typeface="Calibri" pitchFamily="34" charset="0"/>
                <a:ea typeface="Calibri" pitchFamily="34" charset="-122"/>
                <a:cs typeface="Calibri" pitchFamily="34" charset="-120"/>
              </a:rPr>
              <a:t>Basics, then what's new in 13.5</a:t>
            </a:r>
            <a:endParaRPr lang="en-US" sz="2000" dirty="0"/>
          </a:p>
        </p:txBody>
      </p:sp>
      <p:sp>
        <p:nvSpPr>
          <p:cNvPr id="4" name="Source line"/>
          <p:cNvSpPr txBox="1"/>
          <p:nvPr/>
        </p:nvSpPr>
        <p:spPr>
          <a:xfrm>
            <a:off x="640080" y="5394960"/>
            <a:ext cx="5852160" cy="548640"/>
          </a:xfrm>
          <a:prstGeom prst="rect">
            <a:avLst/>
          </a:prstGeom>
          <a:noFill/>
          <a:ln/>
        </p:spPr>
        <p:txBody>
          <a:bodyPr wrap="square" lIns="0" tIns="0" rIns="0" bIns="0" rtlCol="0" anchor="ctr"/>
          <a:lstStyle/>
          <a:p>
            <a:pPr indent="0" marL="0">
              <a:buNone/>
            </a:pPr>
            <a:r>
              <a:rPr lang="en-US" sz="1200" dirty="0">
                <a:solidFill>
                  <a:srgbClr val="B9A8F0"/>
                </a:solidFill>
              </a:rPr>
              <a:t>Sources: aspire.dev, “Aspire 13.5 is here!” video, 13.5 release notes</a:t>
            </a:r>
            <a:endParaRPr lang="en-US" sz="1200" dirty="0"/>
          </a:p>
        </p:txBody>
      </p:sp>
      <p:sp>
        <p:nvSpPr>
          <p:cNvPr id="5" name="Mock window"/>
          <p:cNvSpPr/>
          <p:nvPr/>
        </p:nvSpPr>
        <p:spPr>
          <a:xfrm>
            <a:off x="7223760" y="1280160"/>
            <a:ext cx="4389120" cy="4297680"/>
          </a:xfrm>
          <a:prstGeom prst="roundRect">
            <a:avLst>
              <a:gd name="adj" fmla="val 2553"/>
            </a:avLst>
          </a:prstGeom>
          <a:solidFill>
            <a:srgbClr val="3A2680"/>
          </a:solidFill>
          <a:ln w="12700">
            <a:solidFill>
              <a:srgbClr val="5236B0"/>
            </a:solidFill>
            <a:prstDash val="solid"/>
          </a:ln>
        </p:spPr>
        <p:txBody>
          <a:bodyPr/>
          <a:p/>
        </p:txBody>
      </p:sp>
      <p:sp>
        <p:nvSpPr>
          <p:cNvPr id="6" name="Mock sidebar"/>
          <p:cNvSpPr/>
          <p:nvPr/>
        </p:nvSpPr>
        <p:spPr>
          <a:xfrm>
            <a:off x="7406640" y="1463040"/>
            <a:ext cx="1005840" cy="3931920"/>
          </a:xfrm>
          <a:prstGeom prst="roundRect">
            <a:avLst>
              <a:gd name="adj" fmla="val 5455"/>
            </a:avLst>
          </a:prstGeom>
          <a:solidFill>
            <a:srgbClr val="2B1A63"/>
          </a:solidFill>
          <a:ln w="12700">
            <a:solidFill>
              <a:srgbClr val="2B1A63"/>
            </a:solidFill>
            <a:prstDash val="solid"/>
          </a:ln>
        </p:spPr>
        <p:txBody>
          <a:bodyPr/>
          <a:p/>
        </p:txBody>
      </p:sp>
      <p:sp>
        <p:nvSpPr>
          <p:cNvPr id="7" name="Mock nav 0"/>
          <p:cNvSpPr/>
          <p:nvPr/>
        </p:nvSpPr>
        <p:spPr>
          <a:xfrm>
            <a:off x="7543800" y="1691640"/>
            <a:ext cx="731520" cy="201168"/>
          </a:xfrm>
          <a:prstGeom prst="roundRect">
            <a:avLst>
              <a:gd name="adj" fmla="val 22727"/>
            </a:avLst>
          </a:prstGeom>
          <a:solidFill>
            <a:srgbClr val="A78BFA"/>
          </a:solidFill>
          <a:ln w="12700">
            <a:solidFill>
              <a:srgbClr val="A78BFA"/>
            </a:solidFill>
            <a:prstDash val="solid"/>
          </a:ln>
        </p:spPr>
        <p:txBody>
          <a:bodyPr/>
          <a:p/>
        </p:txBody>
      </p:sp>
      <p:sp>
        <p:nvSpPr>
          <p:cNvPr id="8" name="Mock nav 1"/>
          <p:cNvSpPr/>
          <p:nvPr/>
        </p:nvSpPr>
        <p:spPr>
          <a:xfrm>
            <a:off x="7543800" y="2194560"/>
            <a:ext cx="731520" cy="201168"/>
          </a:xfrm>
          <a:prstGeom prst="roundRect">
            <a:avLst>
              <a:gd name="adj" fmla="val 22727"/>
            </a:avLst>
          </a:prstGeom>
          <a:solidFill>
            <a:srgbClr val="4B3596"/>
          </a:solidFill>
          <a:ln w="12700">
            <a:solidFill>
              <a:srgbClr val="4B3596"/>
            </a:solidFill>
            <a:prstDash val="solid"/>
          </a:ln>
        </p:spPr>
        <p:txBody>
          <a:bodyPr/>
          <a:p/>
        </p:txBody>
      </p:sp>
      <p:sp>
        <p:nvSpPr>
          <p:cNvPr id="9" name="Mock nav 2"/>
          <p:cNvSpPr/>
          <p:nvPr/>
        </p:nvSpPr>
        <p:spPr>
          <a:xfrm>
            <a:off x="7543800" y="2697480"/>
            <a:ext cx="731520" cy="201168"/>
          </a:xfrm>
          <a:prstGeom prst="roundRect">
            <a:avLst>
              <a:gd name="adj" fmla="val 22727"/>
            </a:avLst>
          </a:prstGeom>
          <a:solidFill>
            <a:srgbClr val="4B3596"/>
          </a:solidFill>
          <a:ln w="12700">
            <a:solidFill>
              <a:srgbClr val="4B3596"/>
            </a:solidFill>
            <a:prstDash val="solid"/>
          </a:ln>
        </p:spPr>
        <p:txBody>
          <a:bodyPr/>
          <a:p/>
        </p:txBody>
      </p:sp>
      <p:sp>
        <p:nvSpPr>
          <p:cNvPr id="10" name="Mock nav 3"/>
          <p:cNvSpPr/>
          <p:nvPr/>
        </p:nvSpPr>
        <p:spPr>
          <a:xfrm>
            <a:off x="7543800" y="3200400"/>
            <a:ext cx="731520" cy="201168"/>
          </a:xfrm>
          <a:prstGeom prst="roundRect">
            <a:avLst>
              <a:gd name="adj" fmla="val 22727"/>
            </a:avLst>
          </a:prstGeom>
          <a:solidFill>
            <a:srgbClr val="4B3596"/>
          </a:solidFill>
          <a:ln w="12700">
            <a:solidFill>
              <a:srgbClr val="4B3596"/>
            </a:solidFill>
            <a:prstDash val="solid"/>
          </a:ln>
        </p:spPr>
        <p:txBody>
          <a:bodyPr/>
          <a:p/>
        </p:txBody>
      </p:sp>
      <p:sp>
        <p:nvSpPr>
          <p:cNvPr id="11" name="Mock nav 4"/>
          <p:cNvSpPr/>
          <p:nvPr/>
        </p:nvSpPr>
        <p:spPr>
          <a:xfrm>
            <a:off x="7543800" y="3703320"/>
            <a:ext cx="731520" cy="201168"/>
          </a:xfrm>
          <a:prstGeom prst="roundRect">
            <a:avLst>
              <a:gd name="adj" fmla="val 22727"/>
            </a:avLst>
          </a:prstGeom>
          <a:solidFill>
            <a:srgbClr val="4B3596"/>
          </a:solidFill>
          <a:ln w="12700">
            <a:solidFill>
              <a:srgbClr val="4B3596"/>
            </a:solidFill>
            <a:prstDash val="solid"/>
          </a:ln>
        </p:spPr>
        <p:txBody>
          <a:bodyPr/>
          <a:p/>
        </p:txBody>
      </p:sp>
      <p:sp>
        <p:nvSpPr>
          <p:cNvPr id="12" name="Mock row 0"/>
          <p:cNvSpPr/>
          <p:nvPr/>
        </p:nvSpPr>
        <p:spPr>
          <a:xfrm>
            <a:off x="8595360" y="1554480"/>
            <a:ext cx="2834640" cy="329184"/>
          </a:xfrm>
          <a:prstGeom prst="roundRect">
            <a:avLst>
              <a:gd name="adj" fmla="val 13889"/>
            </a:avLst>
          </a:prstGeom>
          <a:solidFill>
            <a:srgbClr val="4B3596"/>
          </a:solidFill>
          <a:ln w="12700">
            <a:solidFill>
              <a:srgbClr val="4B3596"/>
            </a:solidFill>
            <a:prstDash val="solid"/>
          </a:ln>
        </p:spPr>
        <p:txBody>
          <a:bodyPr/>
          <a:p/>
        </p:txBody>
      </p:sp>
      <p:sp>
        <p:nvSpPr>
          <p:cNvPr id="13" name="Mock status 0"/>
          <p:cNvSpPr/>
          <p:nvPr/>
        </p:nvSpPr>
        <p:spPr>
          <a:xfrm>
            <a:off x="8705088" y="1655064"/>
            <a:ext cx="128016" cy="128016"/>
          </a:xfrm>
          <a:prstGeom prst="ellipse">
            <a:avLst/>
          </a:prstGeom>
          <a:solidFill>
            <a:srgbClr val="34D399"/>
          </a:solidFill>
          <a:ln w="12700">
            <a:solidFill>
              <a:srgbClr val="34D399"/>
            </a:solidFill>
            <a:prstDash val="solid"/>
          </a:ln>
        </p:spPr>
        <p:txBody>
          <a:bodyPr/>
          <a:p/>
        </p:txBody>
      </p:sp>
      <p:sp>
        <p:nvSpPr>
          <p:cNvPr id="14" name="Mock row 1"/>
          <p:cNvSpPr/>
          <p:nvPr/>
        </p:nvSpPr>
        <p:spPr>
          <a:xfrm>
            <a:off x="8595360" y="2011680"/>
            <a:ext cx="2834640" cy="329184"/>
          </a:xfrm>
          <a:prstGeom prst="roundRect">
            <a:avLst>
              <a:gd name="adj" fmla="val 13889"/>
            </a:avLst>
          </a:prstGeom>
          <a:solidFill>
            <a:srgbClr val="4B3596"/>
          </a:solidFill>
          <a:ln w="12700">
            <a:solidFill>
              <a:srgbClr val="4B3596"/>
            </a:solidFill>
            <a:prstDash val="solid"/>
          </a:ln>
        </p:spPr>
        <p:txBody>
          <a:bodyPr/>
          <a:p/>
        </p:txBody>
      </p:sp>
      <p:sp>
        <p:nvSpPr>
          <p:cNvPr id="15" name="Mock status 1"/>
          <p:cNvSpPr/>
          <p:nvPr/>
        </p:nvSpPr>
        <p:spPr>
          <a:xfrm>
            <a:off x="8705088" y="2112264"/>
            <a:ext cx="128016" cy="128016"/>
          </a:xfrm>
          <a:prstGeom prst="ellipse">
            <a:avLst/>
          </a:prstGeom>
          <a:solidFill>
            <a:srgbClr val="34D399"/>
          </a:solidFill>
          <a:ln w="12700">
            <a:solidFill>
              <a:srgbClr val="34D399"/>
            </a:solidFill>
            <a:prstDash val="solid"/>
          </a:ln>
        </p:spPr>
        <p:txBody>
          <a:bodyPr/>
          <a:p/>
        </p:txBody>
      </p:sp>
      <p:sp>
        <p:nvSpPr>
          <p:cNvPr id="16" name="Mock row 2"/>
          <p:cNvSpPr/>
          <p:nvPr/>
        </p:nvSpPr>
        <p:spPr>
          <a:xfrm>
            <a:off x="8595360" y="2468880"/>
            <a:ext cx="2834640" cy="329184"/>
          </a:xfrm>
          <a:prstGeom prst="roundRect">
            <a:avLst>
              <a:gd name="adj" fmla="val 13889"/>
            </a:avLst>
          </a:prstGeom>
          <a:solidFill>
            <a:srgbClr val="4B3596"/>
          </a:solidFill>
          <a:ln w="12700">
            <a:solidFill>
              <a:srgbClr val="4B3596"/>
            </a:solidFill>
            <a:prstDash val="solid"/>
          </a:ln>
        </p:spPr>
        <p:txBody>
          <a:bodyPr/>
          <a:p/>
        </p:txBody>
      </p:sp>
      <p:sp>
        <p:nvSpPr>
          <p:cNvPr id="17" name="Mock status 2"/>
          <p:cNvSpPr/>
          <p:nvPr/>
        </p:nvSpPr>
        <p:spPr>
          <a:xfrm>
            <a:off x="8705088" y="2569464"/>
            <a:ext cx="128016" cy="128016"/>
          </a:xfrm>
          <a:prstGeom prst="ellipse">
            <a:avLst/>
          </a:prstGeom>
          <a:solidFill>
            <a:srgbClr val="34D399"/>
          </a:solidFill>
          <a:ln w="12700">
            <a:solidFill>
              <a:srgbClr val="34D399"/>
            </a:solidFill>
            <a:prstDash val="solid"/>
          </a:ln>
        </p:spPr>
        <p:txBody>
          <a:bodyPr/>
          <a:p/>
        </p:txBody>
      </p:sp>
      <p:sp>
        <p:nvSpPr>
          <p:cNvPr id="18" name="Mock row 3"/>
          <p:cNvSpPr/>
          <p:nvPr/>
        </p:nvSpPr>
        <p:spPr>
          <a:xfrm>
            <a:off x="8595360" y="2926080"/>
            <a:ext cx="2834640" cy="329184"/>
          </a:xfrm>
          <a:prstGeom prst="roundRect">
            <a:avLst>
              <a:gd name="adj" fmla="val 13889"/>
            </a:avLst>
          </a:prstGeom>
          <a:solidFill>
            <a:srgbClr val="4B3596"/>
          </a:solidFill>
          <a:ln w="12700">
            <a:solidFill>
              <a:srgbClr val="4B3596"/>
            </a:solidFill>
            <a:prstDash val="solid"/>
          </a:ln>
        </p:spPr>
        <p:txBody>
          <a:bodyPr/>
          <a:p/>
        </p:txBody>
      </p:sp>
      <p:sp>
        <p:nvSpPr>
          <p:cNvPr id="19" name="Mock status 3"/>
          <p:cNvSpPr/>
          <p:nvPr/>
        </p:nvSpPr>
        <p:spPr>
          <a:xfrm>
            <a:off x="8705088" y="3026664"/>
            <a:ext cx="128016" cy="128016"/>
          </a:xfrm>
          <a:prstGeom prst="ellipse">
            <a:avLst/>
          </a:prstGeom>
          <a:solidFill>
            <a:srgbClr val="D97706"/>
          </a:solidFill>
          <a:ln w="12700">
            <a:solidFill>
              <a:srgbClr val="D97706"/>
            </a:solidFill>
            <a:prstDash val="solid"/>
          </a:ln>
        </p:spPr>
        <p:txBody>
          <a:bodyPr/>
          <a:p/>
        </p:txBody>
      </p:sp>
      <p:sp>
        <p:nvSpPr>
          <p:cNvPr id="20" name="Mock row 4"/>
          <p:cNvSpPr/>
          <p:nvPr/>
        </p:nvSpPr>
        <p:spPr>
          <a:xfrm>
            <a:off x="8595360" y="3383280"/>
            <a:ext cx="2834640" cy="329184"/>
          </a:xfrm>
          <a:prstGeom prst="roundRect">
            <a:avLst>
              <a:gd name="adj" fmla="val 13889"/>
            </a:avLst>
          </a:prstGeom>
          <a:solidFill>
            <a:srgbClr val="4B3596"/>
          </a:solidFill>
          <a:ln w="12700">
            <a:solidFill>
              <a:srgbClr val="4B3596"/>
            </a:solidFill>
            <a:prstDash val="solid"/>
          </a:ln>
        </p:spPr>
        <p:txBody>
          <a:bodyPr/>
          <a:p/>
        </p:txBody>
      </p:sp>
      <p:sp>
        <p:nvSpPr>
          <p:cNvPr id="21" name="Mock status 4"/>
          <p:cNvSpPr/>
          <p:nvPr/>
        </p:nvSpPr>
        <p:spPr>
          <a:xfrm>
            <a:off x="8705088" y="3483864"/>
            <a:ext cx="128016" cy="128016"/>
          </a:xfrm>
          <a:prstGeom prst="ellipse">
            <a:avLst/>
          </a:prstGeom>
          <a:solidFill>
            <a:srgbClr val="34D399"/>
          </a:solidFill>
          <a:ln w="12700">
            <a:solidFill>
              <a:srgbClr val="34D399"/>
            </a:solidFill>
            <a:prstDash val="solid"/>
          </a:ln>
        </p:spPr>
        <p:txBody>
          <a:bodyPr/>
          <a:p/>
        </p:txBody>
      </p:sp>
      <p:sp>
        <p:nvSpPr>
          <p:cNvPr id="22" name="Mock row 5"/>
          <p:cNvSpPr/>
          <p:nvPr/>
        </p:nvSpPr>
        <p:spPr>
          <a:xfrm>
            <a:off x="8595360" y="3840480"/>
            <a:ext cx="2834640" cy="329184"/>
          </a:xfrm>
          <a:prstGeom prst="roundRect">
            <a:avLst>
              <a:gd name="adj" fmla="val 13889"/>
            </a:avLst>
          </a:prstGeom>
          <a:solidFill>
            <a:srgbClr val="4B3596"/>
          </a:solidFill>
          <a:ln w="12700">
            <a:solidFill>
              <a:srgbClr val="4B3596"/>
            </a:solidFill>
            <a:prstDash val="solid"/>
          </a:ln>
        </p:spPr>
        <p:txBody>
          <a:bodyPr/>
          <a:p/>
        </p:txBody>
      </p:sp>
      <p:sp>
        <p:nvSpPr>
          <p:cNvPr id="23" name="Mock status 5"/>
          <p:cNvSpPr/>
          <p:nvPr/>
        </p:nvSpPr>
        <p:spPr>
          <a:xfrm>
            <a:off x="8705088" y="3941064"/>
            <a:ext cx="128016" cy="128016"/>
          </a:xfrm>
          <a:prstGeom prst="ellipse">
            <a:avLst/>
          </a:prstGeom>
          <a:solidFill>
            <a:srgbClr val="34D399"/>
          </a:solidFill>
          <a:ln w="12700">
            <a:solidFill>
              <a:srgbClr val="34D399"/>
            </a:solidFill>
            <a:prstDash val="solid"/>
          </a:ln>
        </p:spPr>
        <p:txBody>
          <a:bodyPr/>
          <a:p/>
        </p:txBody>
      </p:sp>
      <p:sp>
        <p:nvSpPr>
          <p:cNvPr id="24" name="Mock terminal"/>
          <p:cNvSpPr/>
          <p:nvPr/>
        </p:nvSpPr>
        <p:spPr>
          <a:xfrm>
            <a:off x="8595360" y="4389120"/>
            <a:ext cx="2834640" cy="1005840"/>
          </a:xfrm>
          <a:prstGeom prst="roundRect">
            <a:avLst>
              <a:gd name="adj" fmla="val 5455"/>
            </a:avLst>
          </a:prstGeom>
          <a:solidFill>
            <a:srgbClr val="1C1830"/>
          </a:solidFill>
          <a:ln w="12700">
            <a:solidFill>
              <a:srgbClr val="1C1830"/>
            </a:solidFill>
            <a:prstDash val="solid"/>
          </a:ln>
        </p:spPr>
        <p:txBody>
          <a:bodyPr/>
          <a:p/>
        </p:txBody>
      </p:sp>
      <p:sp>
        <p:nvSpPr>
          <p:cNvPr id="25" name="Mock terminal text"/>
          <p:cNvSpPr txBox="1"/>
          <p:nvPr/>
        </p:nvSpPr>
        <p:spPr>
          <a:xfrm>
            <a:off x="8732520" y="4480560"/>
            <a:ext cx="2560320" cy="822960"/>
          </a:xfrm>
          <a:prstGeom prst="rect">
            <a:avLst/>
          </a:prstGeom>
          <a:noFill/>
          <a:ln/>
        </p:spPr>
        <p:txBody>
          <a:bodyPr wrap="square" lIns="0" tIns="0" rIns="0" bIns="0" rtlCol="0" anchor="t"/>
          <a:lstStyle/>
          <a:p>
            <a:pPr indent="0" marL="0">
              <a:buNone/>
            </a:pPr>
            <a:r>
              <a:rPr lang="en-US" sz="1200" dirty="0">
                <a:solidFill>
                  <a:srgbClr val="8FE3B0"/>
                </a:solidFill>
                <a:latin typeface="Courier New" pitchFamily="34" charset="0"/>
                <a:ea typeface="Courier New" pitchFamily="34" charset="-122"/>
                <a:cs typeface="Courier New" pitchFamily="34" charset="-120"/>
              </a:rPr>
              <a:t>$ psql -U postgres</a:t>
            </a:r>
            <a:endParaRPr lang="en-US" sz="1200" dirty="0"/>
          </a:p>
          <a:p>
            <a:pPr indent="0" marL="0">
              <a:buNone/>
            </a:pPr>
            <a:r>
              <a:rPr lang="en-US" sz="1200" dirty="0">
                <a:solidFill>
                  <a:srgbClr val="8FE3B0"/>
                </a:solidFill>
                <a:latin typeface="Courier New" pitchFamily="34" charset="0"/>
                <a:ea typeface="Courier New" pitchFamily="34" charset="-122"/>
                <a:cs typeface="Courier New" pitchFamily="34" charset="-120"/>
              </a:rPr>
              <a:t>postgres=# _</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Agenda</a:t>
            </a:r>
            <a:endParaRPr lang="en-US" sz="3400" dirty="0"/>
          </a:p>
        </p:txBody>
      </p:sp>
      <p:sp>
        <p:nvSpPr>
          <p:cNvPr id="3" name="Agenda card 1"/>
          <p:cNvSpPr/>
          <p:nvPr/>
        </p:nvSpPr>
        <p:spPr>
          <a:xfrm>
            <a:off x="548640" y="1463040"/>
            <a:ext cx="2633472" cy="4206240"/>
          </a:xfrm>
          <a:prstGeom prst="roundRect">
            <a:avLst>
              <a:gd name="adj" fmla="val 3472"/>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txBody>
          <a:bodyPr/>
          <a:p/>
        </p:txBody>
      </p:sp>
      <p:sp>
        <p:nvSpPr>
          <p:cNvPr id="4" name="Agenda number circle 1"/>
          <p:cNvSpPr/>
          <p:nvPr/>
        </p:nvSpPr>
        <p:spPr>
          <a:xfrm>
            <a:off x="822960" y="1783080"/>
            <a:ext cx="731520" cy="731520"/>
          </a:xfrm>
          <a:prstGeom prst="ellipse">
            <a:avLst/>
          </a:prstGeom>
          <a:solidFill>
            <a:schemeClr val="accent1"/>
          </a:solidFill>
          <a:ln w="12700">
            <a:solidFill>
              <a:schemeClr val="accent1"/>
            </a:solidFill>
            <a:prstDash val="solid"/>
          </a:ln>
        </p:spPr>
        <p:txBody>
          <a:bodyPr/>
          <a:p/>
        </p:txBody>
      </p:sp>
      <p:sp>
        <p:nvSpPr>
          <p:cNvPr id="5" name="Agenda number 1"/>
          <p:cNvSpPr txBox="1"/>
          <p:nvPr/>
        </p:nvSpPr>
        <p:spPr>
          <a:xfrm>
            <a:off x="822960" y="178308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1</a:t>
            </a:r>
            <a:endParaRPr lang="en-US" sz="2600" dirty="0"/>
          </a:p>
        </p:txBody>
      </p:sp>
      <p:sp>
        <p:nvSpPr>
          <p:cNvPr id="6" name="Agenda title 1"/>
          <p:cNvSpPr txBox="1"/>
          <p:nvPr/>
        </p:nvSpPr>
        <p:spPr>
          <a:xfrm>
            <a:off x="822960" y="2788920"/>
            <a:ext cx="2084832" cy="731520"/>
          </a:xfrm>
          <a:prstGeom prst="rect">
            <a:avLst/>
          </a:prstGeom>
          <a:noFill/>
          <a:ln/>
        </p:spPr>
        <p:txBody>
          <a:bodyPr wrap="square" lIns="0" tIns="0" rIns="0" bIns="0" rtlCol="0" anchor="t"/>
          <a:lstStyle/>
          <a:p>
            <a:pPr indent="0" marL="0">
              <a:buNone/>
            </a:pPr>
            <a:r>
              <a:rPr lang="en-US" sz="2000" b="1" dirty="0">
                <a:solidFill>
                  <a:schemeClr val="tx2"/>
                </a:solidFill>
              </a:rPr>
              <a:t>Aspire fundamentals</a:t>
            </a:r>
            <a:endParaRPr lang="en-US" sz="2000" dirty="0"/>
          </a:p>
        </p:txBody>
      </p:sp>
      <p:sp>
        <p:nvSpPr>
          <p:cNvPr id="7" name="Agenda body 1"/>
          <p:cNvSpPr txBox="1"/>
          <p:nvPr/>
        </p:nvSpPr>
        <p:spPr>
          <a:xfrm>
            <a:off x="822960" y="3566160"/>
            <a:ext cx="2084832" cy="1828800"/>
          </a:xfrm>
          <a:prstGeom prst="rect">
            <a:avLst/>
          </a:prstGeom>
          <a:noFill/>
          <a:ln/>
        </p:spPr>
        <p:txBody>
          <a:bodyPr wrap="square" lIns="0" tIns="0" rIns="0" bIns="0" rtlCol="0" anchor="t"/>
          <a:lstStyle/>
          <a:p>
            <a:pPr indent="0" marL="0">
              <a:buNone/>
            </a:pPr>
            <a:r>
              <a:rPr lang="en-US" sz="1500" dirty="0">
                <a:solidFill>
                  <a:schemeClr val="tx1"/>
                </a:solidFill>
              </a:rPr>
              <a:t>What it is, what it fixes, AppHost, resources, references</a:t>
            </a:r>
            <a:endParaRPr lang="en-US" sz="1500" dirty="0"/>
          </a:p>
        </p:txBody>
      </p:sp>
      <p:sp>
        <p:nvSpPr>
          <p:cNvPr id="8" name="Agenda card 2"/>
          <p:cNvSpPr/>
          <p:nvPr/>
        </p:nvSpPr>
        <p:spPr>
          <a:xfrm>
            <a:off x="3364992" y="1463040"/>
            <a:ext cx="2633472" cy="4206240"/>
          </a:xfrm>
          <a:prstGeom prst="roundRect">
            <a:avLst>
              <a:gd name="adj" fmla="val 3472"/>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txBody>
          <a:bodyPr/>
          <a:p/>
        </p:txBody>
      </p:sp>
      <p:sp>
        <p:nvSpPr>
          <p:cNvPr id="9" name="Agenda number circle 2"/>
          <p:cNvSpPr/>
          <p:nvPr/>
        </p:nvSpPr>
        <p:spPr>
          <a:xfrm>
            <a:off x="3639312" y="1783080"/>
            <a:ext cx="731520" cy="731520"/>
          </a:xfrm>
          <a:prstGeom prst="ellipse">
            <a:avLst/>
          </a:prstGeom>
          <a:solidFill>
            <a:schemeClr val="accent1"/>
          </a:solidFill>
          <a:ln w="12700">
            <a:solidFill>
              <a:schemeClr val="accent1"/>
            </a:solidFill>
            <a:prstDash val="solid"/>
          </a:ln>
        </p:spPr>
        <p:txBody>
          <a:bodyPr/>
          <a:p/>
        </p:txBody>
      </p:sp>
      <p:sp>
        <p:nvSpPr>
          <p:cNvPr id="10" name="Agenda number 2"/>
          <p:cNvSpPr txBox="1"/>
          <p:nvPr/>
        </p:nvSpPr>
        <p:spPr>
          <a:xfrm>
            <a:off x="3639312" y="178308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2</a:t>
            </a:r>
            <a:endParaRPr lang="en-US" sz="2600" dirty="0"/>
          </a:p>
        </p:txBody>
      </p:sp>
      <p:sp>
        <p:nvSpPr>
          <p:cNvPr id="11" name="Agenda title 2"/>
          <p:cNvSpPr txBox="1"/>
          <p:nvPr/>
        </p:nvSpPr>
        <p:spPr>
          <a:xfrm>
            <a:off x="3639312" y="2788920"/>
            <a:ext cx="2084832" cy="731520"/>
          </a:xfrm>
          <a:prstGeom prst="rect">
            <a:avLst/>
          </a:prstGeom>
          <a:noFill/>
          <a:ln/>
        </p:spPr>
        <p:txBody>
          <a:bodyPr wrap="square" lIns="0" tIns="0" rIns="0" bIns="0" rtlCol="0" anchor="t"/>
          <a:lstStyle/>
          <a:p>
            <a:pPr indent="0" marL="0">
              <a:buNone/>
            </a:pPr>
            <a:r>
              <a:rPr lang="en-US" sz="2000" b="1" dirty="0">
                <a:solidFill>
                  <a:schemeClr val="tx2"/>
                </a:solidFill>
              </a:rPr>
              <a:t>The dashboard</a:t>
            </a:r>
            <a:endParaRPr lang="en-US" sz="2000" dirty="0"/>
          </a:p>
        </p:txBody>
      </p:sp>
      <p:sp>
        <p:nvSpPr>
          <p:cNvPr id="12" name="Agenda body 2"/>
          <p:cNvSpPr txBox="1"/>
          <p:nvPr/>
        </p:nvSpPr>
        <p:spPr>
          <a:xfrm>
            <a:off x="3639312" y="3566160"/>
            <a:ext cx="2084832" cy="1828800"/>
          </a:xfrm>
          <a:prstGeom prst="rect">
            <a:avLst/>
          </a:prstGeom>
          <a:noFill/>
          <a:ln/>
        </p:spPr>
        <p:txBody>
          <a:bodyPr wrap="square" lIns="0" tIns="0" rIns="0" bIns="0" rtlCol="0" anchor="t"/>
          <a:lstStyle/>
          <a:p>
            <a:pPr indent="0" marL="0">
              <a:buNone/>
            </a:pPr>
            <a:r>
              <a:rPr lang="en-US" sz="1500" dirty="0">
                <a:solidFill>
                  <a:schemeClr val="tx1"/>
                </a:solidFill>
              </a:rPr>
              <a:t>Every service's logs, traces and metrics in one place</a:t>
            </a:r>
            <a:endParaRPr lang="en-US" sz="1500" dirty="0"/>
          </a:p>
        </p:txBody>
      </p:sp>
      <p:sp>
        <p:nvSpPr>
          <p:cNvPr id="13" name="Agenda card 3"/>
          <p:cNvSpPr/>
          <p:nvPr/>
        </p:nvSpPr>
        <p:spPr>
          <a:xfrm>
            <a:off x="6181344" y="1463040"/>
            <a:ext cx="2633472" cy="4206240"/>
          </a:xfrm>
          <a:prstGeom prst="roundRect">
            <a:avLst>
              <a:gd name="adj" fmla="val 3472"/>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txBody>
          <a:bodyPr/>
          <a:p/>
        </p:txBody>
      </p:sp>
      <p:sp>
        <p:nvSpPr>
          <p:cNvPr id="14" name="Agenda number circle 3"/>
          <p:cNvSpPr/>
          <p:nvPr/>
        </p:nvSpPr>
        <p:spPr>
          <a:xfrm>
            <a:off x="6455664" y="1783080"/>
            <a:ext cx="731520" cy="731520"/>
          </a:xfrm>
          <a:prstGeom prst="ellipse">
            <a:avLst/>
          </a:prstGeom>
          <a:solidFill>
            <a:schemeClr val="accent1"/>
          </a:solidFill>
          <a:ln w="12700">
            <a:solidFill>
              <a:schemeClr val="accent1"/>
            </a:solidFill>
            <a:prstDash val="solid"/>
          </a:ln>
        </p:spPr>
        <p:txBody>
          <a:bodyPr/>
          <a:p/>
        </p:txBody>
      </p:sp>
      <p:sp>
        <p:nvSpPr>
          <p:cNvPr id="15" name="Agenda number 3"/>
          <p:cNvSpPr txBox="1"/>
          <p:nvPr/>
        </p:nvSpPr>
        <p:spPr>
          <a:xfrm>
            <a:off x="6455664" y="178308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16" name="Agenda title 3"/>
          <p:cNvSpPr txBox="1"/>
          <p:nvPr/>
        </p:nvSpPr>
        <p:spPr>
          <a:xfrm>
            <a:off x="6455664" y="2788920"/>
            <a:ext cx="2084832" cy="731520"/>
          </a:xfrm>
          <a:prstGeom prst="rect">
            <a:avLst/>
          </a:prstGeom>
          <a:noFill/>
          <a:ln/>
        </p:spPr>
        <p:txBody>
          <a:bodyPr wrap="square" lIns="0" tIns="0" rIns="0" bIns="0" rtlCol="0" anchor="t"/>
          <a:lstStyle/>
          <a:p>
            <a:pPr indent="0" marL="0">
              <a:buNone/>
            </a:pPr>
            <a:r>
              <a:rPr lang="en-US" sz="2000" b="1" dirty="0">
                <a:solidFill>
                  <a:schemeClr val="tx2"/>
                </a:solidFill>
              </a:rPr>
              <a:t>What's new in 13.5</a:t>
            </a:r>
            <a:endParaRPr lang="en-US" sz="2000" dirty="0"/>
          </a:p>
        </p:txBody>
      </p:sp>
      <p:sp>
        <p:nvSpPr>
          <p:cNvPr id="17" name="Agenda body 3"/>
          <p:cNvSpPr txBox="1"/>
          <p:nvPr/>
        </p:nvSpPr>
        <p:spPr>
          <a:xfrm>
            <a:off x="6455664" y="3566160"/>
            <a:ext cx="2084832" cy="1828800"/>
          </a:xfrm>
          <a:prstGeom prst="rect">
            <a:avLst/>
          </a:prstGeom>
          <a:noFill/>
          <a:ln/>
        </p:spPr>
        <p:txBody>
          <a:bodyPr wrap="square" lIns="0" tIns="0" rIns="0" bIns="0" rtlCol="0" anchor="t"/>
          <a:lstStyle/>
          <a:p>
            <a:pPr indent="0" marL="0">
              <a:buNone/>
            </a:pPr>
            <a:r>
              <a:rPr lang="en-US" sz="1500" dirty="0">
                <a:solidFill>
                  <a:schemeClr val="tx1"/>
                </a:solidFill>
              </a:rPr>
              <a:t>New dashboard features, code and screenshots</a:t>
            </a:r>
            <a:endParaRPr lang="en-US" sz="1500" dirty="0"/>
          </a:p>
        </p:txBody>
      </p:sp>
      <p:sp>
        <p:nvSpPr>
          <p:cNvPr id="18" name="Agenda card 4"/>
          <p:cNvSpPr/>
          <p:nvPr/>
        </p:nvSpPr>
        <p:spPr>
          <a:xfrm>
            <a:off x="8997696" y="1463040"/>
            <a:ext cx="2633472" cy="4206240"/>
          </a:xfrm>
          <a:prstGeom prst="roundRect">
            <a:avLst>
              <a:gd name="adj" fmla="val 3472"/>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txBody>
          <a:bodyPr/>
          <a:p/>
        </p:txBody>
      </p:sp>
      <p:sp>
        <p:nvSpPr>
          <p:cNvPr id="19" name="Agenda number circle 4"/>
          <p:cNvSpPr/>
          <p:nvPr/>
        </p:nvSpPr>
        <p:spPr>
          <a:xfrm>
            <a:off x="9272016" y="1783080"/>
            <a:ext cx="731520" cy="731520"/>
          </a:xfrm>
          <a:prstGeom prst="ellipse">
            <a:avLst/>
          </a:prstGeom>
          <a:solidFill>
            <a:schemeClr val="accent1"/>
          </a:solidFill>
          <a:ln w="12700">
            <a:solidFill>
              <a:schemeClr val="accent1"/>
            </a:solidFill>
            <a:prstDash val="solid"/>
          </a:ln>
        </p:spPr>
        <p:txBody>
          <a:bodyPr/>
          <a:p/>
        </p:txBody>
      </p:sp>
      <p:sp>
        <p:nvSpPr>
          <p:cNvPr id="20" name="Agenda number 4"/>
          <p:cNvSpPr txBox="1"/>
          <p:nvPr/>
        </p:nvSpPr>
        <p:spPr>
          <a:xfrm>
            <a:off x="9272016" y="178308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4</a:t>
            </a:r>
            <a:endParaRPr lang="en-US" sz="2600" dirty="0"/>
          </a:p>
        </p:txBody>
      </p:sp>
      <p:sp>
        <p:nvSpPr>
          <p:cNvPr id="21" name="Agenda title 4"/>
          <p:cNvSpPr txBox="1"/>
          <p:nvPr/>
        </p:nvSpPr>
        <p:spPr>
          <a:xfrm>
            <a:off x="9272016" y="2788920"/>
            <a:ext cx="2084832" cy="731520"/>
          </a:xfrm>
          <a:prstGeom prst="rect">
            <a:avLst/>
          </a:prstGeom>
          <a:noFill/>
          <a:ln/>
        </p:spPr>
        <p:txBody>
          <a:bodyPr wrap="square" lIns="0" tIns="0" rIns="0" bIns="0" rtlCol="0" anchor="t"/>
          <a:lstStyle/>
          <a:p>
            <a:pPr indent="0" marL="0">
              <a:buNone/>
            </a:pPr>
            <a:r>
              <a:rPr lang="en-US" sz="2000" b="1" dirty="0">
                <a:solidFill>
                  <a:schemeClr val="tx2"/>
                </a:solidFill>
              </a:rPr>
              <a:t>Wrap-up</a:t>
            </a:r>
            <a:endParaRPr lang="en-US" sz="2000" dirty="0"/>
          </a:p>
        </p:txBody>
      </p:sp>
      <p:sp>
        <p:nvSpPr>
          <p:cNvPr id="22" name="Agenda body 4"/>
          <p:cNvSpPr txBox="1"/>
          <p:nvPr/>
        </p:nvSpPr>
        <p:spPr>
          <a:xfrm>
            <a:off x="9272016" y="3566160"/>
            <a:ext cx="2084832" cy="1828800"/>
          </a:xfrm>
          <a:prstGeom prst="rect">
            <a:avLst/>
          </a:prstGeom>
          <a:noFill/>
          <a:ln/>
        </p:spPr>
        <p:txBody>
          <a:bodyPr wrap="square" lIns="0" tIns="0" rIns="0" bIns="0" rtlCol="0" anchor="t"/>
          <a:lstStyle/>
          <a:p>
            <a:pPr indent="0" marL="0">
              <a:buNone/>
            </a:pPr>
            <a:r>
              <a:rPr lang="en-US" sz="1500" dirty="0">
                <a:solidFill>
                  <a:schemeClr val="tx1"/>
                </a:solidFill>
              </a:rPr>
              <a:t>Upgrade, languages, links</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Part label"/>
          <p:cNvSpPr txBox="1"/>
          <p:nvPr/>
        </p:nvSpPr>
        <p:spPr>
          <a:xfrm>
            <a:off x="822960" y="2103120"/>
            <a:ext cx="3657600" cy="457200"/>
          </a:xfrm>
          <a:prstGeom prst="rect">
            <a:avLst/>
          </a:prstGeom>
          <a:noFill/>
          <a:ln/>
        </p:spPr>
        <p:txBody>
          <a:bodyPr wrap="square" lIns="0" tIns="0" rIns="0" bIns="0" rtlCol="0" anchor="ctr"/>
          <a:lstStyle/>
          <a:p>
            <a:pPr indent="0" marL="0">
              <a:buNone/>
            </a:pPr>
            <a:r>
              <a:rPr lang="en-US" sz="1600" b="1" spc="400" kern="0" dirty="0">
                <a:solidFill>
                  <a:srgbClr val="A78BFA"/>
                </a:solidFill>
              </a:rPr>
              <a:t>PART 1</a:t>
            </a:r>
            <a:endParaRPr lang="en-US" sz="1600" dirty="0"/>
          </a:p>
        </p:txBody>
      </p:sp>
      <p:sp>
        <p:nvSpPr>
          <p:cNvPr id="3" name="Part rule"/>
          <p:cNvSpPr/>
          <p:nvPr/>
        </p:nvSpPr>
        <p:spPr>
          <a:xfrm>
            <a:off x="822960" y="2560320"/>
            <a:ext cx="1097280" cy="54864"/>
          </a:xfrm>
          <a:prstGeom prst="rect">
            <a:avLst/>
          </a:prstGeom>
          <a:solidFill>
            <a:srgbClr val="A78BFA"/>
          </a:solidFill>
          <a:ln w="12700">
            <a:solidFill>
              <a:srgbClr val="A78BFA"/>
            </a:solidFill>
            <a:prstDash val="solid"/>
          </a:ln>
        </p:spPr>
        <p:txBody>
          <a:bodyPr/>
          <a:p/>
        </p:txBody>
      </p:sp>
      <p:sp>
        <p:nvSpPr>
          <p:cNvPr id="4" name="Text 0"/>
          <p:cNvSpPr/>
          <p:nvPr>
            <p:ph idx="100" type="title" hasCustomPrompt="1"/>
          </p:nvPr>
        </p:nvSpPr>
        <p:spPr>
          <a:xfrm>
            <a:off x="822960" y="2651760"/>
            <a:ext cx="10515600" cy="1097280"/>
          </a:xfrm>
          <a:prstGeom prst="rect">
            <a:avLst/>
          </a:prstGeom>
          <a:noFill/>
          <a:ln/>
        </p:spPr>
        <p:txBody>
          <a:bodyPr wrap="square" lIns="0" tIns="0" rIns="0" bIns="0" rtlCol="0" anchor="ctr"/>
          <a:lstStyle/>
          <a:p>
            <a:pPr algn="l" indent="0" marL="0">
              <a:buNone/>
            </a:pPr>
            <a:r>
              <a:rPr lang="en-US" sz="4400" b="1" dirty="0">
                <a:solidFill>
                  <a:schemeClr val="bg1"/>
                </a:solidFill>
                <a:latin typeface="Cambria" pitchFamily="34" charset="0"/>
                <a:ea typeface="Cambria" pitchFamily="34" charset="-122"/>
                <a:cs typeface="Cambria" pitchFamily="34" charset="-120"/>
              </a:rPr>
              <a:t>Aspire fundamentals</a:t>
            </a:r>
            <a:endParaRPr lang="en-US" sz="4400" dirty="0"/>
          </a:p>
        </p:txBody>
      </p:sp>
      <p:sp>
        <p:nvSpPr>
          <p:cNvPr id="5" name="Text 0"/>
          <p:cNvSpPr/>
          <p:nvPr>
            <p:ph idx="101" type="body" hasCustomPrompt="1"/>
          </p:nvPr>
        </p:nvSpPr>
        <p:spPr>
          <a:xfrm>
            <a:off x="822960" y="3794760"/>
            <a:ext cx="10058400" cy="914400"/>
          </a:xfrm>
          <a:prstGeom prst="rect">
            <a:avLst/>
          </a:prstGeom>
          <a:noFill/>
          <a:ln/>
        </p:spPr>
        <p:txBody>
          <a:bodyPr wrap="square" lIns="0" tIns="0" rIns="0" bIns="0" rtlCol="0" anchor="t"/>
          <a:lstStyle/>
          <a:p>
            <a:pPr algn="l" indent="0" marL="0">
              <a:buNone/>
            </a:pPr>
            <a:r>
              <a:rPr lang="en-US" sz="2000" dirty="0">
                <a:solidFill>
                  <a:srgbClr val="D9CCFF"/>
                </a:solidFill>
                <a:latin typeface="Calibri" pitchFamily="34" charset="0"/>
                <a:ea typeface="Calibri" pitchFamily="34" charset="-122"/>
                <a:cs typeface="Calibri" pitchFamily="34" charset="-120"/>
              </a:rPr>
              <a:t>What it is and how it fits together</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Distributed apps are hard to run</a:t>
            </a:r>
            <a:endParaRPr lang="en-US" sz="3400" dirty="0"/>
          </a:p>
        </p:txBody>
      </p:sp>
      <p:sp>
        <p:nvSpPr>
          <p:cNvPr id="3" name="Problem intro"/>
          <p:cNvSpPr txBox="1"/>
          <p:nvPr/>
        </p:nvSpPr>
        <p:spPr>
          <a:xfrm>
            <a:off x="548640" y="1188720"/>
            <a:ext cx="11064240" cy="594360"/>
          </a:xfrm>
          <a:prstGeom prst="rect">
            <a:avLst/>
          </a:prstGeom>
          <a:noFill/>
          <a:ln/>
        </p:spPr>
        <p:txBody>
          <a:bodyPr wrap="square" lIns="0" tIns="0" rIns="0" bIns="0" rtlCol="0" anchor="ctr"/>
          <a:lstStyle/>
          <a:p>
            <a:pPr indent="0" marL="0">
              <a:buNone/>
            </a:pPr>
            <a:r>
              <a:rPr lang="en-US" sz="1600" dirty="0">
                <a:solidFill>
                  <a:schemeClr val="tx1"/>
                </a:solidFill>
              </a:rPr>
              <a:t>Distributed app = one app split into parts that talk over network. Example: website, API, database, cache.</a:t>
            </a:r>
            <a:endParaRPr lang="en-US" sz="1600" dirty="0"/>
          </a:p>
        </p:txBody>
      </p:sp>
      <p:sp>
        <p:nvSpPr>
          <p:cNvPr id="4" name="Without Aspire panel"/>
          <p:cNvSpPr/>
          <p:nvPr/>
        </p:nvSpPr>
        <p:spPr>
          <a:xfrm>
            <a:off x="548640" y="1965960"/>
            <a:ext cx="5394960" cy="4206240"/>
          </a:xfrm>
          <a:prstGeom prst="roundRect">
            <a:avLst>
              <a:gd name="adj" fmla="val 2174"/>
            </a:avLst>
          </a:prstGeom>
          <a:solidFill>
            <a:srgbClr val="FDECEC"/>
          </a:solidFill>
          <a:ln w="12700">
            <a:solidFill>
              <a:srgbClr val="FDECEC"/>
            </a:solidFill>
            <a:prstDash val="solid"/>
          </a:ln>
        </p:spPr>
        <p:txBody>
          <a:bodyPr/>
          <a:p/>
        </p:txBody>
      </p:sp>
      <p:pic>
        <p:nvPicPr>
          <p:cNvPr id="5" name="Without Aspire icon" descr="preencoded.png">    </p:cNvPr>
          <p:cNvPicPr>
            <a:picLocks noChangeAspect="1"/>
          </p:cNvPicPr>
          <p:nvPr/>
        </p:nvPicPr>
        <p:blipFill>
          <a:blip r:embed="rId1"/>
          <a:stretch>
            <a:fillRect/>
          </a:stretch>
        </p:blipFill>
        <p:spPr>
          <a:xfrm>
            <a:off x="822960" y="2240280"/>
            <a:ext cx="457200" cy="457200"/>
          </a:xfrm>
          <a:prstGeom prst="rect">
            <a:avLst/>
          </a:prstGeom>
        </p:spPr>
      </p:pic>
      <p:sp>
        <p:nvSpPr>
          <p:cNvPr id="6" name="Without Aspire title"/>
          <p:cNvSpPr txBox="1"/>
          <p:nvPr/>
        </p:nvSpPr>
        <p:spPr>
          <a:xfrm>
            <a:off x="1417320" y="2240280"/>
            <a:ext cx="4297680" cy="457200"/>
          </a:xfrm>
          <a:prstGeom prst="rect">
            <a:avLst/>
          </a:prstGeom>
          <a:noFill/>
          <a:ln/>
        </p:spPr>
        <p:txBody>
          <a:bodyPr wrap="square" lIns="0" tIns="0" rIns="0" bIns="0" rtlCol="0" anchor="ctr"/>
          <a:lstStyle/>
          <a:p>
            <a:pPr indent="0" marL="0">
              <a:buNone/>
            </a:pPr>
            <a:r>
              <a:rPr lang="en-US" sz="2200" b="1" dirty="0">
                <a:solidFill>
                  <a:schemeClr val="tx2"/>
                </a:solidFill>
              </a:rPr>
              <a:t>Without Aspire</a:t>
            </a:r>
            <a:endParaRPr lang="en-US" sz="2200" dirty="0"/>
          </a:p>
        </p:txBody>
      </p:sp>
      <p:sp>
        <p:nvSpPr>
          <p:cNvPr id="7" name="Without Aspire list"/>
          <p:cNvSpPr txBox="1"/>
          <p:nvPr/>
        </p:nvSpPr>
        <p:spPr>
          <a:xfrm>
            <a:off x="868680" y="2971800"/>
            <a:ext cx="4754880" cy="2971800"/>
          </a:xfrm>
          <a:prstGeom prst="rect">
            <a:avLst/>
          </a:prstGeom>
          <a:noFill/>
          <a:ln/>
        </p:spPr>
        <p:txBody>
          <a:bodyPr wrap="square" lIns="0" tIns="0" rIns="0" bIns="0" rtlCol="0" anchor="t"/>
          <a:lstStyle/>
          <a:p>
            <a:pPr marL="342900" indent="-342900">
              <a:spcAft>
                <a:spcPts val="1800"/>
              </a:spcAft>
              <a:buSzPct val="100000"/>
              <a:buChar char="•"/>
            </a:pPr>
            <a:r>
              <a:rPr lang="en-US" sz="1800" dirty="0">
                <a:solidFill>
                  <a:schemeClr val="tx1"/>
                </a:solidFill>
              </a:rPr>
              <a:t>Start each service by hand, in order</a:t>
            </a:r>
            <a:endParaRPr lang="en-US" sz="1800" dirty="0"/>
          </a:p>
          <a:p>
            <a:pPr marL="342900" indent="-342900">
              <a:spcAft>
                <a:spcPts val="1800"/>
              </a:spcAft>
              <a:buSzPct val="100000"/>
              <a:buChar char="•"/>
            </a:pPr>
            <a:r>
              <a:rPr lang="en-US" sz="1800" dirty="0">
                <a:solidFill>
                  <a:schemeClr val="tx1"/>
                </a:solidFill>
              </a:rPr>
              <a:t>Run database and cache containers yourself</a:t>
            </a:r>
            <a:endParaRPr lang="en-US" sz="1800" dirty="0"/>
          </a:p>
          <a:p>
            <a:pPr marL="342900" indent="-342900">
              <a:spcAft>
                <a:spcPts val="1800"/>
              </a:spcAft>
              <a:buSzPct val="100000"/>
              <a:buChar char="•"/>
            </a:pPr>
            <a:r>
              <a:rPr lang="en-US" sz="1800" dirty="0">
                <a:solidFill>
                  <a:schemeClr val="tx1"/>
                </a:solidFill>
              </a:rPr>
              <a:t>Copy ports and connection strings into config</a:t>
            </a:r>
            <a:endParaRPr lang="en-US" sz="1800" dirty="0"/>
          </a:p>
          <a:p>
            <a:pPr marL="342900" indent="-342900">
              <a:spcAft>
                <a:spcPts val="1800"/>
              </a:spcAft>
              <a:buSzPct val="100000"/>
              <a:buChar char="•"/>
            </a:pPr>
            <a:r>
              <a:rPr lang="en-US" sz="1800" dirty="0">
                <a:solidFill>
                  <a:schemeClr val="tx1"/>
                </a:solidFill>
              </a:rPr>
              <a:t>Logs spread over many terminals</a:t>
            </a:r>
            <a:endParaRPr lang="en-US" sz="1800" dirty="0"/>
          </a:p>
          <a:p>
            <a:pPr marL="342900" indent="-342900">
              <a:spcAft>
                <a:spcPts val="1800"/>
              </a:spcAft>
              <a:buSzPct val="100000"/>
              <a:buChar char="•"/>
            </a:pPr>
            <a:r>
              <a:rPr lang="en-US" sz="1800" dirty="0">
                <a:solidFill>
                  <a:schemeClr val="tx1"/>
                </a:solidFill>
              </a:rPr>
              <a:t>New teammates lose days to setup</a:t>
            </a:r>
            <a:endParaRPr lang="en-US" sz="1800" dirty="0"/>
          </a:p>
        </p:txBody>
      </p:sp>
      <p:sp>
        <p:nvSpPr>
          <p:cNvPr id="8" name="With Aspire panel"/>
          <p:cNvSpPr/>
          <p:nvPr/>
        </p:nvSpPr>
        <p:spPr>
          <a:xfrm>
            <a:off x="6217920" y="1965960"/>
            <a:ext cx="5394960" cy="4206240"/>
          </a:xfrm>
          <a:prstGeom prst="roundRect">
            <a:avLst>
              <a:gd name="adj" fmla="val 2174"/>
            </a:avLst>
          </a:prstGeom>
          <a:solidFill>
            <a:srgbClr val="E8F6EE"/>
          </a:solidFill>
          <a:ln w="12700">
            <a:solidFill>
              <a:srgbClr val="E8F6EE"/>
            </a:solidFill>
            <a:prstDash val="solid"/>
          </a:ln>
        </p:spPr>
        <p:txBody>
          <a:bodyPr/>
          <a:p/>
        </p:txBody>
      </p:sp>
      <p:pic>
        <p:nvPicPr>
          <p:cNvPr id="9" name="With Aspire icon" descr="preencoded.png">    </p:cNvPr>
          <p:cNvPicPr>
            <a:picLocks noChangeAspect="1"/>
          </p:cNvPicPr>
          <p:nvPr/>
        </p:nvPicPr>
        <p:blipFill>
          <a:blip r:embed="rId2"/>
          <a:stretch>
            <a:fillRect/>
          </a:stretch>
        </p:blipFill>
        <p:spPr>
          <a:xfrm>
            <a:off x="6492240" y="2240280"/>
            <a:ext cx="457200" cy="457200"/>
          </a:xfrm>
          <a:prstGeom prst="rect">
            <a:avLst/>
          </a:prstGeom>
        </p:spPr>
      </p:pic>
      <p:sp>
        <p:nvSpPr>
          <p:cNvPr id="10" name="With Aspire title"/>
          <p:cNvSpPr txBox="1"/>
          <p:nvPr/>
        </p:nvSpPr>
        <p:spPr>
          <a:xfrm>
            <a:off x="7086600" y="2240280"/>
            <a:ext cx="4297680" cy="457200"/>
          </a:xfrm>
          <a:prstGeom prst="rect">
            <a:avLst/>
          </a:prstGeom>
          <a:noFill/>
          <a:ln/>
        </p:spPr>
        <p:txBody>
          <a:bodyPr wrap="square" lIns="0" tIns="0" rIns="0" bIns="0" rtlCol="0" anchor="ctr"/>
          <a:lstStyle/>
          <a:p>
            <a:pPr indent="0" marL="0">
              <a:buNone/>
            </a:pPr>
            <a:r>
              <a:rPr lang="en-US" sz="2200" b="1" dirty="0">
                <a:solidFill>
                  <a:schemeClr val="tx2"/>
                </a:solidFill>
              </a:rPr>
              <a:t>With Aspire</a:t>
            </a:r>
            <a:endParaRPr lang="en-US" sz="2200" dirty="0"/>
          </a:p>
        </p:txBody>
      </p:sp>
      <p:sp>
        <p:nvSpPr>
          <p:cNvPr id="11" name="With Aspire list"/>
          <p:cNvSpPr txBox="1"/>
          <p:nvPr/>
        </p:nvSpPr>
        <p:spPr>
          <a:xfrm>
            <a:off x="6537960" y="2971800"/>
            <a:ext cx="4754880" cy="2971800"/>
          </a:xfrm>
          <a:prstGeom prst="rect">
            <a:avLst/>
          </a:prstGeom>
          <a:noFill/>
          <a:ln/>
        </p:spPr>
        <p:txBody>
          <a:bodyPr wrap="square" lIns="0" tIns="0" rIns="0" bIns="0" rtlCol="0" anchor="t"/>
          <a:lstStyle/>
          <a:p>
            <a:pPr marL="342900" indent="-342900">
              <a:spcAft>
                <a:spcPts val="1800"/>
              </a:spcAft>
              <a:buSzPct val="100000"/>
              <a:buChar char="•"/>
            </a:pPr>
            <a:r>
              <a:rPr lang="en-US" sz="1800" dirty="0">
                <a:solidFill>
                  <a:schemeClr val="tx1"/>
                </a:solidFill>
              </a:rPr>
              <a:t>Describe whole app once, in code</a:t>
            </a:r>
            <a:endParaRPr lang="en-US" sz="1800" dirty="0"/>
          </a:p>
          <a:p>
            <a:pPr marL="342900" indent="-342900">
              <a:spcAft>
                <a:spcPts val="1800"/>
              </a:spcAft>
              <a:buSzPct val="100000"/>
              <a:buChar char="•"/>
            </a:pPr>
            <a:r>
              <a:rPr lang="en-US" sz="1800" dirty="0">
                <a:solidFill>
                  <a:schemeClr val="tx1"/>
                </a:solidFill>
              </a:rPr>
              <a:t>aspire run starts everything</a:t>
            </a:r>
            <a:endParaRPr lang="en-US" sz="1800" dirty="0"/>
          </a:p>
          <a:p>
            <a:pPr marL="342900" indent="-342900">
              <a:spcAft>
                <a:spcPts val="1800"/>
              </a:spcAft>
              <a:buSzPct val="100000"/>
              <a:buChar char="•"/>
            </a:pPr>
            <a:r>
              <a:rPr lang="en-US" sz="1800" dirty="0">
                <a:solidFill>
                  <a:schemeClr val="tx1"/>
                </a:solidFill>
              </a:rPr>
              <a:t>Addresses and connection strings passed for you</a:t>
            </a:r>
            <a:endParaRPr lang="en-US" sz="1800" dirty="0"/>
          </a:p>
          <a:p>
            <a:pPr marL="342900" indent="-342900">
              <a:spcAft>
                <a:spcPts val="1800"/>
              </a:spcAft>
              <a:buSzPct val="100000"/>
              <a:buChar char="•"/>
            </a:pPr>
            <a:r>
              <a:rPr lang="en-US" sz="1800" dirty="0">
                <a:solidFill>
                  <a:schemeClr val="tx1"/>
                </a:solidFill>
              </a:rPr>
              <a:t>One dashboard for logs, traces, metrics</a:t>
            </a:r>
            <a:endParaRPr lang="en-US" sz="1800" dirty="0"/>
          </a:p>
          <a:p>
            <a:pPr marL="342900" indent="-342900">
              <a:spcAft>
                <a:spcPts val="1800"/>
              </a:spcAft>
              <a:buSzPct val="100000"/>
              <a:buChar char="•"/>
            </a:pPr>
            <a:r>
              <a:rPr lang="en-US" sz="1800" dirty="0">
                <a:solidFill>
                  <a:schemeClr val="tx1"/>
                </a:solidFill>
              </a:rPr>
              <a:t>Clone, run one command, code</a:t>
            </a:r>
            <a:endParaRPr lang="en-US" sz="18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What is Aspire?</a:t>
            </a:r>
            <a:endParaRPr lang="en-US" sz="3400" dirty="0"/>
          </a:p>
        </p:txBody>
      </p:sp>
      <p:sp>
        <p:nvSpPr>
          <p:cNvPr id="3" name="Definition panel"/>
          <p:cNvSpPr/>
          <p:nvPr/>
        </p:nvSpPr>
        <p:spPr>
          <a:xfrm>
            <a:off x="548640" y="1234440"/>
            <a:ext cx="11064240" cy="1143000"/>
          </a:xfrm>
          <a:prstGeom prst="roundRect">
            <a:avLst>
              <a:gd name="adj" fmla="val 8000"/>
            </a:avLst>
          </a:prstGeom>
          <a:solidFill>
            <a:schemeClr val="tx2"/>
          </a:solidFill>
          <a:ln w="12700">
            <a:solidFill>
              <a:schemeClr val="tx2"/>
            </a:solidFill>
            <a:prstDash val="solid"/>
          </a:ln>
        </p:spPr>
        <p:txBody>
          <a:bodyPr/>
          <a:p/>
        </p:txBody>
      </p:sp>
      <p:sp>
        <p:nvSpPr>
          <p:cNvPr id="4" name="Definition text"/>
          <p:cNvSpPr txBox="1"/>
          <p:nvPr/>
        </p:nvSpPr>
        <p:spPr>
          <a:xfrm>
            <a:off x="868680" y="1280160"/>
            <a:ext cx="10515600" cy="1051560"/>
          </a:xfrm>
          <a:prstGeom prst="rect">
            <a:avLst/>
          </a:prstGeom>
          <a:noFill/>
          <a:ln/>
        </p:spPr>
        <p:txBody>
          <a:bodyPr wrap="square" lIns="0" tIns="0" rIns="0" bIns="0" rtlCol="0" anchor="ctr"/>
          <a:lstStyle/>
          <a:p>
            <a:pPr indent="0" marL="0">
              <a:buNone/>
            </a:pPr>
            <a:r>
              <a:rPr lang="en-US" sz="1800" b="1" dirty="0">
                <a:solidFill>
                  <a:schemeClr val="bg1"/>
                </a:solidFill>
              </a:rPr>
              <a:t>Free, open-source, code-first tool to compose, run, debug and deploy distributed apps.</a:t>
            </a:r>
            <a:endParaRPr lang="en-US" sz="1800" dirty="0"/>
          </a:p>
          <a:p>
            <a:pPr indent="0" marL="0">
              <a:buNone/>
            </a:pPr>
            <a:r>
              <a:rPr lang="en-US" sz="1500" dirty="0">
                <a:solidFill>
                  <a:srgbClr val="D9CCFF"/>
                </a:solidFill>
              </a:rPr>
              <a:t>From Microsoft. Formerly .NET Aspire. Now works beyond .NET.</a:t>
            </a:r>
            <a:endParaRPr lang="en-US" sz="1800" dirty="0"/>
          </a:p>
        </p:txBody>
      </p:sp>
      <p:sp>
        <p:nvSpPr>
          <p:cNvPr id="5" name="Loop card 0"/>
          <p:cNvSpPr/>
          <p:nvPr/>
        </p:nvSpPr>
        <p:spPr>
          <a:xfrm>
            <a:off x="548640" y="2697480"/>
            <a:ext cx="2633472" cy="3429000"/>
          </a:xfrm>
          <a:prstGeom prst="roundRect">
            <a:avLst>
              <a:gd name="adj" fmla="val 3472"/>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txBody>
          <a:bodyPr/>
          <a:p/>
        </p:txBody>
      </p:sp>
      <p:sp>
        <p:nvSpPr>
          <p:cNvPr id="6" name="Loop 0 circle"/>
          <p:cNvSpPr/>
          <p:nvPr/>
        </p:nvSpPr>
        <p:spPr>
          <a:xfrm>
            <a:off x="822960" y="2971800"/>
            <a:ext cx="731520" cy="731520"/>
          </a:xfrm>
          <a:prstGeom prst="ellipse">
            <a:avLst/>
          </a:prstGeom>
          <a:solidFill>
            <a:schemeClr val="bg2"/>
          </a:solidFill>
          <a:ln w="12700">
            <a:solidFill>
              <a:schemeClr val="bg2"/>
            </a:solidFill>
            <a:prstDash val="solid"/>
          </a:ln>
        </p:spPr>
        <p:txBody>
          <a:bodyPr/>
          <a:p/>
        </p:txBody>
      </p:sp>
      <p:pic>
        <p:nvPicPr>
          <p:cNvPr id="7" name="Loop 0 icon" descr="preencoded.png">    </p:cNvPr>
          <p:cNvPicPr>
            <a:picLocks noChangeAspect="1"/>
          </p:cNvPicPr>
          <p:nvPr/>
        </p:nvPicPr>
        <p:blipFill>
          <a:blip r:embed="rId1"/>
          <a:stretch>
            <a:fillRect/>
          </a:stretch>
        </p:blipFill>
        <p:spPr>
          <a:xfrm>
            <a:off x="1005840" y="3154680"/>
            <a:ext cx="365760" cy="365760"/>
          </a:xfrm>
          <a:prstGeom prst="rect">
            <a:avLst/>
          </a:prstGeom>
        </p:spPr>
      </p:pic>
      <p:sp>
        <p:nvSpPr>
          <p:cNvPr id="8" name="Loop title 0"/>
          <p:cNvSpPr txBox="1"/>
          <p:nvPr/>
        </p:nvSpPr>
        <p:spPr>
          <a:xfrm>
            <a:off x="822960" y="3886200"/>
            <a:ext cx="2084832" cy="411480"/>
          </a:xfrm>
          <a:prstGeom prst="rect">
            <a:avLst/>
          </a:prstGeom>
          <a:noFill/>
          <a:ln/>
        </p:spPr>
        <p:txBody>
          <a:bodyPr wrap="square" lIns="0" tIns="0" rIns="0" bIns="0" rtlCol="0" anchor="ctr"/>
          <a:lstStyle/>
          <a:p>
            <a:pPr indent="0" marL="0">
              <a:buNone/>
            </a:pPr>
            <a:r>
              <a:rPr lang="en-US" sz="2000" b="1" dirty="0">
                <a:solidFill>
                  <a:schemeClr val="tx2"/>
                </a:solidFill>
              </a:rPr>
              <a:t>1  Compose</a:t>
            </a:r>
            <a:endParaRPr lang="en-US" sz="2000" dirty="0"/>
          </a:p>
        </p:txBody>
      </p:sp>
      <p:sp>
        <p:nvSpPr>
          <p:cNvPr id="9" name="Loop body 0"/>
          <p:cNvSpPr txBox="1"/>
          <p:nvPr/>
        </p:nvSpPr>
        <p:spPr>
          <a:xfrm>
            <a:off x="822960" y="4389120"/>
            <a:ext cx="2084832" cy="1554480"/>
          </a:xfrm>
          <a:prstGeom prst="rect">
            <a:avLst/>
          </a:prstGeom>
          <a:noFill/>
          <a:ln/>
        </p:spPr>
        <p:txBody>
          <a:bodyPr wrap="square" lIns="0" tIns="0" rIns="0" bIns="0" rtlCol="0" anchor="t"/>
          <a:lstStyle/>
          <a:p>
            <a:pPr indent="0" marL="0">
              <a:buNone/>
            </a:pPr>
            <a:r>
              <a:rPr lang="en-US" sz="1600" dirty="0">
                <a:solidFill>
                  <a:schemeClr val="tx1"/>
                </a:solidFill>
              </a:rPr>
              <a:t>Describe services, containers, databases and connections in AppHost file.</a:t>
            </a:r>
            <a:endParaRPr lang="en-US" sz="1600" dirty="0"/>
          </a:p>
        </p:txBody>
      </p:sp>
      <p:sp>
        <p:nvSpPr>
          <p:cNvPr id="10" name="Loop arrow 0"/>
          <p:cNvSpPr txBox="1"/>
          <p:nvPr/>
        </p:nvSpPr>
        <p:spPr>
          <a:xfrm>
            <a:off x="3163824" y="4069080"/>
            <a:ext cx="219456" cy="548640"/>
          </a:xfrm>
          <a:prstGeom prst="rect">
            <a:avLst/>
          </a:prstGeom>
          <a:noFill/>
          <a:ln/>
        </p:spPr>
        <p:txBody>
          <a:bodyPr wrap="square" lIns="0" tIns="0" rIns="0" bIns="0" rtlCol="0" anchor="ctr"/>
          <a:lstStyle/>
          <a:p>
            <a:pPr algn="ctr" indent="0" marL="0">
              <a:buNone/>
            </a:pPr>
            <a:r>
              <a:rPr lang="en-US" sz="3000" b="1" dirty="0">
                <a:solidFill>
                  <a:schemeClr val="accent2"/>
                </a:solidFill>
              </a:rPr>
              <a:t>›</a:t>
            </a:r>
            <a:endParaRPr lang="en-US" sz="3000" dirty="0"/>
          </a:p>
        </p:txBody>
      </p:sp>
      <p:sp>
        <p:nvSpPr>
          <p:cNvPr id="11" name="Loop card 1"/>
          <p:cNvSpPr/>
          <p:nvPr/>
        </p:nvSpPr>
        <p:spPr>
          <a:xfrm>
            <a:off x="3364992" y="2697480"/>
            <a:ext cx="2633472" cy="3429000"/>
          </a:xfrm>
          <a:prstGeom prst="roundRect">
            <a:avLst>
              <a:gd name="adj" fmla="val 3472"/>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txBody>
          <a:bodyPr/>
          <a:p/>
        </p:txBody>
      </p:sp>
      <p:sp>
        <p:nvSpPr>
          <p:cNvPr id="12" name="Loop 1 circle"/>
          <p:cNvSpPr/>
          <p:nvPr/>
        </p:nvSpPr>
        <p:spPr>
          <a:xfrm>
            <a:off x="3639312" y="2971800"/>
            <a:ext cx="731520" cy="731520"/>
          </a:xfrm>
          <a:prstGeom prst="ellipse">
            <a:avLst/>
          </a:prstGeom>
          <a:solidFill>
            <a:schemeClr val="bg2"/>
          </a:solidFill>
          <a:ln w="12700">
            <a:solidFill>
              <a:schemeClr val="bg2"/>
            </a:solidFill>
            <a:prstDash val="solid"/>
          </a:ln>
        </p:spPr>
        <p:txBody>
          <a:bodyPr/>
          <a:p/>
        </p:txBody>
      </p:sp>
      <p:pic>
        <p:nvPicPr>
          <p:cNvPr id="13" name="Loop 1 icon" descr="preencoded.png">    </p:cNvPr>
          <p:cNvPicPr>
            <a:picLocks noChangeAspect="1"/>
          </p:cNvPicPr>
          <p:nvPr/>
        </p:nvPicPr>
        <p:blipFill>
          <a:blip r:embed="rId2"/>
          <a:stretch>
            <a:fillRect/>
          </a:stretch>
        </p:blipFill>
        <p:spPr>
          <a:xfrm>
            <a:off x="3822192" y="3154680"/>
            <a:ext cx="365760" cy="365760"/>
          </a:xfrm>
          <a:prstGeom prst="rect">
            <a:avLst/>
          </a:prstGeom>
        </p:spPr>
      </p:pic>
      <p:sp>
        <p:nvSpPr>
          <p:cNvPr id="14" name="Loop title 1"/>
          <p:cNvSpPr txBox="1"/>
          <p:nvPr/>
        </p:nvSpPr>
        <p:spPr>
          <a:xfrm>
            <a:off x="3639312" y="3886200"/>
            <a:ext cx="2084832" cy="411480"/>
          </a:xfrm>
          <a:prstGeom prst="rect">
            <a:avLst/>
          </a:prstGeom>
          <a:noFill/>
          <a:ln/>
        </p:spPr>
        <p:txBody>
          <a:bodyPr wrap="square" lIns="0" tIns="0" rIns="0" bIns="0" rtlCol="0" anchor="ctr"/>
          <a:lstStyle/>
          <a:p>
            <a:pPr indent="0" marL="0">
              <a:buNone/>
            </a:pPr>
            <a:r>
              <a:rPr lang="en-US" sz="2000" b="1" dirty="0">
                <a:solidFill>
                  <a:schemeClr val="tx2"/>
                </a:solidFill>
              </a:rPr>
              <a:t>2  Run</a:t>
            </a:r>
            <a:endParaRPr lang="en-US" sz="2000" dirty="0"/>
          </a:p>
        </p:txBody>
      </p:sp>
      <p:sp>
        <p:nvSpPr>
          <p:cNvPr id="15" name="Loop body 1"/>
          <p:cNvSpPr txBox="1"/>
          <p:nvPr/>
        </p:nvSpPr>
        <p:spPr>
          <a:xfrm>
            <a:off x="3639312" y="4389120"/>
            <a:ext cx="2084832" cy="1554480"/>
          </a:xfrm>
          <a:prstGeom prst="rect">
            <a:avLst/>
          </a:prstGeom>
          <a:noFill/>
          <a:ln/>
        </p:spPr>
        <p:txBody>
          <a:bodyPr wrap="square" lIns="0" tIns="0" rIns="0" bIns="0" rtlCol="0" anchor="t"/>
          <a:lstStyle/>
          <a:p>
            <a:pPr indent="0" marL="0">
              <a:buNone/>
            </a:pPr>
            <a:r>
              <a:rPr lang="en-US" sz="1600" dirty="0">
                <a:solidFill>
                  <a:schemeClr val="tx1"/>
                </a:solidFill>
              </a:rPr>
              <a:t>aspire run starts everything, already wired.</a:t>
            </a:r>
            <a:endParaRPr lang="en-US" sz="1600" dirty="0"/>
          </a:p>
        </p:txBody>
      </p:sp>
      <p:sp>
        <p:nvSpPr>
          <p:cNvPr id="16" name="Loop arrow 1"/>
          <p:cNvSpPr txBox="1"/>
          <p:nvPr/>
        </p:nvSpPr>
        <p:spPr>
          <a:xfrm>
            <a:off x="5980176" y="4069080"/>
            <a:ext cx="219456" cy="548640"/>
          </a:xfrm>
          <a:prstGeom prst="rect">
            <a:avLst/>
          </a:prstGeom>
          <a:noFill/>
          <a:ln/>
        </p:spPr>
        <p:txBody>
          <a:bodyPr wrap="square" lIns="0" tIns="0" rIns="0" bIns="0" rtlCol="0" anchor="ctr"/>
          <a:lstStyle/>
          <a:p>
            <a:pPr algn="ctr" indent="0" marL="0">
              <a:buNone/>
            </a:pPr>
            <a:r>
              <a:rPr lang="en-US" sz="3000" b="1" dirty="0">
                <a:solidFill>
                  <a:schemeClr val="accent2"/>
                </a:solidFill>
              </a:rPr>
              <a:t>›</a:t>
            </a:r>
            <a:endParaRPr lang="en-US" sz="3000" dirty="0"/>
          </a:p>
        </p:txBody>
      </p:sp>
      <p:sp>
        <p:nvSpPr>
          <p:cNvPr id="17" name="Loop card 2"/>
          <p:cNvSpPr/>
          <p:nvPr/>
        </p:nvSpPr>
        <p:spPr>
          <a:xfrm>
            <a:off x="6181344" y="2697480"/>
            <a:ext cx="2633472" cy="3429000"/>
          </a:xfrm>
          <a:prstGeom prst="roundRect">
            <a:avLst>
              <a:gd name="adj" fmla="val 3472"/>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txBody>
          <a:bodyPr/>
          <a:p/>
        </p:txBody>
      </p:sp>
      <p:sp>
        <p:nvSpPr>
          <p:cNvPr id="18" name="Loop 2 circle"/>
          <p:cNvSpPr/>
          <p:nvPr/>
        </p:nvSpPr>
        <p:spPr>
          <a:xfrm>
            <a:off x="6455664" y="2971800"/>
            <a:ext cx="731520" cy="731520"/>
          </a:xfrm>
          <a:prstGeom prst="ellipse">
            <a:avLst/>
          </a:prstGeom>
          <a:solidFill>
            <a:schemeClr val="bg2"/>
          </a:solidFill>
          <a:ln w="12700">
            <a:solidFill>
              <a:schemeClr val="bg2"/>
            </a:solidFill>
            <a:prstDash val="solid"/>
          </a:ln>
        </p:spPr>
        <p:txBody>
          <a:bodyPr/>
          <a:p/>
        </p:txBody>
      </p:sp>
      <p:pic>
        <p:nvPicPr>
          <p:cNvPr id="19" name="Loop 2 icon" descr="preencoded.png">    </p:cNvPr>
          <p:cNvPicPr>
            <a:picLocks noChangeAspect="1"/>
          </p:cNvPicPr>
          <p:nvPr/>
        </p:nvPicPr>
        <p:blipFill>
          <a:blip r:embed="rId3"/>
          <a:stretch>
            <a:fillRect/>
          </a:stretch>
        </p:blipFill>
        <p:spPr>
          <a:xfrm>
            <a:off x="6638544" y="3154680"/>
            <a:ext cx="365760" cy="365760"/>
          </a:xfrm>
          <a:prstGeom prst="rect">
            <a:avLst/>
          </a:prstGeom>
        </p:spPr>
      </p:pic>
      <p:sp>
        <p:nvSpPr>
          <p:cNvPr id="20" name="Loop title 2"/>
          <p:cNvSpPr txBox="1"/>
          <p:nvPr/>
        </p:nvSpPr>
        <p:spPr>
          <a:xfrm>
            <a:off x="6455664" y="3886200"/>
            <a:ext cx="2084832" cy="411480"/>
          </a:xfrm>
          <a:prstGeom prst="rect">
            <a:avLst/>
          </a:prstGeom>
          <a:noFill/>
          <a:ln/>
        </p:spPr>
        <p:txBody>
          <a:bodyPr wrap="square" lIns="0" tIns="0" rIns="0" bIns="0" rtlCol="0" anchor="ctr"/>
          <a:lstStyle/>
          <a:p>
            <a:pPr indent="0" marL="0">
              <a:buNone/>
            </a:pPr>
            <a:r>
              <a:rPr lang="en-US" sz="2000" b="1" dirty="0">
                <a:solidFill>
                  <a:schemeClr val="tx2"/>
                </a:solidFill>
              </a:rPr>
              <a:t>3  Observe</a:t>
            </a:r>
            <a:endParaRPr lang="en-US" sz="2000" dirty="0"/>
          </a:p>
        </p:txBody>
      </p:sp>
      <p:sp>
        <p:nvSpPr>
          <p:cNvPr id="21" name="Loop body 2"/>
          <p:cNvSpPr txBox="1"/>
          <p:nvPr/>
        </p:nvSpPr>
        <p:spPr>
          <a:xfrm>
            <a:off x="6455664" y="4389120"/>
            <a:ext cx="2084832" cy="1554480"/>
          </a:xfrm>
          <a:prstGeom prst="rect">
            <a:avLst/>
          </a:prstGeom>
          <a:noFill/>
          <a:ln/>
        </p:spPr>
        <p:txBody>
          <a:bodyPr wrap="square" lIns="0" tIns="0" rIns="0" bIns="0" rtlCol="0" anchor="t"/>
          <a:lstStyle/>
          <a:p>
            <a:pPr indent="0" marL="0">
              <a:buNone/>
            </a:pPr>
            <a:r>
              <a:rPr lang="en-US" sz="1600" dirty="0">
                <a:solidFill>
                  <a:schemeClr val="tx1"/>
                </a:solidFill>
              </a:rPr>
              <a:t>Dashboard shows logs, traces, metrics, health from first request.</a:t>
            </a:r>
            <a:endParaRPr lang="en-US" sz="1600" dirty="0"/>
          </a:p>
        </p:txBody>
      </p:sp>
      <p:sp>
        <p:nvSpPr>
          <p:cNvPr id="22" name="Loop arrow 2"/>
          <p:cNvSpPr txBox="1"/>
          <p:nvPr/>
        </p:nvSpPr>
        <p:spPr>
          <a:xfrm>
            <a:off x="8796528" y="4069080"/>
            <a:ext cx="219456" cy="548640"/>
          </a:xfrm>
          <a:prstGeom prst="rect">
            <a:avLst/>
          </a:prstGeom>
          <a:noFill/>
          <a:ln/>
        </p:spPr>
        <p:txBody>
          <a:bodyPr wrap="square" lIns="0" tIns="0" rIns="0" bIns="0" rtlCol="0" anchor="ctr"/>
          <a:lstStyle/>
          <a:p>
            <a:pPr algn="ctr" indent="0" marL="0">
              <a:buNone/>
            </a:pPr>
            <a:r>
              <a:rPr lang="en-US" sz="3000" b="1" dirty="0">
                <a:solidFill>
                  <a:schemeClr val="accent2"/>
                </a:solidFill>
              </a:rPr>
              <a:t>›</a:t>
            </a:r>
            <a:endParaRPr lang="en-US" sz="3000" dirty="0"/>
          </a:p>
        </p:txBody>
      </p:sp>
      <p:sp>
        <p:nvSpPr>
          <p:cNvPr id="23" name="Loop card 3"/>
          <p:cNvSpPr/>
          <p:nvPr/>
        </p:nvSpPr>
        <p:spPr>
          <a:xfrm>
            <a:off x="8997696" y="2697480"/>
            <a:ext cx="2633472" cy="3429000"/>
          </a:xfrm>
          <a:prstGeom prst="roundRect">
            <a:avLst>
              <a:gd name="adj" fmla="val 3472"/>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txBody>
          <a:bodyPr/>
          <a:p/>
        </p:txBody>
      </p:sp>
      <p:sp>
        <p:nvSpPr>
          <p:cNvPr id="24" name="Loop 3 circle"/>
          <p:cNvSpPr/>
          <p:nvPr/>
        </p:nvSpPr>
        <p:spPr>
          <a:xfrm>
            <a:off x="9272016" y="2971800"/>
            <a:ext cx="731520" cy="731520"/>
          </a:xfrm>
          <a:prstGeom prst="ellipse">
            <a:avLst/>
          </a:prstGeom>
          <a:solidFill>
            <a:schemeClr val="bg2"/>
          </a:solidFill>
          <a:ln w="12700">
            <a:solidFill>
              <a:schemeClr val="bg2"/>
            </a:solidFill>
            <a:prstDash val="solid"/>
          </a:ln>
        </p:spPr>
        <p:txBody>
          <a:bodyPr/>
          <a:p/>
        </p:txBody>
      </p:sp>
      <p:pic>
        <p:nvPicPr>
          <p:cNvPr id="25" name="Loop 3 icon" descr="preencoded.png">    </p:cNvPr>
          <p:cNvPicPr>
            <a:picLocks noChangeAspect="1"/>
          </p:cNvPicPr>
          <p:nvPr/>
        </p:nvPicPr>
        <p:blipFill>
          <a:blip r:embed="rId4"/>
          <a:stretch>
            <a:fillRect/>
          </a:stretch>
        </p:blipFill>
        <p:spPr>
          <a:xfrm>
            <a:off x="9454896" y="3154680"/>
            <a:ext cx="365760" cy="365760"/>
          </a:xfrm>
          <a:prstGeom prst="rect">
            <a:avLst/>
          </a:prstGeom>
        </p:spPr>
      </p:pic>
      <p:sp>
        <p:nvSpPr>
          <p:cNvPr id="26" name="Loop title 3"/>
          <p:cNvSpPr txBox="1"/>
          <p:nvPr/>
        </p:nvSpPr>
        <p:spPr>
          <a:xfrm>
            <a:off x="9272016" y="3886200"/>
            <a:ext cx="2084832" cy="411480"/>
          </a:xfrm>
          <a:prstGeom prst="rect">
            <a:avLst/>
          </a:prstGeom>
          <a:noFill/>
          <a:ln/>
        </p:spPr>
        <p:txBody>
          <a:bodyPr wrap="square" lIns="0" tIns="0" rIns="0" bIns="0" rtlCol="0" anchor="ctr"/>
          <a:lstStyle/>
          <a:p>
            <a:pPr indent="0" marL="0">
              <a:buNone/>
            </a:pPr>
            <a:r>
              <a:rPr lang="en-US" sz="2000" b="1" dirty="0">
                <a:solidFill>
                  <a:schemeClr val="tx2"/>
                </a:solidFill>
              </a:rPr>
              <a:t>4  Deploy</a:t>
            </a:r>
            <a:endParaRPr lang="en-US" sz="2000" dirty="0"/>
          </a:p>
        </p:txBody>
      </p:sp>
      <p:sp>
        <p:nvSpPr>
          <p:cNvPr id="27" name="Loop body 3"/>
          <p:cNvSpPr txBox="1"/>
          <p:nvPr/>
        </p:nvSpPr>
        <p:spPr>
          <a:xfrm>
            <a:off x="9272016" y="4389120"/>
            <a:ext cx="2084832" cy="1554480"/>
          </a:xfrm>
          <a:prstGeom prst="rect">
            <a:avLst/>
          </a:prstGeom>
          <a:noFill/>
          <a:ln/>
        </p:spPr>
        <p:txBody>
          <a:bodyPr wrap="square" lIns="0" tIns="0" rIns="0" bIns="0" rtlCol="0" anchor="t"/>
          <a:lstStyle/>
          <a:p>
            <a:pPr indent="0" marL="0">
              <a:buNone/>
            </a:pPr>
            <a:r>
              <a:rPr lang="en-US" sz="1600" dirty="0">
                <a:solidFill>
                  <a:schemeClr val="tx1"/>
                </a:solidFill>
              </a:rPr>
              <a:t>Same model produces deploy files for cloud, containers, Kubernetes.</a:t>
            </a:r>
            <a:endParaRPr lang="en-US" sz="1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Six terms</a:t>
            </a:r>
            <a:endParaRPr lang="en-US" sz="3400" dirty="0"/>
          </a:p>
        </p:txBody>
      </p:sp>
      <p:sp>
        <p:nvSpPr>
          <p:cNvPr id="3" name="Term card AppHost"/>
          <p:cNvSpPr/>
          <p:nvPr/>
        </p:nvSpPr>
        <p:spPr>
          <a:xfrm>
            <a:off x="548640" y="1280160"/>
            <a:ext cx="3566160" cy="2331720"/>
          </a:xfrm>
          <a:prstGeom prst="roundRect">
            <a:avLst>
              <a:gd name="adj" fmla="val 3922"/>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txBody>
          <a:bodyPr/>
          <a:p/>
        </p:txBody>
      </p:sp>
      <p:sp>
        <p:nvSpPr>
          <p:cNvPr id="4" name="AppHost circle"/>
          <p:cNvSpPr/>
          <p:nvPr/>
        </p:nvSpPr>
        <p:spPr>
          <a:xfrm>
            <a:off x="822960" y="1554480"/>
            <a:ext cx="640080" cy="640080"/>
          </a:xfrm>
          <a:prstGeom prst="ellipse">
            <a:avLst/>
          </a:prstGeom>
          <a:solidFill>
            <a:schemeClr val="bg2"/>
          </a:solidFill>
          <a:ln w="12700">
            <a:solidFill>
              <a:schemeClr val="bg2"/>
            </a:solidFill>
            <a:prstDash val="solid"/>
          </a:ln>
        </p:spPr>
        <p:txBody>
          <a:bodyPr/>
          <a:p/>
        </p:txBody>
      </p:sp>
      <p:pic>
        <p:nvPicPr>
          <p:cNvPr id="5" name="AppHost icon" descr="preencoded.png">    </p:cNvPr>
          <p:cNvPicPr>
            <a:picLocks noChangeAspect="1"/>
          </p:cNvPicPr>
          <p:nvPr/>
        </p:nvPicPr>
        <p:blipFill>
          <a:blip r:embed="rId1"/>
          <a:stretch>
            <a:fillRect/>
          </a:stretch>
        </p:blipFill>
        <p:spPr>
          <a:xfrm>
            <a:off x="982980" y="1714500"/>
            <a:ext cx="320040" cy="320040"/>
          </a:xfrm>
          <a:prstGeom prst="rect">
            <a:avLst/>
          </a:prstGeom>
        </p:spPr>
      </p:pic>
      <p:sp>
        <p:nvSpPr>
          <p:cNvPr id="6" name="AppHost term"/>
          <p:cNvSpPr txBox="1"/>
          <p:nvPr/>
        </p:nvSpPr>
        <p:spPr>
          <a:xfrm>
            <a:off x="1600200" y="1554480"/>
            <a:ext cx="2286000" cy="640080"/>
          </a:xfrm>
          <a:prstGeom prst="rect">
            <a:avLst/>
          </a:prstGeom>
          <a:noFill/>
          <a:ln/>
        </p:spPr>
        <p:txBody>
          <a:bodyPr wrap="square" lIns="0" tIns="0" rIns="0" bIns="0" rtlCol="0" anchor="ctr"/>
          <a:lstStyle/>
          <a:p>
            <a:pPr indent="0" marL="0">
              <a:buNone/>
            </a:pPr>
            <a:r>
              <a:rPr lang="en-US" sz="2000" b="1" dirty="0">
                <a:solidFill>
                  <a:schemeClr val="tx2"/>
                </a:solidFill>
              </a:rPr>
              <a:t>AppHost</a:t>
            </a:r>
            <a:endParaRPr lang="en-US" sz="2000" dirty="0"/>
          </a:p>
        </p:txBody>
      </p:sp>
      <p:sp>
        <p:nvSpPr>
          <p:cNvPr id="7" name="AppHost definition"/>
          <p:cNvSpPr txBox="1"/>
          <p:nvPr/>
        </p:nvSpPr>
        <p:spPr>
          <a:xfrm>
            <a:off x="822960" y="2331720"/>
            <a:ext cx="3017520" cy="1188720"/>
          </a:xfrm>
          <a:prstGeom prst="rect">
            <a:avLst/>
          </a:prstGeom>
          <a:noFill/>
          <a:ln/>
        </p:spPr>
        <p:txBody>
          <a:bodyPr wrap="square" lIns="0" tIns="0" rIns="0" bIns="0" rtlCol="0" anchor="t"/>
          <a:lstStyle/>
          <a:p>
            <a:pPr indent="0" marL="0">
              <a:buNone/>
            </a:pPr>
            <a:r>
              <a:rPr lang="en-US" sz="1400" dirty="0">
                <a:solidFill>
                  <a:schemeClr val="tx1"/>
                </a:solidFill>
              </a:rPr>
              <a:t>Small C# or TypeScript program describing whole app: what runs, how parts connect. Source of truth.</a:t>
            </a:r>
            <a:endParaRPr lang="en-US" sz="1400" dirty="0"/>
          </a:p>
        </p:txBody>
      </p:sp>
      <p:sp>
        <p:nvSpPr>
          <p:cNvPr id="8" name="Term card Resource"/>
          <p:cNvSpPr/>
          <p:nvPr/>
        </p:nvSpPr>
        <p:spPr>
          <a:xfrm>
            <a:off x="4297680" y="1280160"/>
            <a:ext cx="3566160" cy="2331720"/>
          </a:xfrm>
          <a:prstGeom prst="roundRect">
            <a:avLst>
              <a:gd name="adj" fmla="val 3922"/>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txBody>
          <a:bodyPr/>
          <a:p/>
        </p:txBody>
      </p:sp>
      <p:sp>
        <p:nvSpPr>
          <p:cNvPr id="9" name="Resource circle"/>
          <p:cNvSpPr/>
          <p:nvPr/>
        </p:nvSpPr>
        <p:spPr>
          <a:xfrm>
            <a:off x="4572000" y="1554480"/>
            <a:ext cx="640080" cy="640080"/>
          </a:xfrm>
          <a:prstGeom prst="ellipse">
            <a:avLst/>
          </a:prstGeom>
          <a:solidFill>
            <a:schemeClr val="bg2"/>
          </a:solidFill>
          <a:ln w="12700">
            <a:solidFill>
              <a:schemeClr val="bg2"/>
            </a:solidFill>
            <a:prstDash val="solid"/>
          </a:ln>
        </p:spPr>
        <p:txBody>
          <a:bodyPr/>
          <a:p/>
        </p:txBody>
      </p:sp>
      <p:pic>
        <p:nvPicPr>
          <p:cNvPr id="10" name="Resource icon" descr="preencoded.png">    </p:cNvPr>
          <p:cNvPicPr>
            <a:picLocks noChangeAspect="1"/>
          </p:cNvPicPr>
          <p:nvPr/>
        </p:nvPicPr>
        <p:blipFill>
          <a:blip r:embed="rId2"/>
          <a:stretch>
            <a:fillRect/>
          </a:stretch>
        </p:blipFill>
        <p:spPr>
          <a:xfrm>
            <a:off x="4732020" y="1714500"/>
            <a:ext cx="320040" cy="320040"/>
          </a:xfrm>
          <a:prstGeom prst="rect">
            <a:avLst/>
          </a:prstGeom>
        </p:spPr>
      </p:pic>
      <p:sp>
        <p:nvSpPr>
          <p:cNvPr id="11" name="Resource term"/>
          <p:cNvSpPr txBox="1"/>
          <p:nvPr/>
        </p:nvSpPr>
        <p:spPr>
          <a:xfrm>
            <a:off x="5349240" y="1554480"/>
            <a:ext cx="2286000" cy="640080"/>
          </a:xfrm>
          <a:prstGeom prst="rect">
            <a:avLst/>
          </a:prstGeom>
          <a:noFill/>
          <a:ln/>
        </p:spPr>
        <p:txBody>
          <a:bodyPr wrap="square" lIns="0" tIns="0" rIns="0" bIns="0" rtlCol="0" anchor="ctr"/>
          <a:lstStyle/>
          <a:p>
            <a:pPr indent="0" marL="0">
              <a:buNone/>
            </a:pPr>
            <a:r>
              <a:rPr lang="en-US" sz="2000" b="1" dirty="0">
                <a:solidFill>
                  <a:schemeClr val="tx2"/>
                </a:solidFill>
              </a:rPr>
              <a:t>Resource</a:t>
            </a:r>
            <a:endParaRPr lang="en-US" sz="2000" dirty="0"/>
          </a:p>
        </p:txBody>
      </p:sp>
      <p:sp>
        <p:nvSpPr>
          <p:cNvPr id="12" name="Resource definition"/>
          <p:cNvSpPr txBox="1"/>
          <p:nvPr/>
        </p:nvSpPr>
        <p:spPr>
          <a:xfrm>
            <a:off x="4572000" y="2331720"/>
            <a:ext cx="3017520" cy="1188720"/>
          </a:xfrm>
          <a:prstGeom prst="rect">
            <a:avLst/>
          </a:prstGeom>
          <a:noFill/>
          <a:ln/>
        </p:spPr>
        <p:txBody>
          <a:bodyPr wrap="square" lIns="0" tIns="0" rIns="0" bIns="0" rtlCol="0" anchor="t"/>
          <a:lstStyle/>
          <a:p>
            <a:pPr indent="0" marL="0">
              <a:buNone/>
            </a:pPr>
            <a:r>
              <a:rPr lang="en-US" sz="1400" dirty="0">
                <a:solidFill>
                  <a:schemeClr val="tx1"/>
                </a:solidFill>
              </a:rPr>
              <a:t>Anything AppHost runs or manages: project, container (Postgres, Redis), executable, cloud service.</a:t>
            </a:r>
            <a:endParaRPr lang="en-US" sz="1400" dirty="0"/>
          </a:p>
        </p:txBody>
      </p:sp>
      <p:sp>
        <p:nvSpPr>
          <p:cNvPr id="13" name="Term card Reference"/>
          <p:cNvSpPr/>
          <p:nvPr/>
        </p:nvSpPr>
        <p:spPr>
          <a:xfrm>
            <a:off x="8046720" y="1280160"/>
            <a:ext cx="3566160" cy="2331720"/>
          </a:xfrm>
          <a:prstGeom prst="roundRect">
            <a:avLst>
              <a:gd name="adj" fmla="val 3922"/>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txBody>
          <a:bodyPr/>
          <a:p/>
        </p:txBody>
      </p:sp>
      <p:sp>
        <p:nvSpPr>
          <p:cNvPr id="14" name="Reference circle"/>
          <p:cNvSpPr/>
          <p:nvPr/>
        </p:nvSpPr>
        <p:spPr>
          <a:xfrm>
            <a:off x="8321040" y="1554480"/>
            <a:ext cx="640080" cy="640080"/>
          </a:xfrm>
          <a:prstGeom prst="ellipse">
            <a:avLst/>
          </a:prstGeom>
          <a:solidFill>
            <a:schemeClr val="bg2"/>
          </a:solidFill>
          <a:ln w="12700">
            <a:solidFill>
              <a:schemeClr val="bg2"/>
            </a:solidFill>
            <a:prstDash val="solid"/>
          </a:ln>
        </p:spPr>
        <p:txBody>
          <a:bodyPr/>
          <a:p/>
        </p:txBody>
      </p:sp>
      <p:pic>
        <p:nvPicPr>
          <p:cNvPr id="15" name="Reference icon" descr="preencoded.png">    </p:cNvPr>
          <p:cNvPicPr>
            <a:picLocks noChangeAspect="1"/>
          </p:cNvPicPr>
          <p:nvPr/>
        </p:nvPicPr>
        <p:blipFill>
          <a:blip r:embed="rId3"/>
          <a:stretch>
            <a:fillRect/>
          </a:stretch>
        </p:blipFill>
        <p:spPr>
          <a:xfrm>
            <a:off x="8481060" y="1714500"/>
            <a:ext cx="320040" cy="320040"/>
          </a:xfrm>
          <a:prstGeom prst="rect">
            <a:avLst/>
          </a:prstGeom>
        </p:spPr>
      </p:pic>
      <p:sp>
        <p:nvSpPr>
          <p:cNvPr id="16" name="Reference term"/>
          <p:cNvSpPr txBox="1"/>
          <p:nvPr/>
        </p:nvSpPr>
        <p:spPr>
          <a:xfrm>
            <a:off x="9098280" y="1554480"/>
            <a:ext cx="2286000" cy="640080"/>
          </a:xfrm>
          <a:prstGeom prst="rect">
            <a:avLst/>
          </a:prstGeom>
          <a:noFill/>
          <a:ln/>
        </p:spPr>
        <p:txBody>
          <a:bodyPr wrap="square" lIns="0" tIns="0" rIns="0" bIns="0" rtlCol="0" anchor="ctr"/>
          <a:lstStyle/>
          <a:p>
            <a:pPr indent="0" marL="0">
              <a:buNone/>
            </a:pPr>
            <a:r>
              <a:rPr lang="en-US" sz="2000" b="1" dirty="0">
                <a:solidFill>
                  <a:schemeClr val="tx2"/>
                </a:solidFill>
              </a:rPr>
              <a:t>Reference</a:t>
            </a:r>
            <a:endParaRPr lang="en-US" sz="2000" dirty="0"/>
          </a:p>
        </p:txBody>
      </p:sp>
      <p:sp>
        <p:nvSpPr>
          <p:cNvPr id="17" name="Reference definition"/>
          <p:cNvSpPr txBox="1"/>
          <p:nvPr/>
        </p:nvSpPr>
        <p:spPr>
          <a:xfrm>
            <a:off x="8321040" y="2331720"/>
            <a:ext cx="3017520" cy="1188720"/>
          </a:xfrm>
          <a:prstGeom prst="rect">
            <a:avLst/>
          </a:prstGeom>
          <a:noFill/>
          <a:ln/>
        </p:spPr>
        <p:txBody>
          <a:bodyPr wrap="square" lIns="0" tIns="0" rIns="0" bIns="0" rtlCol="0" anchor="t"/>
          <a:lstStyle/>
          <a:p>
            <a:pPr indent="0" marL="0">
              <a:buNone/>
            </a:pPr>
            <a:r>
              <a:rPr lang="en-US" sz="1400" dirty="0">
                <a:solidFill>
                  <a:schemeClr val="tx1"/>
                </a:solidFill>
              </a:rPr>
              <a:t>WithReference() = this part needs that part. Aspire hands over address or connection string.</a:t>
            </a:r>
            <a:endParaRPr lang="en-US" sz="1400" dirty="0"/>
          </a:p>
        </p:txBody>
      </p:sp>
      <p:sp>
        <p:nvSpPr>
          <p:cNvPr id="18" name="Term card Integration"/>
          <p:cNvSpPr/>
          <p:nvPr/>
        </p:nvSpPr>
        <p:spPr>
          <a:xfrm>
            <a:off x="548640" y="3794760"/>
            <a:ext cx="3566160" cy="2331720"/>
          </a:xfrm>
          <a:prstGeom prst="roundRect">
            <a:avLst>
              <a:gd name="adj" fmla="val 3922"/>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txBody>
          <a:bodyPr/>
          <a:p/>
        </p:txBody>
      </p:sp>
      <p:sp>
        <p:nvSpPr>
          <p:cNvPr id="19" name="Integration circle"/>
          <p:cNvSpPr/>
          <p:nvPr/>
        </p:nvSpPr>
        <p:spPr>
          <a:xfrm>
            <a:off x="822960" y="4069080"/>
            <a:ext cx="640080" cy="640080"/>
          </a:xfrm>
          <a:prstGeom prst="ellipse">
            <a:avLst/>
          </a:prstGeom>
          <a:solidFill>
            <a:schemeClr val="bg2"/>
          </a:solidFill>
          <a:ln w="12700">
            <a:solidFill>
              <a:schemeClr val="bg2"/>
            </a:solidFill>
            <a:prstDash val="solid"/>
          </a:ln>
        </p:spPr>
        <p:txBody>
          <a:bodyPr/>
          <a:p/>
        </p:txBody>
      </p:sp>
      <p:pic>
        <p:nvPicPr>
          <p:cNvPr id="20" name="Integration icon" descr="preencoded.png">    </p:cNvPr>
          <p:cNvPicPr>
            <a:picLocks noChangeAspect="1"/>
          </p:cNvPicPr>
          <p:nvPr/>
        </p:nvPicPr>
        <p:blipFill>
          <a:blip r:embed="rId4"/>
          <a:stretch>
            <a:fillRect/>
          </a:stretch>
        </p:blipFill>
        <p:spPr>
          <a:xfrm>
            <a:off x="982980" y="4229100"/>
            <a:ext cx="320040" cy="320040"/>
          </a:xfrm>
          <a:prstGeom prst="rect">
            <a:avLst/>
          </a:prstGeom>
        </p:spPr>
      </p:pic>
      <p:sp>
        <p:nvSpPr>
          <p:cNvPr id="21" name="Integration term"/>
          <p:cNvSpPr txBox="1"/>
          <p:nvPr/>
        </p:nvSpPr>
        <p:spPr>
          <a:xfrm>
            <a:off x="1600200" y="4069080"/>
            <a:ext cx="2286000" cy="640080"/>
          </a:xfrm>
          <a:prstGeom prst="rect">
            <a:avLst/>
          </a:prstGeom>
          <a:noFill/>
          <a:ln/>
        </p:spPr>
        <p:txBody>
          <a:bodyPr wrap="square" lIns="0" tIns="0" rIns="0" bIns="0" rtlCol="0" anchor="ctr"/>
          <a:lstStyle/>
          <a:p>
            <a:pPr indent="0" marL="0">
              <a:buNone/>
            </a:pPr>
            <a:r>
              <a:rPr lang="en-US" sz="2000" b="1" dirty="0">
                <a:solidFill>
                  <a:schemeClr val="tx2"/>
                </a:solidFill>
              </a:rPr>
              <a:t>Integration</a:t>
            </a:r>
            <a:endParaRPr lang="en-US" sz="2000" dirty="0"/>
          </a:p>
        </p:txBody>
      </p:sp>
      <p:sp>
        <p:nvSpPr>
          <p:cNvPr id="22" name="Integration definition"/>
          <p:cNvSpPr txBox="1"/>
          <p:nvPr/>
        </p:nvSpPr>
        <p:spPr>
          <a:xfrm>
            <a:off x="822960" y="4846320"/>
            <a:ext cx="3017520" cy="1188720"/>
          </a:xfrm>
          <a:prstGeom prst="rect">
            <a:avLst/>
          </a:prstGeom>
          <a:noFill/>
          <a:ln/>
        </p:spPr>
        <p:txBody>
          <a:bodyPr wrap="square" lIns="0" tIns="0" rIns="0" bIns="0" rtlCol="0" anchor="t"/>
          <a:lstStyle/>
          <a:p>
            <a:pPr indent="0" marL="0">
              <a:buNone/>
            </a:pPr>
            <a:r>
              <a:rPr lang="en-US" sz="1400" dirty="0">
                <a:solidFill>
                  <a:schemeClr val="tx1"/>
                </a:solidFill>
              </a:rPr>
              <a:t>Ready-made package for a technology, like AddPostgres() or AddRedis(). No manual config.</a:t>
            </a:r>
            <a:endParaRPr lang="en-US" sz="1400" dirty="0"/>
          </a:p>
        </p:txBody>
      </p:sp>
      <p:sp>
        <p:nvSpPr>
          <p:cNvPr id="23" name="Term card Service defaults"/>
          <p:cNvSpPr/>
          <p:nvPr/>
        </p:nvSpPr>
        <p:spPr>
          <a:xfrm>
            <a:off x="4297680" y="3794760"/>
            <a:ext cx="3566160" cy="2331720"/>
          </a:xfrm>
          <a:prstGeom prst="roundRect">
            <a:avLst>
              <a:gd name="adj" fmla="val 3922"/>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txBody>
          <a:bodyPr/>
          <a:p/>
        </p:txBody>
      </p:sp>
      <p:sp>
        <p:nvSpPr>
          <p:cNvPr id="24" name="Service defaults circle"/>
          <p:cNvSpPr/>
          <p:nvPr/>
        </p:nvSpPr>
        <p:spPr>
          <a:xfrm>
            <a:off x="4572000" y="4069080"/>
            <a:ext cx="640080" cy="640080"/>
          </a:xfrm>
          <a:prstGeom prst="ellipse">
            <a:avLst/>
          </a:prstGeom>
          <a:solidFill>
            <a:schemeClr val="bg2"/>
          </a:solidFill>
          <a:ln w="12700">
            <a:solidFill>
              <a:schemeClr val="bg2"/>
            </a:solidFill>
            <a:prstDash val="solid"/>
          </a:ln>
        </p:spPr>
        <p:txBody>
          <a:bodyPr/>
          <a:p/>
        </p:txBody>
      </p:sp>
      <p:pic>
        <p:nvPicPr>
          <p:cNvPr id="25" name="Service defaults icon" descr="preencoded.png">    </p:cNvPr>
          <p:cNvPicPr>
            <a:picLocks noChangeAspect="1"/>
          </p:cNvPicPr>
          <p:nvPr/>
        </p:nvPicPr>
        <p:blipFill>
          <a:blip r:embed="rId5"/>
          <a:stretch>
            <a:fillRect/>
          </a:stretch>
        </p:blipFill>
        <p:spPr>
          <a:xfrm>
            <a:off x="4732020" y="4229100"/>
            <a:ext cx="320040" cy="320040"/>
          </a:xfrm>
          <a:prstGeom prst="rect">
            <a:avLst/>
          </a:prstGeom>
        </p:spPr>
      </p:pic>
      <p:sp>
        <p:nvSpPr>
          <p:cNvPr id="26" name="Service defaults term"/>
          <p:cNvSpPr txBox="1"/>
          <p:nvPr/>
        </p:nvSpPr>
        <p:spPr>
          <a:xfrm>
            <a:off x="5349240" y="4069080"/>
            <a:ext cx="2286000" cy="640080"/>
          </a:xfrm>
          <a:prstGeom prst="rect">
            <a:avLst/>
          </a:prstGeom>
          <a:noFill/>
          <a:ln/>
        </p:spPr>
        <p:txBody>
          <a:bodyPr wrap="square" lIns="0" tIns="0" rIns="0" bIns="0" rtlCol="0" anchor="ctr"/>
          <a:lstStyle/>
          <a:p>
            <a:pPr indent="0" marL="0">
              <a:buNone/>
            </a:pPr>
            <a:r>
              <a:rPr lang="en-US" sz="2000" b="1" dirty="0">
                <a:solidFill>
                  <a:schemeClr val="tx2"/>
                </a:solidFill>
              </a:rPr>
              <a:t>Service defaults</a:t>
            </a:r>
            <a:endParaRPr lang="en-US" sz="2000" dirty="0"/>
          </a:p>
        </p:txBody>
      </p:sp>
      <p:sp>
        <p:nvSpPr>
          <p:cNvPr id="27" name="Service defaults definition"/>
          <p:cNvSpPr txBox="1"/>
          <p:nvPr/>
        </p:nvSpPr>
        <p:spPr>
          <a:xfrm>
            <a:off x="4572000" y="4846320"/>
            <a:ext cx="3017520" cy="1188720"/>
          </a:xfrm>
          <a:prstGeom prst="rect">
            <a:avLst/>
          </a:prstGeom>
          <a:noFill/>
          <a:ln/>
        </p:spPr>
        <p:txBody>
          <a:bodyPr wrap="square" lIns="0" tIns="0" rIns="0" bIns="0" rtlCol="0" anchor="t"/>
          <a:lstStyle/>
          <a:p>
            <a:pPr indent="0" marL="0">
              <a:buNone/>
            </a:pPr>
            <a:r>
              <a:rPr lang="en-US" sz="1400" dirty="0">
                <a:solidFill>
                  <a:schemeClr val="tx1"/>
                </a:solidFill>
              </a:rPr>
              <a:t>Shared .NET setup: telemetry, health checks, service discovery, retries. One line.</a:t>
            </a:r>
            <a:endParaRPr lang="en-US" sz="1400" dirty="0"/>
          </a:p>
        </p:txBody>
      </p:sp>
      <p:sp>
        <p:nvSpPr>
          <p:cNvPr id="28" name="Term card Dashboard"/>
          <p:cNvSpPr/>
          <p:nvPr/>
        </p:nvSpPr>
        <p:spPr>
          <a:xfrm>
            <a:off x="8046720" y="3794760"/>
            <a:ext cx="3566160" cy="2331720"/>
          </a:xfrm>
          <a:prstGeom prst="roundRect">
            <a:avLst>
              <a:gd name="adj" fmla="val 3922"/>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txBody>
          <a:bodyPr/>
          <a:p/>
        </p:txBody>
      </p:sp>
      <p:sp>
        <p:nvSpPr>
          <p:cNvPr id="29" name="Dashboard circle"/>
          <p:cNvSpPr/>
          <p:nvPr/>
        </p:nvSpPr>
        <p:spPr>
          <a:xfrm>
            <a:off x="8321040" y="4069080"/>
            <a:ext cx="640080" cy="640080"/>
          </a:xfrm>
          <a:prstGeom prst="ellipse">
            <a:avLst/>
          </a:prstGeom>
          <a:solidFill>
            <a:schemeClr val="bg2"/>
          </a:solidFill>
          <a:ln w="12700">
            <a:solidFill>
              <a:schemeClr val="bg2"/>
            </a:solidFill>
            <a:prstDash val="solid"/>
          </a:ln>
        </p:spPr>
        <p:txBody>
          <a:bodyPr/>
          <a:p/>
        </p:txBody>
      </p:sp>
      <p:pic>
        <p:nvPicPr>
          <p:cNvPr id="30" name="Dashboard icon" descr="preencoded.png">    </p:cNvPr>
          <p:cNvPicPr>
            <a:picLocks noChangeAspect="1"/>
          </p:cNvPicPr>
          <p:nvPr/>
        </p:nvPicPr>
        <p:blipFill>
          <a:blip r:embed="rId6"/>
          <a:stretch>
            <a:fillRect/>
          </a:stretch>
        </p:blipFill>
        <p:spPr>
          <a:xfrm>
            <a:off x="8481060" y="4229100"/>
            <a:ext cx="320040" cy="320040"/>
          </a:xfrm>
          <a:prstGeom prst="rect">
            <a:avLst/>
          </a:prstGeom>
        </p:spPr>
      </p:pic>
      <p:sp>
        <p:nvSpPr>
          <p:cNvPr id="31" name="Dashboard term"/>
          <p:cNvSpPr txBox="1"/>
          <p:nvPr/>
        </p:nvSpPr>
        <p:spPr>
          <a:xfrm>
            <a:off x="9098280" y="4069080"/>
            <a:ext cx="2286000" cy="640080"/>
          </a:xfrm>
          <a:prstGeom prst="rect">
            <a:avLst/>
          </a:prstGeom>
          <a:noFill/>
          <a:ln/>
        </p:spPr>
        <p:txBody>
          <a:bodyPr wrap="square" lIns="0" tIns="0" rIns="0" bIns="0" rtlCol="0" anchor="ctr"/>
          <a:lstStyle/>
          <a:p>
            <a:pPr indent="0" marL="0">
              <a:buNone/>
            </a:pPr>
            <a:r>
              <a:rPr lang="en-US" sz="2000" b="1" dirty="0">
                <a:solidFill>
                  <a:schemeClr val="tx2"/>
                </a:solidFill>
              </a:rPr>
              <a:t>Dashboard</a:t>
            </a:r>
            <a:endParaRPr lang="en-US" sz="2000" dirty="0"/>
          </a:p>
        </p:txBody>
      </p:sp>
      <p:sp>
        <p:nvSpPr>
          <p:cNvPr id="32" name="Dashboard definition"/>
          <p:cNvSpPr txBox="1"/>
          <p:nvPr/>
        </p:nvSpPr>
        <p:spPr>
          <a:xfrm>
            <a:off x="8321040" y="4846320"/>
            <a:ext cx="3017520" cy="1188720"/>
          </a:xfrm>
          <a:prstGeom prst="rect">
            <a:avLst/>
          </a:prstGeom>
          <a:noFill/>
          <a:ln/>
        </p:spPr>
        <p:txBody>
          <a:bodyPr wrap="square" lIns="0" tIns="0" rIns="0" bIns="0" rtlCol="0" anchor="t"/>
          <a:lstStyle/>
          <a:p>
            <a:pPr indent="0" marL="0">
              <a:buNone/>
            </a:pPr>
            <a:r>
              <a:rPr lang="en-US" sz="1400" dirty="0">
                <a:solidFill>
                  <a:schemeClr val="tx1"/>
                </a:solidFill>
              </a:rPr>
              <a:t>Web page that opens with aspire run. Every resource, log, trace, metric in one place.</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How pieces fit</a:t>
            </a:r>
            <a:endParaRPr lang="en-US" sz="3400" dirty="0"/>
          </a:p>
        </p:txBody>
      </p:sp>
      <p:sp>
        <p:nvSpPr>
          <p:cNvPr id="3" name="AppHost box"/>
          <p:cNvSpPr/>
          <p:nvPr/>
        </p:nvSpPr>
        <p:spPr>
          <a:xfrm>
            <a:off x="548640" y="1371600"/>
            <a:ext cx="2468880" cy="3520440"/>
          </a:xfrm>
          <a:prstGeom prst="roundRect">
            <a:avLst>
              <a:gd name="adj" fmla="val 4444"/>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txBody>
          <a:bodyPr/>
          <a:p/>
        </p:txBody>
      </p:sp>
      <p:sp>
        <p:nvSpPr>
          <p:cNvPr id="4" name="AppHost text"/>
          <p:cNvSpPr txBox="1"/>
          <p:nvPr/>
        </p:nvSpPr>
        <p:spPr>
          <a:xfrm>
            <a:off x="777240" y="1463040"/>
            <a:ext cx="2057400" cy="3337560"/>
          </a:xfrm>
          <a:prstGeom prst="rect">
            <a:avLst/>
          </a:prstGeom>
          <a:noFill/>
          <a:ln/>
        </p:spPr>
        <p:txBody>
          <a:bodyPr wrap="square" lIns="0" tIns="0" rIns="0" bIns="0" rtlCol="0" anchor="ctr"/>
          <a:lstStyle/>
          <a:p>
            <a:pPr indent="0" marL="0">
              <a:buNone/>
            </a:pPr>
            <a:r>
              <a:rPr lang="en-US" sz="2200" b="1" dirty="0">
                <a:solidFill>
                  <a:schemeClr val="bg1"/>
                </a:solidFill>
              </a:rPr>
              <a:t>AppHost</a:t>
            </a:r>
            <a:endParaRPr lang="en-US" sz="2200" dirty="0"/>
          </a:p>
          <a:p>
            <a:pPr indent="0" marL="0">
              <a:buNone/>
            </a:pPr>
            <a:r>
              <a:rPr lang="en-US" sz="1200" dirty="0">
                <a:solidFill>
                  <a:srgbClr val="E4DAFF"/>
                </a:solidFill>
                <a:latin typeface="Courier New" pitchFamily="34" charset="0"/>
                <a:ea typeface="Courier New" pitchFamily="34" charset="-122"/>
                <a:cs typeface="Courier New" pitchFamily="34" charset="-120"/>
              </a:rPr>
              <a:t>AppHost.cs or apphost.mts</a:t>
            </a:r>
            <a:endParaRPr lang="en-US" sz="2200" dirty="0"/>
          </a:p>
          <a:p>
            <a:pPr indent="0" marL="0">
              <a:buNone/>
            </a:pPr>
            <a:r>
              <a:rPr lang="en-US" sz="800" dirty="0">
                <a:solidFill>
                  <a:srgbClr val="000000"/>
                </a:solidFill>
              </a:rPr>
              <a:t> </a:t>
            </a:r>
            <a:endParaRPr lang="en-US" sz="2200" dirty="0"/>
          </a:p>
          <a:p>
            <a:pPr indent="0" marL="0">
              <a:buNone/>
            </a:pPr>
            <a:r>
              <a:rPr lang="en-US" sz="1400" dirty="0">
                <a:solidFill>
                  <a:schemeClr val="bg1"/>
                </a:solidFill>
              </a:rPr>
              <a:t>Describes every resource and connection.</a:t>
            </a:r>
            <a:endParaRPr lang="en-US" sz="2200" dirty="0"/>
          </a:p>
        </p:txBody>
      </p:sp>
      <p:sp>
        <p:nvSpPr>
          <p:cNvPr id="5" name="Running app group"/>
          <p:cNvSpPr/>
          <p:nvPr/>
        </p:nvSpPr>
        <p:spPr>
          <a:xfrm>
            <a:off x="3566160" y="1234440"/>
            <a:ext cx="8046720" cy="3794760"/>
          </a:xfrm>
          <a:prstGeom prst="roundRect">
            <a:avLst>
              <a:gd name="adj" fmla="val 2410"/>
            </a:avLst>
          </a:prstGeom>
          <a:solidFill>
            <a:schemeClr val="bg2"/>
          </a:solidFill>
          <a:ln w="15875">
            <a:solidFill>
              <a:schemeClr val="accent2"/>
            </a:solidFill>
            <a:prstDash val="dash"/>
          </a:ln>
        </p:spPr>
        <p:txBody>
          <a:bodyPr/>
          <a:p/>
        </p:txBody>
      </p:sp>
      <p:sp>
        <p:nvSpPr>
          <p:cNvPr id="6" name="Group label"/>
          <p:cNvSpPr txBox="1"/>
          <p:nvPr/>
        </p:nvSpPr>
        <p:spPr>
          <a:xfrm>
            <a:off x="3794760" y="1325880"/>
            <a:ext cx="3657600" cy="320040"/>
          </a:xfrm>
          <a:prstGeom prst="rect">
            <a:avLst/>
          </a:prstGeom>
          <a:noFill/>
          <a:ln/>
        </p:spPr>
        <p:txBody>
          <a:bodyPr wrap="square" lIns="0" tIns="0" rIns="0" bIns="0" rtlCol="0" anchor="ctr"/>
          <a:lstStyle/>
          <a:p>
            <a:pPr indent="0" marL="0">
              <a:buNone/>
            </a:pPr>
            <a:r>
              <a:rPr lang="en-US" sz="1300" b="1" dirty="0">
                <a:solidFill>
                  <a:schemeClr val="accent1"/>
                </a:solidFill>
              </a:rPr>
              <a:t>Started by aspire run</a:t>
            </a:r>
            <a:endParaRPr lang="en-US" sz="1300" dirty="0"/>
          </a:p>
        </p:txBody>
      </p:sp>
      <p:sp>
        <p:nvSpPr>
          <p:cNvPr id="7" name="AppHost to group arrow"/>
          <p:cNvSpPr/>
          <p:nvPr/>
        </p:nvSpPr>
        <p:spPr>
          <a:xfrm>
            <a:off x="3017520" y="3127248"/>
            <a:ext cx="548640" cy="914"/>
          </a:xfrm>
          <a:prstGeom prst="line">
            <a:avLst/>
          </a:prstGeom>
          <a:noFill/>
          <a:ln w="25400">
            <a:solidFill>
              <a:srgbClr val="6B3FE0"/>
            </a:solidFill>
            <a:prstDash val="solid"/>
            <a:tailEnd type="triangle"/>
          </a:ln>
        </p:spPr>
        <p:txBody>
          <a:bodyPr/>
          <a:p/>
        </p:txBody>
      </p:sp>
      <p:sp>
        <p:nvSpPr>
          <p:cNvPr id="8" name="frontend box"/>
          <p:cNvSpPr/>
          <p:nvPr/>
        </p:nvSpPr>
        <p:spPr>
          <a:xfrm>
            <a:off x="3840480" y="2697480"/>
            <a:ext cx="2286000" cy="914400"/>
          </a:xfrm>
          <a:prstGeom prst="roundRect">
            <a:avLst>
              <a:gd name="adj" fmla="val 10000"/>
            </a:avLst>
          </a:prstGeom>
          <a:solidFill>
            <a:schemeClr val="bg1"/>
          </a:solidFill>
          <a:ln w="15875">
            <a:solidFill>
              <a:schemeClr val="accent2"/>
            </a:solidFill>
            <a:prstDash val="solid"/>
          </a:ln>
          <a:effectLst>
            <a:outerShdw sx="100000" sy="100000" kx="0" ky="0" algn="bl" rotWithShape="0" blurRad="76200" dist="25400" dir="5400000">
              <a:srgbClr val="000000">
                <a:alpha val="12000"/>
              </a:srgbClr>
            </a:outerShdw>
          </a:effectLst>
        </p:spPr>
        <p:txBody>
          <a:bodyPr/>
          <a:p/>
        </p:txBody>
      </p:sp>
      <p:sp>
        <p:nvSpPr>
          <p:cNvPr id="9" name="frontend text"/>
          <p:cNvSpPr txBox="1"/>
          <p:nvPr/>
        </p:nvSpPr>
        <p:spPr>
          <a:xfrm>
            <a:off x="4023360" y="2697480"/>
            <a:ext cx="1920240" cy="914400"/>
          </a:xfrm>
          <a:prstGeom prst="rect">
            <a:avLst/>
          </a:prstGeom>
          <a:noFill/>
          <a:ln/>
        </p:spPr>
        <p:txBody>
          <a:bodyPr wrap="square" lIns="0" tIns="0" rIns="0" bIns="0" rtlCol="0" anchor="ctr"/>
          <a:lstStyle/>
          <a:p>
            <a:pPr indent="0" marL="0">
              <a:buNone/>
            </a:pPr>
            <a:r>
              <a:rPr lang="en-US" sz="1600" b="1" dirty="0">
                <a:solidFill>
                  <a:schemeClr val="tx2"/>
                </a:solidFill>
                <a:latin typeface="Courier New" pitchFamily="34" charset="0"/>
                <a:ea typeface="Courier New" pitchFamily="34" charset="-122"/>
                <a:cs typeface="Courier New" pitchFamily="34" charset="-120"/>
              </a:rPr>
              <a:t>frontend</a:t>
            </a:r>
            <a:endParaRPr lang="en-US" sz="1600" dirty="0"/>
          </a:p>
          <a:p>
            <a:pPr indent="0" marL="0">
              <a:buNone/>
            </a:pPr>
            <a:r>
              <a:rPr lang="en-US" sz="1250" dirty="0">
                <a:solidFill>
                  <a:schemeClr val="tx1"/>
                </a:solidFill>
              </a:rPr>
              <a:t>Web front end · process</a:t>
            </a:r>
            <a:endParaRPr lang="en-US" sz="1600" dirty="0"/>
          </a:p>
        </p:txBody>
      </p:sp>
      <p:sp>
        <p:nvSpPr>
          <p:cNvPr id="10" name="catalogservice box"/>
          <p:cNvSpPr/>
          <p:nvPr/>
        </p:nvSpPr>
        <p:spPr>
          <a:xfrm>
            <a:off x="6675120" y="1783080"/>
            <a:ext cx="2194560" cy="914400"/>
          </a:xfrm>
          <a:prstGeom prst="roundRect">
            <a:avLst>
              <a:gd name="adj" fmla="val 10000"/>
            </a:avLst>
          </a:prstGeom>
          <a:solidFill>
            <a:schemeClr val="bg1"/>
          </a:solidFill>
          <a:ln w="15875">
            <a:solidFill>
              <a:schemeClr val="accent2"/>
            </a:solidFill>
            <a:prstDash val="solid"/>
          </a:ln>
          <a:effectLst>
            <a:outerShdw sx="100000" sy="100000" kx="0" ky="0" algn="bl" rotWithShape="0" blurRad="76200" dist="25400" dir="5400000">
              <a:srgbClr val="000000">
                <a:alpha val="12000"/>
              </a:srgbClr>
            </a:outerShdw>
          </a:effectLst>
        </p:spPr>
        <p:txBody>
          <a:bodyPr/>
          <a:p/>
        </p:txBody>
      </p:sp>
      <p:sp>
        <p:nvSpPr>
          <p:cNvPr id="11" name="catalogservice text"/>
          <p:cNvSpPr txBox="1"/>
          <p:nvPr/>
        </p:nvSpPr>
        <p:spPr>
          <a:xfrm>
            <a:off x="6858000" y="1783080"/>
            <a:ext cx="1828800" cy="914400"/>
          </a:xfrm>
          <a:prstGeom prst="rect">
            <a:avLst/>
          </a:prstGeom>
          <a:noFill/>
          <a:ln/>
        </p:spPr>
        <p:txBody>
          <a:bodyPr wrap="square" lIns="0" tIns="0" rIns="0" bIns="0" rtlCol="0" anchor="ctr"/>
          <a:lstStyle/>
          <a:p>
            <a:pPr indent="0" marL="0">
              <a:buNone/>
            </a:pPr>
            <a:r>
              <a:rPr lang="en-US" sz="1600" b="1" dirty="0">
                <a:solidFill>
                  <a:schemeClr val="tx2"/>
                </a:solidFill>
                <a:latin typeface="Courier New" pitchFamily="34" charset="0"/>
                <a:ea typeface="Courier New" pitchFamily="34" charset="-122"/>
                <a:cs typeface="Courier New" pitchFamily="34" charset="-120"/>
              </a:rPr>
              <a:t>catalogservice</a:t>
            </a:r>
            <a:endParaRPr lang="en-US" sz="1600" dirty="0"/>
          </a:p>
          <a:p>
            <a:pPr indent="0" marL="0">
              <a:buNone/>
            </a:pPr>
            <a:r>
              <a:rPr lang="en-US" sz="1250" dirty="0">
                <a:solidFill>
                  <a:schemeClr val="tx1"/>
                </a:solidFill>
              </a:rPr>
              <a:t>API · process</a:t>
            </a:r>
            <a:endParaRPr lang="en-US" sz="1600" dirty="0"/>
          </a:p>
        </p:txBody>
      </p:sp>
      <p:sp>
        <p:nvSpPr>
          <p:cNvPr id="12" name="basketcache box"/>
          <p:cNvSpPr/>
          <p:nvPr/>
        </p:nvSpPr>
        <p:spPr>
          <a:xfrm>
            <a:off x="6675120" y="3703320"/>
            <a:ext cx="2194560" cy="914400"/>
          </a:xfrm>
          <a:prstGeom prst="roundRect">
            <a:avLst>
              <a:gd name="adj" fmla="val 10000"/>
            </a:avLst>
          </a:prstGeom>
          <a:solidFill>
            <a:schemeClr val="bg1"/>
          </a:solidFill>
          <a:ln w="15875">
            <a:solidFill>
              <a:schemeClr val="accent2"/>
            </a:solidFill>
            <a:prstDash val="solid"/>
          </a:ln>
          <a:effectLst>
            <a:outerShdw sx="100000" sy="100000" kx="0" ky="0" algn="bl" rotWithShape="0" blurRad="76200" dist="25400" dir="5400000">
              <a:srgbClr val="000000">
                <a:alpha val="12000"/>
              </a:srgbClr>
            </a:outerShdw>
          </a:effectLst>
        </p:spPr>
        <p:txBody>
          <a:bodyPr/>
          <a:p/>
        </p:txBody>
      </p:sp>
      <p:sp>
        <p:nvSpPr>
          <p:cNvPr id="13" name="basketcache text"/>
          <p:cNvSpPr txBox="1"/>
          <p:nvPr/>
        </p:nvSpPr>
        <p:spPr>
          <a:xfrm>
            <a:off x="6858000" y="3703320"/>
            <a:ext cx="1828800" cy="914400"/>
          </a:xfrm>
          <a:prstGeom prst="rect">
            <a:avLst/>
          </a:prstGeom>
          <a:noFill/>
          <a:ln/>
        </p:spPr>
        <p:txBody>
          <a:bodyPr wrap="square" lIns="0" tIns="0" rIns="0" bIns="0" rtlCol="0" anchor="ctr"/>
          <a:lstStyle/>
          <a:p>
            <a:pPr indent="0" marL="0">
              <a:buNone/>
            </a:pPr>
            <a:r>
              <a:rPr lang="en-US" sz="1600" b="1" dirty="0">
                <a:solidFill>
                  <a:schemeClr val="tx2"/>
                </a:solidFill>
                <a:latin typeface="Courier New" pitchFamily="34" charset="0"/>
                <a:ea typeface="Courier New" pitchFamily="34" charset="-122"/>
                <a:cs typeface="Courier New" pitchFamily="34" charset="-120"/>
              </a:rPr>
              <a:t>basketcache</a:t>
            </a:r>
            <a:endParaRPr lang="en-US" sz="1600" dirty="0"/>
          </a:p>
          <a:p>
            <a:pPr indent="0" marL="0">
              <a:buNone/>
            </a:pPr>
            <a:r>
              <a:rPr lang="en-US" sz="1250" dirty="0">
                <a:solidFill>
                  <a:schemeClr val="tx1"/>
                </a:solidFill>
              </a:rPr>
              <a:t>Redis · container</a:t>
            </a:r>
            <a:endParaRPr lang="en-US" sz="1600" dirty="0"/>
          </a:p>
        </p:txBody>
      </p:sp>
      <p:sp>
        <p:nvSpPr>
          <p:cNvPr id="14" name="catalogdb box"/>
          <p:cNvSpPr/>
          <p:nvPr/>
        </p:nvSpPr>
        <p:spPr>
          <a:xfrm>
            <a:off x="9326880" y="1783080"/>
            <a:ext cx="2103120" cy="914400"/>
          </a:xfrm>
          <a:prstGeom prst="roundRect">
            <a:avLst>
              <a:gd name="adj" fmla="val 10000"/>
            </a:avLst>
          </a:prstGeom>
          <a:solidFill>
            <a:schemeClr val="bg1"/>
          </a:solidFill>
          <a:ln w="15875">
            <a:solidFill>
              <a:schemeClr val="accent2"/>
            </a:solidFill>
            <a:prstDash val="solid"/>
          </a:ln>
          <a:effectLst>
            <a:outerShdw sx="100000" sy="100000" kx="0" ky="0" algn="bl" rotWithShape="0" blurRad="76200" dist="25400" dir="5400000">
              <a:srgbClr val="000000">
                <a:alpha val="12000"/>
              </a:srgbClr>
            </a:outerShdw>
          </a:effectLst>
        </p:spPr>
        <p:txBody>
          <a:bodyPr/>
          <a:p/>
        </p:txBody>
      </p:sp>
      <p:sp>
        <p:nvSpPr>
          <p:cNvPr id="15" name="catalogdb text"/>
          <p:cNvSpPr txBox="1"/>
          <p:nvPr/>
        </p:nvSpPr>
        <p:spPr>
          <a:xfrm>
            <a:off x="9509760" y="1783080"/>
            <a:ext cx="1737360" cy="914400"/>
          </a:xfrm>
          <a:prstGeom prst="rect">
            <a:avLst/>
          </a:prstGeom>
          <a:noFill/>
          <a:ln/>
        </p:spPr>
        <p:txBody>
          <a:bodyPr wrap="square" lIns="0" tIns="0" rIns="0" bIns="0" rtlCol="0" anchor="ctr"/>
          <a:lstStyle/>
          <a:p>
            <a:pPr indent="0" marL="0">
              <a:buNone/>
            </a:pPr>
            <a:r>
              <a:rPr lang="en-US" sz="1600" b="1" dirty="0">
                <a:solidFill>
                  <a:schemeClr val="tx2"/>
                </a:solidFill>
                <a:latin typeface="Courier New" pitchFamily="34" charset="0"/>
                <a:ea typeface="Courier New" pitchFamily="34" charset="-122"/>
                <a:cs typeface="Courier New" pitchFamily="34" charset="-120"/>
              </a:rPr>
              <a:t>catalogdb</a:t>
            </a:r>
            <a:endParaRPr lang="en-US" sz="1600" dirty="0"/>
          </a:p>
          <a:p>
            <a:pPr indent="0" marL="0">
              <a:buNone/>
            </a:pPr>
            <a:r>
              <a:rPr lang="en-US" sz="1250" dirty="0">
                <a:solidFill>
                  <a:schemeClr val="tx1"/>
                </a:solidFill>
              </a:rPr>
              <a:t>Postgres · container</a:t>
            </a:r>
            <a:endParaRPr lang="en-US" sz="1600" dirty="0"/>
          </a:p>
        </p:txBody>
      </p:sp>
      <p:sp>
        <p:nvSpPr>
          <p:cNvPr id="16" name="frontend to catalogservice"/>
          <p:cNvSpPr/>
          <p:nvPr/>
        </p:nvSpPr>
        <p:spPr>
          <a:xfrm flipV="1">
            <a:off x="6126480" y="2377440"/>
            <a:ext cx="548640" cy="640080"/>
          </a:xfrm>
          <a:prstGeom prst="line">
            <a:avLst/>
          </a:prstGeom>
          <a:noFill/>
          <a:ln w="25400">
            <a:solidFill>
              <a:srgbClr val="6B3FE0"/>
            </a:solidFill>
            <a:prstDash val="solid"/>
            <a:tailEnd type="triangle"/>
          </a:ln>
        </p:spPr>
        <p:txBody>
          <a:bodyPr/>
          <a:p/>
        </p:txBody>
      </p:sp>
      <p:sp>
        <p:nvSpPr>
          <p:cNvPr id="17" name="frontend to basketcache"/>
          <p:cNvSpPr/>
          <p:nvPr/>
        </p:nvSpPr>
        <p:spPr>
          <a:xfrm>
            <a:off x="6126480" y="3291840"/>
            <a:ext cx="548640" cy="640080"/>
          </a:xfrm>
          <a:prstGeom prst="line">
            <a:avLst/>
          </a:prstGeom>
          <a:noFill/>
          <a:ln w="25400">
            <a:solidFill>
              <a:srgbClr val="6B3FE0"/>
            </a:solidFill>
            <a:prstDash val="solid"/>
            <a:tailEnd type="triangle"/>
          </a:ln>
        </p:spPr>
        <p:txBody>
          <a:bodyPr/>
          <a:p/>
        </p:txBody>
      </p:sp>
      <p:sp>
        <p:nvSpPr>
          <p:cNvPr id="18" name="catalogservice to catalogdb"/>
          <p:cNvSpPr/>
          <p:nvPr/>
        </p:nvSpPr>
        <p:spPr>
          <a:xfrm>
            <a:off x="8869680" y="2240280"/>
            <a:ext cx="457200" cy="914"/>
          </a:xfrm>
          <a:prstGeom prst="line">
            <a:avLst/>
          </a:prstGeom>
          <a:noFill/>
          <a:ln w="25400">
            <a:solidFill>
              <a:srgbClr val="6B3FE0"/>
            </a:solidFill>
            <a:prstDash val="solid"/>
            <a:tailEnd type="triangle"/>
          </a:ln>
        </p:spPr>
        <p:txBody>
          <a:bodyPr/>
          <a:p/>
        </p:txBody>
      </p:sp>
      <p:sp>
        <p:nvSpPr>
          <p:cNvPr id="19" name="SD label"/>
          <p:cNvSpPr txBox="1"/>
          <p:nvPr/>
        </p:nvSpPr>
        <p:spPr>
          <a:xfrm>
            <a:off x="5394960" y="2103120"/>
            <a:ext cx="1463040" cy="256032"/>
          </a:xfrm>
          <a:prstGeom prst="rect">
            <a:avLst/>
          </a:prstGeom>
          <a:noFill/>
          <a:ln/>
        </p:spPr>
        <p:txBody>
          <a:bodyPr wrap="square" lIns="0" tIns="0" rIns="0" bIns="0" rtlCol="0" anchor="ctr"/>
          <a:lstStyle/>
          <a:p>
            <a:pPr algn="ctr" indent="0" marL="0">
              <a:buNone/>
            </a:pPr>
            <a:r>
              <a:rPr lang="en-US" sz="1100" i="1" dirty="0">
                <a:solidFill>
                  <a:schemeClr val="accent6"/>
                </a:solidFill>
              </a:rPr>
              <a:t>service discovery</a:t>
            </a:r>
            <a:endParaRPr lang="en-US" sz="1100" dirty="0"/>
          </a:p>
        </p:txBody>
      </p:sp>
      <p:sp>
        <p:nvSpPr>
          <p:cNvPr id="20" name="CS label"/>
          <p:cNvSpPr txBox="1"/>
          <p:nvPr/>
        </p:nvSpPr>
        <p:spPr>
          <a:xfrm>
            <a:off x="5486400" y="4160520"/>
            <a:ext cx="1463040" cy="256032"/>
          </a:xfrm>
          <a:prstGeom prst="rect">
            <a:avLst/>
          </a:prstGeom>
          <a:noFill/>
          <a:ln/>
        </p:spPr>
        <p:txBody>
          <a:bodyPr wrap="square" lIns="0" tIns="0" rIns="0" bIns="0" rtlCol="0" anchor="ctr"/>
          <a:lstStyle/>
          <a:p>
            <a:pPr algn="ctr" indent="0" marL="0">
              <a:buNone/>
            </a:pPr>
            <a:r>
              <a:rPr lang="en-US" sz="1100" i="1" dirty="0">
                <a:solidFill>
                  <a:schemeClr val="accent6"/>
                </a:solidFill>
              </a:rPr>
              <a:t>connection string</a:t>
            </a:r>
            <a:endParaRPr lang="en-US" sz="1100" dirty="0"/>
          </a:p>
        </p:txBody>
      </p:sp>
      <p:sp>
        <p:nvSpPr>
          <p:cNvPr id="21" name="CS label 2"/>
          <p:cNvSpPr txBox="1"/>
          <p:nvPr/>
        </p:nvSpPr>
        <p:spPr>
          <a:xfrm>
            <a:off x="8778240" y="2788920"/>
            <a:ext cx="1463040" cy="256032"/>
          </a:xfrm>
          <a:prstGeom prst="rect">
            <a:avLst/>
          </a:prstGeom>
          <a:noFill/>
          <a:ln/>
        </p:spPr>
        <p:txBody>
          <a:bodyPr wrap="square" lIns="0" tIns="0" rIns="0" bIns="0" rtlCol="0" anchor="ctr"/>
          <a:lstStyle/>
          <a:p>
            <a:pPr algn="ctr" indent="0" marL="0">
              <a:buNone/>
            </a:pPr>
            <a:r>
              <a:rPr lang="en-US" sz="1100" i="1" dirty="0">
                <a:solidFill>
                  <a:schemeClr val="accent6"/>
                </a:solidFill>
              </a:rPr>
              <a:t>connection string</a:t>
            </a:r>
            <a:endParaRPr lang="en-US" sz="1100" dirty="0"/>
          </a:p>
        </p:txBody>
      </p:sp>
      <p:sp>
        <p:nvSpPr>
          <p:cNvPr id="22" name="Dashboard bar"/>
          <p:cNvSpPr/>
          <p:nvPr/>
        </p:nvSpPr>
        <p:spPr>
          <a:xfrm>
            <a:off x="3566160" y="5349240"/>
            <a:ext cx="8046720" cy="822960"/>
          </a:xfrm>
          <a:prstGeom prst="roundRect">
            <a:avLst>
              <a:gd name="adj" fmla="val 11111"/>
            </a:avLst>
          </a:prstGeom>
          <a:solidFill>
            <a:schemeClr val="tx2"/>
          </a:solidFill>
          <a:ln w="12700">
            <a:solidFill>
              <a:schemeClr val="tx2"/>
            </a:solidFill>
            <a:prstDash val="solid"/>
          </a:ln>
        </p:spPr>
        <p:txBody>
          <a:bodyPr/>
          <a:p/>
        </p:txBody>
      </p:sp>
      <p:pic>
        <p:nvPicPr>
          <p:cNvPr id="23" name="Dashboard icon" descr="preencoded.png">    </p:cNvPr>
          <p:cNvPicPr>
            <a:picLocks noChangeAspect="1"/>
          </p:cNvPicPr>
          <p:nvPr/>
        </p:nvPicPr>
        <p:blipFill>
          <a:blip r:embed="rId1"/>
          <a:stretch>
            <a:fillRect/>
          </a:stretch>
        </p:blipFill>
        <p:spPr>
          <a:xfrm>
            <a:off x="3794760" y="5559552"/>
            <a:ext cx="411480" cy="411480"/>
          </a:xfrm>
          <a:prstGeom prst="rect">
            <a:avLst/>
          </a:prstGeom>
        </p:spPr>
      </p:pic>
      <p:sp>
        <p:nvSpPr>
          <p:cNvPr id="24" name="Dashboard text"/>
          <p:cNvSpPr txBox="1"/>
          <p:nvPr/>
        </p:nvSpPr>
        <p:spPr>
          <a:xfrm>
            <a:off x="4343400" y="5349240"/>
            <a:ext cx="7132320" cy="822960"/>
          </a:xfrm>
          <a:prstGeom prst="rect">
            <a:avLst/>
          </a:prstGeom>
          <a:noFill/>
          <a:ln/>
        </p:spPr>
        <p:txBody>
          <a:bodyPr wrap="square" lIns="0" tIns="0" rIns="0" bIns="0" rtlCol="0" anchor="ctr"/>
          <a:lstStyle/>
          <a:p>
            <a:pPr indent="0" marL="0">
              <a:buNone/>
            </a:pPr>
            <a:r>
              <a:rPr lang="en-US" sz="1800" b="1" dirty="0">
                <a:solidFill>
                  <a:schemeClr val="bg1"/>
                </a:solidFill>
              </a:rPr>
              <a:t>Dashboard</a:t>
            </a:r>
            <a:pPr indent="0" marL="0">
              <a:buNone/>
            </a:pPr>
            <a:r>
              <a:rPr lang="en-US" sz="1400" dirty="0">
                <a:solidFill>
                  <a:srgbClr val="D9CCFF"/>
                </a:solidFill>
              </a:rPr>
              <a:t>  all resources send logs, traces, metrics here (OpenTelemetry)</a:t>
            </a:r>
            <a:endParaRPr lang="en-US" sz="1800" dirty="0"/>
          </a:p>
        </p:txBody>
      </p:sp>
      <p:sp>
        <p:nvSpPr>
          <p:cNvPr id="25" name="Telemetry arrow"/>
          <p:cNvSpPr/>
          <p:nvPr/>
        </p:nvSpPr>
        <p:spPr>
          <a:xfrm>
            <a:off x="7589520" y="5029200"/>
            <a:ext cx="914" cy="320040"/>
          </a:xfrm>
          <a:prstGeom prst="line">
            <a:avLst/>
          </a:prstGeom>
          <a:noFill/>
          <a:ln w="25400">
            <a:solidFill>
              <a:srgbClr val="A78BFA"/>
            </a:solidFill>
            <a:prstDash val="solid"/>
            <a:tailEnd type="triangle"/>
          </a:ln>
        </p:spPr>
        <p:txBody>
          <a:bodyPr/>
          <a:p/>
        </p:txBody>
      </p:sp>
      <p:sp>
        <p:nvSpPr>
          <p:cNvPr id="26" name="Key panel"/>
          <p:cNvSpPr/>
          <p:nvPr/>
        </p:nvSpPr>
        <p:spPr>
          <a:xfrm>
            <a:off x="548640" y="5120640"/>
            <a:ext cx="2468880" cy="1051560"/>
          </a:xfrm>
          <a:prstGeom prst="roundRect">
            <a:avLst>
              <a:gd name="adj" fmla="val 8696"/>
            </a:avLst>
          </a:prstGeom>
          <a:solidFill>
            <a:schemeClr val="bg2"/>
          </a:solidFill>
          <a:ln w="12700">
            <a:solidFill>
              <a:schemeClr val="bg2"/>
            </a:solidFill>
            <a:prstDash val="solid"/>
          </a:ln>
        </p:spPr>
        <p:txBody>
          <a:bodyPr/>
          <a:p/>
        </p:txBody>
      </p:sp>
      <p:sp>
        <p:nvSpPr>
          <p:cNvPr id="27" name="Key text"/>
          <p:cNvSpPr txBox="1"/>
          <p:nvPr/>
        </p:nvSpPr>
        <p:spPr>
          <a:xfrm>
            <a:off x="731520" y="5166360"/>
            <a:ext cx="2194560" cy="960120"/>
          </a:xfrm>
          <a:prstGeom prst="rect">
            <a:avLst/>
          </a:prstGeom>
          <a:noFill/>
          <a:ln/>
        </p:spPr>
        <p:txBody>
          <a:bodyPr wrap="square" lIns="0" tIns="0" rIns="0" bIns="0" rtlCol="0" anchor="ctr"/>
          <a:lstStyle/>
          <a:p>
            <a:pPr indent="0" marL="0">
              <a:buNone/>
            </a:pPr>
            <a:r>
              <a:rPr lang="en-US" sz="1150" b="1" dirty="0">
                <a:solidFill>
                  <a:schemeClr val="tx1"/>
                </a:solidFill>
              </a:rPr>
              <a:t>Process</a:t>
            </a:r>
            <a:endParaRPr lang="en-US" sz="1150" dirty="0"/>
          </a:p>
          <a:p>
            <a:pPr indent="0" marL="0">
              <a:buNone/>
            </a:pPr>
            <a:r>
              <a:rPr lang="en-US" sz="1150" dirty="0">
                <a:solidFill>
                  <a:schemeClr val="tx1"/>
                </a:solidFill>
              </a:rPr>
              <a:t>runs your code directly</a:t>
            </a:r>
            <a:endParaRPr lang="en-US" sz="1150" dirty="0"/>
          </a:p>
          <a:p>
            <a:pPr indent="0" marL="0">
              <a:buNone/>
            </a:pPr>
            <a:r>
              <a:rPr lang="en-US" sz="1150" b="1" dirty="0">
                <a:solidFill>
                  <a:schemeClr val="tx1"/>
                </a:solidFill>
              </a:rPr>
              <a:t>Container</a:t>
            </a:r>
            <a:endParaRPr lang="en-US" sz="1150" dirty="0"/>
          </a:p>
          <a:p>
            <a:pPr indent="0" marL="0">
              <a:buNone/>
            </a:pPr>
            <a:r>
              <a:rPr lang="en-US" sz="1150" dirty="0">
                <a:solidFill>
                  <a:schemeClr val="tx1"/>
                </a:solidFill>
              </a:rPr>
              <a:t>packaged app, like a database</a:t>
            </a:r>
            <a:endParaRPr lang="en-US" sz="11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AppHost in C#</a:t>
            </a:r>
            <a:endParaRPr lang="en-US" sz="3400" dirty="0"/>
          </a:p>
        </p:txBody>
      </p:sp>
      <p:sp>
        <p:nvSpPr>
          <p:cNvPr id="3" name="AppHost CS panel"/>
          <p:cNvSpPr/>
          <p:nvPr/>
        </p:nvSpPr>
        <p:spPr>
          <a:xfrm>
            <a:off x="548640" y="1280160"/>
            <a:ext cx="6949440" cy="4892040"/>
          </a:xfrm>
          <a:prstGeom prst="roundRect">
            <a:avLst>
              <a:gd name="adj" fmla="val 1495"/>
            </a:avLst>
          </a:prstGeom>
          <a:solidFill>
            <a:srgbClr val="1C1830"/>
          </a:solidFill>
          <a:ln w="12700">
            <a:solidFill>
              <a:srgbClr val="1C1830"/>
            </a:solidFill>
            <a:prstDash val="solid"/>
          </a:ln>
        </p:spPr>
        <p:txBody>
          <a:bodyPr/>
          <a:p/>
        </p:txBody>
      </p:sp>
      <p:sp>
        <p:nvSpPr>
          <p:cNvPr id="4" name="AppHost CS label"/>
          <p:cNvSpPr txBox="1"/>
          <p:nvPr/>
        </p:nvSpPr>
        <p:spPr>
          <a:xfrm>
            <a:off x="777240" y="1371600"/>
            <a:ext cx="6492240" cy="274320"/>
          </a:xfrm>
          <a:prstGeom prst="rect">
            <a:avLst/>
          </a:prstGeom>
          <a:noFill/>
          <a:ln/>
        </p:spPr>
        <p:txBody>
          <a:bodyPr wrap="square" lIns="0" tIns="0" rIns="0" bIns="0" rtlCol="0" anchor="ctr"/>
          <a:lstStyle/>
          <a:p>
            <a:pPr indent="0" marL="0">
              <a:buNone/>
            </a:pPr>
            <a:r>
              <a:rPr lang="en-US" sz="1000" b="1" spc="100" kern="0" dirty="0">
                <a:solidFill>
                  <a:srgbClr val="8B87A3"/>
                </a:solidFill>
                <a:latin typeface="Calibri" pitchFamily="34" charset="0"/>
                <a:ea typeface="Calibri" pitchFamily="34" charset="-122"/>
                <a:cs typeface="Calibri" pitchFamily="34" charset="-120"/>
              </a:rPr>
              <a:t>C#  ·  AppHost.cs</a:t>
            </a:r>
            <a:endParaRPr lang="en-US" sz="1000" dirty="0"/>
          </a:p>
        </p:txBody>
      </p:sp>
      <p:sp>
        <p:nvSpPr>
          <p:cNvPr id="5" name="AppHost CS text"/>
          <p:cNvSpPr txBox="1"/>
          <p:nvPr/>
        </p:nvSpPr>
        <p:spPr>
          <a:xfrm>
            <a:off x="777240" y="1691640"/>
            <a:ext cx="6492240" cy="4389120"/>
          </a:xfrm>
          <a:prstGeom prst="rect">
            <a:avLst/>
          </a:prstGeom>
          <a:noFill/>
          <a:ln/>
        </p:spPr>
        <p:txBody>
          <a:bodyPr wrap="square" lIns="0" tIns="0" rIns="0" bIns="0" rtlCol="0" anchor="t"/>
          <a:lstStyle/>
          <a:p>
            <a:pPr indent="0" marL="0">
              <a:buNone/>
            </a:pPr>
            <a:r>
              <a:rPr lang="en-US" sz="1400" dirty="0">
                <a:solidFill>
                  <a:srgbClr val="C4A7FF"/>
                </a:solidFill>
                <a:latin typeface="Courier New" pitchFamily="34" charset="0"/>
                <a:ea typeface="Courier New" pitchFamily="34" charset="-122"/>
                <a:cs typeface="Courier New" pitchFamily="34" charset="-120"/>
              </a:rPr>
              <a:t>var</a:t>
            </a:r>
            <a:pPr indent="0" marL="0">
              <a:buNone/>
            </a:pPr>
            <a:r>
              <a:rPr lang="en-US" sz="1400" dirty="0">
                <a:solidFill>
                  <a:srgbClr val="E8E6F0"/>
                </a:solidFill>
                <a:latin typeface="Courier New" pitchFamily="34" charset="0"/>
                <a:ea typeface="Courier New" pitchFamily="34" charset="-122"/>
                <a:cs typeface="Courier New" pitchFamily="34" charset="-120"/>
              </a:rPr>
              <a:t> </a:t>
            </a:r>
            <a:pPr indent="0" marL="0">
              <a:buNone/>
            </a:pPr>
            <a:r>
              <a:rPr lang="en-US" sz="1400" dirty="0">
                <a:solidFill>
                  <a:srgbClr val="E8E6F0"/>
                </a:solidFill>
                <a:latin typeface="Courier New" pitchFamily="34" charset="0"/>
                <a:ea typeface="Courier New" pitchFamily="34" charset="-122"/>
                <a:cs typeface="Courier New" pitchFamily="34" charset="-120"/>
              </a:rPr>
              <a:t>builder</a:t>
            </a:r>
            <a:pPr indent="0" marL="0">
              <a:buNone/>
            </a:pPr>
            <a:r>
              <a:rPr lang="en-US" sz="1400" dirty="0">
                <a:solidFill>
                  <a:srgbClr val="E8E6F0"/>
                </a:solidFill>
                <a:latin typeface="Courier New" pitchFamily="34" charset="0"/>
                <a:ea typeface="Courier New" pitchFamily="34" charset="-122"/>
                <a:cs typeface="Courier New" pitchFamily="34" charset="-120"/>
              </a:rPr>
              <a:t> = </a:t>
            </a:r>
            <a:pPr indent="0" marL="0">
              <a:buNone/>
            </a:pPr>
            <a:r>
              <a:rPr lang="en-US" sz="1400" dirty="0">
                <a:solidFill>
                  <a:srgbClr val="7CC7FF"/>
                </a:solidFill>
                <a:latin typeface="Courier New" pitchFamily="34" charset="0"/>
                <a:ea typeface="Courier New" pitchFamily="34" charset="-122"/>
                <a:cs typeface="Courier New" pitchFamily="34" charset="-120"/>
              </a:rPr>
              <a:t>DistributedApplication</a:t>
            </a:r>
            <a:pPr indent="0" marL="0">
              <a:buNone/>
            </a:pPr>
            <a:r>
              <a:rPr lang="en-US" sz="1400" dirty="0">
                <a:solidFill>
                  <a:srgbClr val="E8E6F0"/>
                </a:solidFill>
                <a:latin typeface="Courier New" pitchFamily="34" charset="0"/>
                <a:ea typeface="Courier New" pitchFamily="34" charset="-122"/>
                <a:cs typeface="Courier New" pitchFamily="34" charset="-120"/>
              </a:rPr>
              <a:t>.</a:t>
            </a:r>
            <a:pPr indent="0" marL="0">
              <a:buNone/>
            </a:pPr>
            <a:r>
              <a:rPr lang="en-US" sz="1400" dirty="0">
                <a:solidFill>
                  <a:srgbClr val="E8E6F0"/>
                </a:solidFill>
                <a:latin typeface="Courier New" pitchFamily="34" charset="0"/>
                <a:ea typeface="Courier New" pitchFamily="34" charset="-122"/>
                <a:cs typeface="Courier New" pitchFamily="34" charset="-120"/>
              </a:rPr>
              <a:t>CreateBuilder</a:t>
            </a:r>
            <a:pPr indent="0" marL="0">
              <a:buNone/>
            </a:pPr>
            <a:r>
              <a:rPr lang="en-US" sz="1400" dirty="0">
                <a:solidFill>
                  <a:srgbClr val="E8E6F0"/>
                </a:solidFill>
                <a:latin typeface="Courier New" pitchFamily="34" charset="0"/>
                <a:ea typeface="Courier New" pitchFamily="34" charset="-122"/>
                <a:cs typeface="Courier New" pitchFamily="34" charset="-120"/>
              </a:rPr>
              <a:t>(</a:t>
            </a:r>
            <a:pPr indent="0" marL="0">
              <a:buNone/>
            </a:pPr>
            <a:r>
              <a:rPr lang="en-US" sz="1400" dirty="0">
                <a:solidFill>
                  <a:srgbClr val="E8E6F0"/>
                </a:solidFill>
                <a:latin typeface="Courier New" pitchFamily="34" charset="0"/>
                <a:ea typeface="Courier New" pitchFamily="34" charset="-122"/>
                <a:cs typeface="Courier New" pitchFamily="34" charset="-120"/>
              </a:rPr>
              <a:t>args</a:t>
            </a:r>
            <a:pPr indent="0" marL="0">
              <a:buNone/>
            </a:pPr>
            <a:r>
              <a:rPr lang="en-US" sz="1400" dirty="0">
                <a:solidFill>
                  <a:srgbClr val="E8E6F0"/>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8E6F0"/>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C4A7FF"/>
                </a:solidFill>
                <a:latin typeface="Courier New" pitchFamily="34" charset="0"/>
                <a:ea typeface="Courier New" pitchFamily="34" charset="-122"/>
                <a:cs typeface="Courier New" pitchFamily="34" charset="-120"/>
              </a:rPr>
              <a:t>var</a:t>
            </a:r>
            <a:pPr indent="0" marL="0">
              <a:buNone/>
            </a:pPr>
            <a:r>
              <a:rPr lang="en-US" sz="1400" dirty="0">
                <a:solidFill>
                  <a:srgbClr val="E8E6F0"/>
                </a:solidFill>
                <a:latin typeface="Courier New" pitchFamily="34" charset="0"/>
                <a:ea typeface="Courier New" pitchFamily="34" charset="-122"/>
                <a:cs typeface="Courier New" pitchFamily="34" charset="-120"/>
              </a:rPr>
              <a:t> </a:t>
            </a:r>
            <a:pPr indent="0" marL="0">
              <a:buNone/>
            </a:pPr>
            <a:r>
              <a:rPr lang="en-US" sz="1400" dirty="0">
                <a:solidFill>
                  <a:srgbClr val="E8E6F0"/>
                </a:solidFill>
                <a:latin typeface="Courier New" pitchFamily="34" charset="0"/>
                <a:ea typeface="Courier New" pitchFamily="34" charset="-122"/>
                <a:cs typeface="Courier New" pitchFamily="34" charset="-120"/>
              </a:rPr>
              <a:t>postgres</a:t>
            </a:r>
            <a:pPr indent="0" marL="0">
              <a:buNone/>
            </a:pPr>
            <a:r>
              <a:rPr lang="en-US" sz="1400" dirty="0">
                <a:solidFill>
                  <a:srgbClr val="E8E6F0"/>
                </a:solidFill>
                <a:latin typeface="Courier New" pitchFamily="34" charset="0"/>
                <a:ea typeface="Courier New" pitchFamily="34" charset="-122"/>
                <a:cs typeface="Courier New" pitchFamily="34" charset="-120"/>
              </a:rPr>
              <a:t> = </a:t>
            </a:r>
            <a:pPr indent="0" marL="0">
              <a:buNone/>
            </a:pPr>
            <a:r>
              <a:rPr lang="en-US" sz="1400" dirty="0">
                <a:solidFill>
                  <a:srgbClr val="E8E6F0"/>
                </a:solidFill>
                <a:latin typeface="Courier New" pitchFamily="34" charset="0"/>
                <a:ea typeface="Courier New" pitchFamily="34" charset="-122"/>
                <a:cs typeface="Courier New" pitchFamily="34" charset="-120"/>
              </a:rPr>
              <a:t>builder</a:t>
            </a:r>
            <a:pPr indent="0" marL="0">
              <a:buNone/>
            </a:pPr>
            <a:r>
              <a:rPr lang="en-US" sz="1400" dirty="0">
                <a:solidFill>
                  <a:srgbClr val="E8E6F0"/>
                </a:solidFill>
                <a:latin typeface="Courier New" pitchFamily="34" charset="0"/>
                <a:ea typeface="Courier New" pitchFamily="34" charset="-122"/>
                <a:cs typeface="Courier New" pitchFamily="34" charset="-120"/>
              </a:rPr>
              <a:t>.</a:t>
            </a:r>
            <a:pPr indent="0" marL="0">
              <a:buNone/>
            </a:pPr>
            <a:r>
              <a:rPr lang="en-US" sz="1400" dirty="0">
                <a:solidFill>
                  <a:srgbClr val="E8E6F0"/>
                </a:solidFill>
                <a:latin typeface="Courier New" pitchFamily="34" charset="0"/>
                <a:ea typeface="Courier New" pitchFamily="34" charset="-122"/>
                <a:cs typeface="Courier New" pitchFamily="34" charset="-120"/>
              </a:rPr>
              <a:t>AddPostgres</a:t>
            </a:r>
            <a:pPr indent="0" marL="0">
              <a:buNone/>
            </a:pPr>
            <a:r>
              <a:rPr lang="en-US" sz="1400" dirty="0">
                <a:solidFill>
                  <a:srgbClr val="E8E6F0"/>
                </a:solidFill>
                <a:latin typeface="Courier New" pitchFamily="34" charset="0"/>
                <a:ea typeface="Courier New" pitchFamily="34" charset="-122"/>
                <a:cs typeface="Courier New" pitchFamily="34" charset="-120"/>
              </a:rPr>
              <a:t>(</a:t>
            </a:r>
            <a:pPr indent="0" marL="0">
              <a:buNone/>
            </a:pPr>
            <a:r>
              <a:rPr lang="en-US" sz="1400" dirty="0">
                <a:solidFill>
                  <a:srgbClr val="8FE3B0"/>
                </a:solidFill>
                <a:latin typeface="Courier New" pitchFamily="34" charset="0"/>
                <a:ea typeface="Courier New" pitchFamily="34" charset="-122"/>
                <a:cs typeface="Courier New" pitchFamily="34" charset="-120"/>
              </a:rPr>
              <a:t>"postgres"</a:t>
            </a:r>
            <a:pPr indent="0" marL="0">
              <a:buNone/>
            </a:pPr>
            <a:r>
              <a:rPr lang="en-US" sz="1400" dirty="0">
                <a:solidFill>
                  <a:srgbClr val="E8E6F0"/>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8E6F0"/>
                </a:solidFill>
                <a:latin typeface="Courier New" pitchFamily="34" charset="0"/>
                <a:ea typeface="Courier New" pitchFamily="34" charset="-122"/>
                <a:cs typeface="Courier New" pitchFamily="34" charset="-120"/>
              </a:rPr>
              <a:t>    .</a:t>
            </a:r>
            <a:pPr indent="0" marL="0">
              <a:buNone/>
            </a:pPr>
            <a:r>
              <a:rPr lang="en-US" sz="1400" dirty="0">
                <a:solidFill>
                  <a:srgbClr val="E8E6F0"/>
                </a:solidFill>
                <a:latin typeface="Courier New" pitchFamily="34" charset="0"/>
                <a:ea typeface="Courier New" pitchFamily="34" charset="-122"/>
                <a:cs typeface="Courier New" pitchFamily="34" charset="-120"/>
              </a:rPr>
              <a:t>AddDatabase</a:t>
            </a:r>
            <a:pPr indent="0" marL="0">
              <a:buNone/>
            </a:pPr>
            <a:r>
              <a:rPr lang="en-US" sz="1400" dirty="0">
                <a:solidFill>
                  <a:srgbClr val="E8E6F0"/>
                </a:solidFill>
                <a:latin typeface="Courier New" pitchFamily="34" charset="0"/>
                <a:ea typeface="Courier New" pitchFamily="34" charset="-122"/>
                <a:cs typeface="Courier New" pitchFamily="34" charset="-120"/>
              </a:rPr>
              <a:t>(</a:t>
            </a:r>
            <a:pPr indent="0" marL="0">
              <a:buNone/>
            </a:pPr>
            <a:r>
              <a:rPr lang="en-US" sz="1400" dirty="0">
                <a:solidFill>
                  <a:srgbClr val="8FE3B0"/>
                </a:solidFill>
                <a:latin typeface="Courier New" pitchFamily="34" charset="0"/>
                <a:ea typeface="Courier New" pitchFamily="34" charset="-122"/>
                <a:cs typeface="Courier New" pitchFamily="34" charset="-120"/>
              </a:rPr>
              <a:t>"catalogdb"</a:t>
            </a:r>
            <a:pPr indent="0" marL="0">
              <a:buNone/>
            </a:pPr>
            <a:r>
              <a:rPr lang="en-US" sz="1400" dirty="0">
                <a:solidFill>
                  <a:srgbClr val="E8E6F0"/>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8E6F0"/>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C4A7FF"/>
                </a:solidFill>
                <a:latin typeface="Courier New" pitchFamily="34" charset="0"/>
                <a:ea typeface="Courier New" pitchFamily="34" charset="-122"/>
                <a:cs typeface="Courier New" pitchFamily="34" charset="-120"/>
              </a:rPr>
              <a:t>var</a:t>
            </a:r>
            <a:pPr indent="0" marL="0">
              <a:buNone/>
            </a:pPr>
            <a:r>
              <a:rPr lang="en-US" sz="1400" dirty="0">
                <a:solidFill>
                  <a:srgbClr val="E8E6F0"/>
                </a:solidFill>
                <a:latin typeface="Courier New" pitchFamily="34" charset="0"/>
                <a:ea typeface="Courier New" pitchFamily="34" charset="-122"/>
                <a:cs typeface="Courier New" pitchFamily="34" charset="-120"/>
              </a:rPr>
              <a:t> </a:t>
            </a:r>
            <a:pPr indent="0" marL="0">
              <a:buNone/>
            </a:pPr>
            <a:r>
              <a:rPr lang="en-US" sz="1400" dirty="0">
                <a:solidFill>
                  <a:srgbClr val="E8E6F0"/>
                </a:solidFill>
                <a:latin typeface="Courier New" pitchFamily="34" charset="0"/>
                <a:ea typeface="Courier New" pitchFamily="34" charset="-122"/>
                <a:cs typeface="Courier New" pitchFamily="34" charset="-120"/>
              </a:rPr>
              <a:t>cache</a:t>
            </a:r>
            <a:pPr indent="0" marL="0">
              <a:buNone/>
            </a:pPr>
            <a:r>
              <a:rPr lang="en-US" sz="1400" dirty="0">
                <a:solidFill>
                  <a:srgbClr val="E8E6F0"/>
                </a:solidFill>
                <a:latin typeface="Courier New" pitchFamily="34" charset="0"/>
                <a:ea typeface="Courier New" pitchFamily="34" charset="-122"/>
                <a:cs typeface="Courier New" pitchFamily="34" charset="-120"/>
              </a:rPr>
              <a:t> = </a:t>
            </a:r>
            <a:pPr indent="0" marL="0">
              <a:buNone/>
            </a:pPr>
            <a:r>
              <a:rPr lang="en-US" sz="1400" dirty="0">
                <a:solidFill>
                  <a:srgbClr val="E8E6F0"/>
                </a:solidFill>
                <a:latin typeface="Courier New" pitchFamily="34" charset="0"/>
                <a:ea typeface="Courier New" pitchFamily="34" charset="-122"/>
                <a:cs typeface="Courier New" pitchFamily="34" charset="-120"/>
              </a:rPr>
              <a:t>builder</a:t>
            </a:r>
            <a:pPr indent="0" marL="0">
              <a:buNone/>
            </a:pPr>
            <a:r>
              <a:rPr lang="en-US" sz="1400" dirty="0">
                <a:solidFill>
                  <a:srgbClr val="E8E6F0"/>
                </a:solidFill>
                <a:latin typeface="Courier New" pitchFamily="34" charset="0"/>
                <a:ea typeface="Courier New" pitchFamily="34" charset="-122"/>
                <a:cs typeface="Courier New" pitchFamily="34" charset="-120"/>
              </a:rPr>
              <a:t>.</a:t>
            </a:r>
            <a:pPr indent="0" marL="0">
              <a:buNone/>
            </a:pPr>
            <a:r>
              <a:rPr lang="en-US" sz="1400" dirty="0">
                <a:solidFill>
                  <a:srgbClr val="E8E6F0"/>
                </a:solidFill>
                <a:latin typeface="Courier New" pitchFamily="34" charset="0"/>
                <a:ea typeface="Courier New" pitchFamily="34" charset="-122"/>
                <a:cs typeface="Courier New" pitchFamily="34" charset="-120"/>
              </a:rPr>
              <a:t>AddRedis</a:t>
            </a:r>
            <a:pPr indent="0" marL="0">
              <a:buNone/>
            </a:pPr>
            <a:r>
              <a:rPr lang="en-US" sz="1400" dirty="0">
                <a:solidFill>
                  <a:srgbClr val="E8E6F0"/>
                </a:solidFill>
                <a:latin typeface="Courier New" pitchFamily="34" charset="0"/>
                <a:ea typeface="Courier New" pitchFamily="34" charset="-122"/>
                <a:cs typeface="Courier New" pitchFamily="34" charset="-120"/>
              </a:rPr>
              <a:t>(</a:t>
            </a:r>
            <a:pPr indent="0" marL="0">
              <a:buNone/>
            </a:pPr>
            <a:r>
              <a:rPr lang="en-US" sz="1400" dirty="0">
                <a:solidFill>
                  <a:srgbClr val="8FE3B0"/>
                </a:solidFill>
                <a:latin typeface="Courier New" pitchFamily="34" charset="0"/>
                <a:ea typeface="Courier New" pitchFamily="34" charset="-122"/>
                <a:cs typeface="Courier New" pitchFamily="34" charset="-120"/>
              </a:rPr>
              <a:t>"basketcache"</a:t>
            </a:r>
            <a:pPr indent="0" marL="0">
              <a:buNone/>
            </a:pPr>
            <a:r>
              <a:rPr lang="en-US" sz="1400" dirty="0">
                <a:solidFill>
                  <a:srgbClr val="E8E6F0"/>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8E6F0"/>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C4A7FF"/>
                </a:solidFill>
                <a:latin typeface="Courier New" pitchFamily="34" charset="0"/>
                <a:ea typeface="Courier New" pitchFamily="34" charset="-122"/>
                <a:cs typeface="Courier New" pitchFamily="34" charset="-120"/>
              </a:rPr>
              <a:t>var</a:t>
            </a:r>
            <a:pPr indent="0" marL="0">
              <a:buNone/>
            </a:pPr>
            <a:r>
              <a:rPr lang="en-US" sz="1400" dirty="0">
                <a:solidFill>
                  <a:srgbClr val="E8E6F0"/>
                </a:solidFill>
                <a:latin typeface="Courier New" pitchFamily="34" charset="0"/>
                <a:ea typeface="Courier New" pitchFamily="34" charset="-122"/>
                <a:cs typeface="Courier New" pitchFamily="34" charset="-120"/>
              </a:rPr>
              <a:t> </a:t>
            </a:r>
            <a:pPr indent="0" marL="0">
              <a:buNone/>
            </a:pPr>
            <a:r>
              <a:rPr lang="en-US" sz="1400" dirty="0">
                <a:solidFill>
                  <a:srgbClr val="E8E6F0"/>
                </a:solidFill>
                <a:latin typeface="Courier New" pitchFamily="34" charset="0"/>
                <a:ea typeface="Courier New" pitchFamily="34" charset="-122"/>
                <a:cs typeface="Courier New" pitchFamily="34" charset="-120"/>
              </a:rPr>
              <a:t>catalog</a:t>
            </a:r>
            <a:pPr indent="0" marL="0">
              <a:buNone/>
            </a:pPr>
            <a:r>
              <a:rPr lang="en-US" sz="1400" dirty="0">
                <a:solidFill>
                  <a:srgbClr val="E8E6F0"/>
                </a:solidFill>
                <a:latin typeface="Courier New" pitchFamily="34" charset="0"/>
                <a:ea typeface="Courier New" pitchFamily="34" charset="-122"/>
                <a:cs typeface="Courier New" pitchFamily="34" charset="-120"/>
              </a:rPr>
              <a:t> = </a:t>
            </a:r>
            <a:pPr indent="0" marL="0">
              <a:buNone/>
            </a:pPr>
            <a:r>
              <a:rPr lang="en-US" sz="1400" dirty="0">
                <a:solidFill>
                  <a:srgbClr val="E8E6F0"/>
                </a:solidFill>
                <a:latin typeface="Courier New" pitchFamily="34" charset="0"/>
                <a:ea typeface="Courier New" pitchFamily="34" charset="-122"/>
                <a:cs typeface="Courier New" pitchFamily="34" charset="-120"/>
              </a:rPr>
              <a:t>builder</a:t>
            </a:r>
            <a:endParaRPr lang="en-US" sz="1400" dirty="0"/>
          </a:p>
          <a:p>
            <a:pPr indent="0" marL="0">
              <a:buNone/>
            </a:pPr>
            <a:r>
              <a:rPr lang="en-US" sz="1400" dirty="0">
                <a:solidFill>
                  <a:srgbClr val="E8E6F0"/>
                </a:solidFill>
                <a:latin typeface="Courier New" pitchFamily="34" charset="0"/>
                <a:ea typeface="Courier New" pitchFamily="34" charset="-122"/>
                <a:cs typeface="Courier New" pitchFamily="34" charset="-120"/>
              </a:rPr>
              <a:t>    .</a:t>
            </a:r>
            <a:pPr indent="0" marL="0">
              <a:buNone/>
            </a:pPr>
            <a:r>
              <a:rPr lang="en-US" sz="1400" dirty="0">
                <a:solidFill>
                  <a:srgbClr val="E8E6F0"/>
                </a:solidFill>
                <a:latin typeface="Courier New" pitchFamily="34" charset="0"/>
                <a:ea typeface="Courier New" pitchFamily="34" charset="-122"/>
                <a:cs typeface="Courier New" pitchFamily="34" charset="-120"/>
              </a:rPr>
              <a:t>AddProject</a:t>
            </a:r>
            <a:pPr indent="0" marL="0">
              <a:buNone/>
            </a:pPr>
            <a:r>
              <a:rPr lang="en-US" sz="1400" dirty="0">
                <a:solidFill>
                  <a:srgbClr val="E8E6F0"/>
                </a:solidFill>
                <a:latin typeface="Courier New" pitchFamily="34" charset="0"/>
                <a:ea typeface="Courier New" pitchFamily="34" charset="-122"/>
                <a:cs typeface="Courier New" pitchFamily="34" charset="-120"/>
              </a:rPr>
              <a:t>&lt;</a:t>
            </a:r>
            <a:pPr indent="0" marL="0">
              <a:buNone/>
            </a:pPr>
            <a:r>
              <a:rPr lang="en-US" sz="1400" dirty="0">
                <a:solidFill>
                  <a:srgbClr val="E8E6F0"/>
                </a:solidFill>
                <a:latin typeface="Courier New" pitchFamily="34" charset="0"/>
                <a:ea typeface="Courier New" pitchFamily="34" charset="-122"/>
                <a:cs typeface="Courier New" pitchFamily="34" charset="-120"/>
              </a:rPr>
              <a:t>Projects</a:t>
            </a:r>
            <a:pPr indent="0" marL="0">
              <a:buNone/>
            </a:pPr>
            <a:r>
              <a:rPr lang="en-US" sz="1400" dirty="0">
                <a:solidFill>
                  <a:srgbClr val="E8E6F0"/>
                </a:solidFill>
                <a:latin typeface="Courier New" pitchFamily="34" charset="0"/>
                <a:ea typeface="Courier New" pitchFamily="34" charset="-122"/>
                <a:cs typeface="Courier New" pitchFamily="34" charset="-120"/>
              </a:rPr>
              <a:t>.</a:t>
            </a:r>
            <a:pPr indent="0" marL="0">
              <a:buNone/>
            </a:pPr>
            <a:r>
              <a:rPr lang="en-US" sz="1400" dirty="0">
                <a:solidFill>
                  <a:srgbClr val="E8E6F0"/>
                </a:solidFill>
                <a:latin typeface="Courier New" pitchFamily="34" charset="0"/>
                <a:ea typeface="Courier New" pitchFamily="34" charset="-122"/>
                <a:cs typeface="Courier New" pitchFamily="34" charset="-120"/>
              </a:rPr>
              <a:t>CatalogService</a:t>
            </a:r>
            <a:pPr indent="0" marL="0">
              <a:buNone/>
            </a:pPr>
            <a:r>
              <a:rPr lang="en-US" sz="1400" dirty="0">
                <a:solidFill>
                  <a:srgbClr val="E8E6F0"/>
                </a:solidFill>
                <a:latin typeface="Courier New" pitchFamily="34" charset="0"/>
                <a:ea typeface="Courier New" pitchFamily="34" charset="-122"/>
                <a:cs typeface="Courier New" pitchFamily="34" charset="-120"/>
              </a:rPr>
              <a:t>&gt;(</a:t>
            </a:r>
            <a:pPr indent="0" marL="0">
              <a:buNone/>
            </a:pPr>
            <a:r>
              <a:rPr lang="en-US" sz="1400" dirty="0">
                <a:solidFill>
                  <a:srgbClr val="8FE3B0"/>
                </a:solidFill>
                <a:latin typeface="Courier New" pitchFamily="34" charset="0"/>
                <a:ea typeface="Courier New" pitchFamily="34" charset="-122"/>
                <a:cs typeface="Courier New" pitchFamily="34" charset="-120"/>
              </a:rPr>
              <a:t>"catalogservice"</a:t>
            </a:r>
            <a:pPr indent="0" marL="0">
              <a:buNone/>
            </a:pPr>
            <a:r>
              <a:rPr lang="en-US" sz="1400" dirty="0">
                <a:solidFill>
                  <a:srgbClr val="E8E6F0"/>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8E6F0"/>
                </a:solidFill>
                <a:latin typeface="Courier New" pitchFamily="34" charset="0"/>
                <a:ea typeface="Courier New" pitchFamily="34" charset="-122"/>
                <a:cs typeface="Courier New" pitchFamily="34" charset="-120"/>
              </a:rPr>
              <a:t>    .</a:t>
            </a:r>
            <a:pPr indent="0" marL="0">
              <a:buNone/>
            </a:pPr>
            <a:r>
              <a:rPr lang="en-US" sz="1400" dirty="0">
                <a:solidFill>
                  <a:srgbClr val="E8E6F0"/>
                </a:solidFill>
                <a:latin typeface="Courier New" pitchFamily="34" charset="0"/>
                <a:ea typeface="Courier New" pitchFamily="34" charset="-122"/>
                <a:cs typeface="Courier New" pitchFamily="34" charset="-120"/>
              </a:rPr>
              <a:t>WithReference</a:t>
            </a:r>
            <a:pPr indent="0" marL="0">
              <a:buNone/>
            </a:pPr>
            <a:r>
              <a:rPr lang="en-US" sz="1400" dirty="0">
                <a:solidFill>
                  <a:srgbClr val="E8E6F0"/>
                </a:solidFill>
                <a:latin typeface="Courier New" pitchFamily="34" charset="0"/>
                <a:ea typeface="Courier New" pitchFamily="34" charset="-122"/>
                <a:cs typeface="Courier New" pitchFamily="34" charset="-120"/>
              </a:rPr>
              <a:t>(</a:t>
            </a:r>
            <a:pPr indent="0" marL="0">
              <a:buNone/>
            </a:pPr>
            <a:r>
              <a:rPr lang="en-US" sz="1400" dirty="0">
                <a:solidFill>
                  <a:srgbClr val="E8E6F0"/>
                </a:solidFill>
                <a:latin typeface="Courier New" pitchFamily="34" charset="0"/>
                <a:ea typeface="Courier New" pitchFamily="34" charset="-122"/>
                <a:cs typeface="Courier New" pitchFamily="34" charset="-120"/>
              </a:rPr>
              <a:t>postgres</a:t>
            </a:r>
            <a:pPr indent="0" marL="0">
              <a:buNone/>
            </a:pPr>
            <a:r>
              <a:rPr lang="en-US" sz="1400" dirty="0">
                <a:solidFill>
                  <a:srgbClr val="E8E6F0"/>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8E6F0"/>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8E6F0"/>
                </a:solidFill>
                <a:latin typeface="Courier New" pitchFamily="34" charset="0"/>
                <a:ea typeface="Courier New" pitchFamily="34" charset="-122"/>
                <a:cs typeface="Courier New" pitchFamily="34" charset="-120"/>
              </a:rPr>
              <a:t>builder</a:t>
            </a:r>
            <a:pPr indent="0" marL="0">
              <a:buNone/>
            </a:pPr>
            <a:r>
              <a:rPr lang="en-US" sz="1400" dirty="0">
                <a:solidFill>
                  <a:srgbClr val="E8E6F0"/>
                </a:solidFill>
                <a:latin typeface="Courier New" pitchFamily="34" charset="0"/>
                <a:ea typeface="Courier New" pitchFamily="34" charset="-122"/>
                <a:cs typeface="Courier New" pitchFamily="34" charset="-120"/>
              </a:rPr>
              <a:t>.</a:t>
            </a:r>
            <a:pPr indent="0" marL="0">
              <a:buNone/>
            </a:pPr>
            <a:r>
              <a:rPr lang="en-US" sz="1400" dirty="0">
                <a:solidFill>
                  <a:srgbClr val="E8E6F0"/>
                </a:solidFill>
                <a:latin typeface="Courier New" pitchFamily="34" charset="0"/>
                <a:ea typeface="Courier New" pitchFamily="34" charset="-122"/>
                <a:cs typeface="Courier New" pitchFamily="34" charset="-120"/>
              </a:rPr>
              <a:t>AddProject</a:t>
            </a:r>
            <a:pPr indent="0" marL="0">
              <a:buNone/>
            </a:pPr>
            <a:r>
              <a:rPr lang="en-US" sz="1400" dirty="0">
                <a:solidFill>
                  <a:srgbClr val="E8E6F0"/>
                </a:solidFill>
                <a:latin typeface="Courier New" pitchFamily="34" charset="0"/>
                <a:ea typeface="Courier New" pitchFamily="34" charset="-122"/>
                <a:cs typeface="Courier New" pitchFamily="34" charset="-120"/>
              </a:rPr>
              <a:t>&lt;</a:t>
            </a:r>
            <a:pPr indent="0" marL="0">
              <a:buNone/>
            </a:pPr>
            <a:r>
              <a:rPr lang="en-US" sz="1400" dirty="0">
                <a:solidFill>
                  <a:srgbClr val="E8E6F0"/>
                </a:solidFill>
                <a:latin typeface="Courier New" pitchFamily="34" charset="0"/>
                <a:ea typeface="Courier New" pitchFamily="34" charset="-122"/>
                <a:cs typeface="Courier New" pitchFamily="34" charset="-120"/>
              </a:rPr>
              <a:t>Projects</a:t>
            </a:r>
            <a:pPr indent="0" marL="0">
              <a:buNone/>
            </a:pPr>
            <a:r>
              <a:rPr lang="en-US" sz="1400" dirty="0">
                <a:solidFill>
                  <a:srgbClr val="E8E6F0"/>
                </a:solidFill>
                <a:latin typeface="Courier New" pitchFamily="34" charset="0"/>
                <a:ea typeface="Courier New" pitchFamily="34" charset="-122"/>
                <a:cs typeface="Courier New" pitchFamily="34" charset="-120"/>
              </a:rPr>
              <a:t>.</a:t>
            </a:r>
            <a:pPr indent="0" marL="0">
              <a:buNone/>
            </a:pPr>
            <a:r>
              <a:rPr lang="en-US" sz="1400" dirty="0">
                <a:solidFill>
                  <a:srgbClr val="E8E6F0"/>
                </a:solidFill>
                <a:latin typeface="Courier New" pitchFamily="34" charset="0"/>
                <a:ea typeface="Courier New" pitchFamily="34" charset="-122"/>
                <a:cs typeface="Courier New" pitchFamily="34" charset="-120"/>
              </a:rPr>
              <a:t>Frontend</a:t>
            </a:r>
            <a:pPr indent="0" marL="0">
              <a:buNone/>
            </a:pPr>
            <a:r>
              <a:rPr lang="en-US" sz="1400" dirty="0">
                <a:solidFill>
                  <a:srgbClr val="E8E6F0"/>
                </a:solidFill>
                <a:latin typeface="Courier New" pitchFamily="34" charset="0"/>
                <a:ea typeface="Courier New" pitchFamily="34" charset="-122"/>
                <a:cs typeface="Courier New" pitchFamily="34" charset="-120"/>
              </a:rPr>
              <a:t>&gt;(</a:t>
            </a:r>
            <a:pPr indent="0" marL="0">
              <a:buNone/>
            </a:pPr>
            <a:r>
              <a:rPr lang="en-US" sz="1400" dirty="0">
                <a:solidFill>
                  <a:srgbClr val="8FE3B0"/>
                </a:solidFill>
                <a:latin typeface="Courier New" pitchFamily="34" charset="0"/>
                <a:ea typeface="Courier New" pitchFamily="34" charset="-122"/>
                <a:cs typeface="Courier New" pitchFamily="34" charset="-120"/>
              </a:rPr>
              <a:t>"frontend"</a:t>
            </a:r>
            <a:pPr indent="0" marL="0">
              <a:buNone/>
            </a:pPr>
            <a:r>
              <a:rPr lang="en-US" sz="1400" dirty="0">
                <a:solidFill>
                  <a:srgbClr val="E8E6F0"/>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8E6F0"/>
                </a:solidFill>
                <a:latin typeface="Courier New" pitchFamily="34" charset="0"/>
                <a:ea typeface="Courier New" pitchFamily="34" charset="-122"/>
                <a:cs typeface="Courier New" pitchFamily="34" charset="-120"/>
              </a:rPr>
              <a:t>    .</a:t>
            </a:r>
            <a:pPr indent="0" marL="0">
              <a:buNone/>
            </a:pPr>
            <a:r>
              <a:rPr lang="en-US" sz="1400" dirty="0">
                <a:solidFill>
                  <a:srgbClr val="E8E6F0"/>
                </a:solidFill>
                <a:latin typeface="Courier New" pitchFamily="34" charset="0"/>
                <a:ea typeface="Courier New" pitchFamily="34" charset="-122"/>
                <a:cs typeface="Courier New" pitchFamily="34" charset="-120"/>
              </a:rPr>
              <a:t>WithReference</a:t>
            </a:r>
            <a:pPr indent="0" marL="0">
              <a:buNone/>
            </a:pPr>
            <a:r>
              <a:rPr lang="en-US" sz="1400" dirty="0">
                <a:solidFill>
                  <a:srgbClr val="E8E6F0"/>
                </a:solidFill>
                <a:latin typeface="Courier New" pitchFamily="34" charset="0"/>
                <a:ea typeface="Courier New" pitchFamily="34" charset="-122"/>
                <a:cs typeface="Courier New" pitchFamily="34" charset="-120"/>
              </a:rPr>
              <a:t>(</a:t>
            </a:r>
            <a:pPr indent="0" marL="0">
              <a:buNone/>
            </a:pPr>
            <a:r>
              <a:rPr lang="en-US" sz="1400" dirty="0">
                <a:solidFill>
                  <a:srgbClr val="E8E6F0"/>
                </a:solidFill>
                <a:latin typeface="Courier New" pitchFamily="34" charset="0"/>
                <a:ea typeface="Courier New" pitchFamily="34" charset="-122"/>
                <a:cs typeface="Courier New" pitchFamily="34" charset="-120"/>
              </a:rPr>
              <a:t>catalog</a:t>
            </a:r>
            <a:pPr indent="0" marL="0">
              <a:buNone/>
            </a:pPr>
            <a:r>
              <a:rPr lang="en-US" sz="1400" dirty="0">
                <a:solidFill>
                  <a:srgbClr val="E8E6F0"/>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8E6F0"/>
                </a:solidFill>
                <a:latin typeface="Courier New" pitchFamily="34" charset="0"/>
                <a:ea typeface="Courier New" pitchFamily="34" charset="-122"/>
                <a:cs typeface="Courier New" pitchFamily="34" charset="-120"/>
              </a:rPr>
              <a:t>    .</a:t>
            </a:r>
            <a:pPr indent="0" marL="0">
              <a:buNone/>
            </a:pPr>
            <a:r>
              <a:rPr lang="en-US" sz="1400" dirty="0">
                <a:solidFill>
                  <a:srgbClr val="E8E6F0"/>
                </a:solidFill>
                <a:latin typeface="Courier New" pitchFamily="34" charset="0"/>
                <a:ea typeface="Courier New" pitchFamily="34" charset="-122"/>
                <a:cs typeface="Courier New" pitchFamily="34" charset="-120"/>
              </a:rPr>
              <a:t>WithReference</a:t>
            </a:r>
            <a:pPr indent="0" marL="0">
              <a:buNone/>
            </a:pPr>
            <a:r>
              <a:rPr lang="en-US" sz="1400" dirty="0">
                <a:solidFill>
                  <a:srgbClr val="E8E6F0"/>
                </a:solidFill>
                <a:latin typeface="Courier New" pitchFamily="34" charset="0"/>
                <a:ea typeface="Courier New" pitchFamily="34" charset="-122"/>
                <a:cs typeface="Courier New" pitchFamily="34" charset="-120"/>
              </a:rPr>
              <a:t>(</a:t>
            </a:r>
            <a:pPr indent="0" marL="0">
              <a:buNone/>
            </a:pPr>
            <a:r>
              <a:rPr lang="en-US" sz="1400" dirty="0">
                <a:solidFill>
                  <a:srgbClr val="E8E6F0"/>
                </a:solidFill>
                <a:latin typeface="Courier New" pitchFamily="34" charset="0"/>
                <a:ea typeface="Courier New" pitchFamily="34" charset="-122"/>
                <a:cs typeface="Courier New" pitchFamily="34" charset="-120"/>
              </a:rPr>
              <a:t>cache</a:t>
            </a:r>
            <a:pPr indent="0" marL="0">
              <a:buNone/>
            </a:pPr>
            <a:r>
              <a:rPr lang="en-US" sz="1400" dirty="0">
                <a:solidFill>
                  <a:srgbClr val="E8E6F0"/>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8E6F0"/>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8E6F0"/>
                </a:solidFill>
                <a:latin typeface="Courier New" pitchFamily="34" charset="0"/>
                <a:ea typeface="Courier New" pitchFamily="34" charset="-122"/>
                <a:cs typeface="Courier New" pitchFamily="34" charset="-120"/>
              </a:rPr>
              <a:t>builder</a:t>
            </a:r>
            <a:pPr indent="0" marL="0">
              <a:buNone/>
            </a:pPr>
            <a:r>
              <a:rPr lang="en-US" sz="1400" dirty="0">
                <a:solidFill>
                  <a:srgbClr val="E8E6F0"/>
                </a:solidFill>
                <a:latin typeface="Courier New" pitchFamily="34" charset="0"/>
                <a:ea typeface="Courier New" pitchFamily="34" charset="-122"/>
                <a:cs typeface="Courier New" pitchFamily="34" charset="-120"/>
              </a:rPr>
              <a:t>.</a:t>
            </a:r>
            <a:pPr indent="0" marL="0">
              <a:buNone/>
            </a:pPr>
            <a:r>
              <a:rPr lang="en-US" sz="1400" dirty="0">
                <a:solidFill>
                  <a:srgbClr val="E8E6F0"/>
                </a:solidFill>
                <a:latin typeface="Courier New" pitchFamily="34" charset="0"/>
                <a:ea typeface="Courier New" pitchFamily="34" charset="-122"/>
                <a:cs typeface="Courier New" pitchFamily="34" charset="-120"/>
              </a:rPr>
              <a:t>Build</a:t>
            </a:r>
            <a:pPr indent="0" marL="0">
              <a:buNone/>
            </a:pPr>
            <a:r>
              <a:rPr lang="en-US" sz="1400" dirty="0">
                <a:solidFill>
                  <a:srgbClr val="E8E6F0"/>
                </a:solidFill>
                <a:latin typeface="Courier New" pitchFamily="34" charset="0"/>
                <a:ea typeface="Courier New" pitchFamily="34" charset="-122"/>
                <a:cs typeface="Courier New" pitchFamily="34" charset="-120"/>
              </a:rPr>
              <a:t>().</a:t>
            </a:r>
            <a:pPr indent="0" marL="0">
              <a:buNone/>
            </a:pPr>
            <a:r>
              <a:rPr lang="en-US" sz="1400" dirty="0">
                <a:solidFill>
                  <a:srgbClr val="E8E6F0"/>
                </a:solidFill>
                <a:latin typeface="Courier New" pitchFamily="34" charset="0"/>
                <a:ea typeface="Courier New" pitchFamily="34" charset="-122"/>
                <a:cs typeface="Courier New" pitchFamily="34" charset="-120"/>
              </a:rPr>
              <a:t>Run</a:t>
            </a:r>
            <a:pPr indent="0" marL="0">
              <a:buNone/>
            </a:pPr>
            <a:r>
              <a:rPr lang="en-US" sz="1400" dirty="0">
                <a:solidFill>
                  <a:srgbClr val="E8E6F0"/>
                </a:solidFill>
                <a:latin typeface="Courier New" pitchFamily="34" charset="0"/>
                <a:ea typeface="Courier New" pitchFamily="34" charset="-122"/>
                <a:cs typeface="Courier New" pitchFamily="34" charset="-120"/>
              </a:rPr>
              <a:t>();</a:t>
            </a:r>
            <a:endParaRPr lang="en-US" sz="1400" dirty="0"/>
          </a:p>
        </p:txBody>
      </p:sp>
      <p:sp>
        <p:nvSpPr>
          <p:cNvPr id="6" name="AppHost CS notes panel"/>
          <p:cNvSpPr/>
          <p:nvPr/>
        </p:nvSpPr>
        <p:spPr>
          <a:xfrm>
            <a:off x="7772400" y="1280160"/>
            <a:ext cx="3840480" cy="4892040"/>
          </a:xfrm>
          <a:prstGeom prst="roundRect">
            <a:avLst>
              <a:gd name="adj" fmla="val 2381"/>
            </a:avLst>
          </a:prstGeom>
          <a:solidFill>
            <a:schemeClr val="bg2"/>
          </a:solidFill>
          <a:ln w="12700">
            <a:solidFill>
              <a:schemeClr val="bg2"/>
            </a:solidFill>
            <a:prstDash val="solid"/>
          </a:ln>
        </p:spPr>
        <p:txBody>
          <a:bodyPr/>
          <a:p/>
        </p:txBody>
      </p:sp>
      <p:sp>
        <p:nvSpPr>
          <p:cNvPr id="7" name="AppHost CS notes text"/>
          <p:cNvSpPr txBox="1"/>
          <p:nvPr/>
        </p:nvSpPr>
        <p:spPr>
          <a:xfrm>
            <a:off x="8046720" y="1508760"/>
            <a:ext cx="3291840" cy="4434840"/>
          </a:xfrm>
          <a:prstGeom prst="rect">
            <a:avLst/>
          </a:prstGeom>
          <a:noFill/>
          <a:ln/>
        </p:spPr>
        <p:txBody>
          <a:bodyPr wrap="square" lIns="0" tIns="0" rIns="0" bIns="0" rtlCol="0" anchor="t"/>
          <a:lstStyle/>
          <a:p>
            <a:pPr indent="0" marL="0">
              <a:buNone/>
            </a:pPr>
            <a:r>
              <a:rPr lang="en-US" sz="1500" b="1" dirty="0">
                <a:solidFill>
                  <a:schemeClr val="tx2"/>
                </a:solidFill>
              </a:rPr>
              <a:t>AddPostgres / AddDatabase</a:t>
            </a:r>
            <a:endParaRPr lang="en-US" sz="1500" dirty="0"/>
          </a:p>
          <a:p>
            <a:pPr indent="0" marL="0">
              <a:spcAft>
                <a:spcPts val="1200"/>
              </a:spcAft>
              <a:buNone/>
            </a:pPr>
            <a:r>
              <a:rPr lang="en-US" sz="1400" dirty="0">
                <a:solidFill>
                  <a:schemeClr val="tx1"/>
                </a:solidFill>
              </a:rPr>
              <a:t>Runs Postgres container, creates catalogdb database.</a:t>
            </a:r>
            <a:endParaRPr lang="en-US" sz="1500" dirty="0"/>
          </a:p>
          <a:p>
            <a:pPr indent="0" marL="0">
              <a:buNone/>
            </a:pPr>
            <a:r>
              <a:rPr lang="en-US" sz="1500" b="1" dirty="0">
                <a:solidFill>
                  <a:schemeClr val="tx2"/>
                </a:solidFill>
              </a:rPr>
              <a:t>AddRedis</a:t>
            </a:r>
            <a:endParaRPr lang="en-US" sz="1500" dirty="0"/>
          </a:p>
          <a:p>
            <a:pPr indent="0" marL="0">
              <a:spcAft>
                <a:spcPts val="1200"/>
              </a:spcAft>
              <a:buNone/>
            </a:pPr>
            <a:r>
              <a:rPr lang="en-US" sz="1400" dirty="0">
                <a:solidFill>
                  <a:schemeClr val="tx1"/>
                </a:solidFill>
              </a:rPr>
              <a:t>Runs Redis cache container.</a:t>
            </a:r>
            <a:endParaRPr lang="en-US" sz="1500" dirty="0"/>
          </a:p>
          <a:p>
            <a:pPr indent="0" marL="0">
              <a:buNone/>
            </a:pPr>
            <a:r>
              <a:rPr lang="en-US" sz="1500" b="1" dirty="0">
                <a:solidFill>
                  <a:schemeClr val="tx2"/>
                </a:solidFill>
              </a:rPr>
              <a:t>AddProject&lt;…&gt;</a:t>
            </a:r>
            <a:endParaRPr lang="en-US" sz="1500" dirty="0"/>
          </a:p>
          <a:p>
            <a:pPr indent="0" marL="0">
              <a:spcAft>
                <a:spcPts val="1200"/>
              </a:spcAft>
              <a:buNone/>
            </a:pPr>
            <a:r>
              <a:rPr lang="en-US" sz="1400" dirty="0">
                <a:solidFill>
                  <a:schemeClr val="tx1"/>
                </a:solidFill>
              </a:rPr>
              <a:t>Runs one of your .NET projects as service.</a:t>
            </a:r>
            <a:endParaRPr lang="en-US" sz="1500" dirty="0"/>
          </a:p>
          <a:p>
            <a:pPr indent="0" marL="0">
              <a:buNone/>
            </a:pPr>
            <a:r>
              <a:rPr lang="en-US" sz="1500" b="1" dirty="0">
                <a:solidFill>
                  <a:schemeClr val="tx2"/>
                </a:solidFill>
              </a:rPr>
              <a:t>WithReference</a:t>
            </a:r>
            <a:endParaRPr lang="en-US" sz="1500" dirty="0"/>
          </a:p>
          <a:p>
            <a:pPr indent="0" marL="0">
              <a:spcAft>
                <a:spcPts val="1200"/>
              </a:spcAft>
              <a:buNone/>
            </a:pPr>
            <a:r>
              <a:rPr lang="en-US" sz="1400" dirty="0">
                <a:solidFill>
                  <a:schemeClr val="tx1"/>
                </a:solidFill>
              </a:rPr>
              <a:t>Gives service what it needs to reach other resource.</a:t>
            </a:r>
            <a:endParaRPr lang="en-US" sz="1500" dirty="0"/>
          </a:p>
          <a:p>
            <a:pPr indent="0" marL="0">
              <a:buNone/>
            </a:pPr>
            <a:r>
              <a:rPr lang="en-US" sz="1500" b="1" dirty="0">
                <a:solidFill>
                  <a:schemeClr val="tx2"/>
                </a:solidFill>
              </a:rPr>
              <a:t>Build().Run()</a:t>
            </a:r>
            <a:endParaRPr lang="en-US" sz="1500" dirty="0"/>
          </a:p>
          <a:p>
            <a:pPr indent="0" marL="0">
              <a:spcAft>
                <a:spcPts val="1200"/>
              </a:spcAft>
              <a:buNone/>
            </a:pPr>
            <a:r>
              <a:rPr lang="en-US" sz="1400" dirty="0">
                <a:solidFill>
                  <a:schemeClr val="tx1"/>
                </a:solidFill>
              </a:rPr>
              <a:t>Starts everything, opens dashboard.</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Same AppHost in TypeScript</a:t>
            </a:r>
            <a:endParaRPr lang="en-US" sz="3400" dirty="0"/>
          </a:p>
        </p:txBody>
      </p:sp>
      <p:sp>
        <p:nvSpPr>
          <p:cNvPr id="3" name="AppHost TS panel"/>
          <p:cNvSpPr/>
          <p:nvPr/>
        </p:nvSpPr>
        <p:spPr>
          <a:xfrm>
            <a:off x="548640" y="1280160"/>
            <a:ext cx="6949440" cy="4892040"/>
          </a:xfrm>
          <a:prstGeom prst="roundRect">
            <a:avLst>
              <a:gd name="adj" fmla="val 1495"/>
            </a:avLst>
          </a:prstGeom>
          <a:solidFill>
            <a:srgbClr val="1C1830"/>
          </a:solidFill>
          <a:ln w="12700">
            <a:solidFill>
              <a:srgbClr val="1C1830"/>
            </a:solidFill>
            <a:prstDash val="solid"/>
          </a:ln>
        </p:spPr>
        <p:txBody>
          <a:bodyPr/>
          <a:p/>
        </p:txBody>
      </p:sp>
      <p:sp>
        <p:nvSpPr>
          <p:cNvPr id="4" name="AppHost TS label"/>
          <p:cNvSpPr txBox="1"/>
          <p:nvPr/>
        </p:nvSpPr>
        <p:spPr>
          <a:xfrm>
            <a:off x="777240" y="1371600"/>
            <a:ext cx="6492240" cy="274320"/>
          </a:xfrm>
          <a:prstGeom prst="rect">
            <a:avLst/>
          </a:prstGeom>
          <a:noFill/>
          <a:ln/>
        </p:spPr>
        <p:txBody>
          <a:bodyPr wrap="square" lIns="0" tIns="0" rIns="0" bIns="0" rtlCol="0" anchor="ctr"/>
          <a:lstStyle/>
          <a:p>
            <a:pPr indent="0" marL="0">
              <a:buNone/>
            </a:pPr>
            <a:r>
              <a:rPr lang="en-US" sz="1000" b="1" spc="100" kern="0" dirty="0">
                <a:solidFill>
                  <a:srgbClr val="8B87A3"/>
                </a:solidFill>
                <a:latin typeface="Calibri" pitchFamily="34" charset="0"/>
                <a:ea typeface="Calibri" pitchFamily="34" charset="-122"/>
                <a:cs typeface="Calibri" pitchFamily="34" charset="-120"/>
              </a:rPr>
              <a:t>TYPESCRIPT  ·  apphost.mts</a:t>
            </a:r>
            <a:endParaRPr lang="en-US" sz="1000" dirty="0"/>
          </a:p>
        </p:txBody>
      </p:sp>
      <p:sp>
        <p:nvSpPr>
          <p:cNvPr id="5" name="AppHost TS text"/>
          <p:cNvSpPr txBox="1"/>
          <p:nvPr/>
        </p:nvSpPr>
        <p:spPr>
          <a:xfrm>
            <a:off x="777240" y="1691640"/>
            <a:ext cx="6492240" cy="4389120"/>
          </a:xfrm>
          <a:prstGeom prst="rect">
            <a:avLst/>
          </a:prstGeom>
          <a:noFill/>
          <a:ln/>
        </p:spPr>
        <p:txBody>
          <a:bodyPr wrap="square" lIns="0" tIns="0" rIns="0" bIns="0" rtlCol="0" anchor="t"/>
          <a:lstStyle/>
          <a:p>
            <a:pPr indent="0" marL="0">
              <a:buNone/>
            </a:pPr>
            <a:r>
              <a:rPr lang="en-US" sz="1300" dirty="0">
                <a:solidFill>
                  <a:srgbClr val="C4A7FF"/>
                </a:solidFill>
                <a:latin typeface="Courier New" pitchFamily="34" charset="0"/>
                <a:ea typeface="Courier New" pitchFamily="34" charset="-122"/>
                <a:cs typeface="Courier New" pitchFamily="34" charset="-120"/>
              </a:rPr>
              <a:t>import</a:t>
            </a:r>
            <a:pPr indent="0" marL="0">
              <a:buNone/>
            </a:pPr>
            <a:r>
              <a:rPr lang="en-US" sz="1300" dirty="0">
                <a:solidFill>
                  <a:srgbClr val="E8E6F0"/>
                </a:solidFill>
                <a:latin typeface="Courier New" pitchFamily="34" charset="0"/>
                <a:ea typeface="Courier New" pitchFamily="34" charset="-122"/>
                <a:cs typeface="Courier New" pitchFamily="34" charset="-120"/>
              </a:rPr>
              <a:t> { </a:t>
            </a:r>
            <a:pPr indent="0" marL="0">
              <a:buNone/>
            </a:pPr>
            <a:r>
              <a:rPr lang="en-US" sz="1300" dirty="0">
                <a:solidFill>
                  <a:srgbClr val="E8E6F0"/>
                </a:solidFill>
                <a:latin typeface="Courier New" pitchFamily="34" charset="0"/>
                <a:ea typeface="Courier New" pitchFamily="34" charset="-122"/>
                <a:cs typeface="Courier New" pitchFamily="34" charset="-120"/>
              </a:rPr>
              <a:t>createBuilder</a:t>
            </a:r>
            <a:pPr indent="0" marL="0">
              <a:buNone/>
            </a:pPr>
            <a:r>
              <a:rPr lang="en-US" sz="1300" dirty="0">
                <a:solidFill>
                  <a:srgbClr val="E8E6F0"/>
                </a:solidFill>
                <a:latin typeface="Courier New" pitchFamily="34" charset="0"/>
                <a:ea typeface="Courier New" pitchFamily="34" charset="-122"/>
                <a:cs typeface="Courier New" pitchFamily="34" charset="-120"/>
              </a:rPr>
              <a:t> } </a:t>
            </a:r>
            <a:pPr indent="0" marL="0">
              <a:buNone/>
            </a:pPr>
            <a:r>
              <a:rPr lang="en-US" sz="1300" dirty="0">
                <a:solidFill>
                  <a:srgbClr val="C4A7FF"/>
                </a:solidFill>
                <a:latin typeface="Courier New" pitchFamily="34" charset="0"/>
                <a:ea typeface="Courier New" pitchFamily="34" charset="-122"/>
                <a:cs typeface="Courier New" pitchFamily="34" charset="-120"/>
              </a:rPr>
              <a:t>from</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8FE3B0"/>
                </a:solidFill>
                <a:latin typeface="Courier New" pitchFamily="34" charset="0"/>
                <a:ea typeface="Courier New" pitchFamily="34" charset="-122"/>
                <a:cs typeface="Courier New" pitchFamily="34" charset="-120"/>
              </a:rPr>
              <a:t>"./.aspire/modules/aspire.mjs"</a:t>
            </a:r>
            <a:pPr indent="0" marL="0">
              <a:buNone/>
            </a:pPr>
            <a:r>
              <a:rPr lang="en-US" sz="1300" dirty="0">
                <a:solidFill>
                  <a:srgbClr val="E8E6F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C4A7FF"/>
                </a:solidFill>
                <a:latin typeface="Courier New" pitchFamily="34" charset="0"/>
                <a:ea typeface="Courier New" pitchFamily="34" charset="-122"/>
                <a:cs typeface="Courier New" pitchFamily="34" charset="-120"/>
              </a:rPr>
              <a:t>const</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builder</a:t>
            </a:r>
            <a:pPr indent="0" marL="0">
              <a:buNone/>
            </a:pPr>
            <a:r>
              <a:rPr lang="en-US" sz="1300" dirty="0">
                <a:solidFill>
                  <a:srgbClr val="E8E6F0"/>
                </a:solidFill>
                <a:latin typeface="Courier New" pitchFamily="34" charset="0"/>
                <a:ea typeface="Courier New" pitchFamily="34" charset="-122"/>
                <a:cs typeface="Courier New" pitchFamily="34" charset="-120"/>
              </a:rPr>
              <a:t> = </a:t>
            </a:r>
            <a:pPr indent="0" marL="0">
              <a:buNone/>
            </a:pPr>
            <a:r>
              <a:rPr lang="en-US" sz="1300" dirty="0">
                <a:solidFill>
                  <a:srgbClr val="C4A7FF"/>
                </a:solidFill>
                <a:latin typeface="Courier New" pitchFamily="34" charset="0"/>
                <a:ea typeface="Courier New" pitchFamily="34" charset="-122"/>
                <a:cs typeface="Courier New" pitchFamily="34" charset="-120"/>
              </a:rPr>
              <a:t>await</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createBuilder</a:t>
            </a:r>
            <a:pPr indent="0" marL="0">
              <a:buNone/>
            </a:pPr>
            <a:r>
              <a:rPr lang="en-US" sz="1300" dirty="0">
                <a:solidFill>
                  <a:srgbClr val="E8E6F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C4A7FF"/>
                </a:solidFill>
                <a:latin typeface="Courier New" pitchFamily="34" charset="0"/>
                <a:ea typeface="Courier New" pitchFamily="34" charset="-122"/>
                <a:cs typeface="Courier New" pitchFamily="34" charset="-120"/>
              </a:rPr>
              <a:t>const</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postgres</a:t>
            </a:r>
            <a:pPr indent="0" marL="0">
              <a:buNone/>
            </a:pPr>
            <a:r>
              <a:rPr lang="en-US" sz="1300" dirty="0">
                <a:solidFill>
                  <a:srgbClr val="E8E6F0"/>
                </a:solidFill>
                <a:latin typeface="Courier New" pitchFamily="34" charset="0"/>
                <a:ea typeface="Courier New" pitchFamily="34" charset="-122"/>
                <a:cs typeface="Courier New" pitchFamily="34" charset="-120"/>
              </a:rPr>
              <a:t> = </a:t>
            </a:r>
            <a:pPr indent="0" marL="0">
              <a:buNone/>
            </a:pPr>
            <a:r>
              <a:rPr lang="en-US" sz="1300" dirty="0">
                <a:solidFill>
                  <a:srgbClr val="C4A7FF"/>
                </a:solidFill>
                <a:latin typeface="Courier New" pitchFamily="34" charset="0"/>
                <a:ea typeface="Courier New" pitchFamily="34" charset="-122"/>
                <a:cs typeface="Courier New" pitchFamily="34" charset="-120"/>
              </a:rPr>
              <a:t>await</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builder</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addPostgres</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8FE3B0"/>
                </a:solidFill>
                <a:latin typeface="Courier New" pitchFamily="34" charset="0"/>
                <a:ea typeface="Courier New" pitchFamily="34" charset="-122"/>
                <a:cs typeface="Courier New" pitchFamily="34" charset="-120"/>
              </a:rPr>
              <a:t>"postgres"</a:t>
            </a:r>
            <a:pPr indent="0" marL="0">
              <a:buNone/>
            </a:pPr>
            <a:r>
              <a:rPr lang="en-US" sz="1300" dirty="0">
                <a:solidFill>
                  <a:srgbClr val="E8E6F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addDatabase</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8FE3B0"/>
                </a:solidFill>
                <a:latin typeface="Courier New" pitchFamily="34" charset="0"/>
                <a:ea typeface="Courier New" pitchFamily="34" charset="-122"/>
                <a:cs typeface="Courier New" pitchFamily="34" charset="-120"/>
              </a:rPr>
              <a:t>"catalogdb"</a:t>
            </a:r>
            <a:pPr indent="0" marL="0">
              <a:buNone/>
            </a:pPr>
            <a:r>
              <a:rPr lang="en-US" sz="1300" dirty="0">
                <a:solidFill>
                  <a:srgbClr val="E8E6F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C4A7FF"/>
                </a:solidFill>
                <a:latin typeface="Courier New" pitchFamily="34" charset="0"/>
                <a:ea typeface="Courier New" pitchFamily="34" charset="-122"/>
                <a:cs typeface="Courier New" pitchFamily="34" charset="-120"/>
              </a:rPr>
              <a:t>const</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cache</a:t>
            </a:r>
            <a:pPr indent="0" marL="0">
              <a:buNone/>
            </a:pPr>
            <a:r>
              <a:rPr lang="en-US" sz="1300" dirty="0">
                <a:solidFill>
                  <a:srgbClr val="E8E6F0"/>
                </a:solidFill>
                <a:latin typeface="Courier New" pitchFamily="34" charset="0"/>
                <a:ea typeface="Courier New" pitchFamily="34" charset="-122"/>
                <a:cs typeface="Courier New" pitchFamily="34" charset="-120"/>
              </a:rPr>
              <a:t> = </a:t>
            </a:r>
            <a:pPr indent="0" marL="0">
              <a:buNone/>
            </a:pPr>
            <a:r>
              <a:rPr lang="en-US" sz="1300" dirty="0">
                <a:solidFill>
                  <a:srgbClr val="C4A7FF"/>
                </a:solidFill>
                <a:latin typeface="Courier New" pitchFamily="34" charset="0"/>
                <a:ea typeface="Courier New" pitchFamily="34" charset="-122"/>
                <a:cs typeface="Courier New" pitchFamily="34" charset="-120"/>
              </a:rPr>
              <a:t>await</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builder</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addRedis</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8FE3B0"/>
                </a:solidFill>
                <a:latin typeface="Courier New" pitchFamily="34" charset="0"/>
                <a:ea typeface="Courier New" pitchFamily="34" charset="-122"/>
                <a:cs typeface="Courier New" pitchFamily="34" charset="-120"/>
              </a:rPr>
              <a:t>"basketcache"</a:t>
            </a:r>
            <a:pPr indent="0" marL="0">
              <a:buNone/>
            </a:pPr>
            <a:r>
              <a:rPr lang="en-US" sz="1300" dirty="0">
                <a:solidFill>
                  <a:srgbClr val="E8E6F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C4A7FF"/>
                </a:solidFill>
                <a:latin typeface="Courier New" pitchFamily="34" charset="0"/>
                <a:ea typeface="Courier New" pitchFamily="34" charset="-122"/>
                <a:cs typeface="Courier New" pitchFamily="34" charset="-120"/>
              </a:rPr>
              <a:t>const</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catalog</a:t>
            </a:r>
            <a:pPr indent="0" marL="0">
              <a:buNone/>
            </a:pPr>
            <a:r>
              <a:rPr lang="en-US" sz="1300" dirty="0">
                <a:solidFill>
                  <a:srgbClr val="E8E6F0"/>
                </a:solidFill>
                <a:latin typeface="Courier New" pitchFamily="34" charset="0"/>
                <a:ea typeface="Courier New" pitchFamily="34" charset="-122"/>
                <a:cs typeface="Courier New" pitchFamily="34" charset="-120"/>
              </a:rPr>
              <a:t> = </a:t>
            </a:r>
            <a:pPr indent="0" marL="0">
              <a:buNone/>
            </a:pPr>
            <a:r>
              <a:rPr lang="en-US" sz="1300" dirty="0">
                <a:solidFill>
                  <a:srgbClr val="C4A7FF"/>
                </a:solidFill>
                <a:latin typeface="Courier New" pitchFamily="34" charset="0"/>
                <a:ea typeface="Courier New" pitchFamily="34" charset="-122"/>
                <a:cs typeface="Courier New" pitchFamily="34" charset="-120"/>
              </a:rPr>
              <a:t>await</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builder</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addNodeApp</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8FE3B0"/>
                </a:solidFill>
                <a:latin typeface="Courier New" pitchFamily="34" charset="0"/>
                <a:ea typeface="Courier New" pitchFamily="34" charset="-122"/>
                <a:cs typeface="Courier New" pitchFamily="34" charset="-120"/>
              </a:rPr>
              <a:t>"catalogservice"</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8FE3B0"/>
                </a:solidFill>
                <a:latin typeface="Courier New" pitchFamily="34" charset="0"/>
                <a:ea typeface="Courier New" pitchFamily="34" charset="-122"/>
                <a:cs typeface="Courier New" pitchFamily="34" charset="-120"/>
              </a:rPr>
              <a:t>"./catalog"</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8FE3B0"/>
                </a:solidFill>
                <a:latin typeface="Courier New" pitchFamily="34" charset="0"/>
                <a:ea typeface="Courier New" pitchFamily="34" charset="-122"/>
                <a:cs typeface="Courier New" pitchFamily="34" charset="-120"/>
              </a:rPr>
              <a:t>"src/index.ts"</a:t>
            </a:r>
            <a:pPr indent="0" marL="0">
              <a:buNone/>
            </a:pPr>
            <a:r>
              <a:rPr lang="en-US" sz="1300" dirty="0">
                <a:solidFill>
                  <a:srgbClr val="E8E6F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withReference</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postgres</a:t>
            </a:r>
            <a:pPr indent="0" marL="0">
              <a:buNone/>
            </a:pPr>
            <a:r>
              <a:rPr lang="en-US" sz="1300" dirty="0">
                <a:solidFill>
                  <a:srgbClr val="E8E6F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C4A7FF"/>
                </a:solidFill>
                <a:latin typeface="Courier New" pitchFamily="34" charset="0"/>
                <a:ea typeface="Courier New" pitchFamily="34" charset="-122"/>
                <a:cs typeface="Courier New" pitchFamily="34" charset="-120"/>
              </a:rPr>
              <a:t>await</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builder</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addViteApp</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8FE3B0"/>
                </a:solidFill>
                <a:latin typeface="Courier New" pitchFamily="34" charset="0"/>
                <a:ea typeface="Courier New" pitchFamily="34" charset="-122"/>
                <a:cs typeface="Courier New" pitchFamily="34" charset="-120"/>
              </a:rPr>
              <a:t>"frontend"</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8FE3B0"/>
                </a:solidFill>
                <a:latin typeface="Courier New" pitchFamily="34" charset="0"/>
                <a:ea typeface="Courier New" pitchFamily="34" charset="-122"/>
                <a:cs typeface="Courier New" pitchFamily="34" charset="-120"/>
              </a:rPr>
              <a:t>"./frontend"</a:t>
            </a:r>
            <a:pPr indent="0" marL="0">
              <a:buNone/>
            </a:pPr>
            <a:r>
              <a:rPr lang="en-US" sz="1300" dirty="0">
                <a:solidFill>
                  <a:srgbClr val="E8E6F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withReference</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catalog</a:t>
            </a:r>
            <a:pPr indent="0" marL="0">
              <a:buNone/>
            </a:pPr>
            <a:r>
              <a:rPr lang="en-US" sz="1300" dirty="0">
                <a:solidFill>
                  <a:srgbClr val="E8E6F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withReference</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cache</a:t>
            </a:r>
            <a:pPr indent="0" marL="0">
              <a:buNone/>
            </a:pPr>
            <a:r>
              <a:rPr lang="en-US" sz="1300" dirty="0">
                <a:solidFill>
                  <a:srgbClr val="E8E6F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C4A7FF"/>
                </a:solidFill>
                <a:latin typeface="Courier New" pitchFamily="34" charset="0"/>
                <a:ea typeface="Courier New" pitchFamily="34" charset="-122"/>
                <a:cs typeface="Courier New" pitchFamily="34" charset="-120"/>
              </a:rPr>
              <a:t>await</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builder</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build</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run</a:t>
            </a:r>
            <a:pPr indent="0" marL="0">
              <a:buNone/>
            </a:pPr>
            <a:r>
              <a:rPr lang="en-US" sz="1300" dirty="0">
                <a:solidFill>
                  <a:srgbClr val="E8E6F0"/>
                </a:solidFill>
                <a:latin typeface="Courier New" pitchFamily="34" charset="0"/>
                <a:ea typeface="Courier New" pitchFamily="34" charset="-122"/>
                <a:cs typeface="Courier New" pitchFamily="34" charset="-120"/>
              </a:rPr>
              <a:t>();</a:t>
            </a:r>
            <a:endParaRPr lang="en-US" sz="1300" dirty="0"/>
          </a:p>
        </p:txBody>
      </p:sp>
      <p:sp>
        <p:nvSpPr>
          <p:cNvPr id="6" name="AppHost TS notes panel"/>
          <p:cNvSpPr/>
          <p:nvPr/>
        </p:nvSpPr>
        <p:spPr>
          <a:xfrm>
            <a:off x="7772400" y="1280160"/>
            <a:ext cx="3840480" cy="4892040"/>
          </a:xfrm>
          <a:prstGeom prst="roundRect">
            <a:avLst>
              <a:gd name="adj" fmla="val 2381"/>
            </a:avLst>
          </a:prstGeom>
          <a:solidFill>
            <a:schemeClr val="bg2"/>
          </a:solidFill>
          <a:ln w="12700">
            <a:solidFill>
              <a:schemeClr val="bg2"/>
            </a:solidFill>
            <a:prstDash val="solid"/>
          </a:ln>
        </p:spPr>
        <p:txBody>
          <a:bodyPr/>
          <a:p/>
        </p:txBody>
      </p:sp>
      <p:sp>
        <p:nvSpPr>
          <p:cNvPr id="7" name="AppHost TS notes text"/>
          <p:cNvSpPr txBox="1"/>
          <p:nvPr/>
        </p:nvSpPr>
        <p:spPr>
          <a:xfrm>
            <a:off x="8046720" y="1508760"/>
            <a:ext cx="3291840" cy="4434840"/>
          </a:xfrm>
          <a:prstGeom prst="rect">
            <a:avLst/>
          </a:prstGeom>
          <a:noFill/>
          <a:ln/>
        </p:spPr>
        <p:txBody>
          <a:bodyPr wrap="square" lIns="0" tIns="0" rIns="0" bIns="0" rtlCol="0" anchor="t"/>
          <a:lstStyle/>
          <a:p>
            <a:pPr indent="0" marL="0">
              <a:buNone/>
            </a:pPr>
            <a:r>
              <a:rPr lang="en-US" sz="1500" b="1" dirty="0">
                <a:solidFill>
                  <a:schemeClr val="tx2"/>
                </a:solidFill>
              </a:rPr>
              <a:t>Same model</a:t>
            </a:r>
            <a:endParaRPr lang="en-US" sz="1500" dirty="0"/>
          </a:p>
          <a:p>
            <a:pPr indent="0" marL="0">
              <a:spcAft>
                <a:spcPts val="1200"/>
              </a:spcAft>
              <a:buNone/>
            </a:pPr>
            <a:r>
              <a:rPr lang="en-US" sz="1400" dirty="0">
                <a:solidFill>
                  <a:schemeClr val="tx1"/>
                </a:solidFill>
              </a:rPr>
              <a:t>Method names match C#, in camelCase.</a:t>
            </a:r>
            <a:endParaRPr lang="en-US" sz="1500" dirty="0"/>
          </a:p>
          <a:p>
            <a:pPr indent="0" marL="0">
              <a:buNone/>
            </a:pPr>
            <a:r>
              <a:rPr lang="en-US" sz="1500" b="1" dirty="0">
                <a:solidFill>
                  <a:schemeClr val="tx2"/>
                </a:solidFill>
              </a:rPr>
              <a:t>addNodeApp</a:t>
            </a:r>
            <a:endParaRPr lang="en-US" sz="1500" dirty="0"/>
          </a:p>
          <a:p>
            <a:pPr indent="0" marL="0">
              <a:spcAft>
                <a:spcPts val="1200"/>
              </a:spcAft>
              <a:buNone/>
            </a:pPr>
            <a:r>
              <a:rPr lang="en-US" sz="1400" dirty="0">
                <a:solidFill>
                  <a:schemeClr val="tx1"/>
                </a:solidFill>
              </a:rPr>
              <a:t>Runs Node.js service from folder and entry file.</a:t>
            </a:r>
            <a:endParaRPr lang="en-US" sz="1500" dirty="0"/>
          </a:p>
          <a:p>
            <a:pPr indent="0" marL="0">
              <a:buNone/>
            </a:pPr>
            <a:r>
              <a:rPr lang="en-US" sz="1500" b="1" dirty="0">
                <a:solidFill>
                  <a:schemeClr val="tx2"/>
                </a:solidFill>
              </a:rPr>
              <a:t>addViteApp</a:t>
            </a:r>
            <a:endParaRPr lang="en-US" sz="1500" dirty="0"/>
          </a:p>
          <a:p>
            <a:pPr indent="0" marL="0">
              <a:spcAft>
                <a:spcPts val="1200"/>
              </a:spcAft>
              <a:buNone/>
            </a:pPr>
            <a:r>
              <a:rPr lang="en-US" sz="1400" dirty="0">
                <a:solidFill>
                  <a:schemeClr val="tx1"/>
                </a:solidFill>
              </a:rPr>
              <a:t>Runs Vite front end, like a React app.</a:t>
            </a:r>
            <a:endParaRPr lang="en-US" sz="1500" dirty="0"/>
          </a:p>
          <a:p>
            <a:pPr indent="0" marL="0">
              <a:buNone/>
            </a:pPr>
            <a:r>
              <a:rPr lang="en-US" sz="1500" b="1" dirty="0">
                <a:solidFill>
                  <a:schemeClr val="tx2"/>
                </a:solidFill>
              </a:rPr>
              <a:t>Mix and match</a:t>
            </a:r>
            <a:endParaRPr lang="en-US" sz="1500" dirty="0"/>
          </a:p>
          <a:p>
            <a:pPr indent="0" marL="0">
              <a:spcAft>
                <a:spcPts val="1200"/>
              </a:spcAft>
              <a:buNone/>
            </a:pPr>
            <a:r>
              <a:rPr lang="en-US" sz="1400" dirty="0">
                <a:solidFill>
                  <a:schemeClr val="tx1"/>
                </a:solidFill>
              </a:rPr>
              <a:t>AppHost language doesn't limit service languages.</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What WithReference() does</a:t>
            </a:r>
            <a:endParaRPr lang="en-US" sz="3400" dirty="0"/>
          </a:p>
        </p:txBody>
      </p:sp>
      <p:sp>
        <p:nvSpPr>
          <p:cNvPr id="3" name="Ref intro"/>
          <p:cNvSpPr txBox="1"/>
          <p:nvPr/>
        </p:nvSpPr>
        <p:spPr>
          <a:xfrm>
            <a:off x="548640" y="1188720"/>
            <a:ext cx="11064240" cy="594360"/>
          </a:xfrm>
          <a:prstGeom prst="rect">
            <a:avLst/>
          </a:prstGeom>
          <a:noFill/>
          <a:ln/>
        </p:spPr>
        <p:txBody>
          <a:bodyPr wrap="square" lIns="0" tIns="0" rIns="0" bIns="0" rtlCol="0" anchor="ctr"/>
          <a:lstStyle/>
          <a:p>
            <a:pPr indent="0" marL="0">
              <a:buNone/>
            </a:pPr>
            <a:r>
              <a:rPr lang="en-US" sz="1600" dirty="0">
                <a:solidFill>
                  <a:schemeClr val="tx1"/>
                </a:solidFill>
              </a:rPr>
              <a:t>Aspire passes connection details as environment variables. No copying by hand.</a:t>
            </a:r>
            <a:endParaRPr lang="en-US" sz="1600" dirty="0"/>
          </a:p>
        </p:txBody>
      </p:sp>
      <p:sp>
        <p:nvSpPr>
          <p:cNvPr id="4" name="Env vars panel"/>
          <p:cNvSpPr/>
          <p:nvPr/>
        </p:nvSpPr>
        <p:spPr>
          <a:xfrm>
            <a:off x="548640" y="1965960"/>
            <a:ext cx="5943600" cy="2103120"/>
          </a:xfrm>
          <a:prstGeom prst="roundRect">
            <a:avLst>
              <a:gd name="adj" fmla="val 3478"/>
            </a:avLst>
          </a:prstGeom>
          <a:solidFill>
            <a:srgbClr val="1C1830"/>
          </a:solidFill>
          <a:ln w="12700">
            <a:solidFill>
              <a:srgbClr val="1C1830"/>
            </a:solidFill>
            <a:prstDash val="solid"/>
          </a:ln>
        </p:spPr>
        <p:txBody>
          <a:bodyPr/>
          <a:p/>
        </p:txBody>
      </p:sp>
      <p:sp>
        <p:nvSpPr>
          <p:cNvPr id="5" name="Env vars label"/>
          <p:cNvSpPr txBox="1"/>
          <p:nvPr/>
        </p:nvSpPr>
        <p:spPr>
          <a:xfrm>
            <a:off x="777240" y="2057400"/>
            <a:ext cx="5486400" cy="274320"/>
          </a:xfrm>
          <a:prstGeom prst="rect">
            <a:avLst/>
          </a:prstGeom>
          <a:noFill/>
          <a:ln/>
        </p:spPr>
        <p:txBody>
          <a:bodyPr wrap="square" lIns="0" tIns="0" rIns="0" bIns="0" rtlCol="0" anchor="ctr"/>
          <a:lstStyle/>
          <a:p>
            <a:pPr indent="0" marL="0">
              <a:buNone/>
            </a:pPr>
            <a:r>
              <a:rPr lang="en-US" sz="1000" b="1" spc="100" kern="0" dirty="0">
                <a:solidFill>
                  <a:srgbClr val="8B87A3"/>
                </a:solidFill>
                <a:latin typeface="Calibri" pitchFamily="34" charset="0"/>
                <a:ea typeface="Calibri" pitchFamily="34" charset="-122"/>
                <a:cs typeface="Calibri" pitchFamily="34" charset="-120"/>
              </a:rPr>
              <a:t>ENVIRONMENT VARIABLES SET BY ASPIRE</a:t>
            </a:r>
            <a:endParaRPr lang="en-US" sz="1000" dirty="0"/>
          </a:p>
        </p:txBody>
      </p:sp>
      <p:sp>
        <p:nvSpPr>
          <p:cNvPr id="6" name="Env vars text"/>
          <p:cNvSpPr txBox="1"/>
          <p:nvPr/>
        </p:nvSpPr>
        <p:spPr>
          <a:xfrm>
            <a:off x="777240" y="2377440"/>
            <a:ext cx="5486400" cy="1600200"/>
          </a:xfrm>
          <a:prstGeom prst="rect">
            <a:avLst/>
          </a:prstGeom>
          <a:noFill/>
          <a:ln/>
        </p:spPr>
        <p:txBody>
          <a:bodyPr wrap="square" lIns="0" tIns="0" rIns="0" bIns="0" rtlCol="0" anchor="t"/>
          <a:lstStyle/>
          <a:p>
            <a:pPr indent="0" marL="0">
              <a:buNone/>
            </a:pPr>
            <a:r>
              <a:rPr lang="en-US" sz="1100" i="1" dirty="0">
                <a:solidFill>
                  <a:srgbClr val="8B87A3"/>
                </a:solidFill>
                <a:latin typeface="Courier New" pitchFamily="34" charset="0"/>
                <a:ea typeface="Courier New" pitchFamily="34" charset="-122"/>
                <a:cs typeface="Courier New" pitchFamily="34" charset="-120"/>
              </a:rPr>
              <a:t>// catalogservice receives (example):</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ConnectionStrings__catalogdb</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Host</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localhost</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Port</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F8C77A"/>
                </a:solidFill>
                <a:latin typeface="Courier New" pitchFamily="34" charset="0"/>
                <a:ea typeface="Courier New" pitchFamily="34" charset="-122"/>
                <a:cs typeface="Courier New" pitchFamily="34" charset="-120"/>
              </a:rPr>
              <a:t>5432</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i="1" dirty="0">
                <a:solidFill>
                  <a:srgbClr val="8B87A3"/>
                </a:solidFill>
                <a:latin typeface="Courier New" pitchFamily="34" charset="0"/>
                <a:ea typeface="Courier New" pitchFamily="34" charset="-122"/>
                <a:cs typeface="Courier New" pitchFamily="34" charset="-120"/>
              </a:rPr>
              <a:t>// frontend receives (example):</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services__catalogservice__https__0</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https</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localhost</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F8C77A"/>
                </a:solidFill>
                <a:latin typeface="Courier New" pitchFamily="34" charset="0"/>
                <a:ea typeface="Courier New" pitchFamily="34" charset="-122"/>
                <a:cs typeface="Courier New" pitchFamily="34" charset="-120"/>
              </a:rPr>
              <a:t>7099</a:t>
            </a:r>
            <a:endParaRPr lang="en-US" sz="1100" dirty="0"/>
          </a:p>
        </p:txBody>
      </p:sp>
      <p:sp>
        <p:nvSpPr>
          <p:cNvPr id="7" name="Client code panel"/>
          <p:cNvSpPr/>
          <p:nvPr/>
        </p:nvSpPr>
        <p:spPr>
          <a:xfrm>
            <a:off x="6675120" y="1965960"/>
            <a:ext cx="4937760" cy="2103120"/>
          </a:xfrm>
          <a:prstGeom prst="roundRect">
            <a:avLst>
              <a:gd name="adj" fmla="val 3478"/>
            </a:avLst>
          </a:prstGeom>
          <a:solidFill>
            <a:srgbClr val="1C1830"/>
          </a:solidFill>
          <a:ln w="12700">
            <a:solidFill>
              <a:srgbClr val="1C1830"/>
            </a:solidFill>
            <a:prstDash val="solid"/>
          </a:ln>
        </p:spPr>
        <p:txBody>
          <a:bodyPr/>
          <a:p/>
        </p:txBody>
      </p:sp>
      <p:sp>
        <p:nvSpPr>
          <p:cNvPr id="8" name="Client code label"/>
          <p:cNvSpPr txBox="1"/>
          <p:nvPr/>
        </p:nvSpPr>
        <p:spPr>
          <a:xfrm>
            <a:off x="6903720" y="2057400"/>
            <a:ext cx="4480560" cy="274320"/>
          </a:xfrm>
          <a:prstGeom prst="rect">
            <a:avLst/>
          </a:prstGeom>
          <a:noFill/>
          <a:ln/>
        </p:spPr>
        <p:txBody>
          <a:bodyPr wrap="square" lIns="0" tIns="0" rIns="0" bIns="0" rtlCol="0" anchor="ctr"/>
          <a:lstStyle/>
          <a:p>
            <a:pPr indent="0" marL="0">
              <a:buNone/>
            </a:pPr>
            <a:r>
              <a:rPr lang="en-US" sz="1000" b="1" spc="100" kern="0" dirty="0">
                <a:solidFill>
                  <a:srgbClr val="8B87A3"/>
                </a:solidFill>
                <a:latin typeface="Calibri" pitchFamily="34" charset="0"/>
                <a:ea typeface="Calibri" pitchFamily="34" charset="-122"/>
                <a:cs typeface="Calibri" pitchFamily="34" charset="-120"/>
              </a:rPr>
              <a:t>C#  ·  INSIDE THE SERVICE</a:t>
            </a:r>
            <a:endParaRPr lang="en-US" sz="1000" dirty="0"/>
          </a:p>
        </p:txBody>
      </p:sp>
      <p:sp>
        <p:nvSpPr>
          <p:cNvPr id="9" name="Client code text"/>
          <p:cNvSpPr txBox="1"/>
          <p:nvPr/>
        </p:nvSpPr>
        <p:spPr>
          <a:xfrm>
            <a:off x="6903720" y="2377440"/>
            <a:ext cx="4480560" cy="1600200"/>
          </a:xfrm>
          <a:prstGeom prst="rect">
            <a:avLst/>
          </a:prstGeom>
          <a:noFill/>
          <a:ln/>
        </p:spPr>
        <p:txBody>
          <a:bodyPr wrap="square" lIns="0" tIns="0" rIns="0" bIns="0" rtlCol="0" anchor="t"/>
          <a:lstStyle/>
          <a:p>
            <a:pPr indent="0" marL="0">
              <a:buNone/>
            </a:pPr>
            <a:r>
              <a:rPr lang="en-US" sz="1100" i="1" dirty="0">
                <a:solidFill>
                  <a:srgbClr val="8B87A3"/>
                </a:solidFill>
                <a:latin typeface="Courier New" pitchFamily="34" charset="0"/>
                <a:ea typeface="Courier New" pitchFamily="34" charset="-122"/>
                <a:cs typeface="Courier New" pitchFamily="34" charset="-120"/>
              </a:rPr>
              <a:t>// CatalogService/Program.cs</a:t>
            </a:r>
            <a:endParaRPr lang="en-US" sz="1100" dirty="0"/>
          </a:p>
          <a:p>
            <a:pPr indent="0" marL="0">
              <a:buNone/>
            </a:pPr>
            <a:r>
              <a:rPr lang="en-US" sz="1100" dirty="0">
                <a:solidFill>
                  <a:srgbClr val="C4A7FF"/>
                </a:solidFill>
                <a:latin typeface="Courier New" pitchFamily="34" charset="0"/>
                <a:ea typeface="Courier New" pitchFamily="34" charset="-122"/>
                <a:cs typeface="Courier New" pitchFamily="34" charset="-120"/>
              </a:rPr>
              <a:t>var</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builder</a:t>
            </a:r>
            <a:pPr indent="0" marL="0">
              <a:buNone/>
            </a:pPr>
            <a:r>
              <a:rPr lang="en-US" sz="1100" dirty="0">
                <a:solidFill>
                  <a:srgbClr val="E8E6F0"/>
                </a:solidFill>
                <a:latin typeface="Courier New" pitchFamily="34" charset="0"/>
                <a:ea typeface="Courier New" pitchFamily="34" charset="-122"/>
                <a:cs typeface="Courier New" pitchFamily="34" charset="-120"/>
              </a:rPr>
              <a:t> = </a:t>
            </a:r>
            <a:pPr indent="0" marL="0">
              <a:buNone/>
            </a:pPr>
            <a:r>
              <a:rPr lang="en-US" sz="1100" dirty="0">
                <a:solidFill>
                  <a:srgbClr val="E8E6F0"/>
                </a:solidFill>
                <a:latin typeface="Courier New" pitchFamily="34" charset="0"/>
                <a:ea typeface="Courier New" pitchFamily="34" charset="-122"/>
                <a:cs typeface="Courier New" pitchFamily="34" charset="-120"/>
              </a:rPr>
              <a:t>WebApplication</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CreateBuilder</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args</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builder</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AddServiceDefaults</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i="1" dirty="0">
                <a:solidFill>
                  <a:srgbClr val="8B87A3"/>
                </a:solidFill>
                <a:latin typeface="Courier New" pitchFamily="34" charset="0"/>
                <a:ea typeface="Courier New" pitchFamily="34" charset="-122"/>
                <a:cs typeface="Courier New" pitchFamily="34" charset="-120"/>
              </a:rPr>
              <a:t>// Reads ConnectionStrings__catalogdb for you</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builder</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AddNpgsqlDataSource</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8FE3B0"/>
                </a:solidFill>
                <a:latin typeface="Courier New" pitchFamily="34" charset="0"/>
                <a:ea typeface="Courier New" pitchFamily="34" charset="-122"/>
                <a:cs typeface="Courier New" pitchFamily="34" charset="-120"/>
              </a:rPr>
              <a:t>"catalogdb"</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p:txBody>
      </p:sp>
      <p:sp>
        <p:nvSpPr>
          <p:cNvPr id="10" name="Ref card 0"/>
          <p:cNvSpPr/>
          <p:nvPr/>
        </p:nvSpPr>
        <p:spPr>
          <a:xfrm>
            <a:off x="548640" y="4297680"/>
            <a:ext cx="3566160" cy="1874520"/>
          </a:xfrm>
          <a:prstGeom prst="roundRect">
            <a:avLst>
              <a:gd name="adj" fmla="val 4878"/>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txBody>
          <a:bodyPr/>
          <a:p/>
        </p:txBody>
      </p:sp>
      <p:sp>
        <p:nvSpPr>
          <p:cNvPr id="11" name="Ref 0 circle"/>
          <p:cNvSpPr/>
          <p:nvPr/>
        </p:nvSpPr>
        <p:spPr>
          <a:xfrm>
            <a:off x="777240" y="4526280"/>
            <a:ext cx="548640" cy="548640"/>
          </a:xfrm>
          <a:prstGeom prst="ellipse">
            <a:avLst/>
          </a:prstGeom>
          <a:solidFill>
            <a:schemeClr val="bg2"/>
          </a:solidFill>
          <a:ln w="12700">
            <a:solidFill>
              <a:schemeClr val="bg2"/>
            </a:solidFill>
            <a:prstDash val="solid"/>
          </a:ln>
        </p:spPr>
        <p:txBody>
          <a:bodyPr/>
          <a:p/>
        </p:txBody>
      </p:sp>
      <p:pic>
        <p:nvPicPr>
          <p:cNvPr id="12" name="Ref 0 icon" descr="preencoded.png">    </p:cNvPr>
          <p:cNvPicPr>
            <a:picLocks noChangeAspect="1"/>
          </p:cNvPicPr>
          <p:nvPr/>
        </p:nvPicPr>
        <p:blipFill>
          <a:blip r:embed="rId1"/>
          <a:stretch>
            <a:fillRect/>
          </a:stretch>
        </p:blipFill>
        <p:spPr>
          <a:xfrm>
            <a:off x="914400" y="4663440"/>
            <a:ext cx="274320" cy="274320"/>
          </a:xfrm>
          <a:prstGeom prst="rect">
            <a:avLst/>
          </a:prstGeom>
        </p:spPr>
      </p:pic>
      <p:sp>
        <p:nvSpPr>
          <p:cNvPr id="13" name="Ref title 0"/>
          <p:cNvSpPr txBox="1"/>
          <p:nvPr/>
        </p:nvSpPr>
        <p:spPr>
          <a:xfrm>
            <a:off x="1463040" y="4526280"/>
            <a:ext cx="2468880" cy="548640"/>
          </a:xfrm>
          <a:prstGeom prst="rect">
            <a:avLst/>
          </a:prstGeom>
          <a:noFill/>
          <a:ln/>
        </p:spPr>
        <p:txBody>
          <a:bodyPr wrap="square" lIns="0" tIns="0" rIns="0" bIns="0" rtlCol="0" anchor="ctr"/>
          <a:lstStyle/>
          <a:p>
            <a:pPr indent="0" marL="0">
              <a:buNone/>
            </a:pPr>
            <a:r>
              <a:rPr lang="en-US" sz="1600" b="1" dirty="0">
                <a:solidFill>
                  <a:schemeClr val="tx2"/>
                </a:solidFill>
              </a:rPr>
              <a:t>Find services by name</a:t>
            </a:r>
            <a:endParaRPr lang="en-US" sz="1600" dirty="0"/>
          </a:p>
        </p:txBody>
      </p:sp>
      <p:sp>
        <p:nvSpPr>
          <p:cNvPr id="14" name="Ref body 0"/>
          <p:cNvSpPr txBox="1"/>
          <p:nvPr/>
        </p:nvSpPr>
        <p:spPr>
          <a:xfrm>
            <a:off x="777240" y="5166360"/>
            <a:ext cx="3108960" cy="914400"/>
          </a:xfrm>
          <a:prstGeom prst="rect">
            <a:avLst/>
          </a:prstGeom>
          <a:noFill/>
          <a:ln/>
        </p:spPr>
        <p:txBody>
          <a:bodyPr wrap="square" lIns="0" tIns="0" rIns="0" bIns="0" rtlCol="0" anchor="t"/>
          <a:lstStyle/>
          <a:p>
            <a:pPr indent="0" marL="0">
              <a:buNone/>
            </a:pPr>
            <a:r>
              <a:rPr lang="en-US" sz="1350" dirty="0">
                <a:solidFill>
                  <a:schemeClr val="tx1"/>
                </a:solidFill>
              </a:rPr>
              <a:t>Front end calls "catalogservice", not a hard-coded port. Ports change; names don't.</a:t>
            </a:r>
            <a:endParaRPr lang="en-US" sz="1350" dirty="0"/>
          </a:p>
        </p:txBody>
      </p:sp>
      <p:sp>
        <p:nvSpPr>
          <p:cNvPr id="15" name="Ref card 1"/>
          <p:cNvSpPr/>
          <p:nvPr/>
        </p:nvSpPr>
        <p:spPr>
          <a:xfrm>
            <a:off x="4297680" y="4297680"/>
            <a:ext cx="3566160" cy="1874520"/>
          </a:xfrm>
          <a:prstGeom prst="roundRect">
            <a:avLst>
              <a:gd name="adj" fmla="val 4878"/>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txBody>
          <a:bodyPr/>
          <a:p/>
        </p:txBody>
      </p:sp>
      <p:sp>
        <p:nvSpPr>
          <p:cNvPr id="16" name="Ref 1 circle"/>
          <p:cNvSpPr/>
          <p:nvPr/>
        </p:nvSpPr>
        <p:spPr>
          <a:xfrm>
            <a:off x="4526280" y="4526280"/>
            <a:ext cx="548640" cy="548640"/>
          </a:xfrm>
          <a:prstGeom prst="ellipse">
            <a:avLst/>
          </a:prstGeom>
          <a:solidFill>
            <a:schemeClr val="bg2"/>
          </a:solidFill>
          <a:ln w="12700">
            <a:solidFill>
              <a:schemeClr val="bg2"/>
            </a:solidFill>
            <a:prstDash val="solid"/>
          </a:ln>
        </p:spPr>
        <p:txBody>
          <a:bodyPr/>
          <a:p/>
        </p:txBody>
      </p:sp>
      <p:pic>
        <p:nvPicPr>
          <p:cNvPr id="17" name="Ref 1 icon" descr="preencoded.png">    </p:cNvPr>
          <p:cNvPicPr>
            <a:picLocks noChangeAspect="1"/>
          </p:cNvPicPr>
          <p:nvPr/>
        </p:nvPicPr>
        <p:blipFill>
          <a:blip r:embed="rId2"/>
          <a:stretch>
            <a:fillRect/>
          </a:stretch>
        </p:blipFill>
        <p:spPr>
          <a:xfrm>
            <a:off x="4663440" y="4663440"/>
            <a:ext cx="274320" cy="274320"/>
          </a:xfrm>
          <a:prstGeom prst="rect">
            <a:avLst/>
          </a:prstGeom>
        </p:spPr>
      </p:pic>
      <p:sp>
        <p:nvSpPr>
          <p:cNvPr id="18" name="Ref title 1"/>
          <p:cNvSpPr txBox="1"/>
          <p:nvPr/>
        </p:nvSpPr>
        <p:spPr>
          <a:xfrm>
            <a:off x="5212080" y="4526280"/>
            <a:ext cx="2468880" cy="548640"/>
          </a:xfrm>
          <a:prstGeom prst="rect">
            <a:avLst/>
          </a:prstGeom>
          <a:noFill/>
          <a:ln/>
        </p:spPr>
        <p:txBody>
          <a:bodyPr wrap="square" lIns="0" tIns="0" rIns="0" bIns="0" rtlCol="0" anchor="ctr"/>
          <a:lstStyle/>
          <a:p>
            <a:pPr indent="0" marL="0">
              <a:buNone/>
            </a:pPr>
            <a:r>
              <a:rPr lang="en-US" sz="1600" b="1" dirty="0">
                <a:solidFill>
                  <a:schemeClr val="tx2"/>
                </a:solidFill>
              </a:rPr>
              <a:t>Connect to databases</a:t>
            </a:r>
            <a:endParaRPr lang="en-US" sz="1600" dirty="0"/>
          </a:p>
        </p:txBody>
      </p:sp>
      <p:sp>
        <p:nvSpPr>
          <p:cNvPr id="19" name="Ref body 1"/>
          <p:cNvSpPr txBox="1"/>
          <p:nvPr/>
        </p:nvSpPr>
        <p:spPr>
          <a:xfrm>
            <a:off x="4526280" y="5166360"/>
            <a:ext cx="3108960" cy="914400"/>
          </a:xfrm>
          <a:prstGeom prst="rect">
            <a:avLst/>
          </a:prstGeom>
          <a:noFill/>
          <a:ln/>
        </p:spPr>
        <p:txBody>
          <a:bodyPr wrap="square" lIns="0" tIns="0" rIns="0" bIns="0" rtlCol="0" anchor="t"/>
          <a:lstStyle/>
          <a:p>
            <a:pPr indent="0" marL="0">
              <a:buNone/>
            </a:pPr>
            <a:r>
              <a:rPr lang="en-US" sz="1350" dirty="0">
                <a:solidFill>
                  <a:schemeClr val="tx1"/>
                </a:solidFill>
              </a:rPr>
              <a:t>Each service gets connection string for database or cache it references.</a:t>
            </a:r>
            <a:endParaRPr lang="en-US" sz="1350" dirty="0"/>
          </a:p>
        </p:txBody>
      </p:sp>
      <p:sp>
        <p:nvSpPr>
          <p:cNvPr id="20" name="Ref card 2"/>
          <p:cNvSpPr/>
          <p:nvPr/>
        </p:nvSpPr>
        <p:spPr>
          <a:xfrm>
            <a:off x="8046720" y="4297680"/>
            <a:ext cx="3566160" cy="1874520"/>
          </a:xfrm>
          <a:prstGeom prst="roundRect">
            <a:avLst>
              <a:gd name="adj" fmla="val 4878"/>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txBody>
          <a:bodyPr/>
          <a:p/>
        </p:txBody>
      </p:sp>
      <p:sp>
        <p:nvSpPr>
          <p:cNvPr id="21" name="Ref 2 circle"/>
          <p:cNvSpPr/>
          <p:nvPr/>
        </p:nvSpPr>
        <p:spPr>
          <a:xfrm>
            <a:off x="8275320" y="4526280"/>
            <a:ext cx="548640" cy="548640"/>
          </a:xfrm>
          <a:prstGeom prst="ellipse">
            <a:avLst/>
          </a:prstGeom>
          <a:solidFill>
            <a:schemeClr val="bg2"/>
          </a:solidFill>
          <a:ln w="12700">
            <a:solidFill>
              <a:schemeClr val="bg2"/>
            </a:solidFill>
            <a:prstDash val="solid"/>
          </a:ln>
        </p:spPr>
        <p:txBody>
          <a:bodyPr/>
          <a:p/>
        </p:txBody>
      </p:sp>
      <p:pic>
        <p:nvPicPr>
          <p:cNvPr id="22" name="Ref 2 icon" descr="preencoded.png">    </p:cNvPr>
          <p:cNvPicPr>
            <a:picLocks noChangeAspect="1"/>
          </p:cNvPicPr>
          <p:nvPr/>
        </p:nvPicPr>
        <p:blipFill>
          <a:blip r:embed="rId3"/>
          <a:stretch>
            <a:fillRect/>
          </a:stretch>
        </p:blipFill>
        <p:spPr>
          <a:xfrm>
            <a:off x="8412480" y="4663440"/>
            <a:ext cx="274320" cy="274320"/>
          </a:xfrm>
          <a:prstGeom prst="rect">
            <a:avLst/>
          </a:prstGeom>
        </p:spPr>
      </p:pic>
      <p:sp>
        <p:nvSpPr>
          <p:cNvPr id="23" name="Ref title 2"/>
          <p:cNvSpPr txBox="1"/>
          <p:nvPr/>
        </p:nvSpPr>
        <p:spPr>
          <a:xfrm>
            <a:off x="8961120" y="4526280"/>
            <a:ext cx="2468880" cy="548640"/>
          </a:xfrm>
          <a:prstGeom prst="rect">
            <a:avLst/>
          </a:prstGeom>
          <a:noFill/>
          <a:ln/>
        </p:spPr>
        <p:txBody>
          <a:bodyPr wrap="square" lIns="0" tIns="0" rIns="0" bIns="0" rtlCol="0" anchor="ctr"/>
          <a:lstStyle/>
          <a:p>
            <a:pPr indent="0" marL="0">
              <a:buNone/>
            </a:pPr>
            <a:r>
              <a:rPr lang="en-US" sz="1600" b="1" dirty="0">
                <a:solidFill>
                  <a:schemeClr val="tx2"/>
                </a:solidFill>
              </a:rPr>
              <a:t>Any language</a:t>
            </a:r>
            <a:endParaRPr lang="en-US" sz="1600" dirty="0"/>
          </a:p>
        </p:txBody>
      </p:sp>
      <p:sp>
        <p:nvSpPr>
          <p:cNvPr id="24" name="Ref body 2"/>
          <p:cNvSpPr txBox="1"/>
          <p:nvPr/>
        </p:nvSpPr>
        <p:spPr>
          <a:xfrm>
            <a:off x="8275320" y="5166360"/>
            <a:ext cx="3108960" cy="914400"/>
          </a:xfrm>
          <a:prstGeom prst="rect">
            <a:avLst/>
          </a:prstGeom>
          <a:noFill/>
          <a:ln/>
        </p:spPr>
        <p:txBody>
          <a:bodyPr wrap="square" lIns="0" tIns="0" rIns="0" bIns="0" rtlCol="0" anchor="t"/>
          <a:lstStyle/>
          <a:p>
            <a:pPr indent="0" marL="0">
              <a:buNone/>
            </a:pPr>
            <a:r>
              <a:rPr lang="en-US" sz="1350" dirty="0">
                <a:solidFill>
                  <a:schemeClr val="tx1"/>
                </a:solidFill>
              </a:rPr>
              <a:t>Node.js, Python, Go, Java can all read environment variables.</a:t>
            </a:r>
            <a:endParaRPr lang="en-US" sz="13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Service defaults: telemetry in one line</a:t>
            </a:r>
            <a:endParaRPr lang="en-US" sz="3400" dirty="0"/>
          </a:p>
        </p:txBody>
      </p:sp>
      <p:sp>
        <p:nvSpPr>
          <p:cNvPr id="3" name="Service defaults panel"/>
          <p:cNvSpPr/>
          <p:nvPr/>
        </p:nvSpPr>
        <p:spPr>
          <a:xfrm>
            <a:off x="548640" y="1280160"/>
            <a:ext cx="5852160" cy="3657600"/>
          </a:xfrm>
          <a:prstGeom prst="roundRect">
            <a:avLst>
              <a:gd name="adj" fmla="val 2000"/>
            </a:avLst>
          </a:prstGeom>
          <a:solidFill>
            <a:srgbClr val="1C1830"/>
          </a:solidFill>
          <a:ln w="12700">
            <a:solidFill>
              <a:srgbClr val="1C1830"/>
            </a:solidFill>
            <a:prstDash val="solid"/>
          </a:ln>
        </p:spPr>
        <p:txBody>
          <a:bodyPr/>
          <a:p/>
        </p:txBody>
      </p:sp>
      <p:sp>
        <p:nvSpPr>
          <p:cNvPr id="4" name="Service defaults label"/>
          <p:cNvSpPr txBox="1"/>
          <p:nvPr/>
        </p:nvSpPr>
        <p:spPr>
          <a:xfrm>
            <a:off x="777240" y="1371600"/>
            <a:ext cx="5394960" cy="274320"/>
          </a:xfrm>
          <a:prstGeom prst="rect">
            <a:avLst/>
          </a:prstGeom>
          <a:noFill/>
          <a:ln/>
        </p:spPr>
        <p:txBody>
          <a:bodyPr wrap="square" lIns="0" tIns="0" rIns="0" bIns="0" rtlCol="0" anchor="ctr"/>
          <a:lstStyle/>
          <a:p>
            <a:pPr indent="0" marL="0">
              <a:buNone/>
            </a:pPr>
            <a:r>
              <a:rPr lang="en-US" sz="1000" b="1" spc="100" kern="0" dirty="0">
                <a:solidFill>
                  <a:srgbClr val="8B87A3"/>
                </a:solidFill>
                <a:latin typeface="Calibri" pitchFamily="34" charset="0"/>
                <a:ea typeface="Calibri" pitchFamily="34" charset="-122"/>
                <a:cs typeface="Calibri" pitchFamily="34" charset="-120"/>
              </a:rPr>
              <a:t>C#  ·  Program.cs</a:t>
            </a:r>
            <a:endParaRPr lang="en-US" sz="1000" dirty="0"/>
          </a:p>
        </p:txBody>
      </p:sp>
      <p:sp>
        <p:nvSpPr>
          <p:cNvPr id="5" name="Service defaults text"/>
          <p:cNvSpPr txBox="1"/>
          <p:nvPr/>
        </p:nvSpPr>
        <p:spPr>
          <a:xfrm>
            <a:off x="777240" y="1691640"/>
            <a:ext cx="5394960" cy="3154680"/>
          </a:xfrm>
          <a:prstGeom prst="rect">
            <a:avLst/>
          </a:prstGeom>
          <a:noFill/>
          <a:ln/>
        </p:spPr>
        <p:txBody>
          <a:bodyPr wrap="square" lIns="0" tIns="0" rIns="0" bIns="0" rtlCol="0" anchor="t"/>
          <a:lstStyle/>
          <a:p>
            <a:pPr indent="0" marL="0">
              <a:buNone/>
            </a:pPr>
            <a:r>
              <a:rPr lang="en-US" sz="1300" i="1" dirty="0">
                <a:solidFill>
                  <a:srgbClr val="8B87A3"/>
                </a:solidFill>
                <a:latin typeface="Courier New" pitchFamily="34" charset="0"/>
                <a:ea typeface="Courier New" pitchFamily="34" charset="-122"/>
                <a:cs typeface="Courier New" pitchFamily="34" charset="-120"/>
              </a:rPr>
              <a:t>// Any .NET service · Program.cs</a:t>
            </a:r>
            <a:endParaRPr lang="en-US" sz="1300" dirty="0"/>
          </a:p>
          <a:p>
            <a:pPr indent="0" marL="0">
              <a:buNone/>
            </a:pPr>
            <a:r>
              <a:rPr lang="en-US" sz="1300" dirty="0">
                <a:solidFill>
                  <a:srgbClr val="C4A7FF"/>
                </a:solidFill>
                <a:latin typeface="Courier New" pitchFamily="34" charset="0"/>
                <a:ea typeface="Courier New" pitchFamily="34" charset="-122"/>
                <a:cs typeface="Courier New" pitchFamily="34" charset="-120"/>
              </a:rPr>
              <a:t>var</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builder</a:t>
            </a:r>
            <a:pPr indent="0" marL="0">
              <a:buNone/>
            </a:pPr>
            <a:r>
              <a:rPr lang="en-US" sz="1300" dirty="0">
                <a:solidFill>
                  <a:srgbClr val="E8E6F0"/>
                </a:solidFill>
                <a:latin typeface="Courier New" pitchFamily="34" charset="0"/>
                <a:ea typeface="Courier New" pitchFamily="34" charset="-122"/>
                <a:cs typeface="Courier New" pitchFamily="34" charset="-120"/>
              </a:rPr>
              <a:t> = </a:t>
            </a:r>
            <a:pPr indent="0" marL="0">
              <a:buNone/>
            </a:pPr>
            <a:r>
              <a:rPr lang="en-US" sz="1300" dirty="0">
                <a:solidFill>
                  <a:srgbClr val="E8E6F0"/>
                </a:solidFill>
                <a:latin typeface="Courier New" pitchFamily="34" charset="0"/>
                <a:ea typeface="Courier New" pitchFamily="34" charset="-122"/>
                <a:cs typeface="Courier New" pitchFamily="34" charset="-120"/>
              </a:rPr>
              <a:t>WebApplication</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CreateBuilder</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args</a:t>
            </a:r>
            <a:pPr indent="0" marL="0">
              <a:buNone/>
            </a:pPr>
            <a:r>
              <a:rPr lang="en-US" sz="1300" dirty="0">
                <a:solidFill>
                  <a:srgbClr val="E8E6F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endParaRPr lang="en-US" sz="1300" dirty="0"/>
          </a:p>
          <a:p>
            <a:pPr indent="0" marL="0">
              <a:buNone/>
            </a:pPr>
            <a:r>
              <a:rPr lang="en-US" sz="1300" i="1" dirty="0">
                <a:solidFill>
                  <a:srgbClr val="8B87A3"/>
                </a:solidFill>
                <a:latin typeface="Courier New" pitchFamily="34" charset="0"/>
                <a:ea typeface="Courier New" pitchFamily="34" charset="-122"/>
                <a:cs typeface="Courier New" pitchFamily="34" charset="-120"/>
              </a:rPr>
              <a:t>// One line, from the ServiceDefaults project</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builder</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AddServiceDefaults</a:t>
            </a:r>
            <a:pPr indent="0" marL="0">
              <a:buNone/>
            </a:pPr>
            <a:r>
              <a:rPr lang="en-US" sz="1300" dirty="0">
                <a:solidFill>
                  <a:srgbClr val="E8E6F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C4A7FF"/>
                </a:solidFill>
                <a:latin typeface="Courier New" pitchFamily="34" charset="0"/>
                <a:ea typeface="Courier New" pitchFamily="34" charset="-122"/>
                <a:cs typeface="Courier New" pitchFamily="34" charset="-120"/>
              </a:rPr>
              <a:t>var</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app</a:t>
            </a:r>
            <a:pPr indent="0" marL="0">
              <a:buNone/>
            </a:pPr>
            <a:r>
              <a:rPr lang="en-US" sz="1300" dirty="0">
                <a:solidFill>
                  <a:srgbClr val="E8E6F0"/>
                </a:solidFill>
                <a:latin typeface="Courier New" pitchFamily="34" charset="0"/>
                <a:ea typeface="Courier New" pitchFamily="34" charset="-122"/>
                <a:cs typeface="Courier New" pitchFamily="34" charset="-120"/>
              </a:rPr>
              <a:t> = </a:t>
            </a:r>
            <a:pPr indent="0" marL="0">
              <a:buNone/>
            </a:pPr>
            <a:r>
              <a:rPr lang="en-US" sz="1300" dirty="0">
                <a:solidFill>
                  <a:srgbClr val="E8E6F0"/>
                </a:solidFill>
                <a:latin typeface="Courier New" pitchFamily="34" charset="0"/>
                <a:ea typeface="Courier New" pitchFamily="34" charset="-122"/>
                <a:cs typeface="Courier New" pitchFamily="34" charset="-120"/>
              </a:rPr>
              <a:t>builder</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Build</a:t>
            </a:r>
            <a:pPr indent="0" marL="0">
              <a:buNone/>
            </a:pPr>
            <a:r>
              <a:rPr lang="en-US" sz="1300" dirty="0">
                <a:solidFill>
                  <a:srgbClr val="E8E6F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endParaRPr lang="en-US" sz="1300" dirty="0"/>
          </a:p>
          <a:p>
            <a:pPr indent="0" marL="0">
              <a:buNone/>
            </a:pPr>
            <a:r>
              <a:rPr lang="en-US" sz="1300" i="1" dirty="0">
                <a:solidFill>
                  <a:srgbClr val="8B87A3"/>
                </a:solidFill>
                <a:latin typeface="Courier New" pitchFamily="34" charset="0"/>
                <a:ea typeface="Courier New" pitchFamily="34" charset="-122"/>
                <a:cs typeface="Courier New" pitchFamily="34" charset="-120"/>
              </a:rPr>
              <a:t>// Adds the /health and /alive endpoints</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app</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MapDefaultEndpoints</a:t>
            </a:r>
            <a:pPr indent="0" marL="0">
              <a:buNone/>
            </a:pPr>
            <a:r>
              <a:rPr lang="en-US" sz="1300" dirty="0">
                <a:solidFill>
                  <a:srgbClr val="E8E6F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app</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Run</a:t>
            </a:r>
            <a:pPr indent="0" marL="0">
              <a:buNone/>
            </a:pPr>
            <a:r>
              <a:rPr lang="en-US" sz="1300" dirty="0">
                <a:solidFill>
                  <a:srgbClr val="E8E6F0"/>
                </a:solidFill>
                <a:latin typeface="Courier New" pitchFamily="34" charset="0"/>
                <a:ea typeface="Courier New" pitchFamily="34" charset="-122"/>
                <a:cs typeface="Courier New" pitchFamily="34" charset="-120"/>
              </a:rPr>
              <a:t>();</a:t>
            </a:r>
            <a:endParaRPr lang="en-US" sz="1300" dirty="0"/>
          </a:p>
        </p:txBody>
      </p:sp>
      <p:sp>
        <p:nvSpPr>
          <p:cNvPr id="6" name="Non-dotnet panel"/>
          <p:cNvSpPr/>
          <p:nvPr/>
        </p:nvSpPr>
        <p:spPr>
          <a:xfrm>
            <a:off x="548640" y="5120640"/>
            <a:ext cx="5852160" cy="1051560"/>
          </a:xfrm>
          <a:prstGeom prst="roundRect">
            <a:avLst>
              <a:gd name="adj" fmla="val 8696"/>
            </a:avLst>
          </a:prstGeom>
          <a:solidFill>
            <a:schemeClr val="bg2"/>
          </a:solidFill>
          <a:ln w="12700">
            <a:solidFill>
              <a:schemeClr val="bg2"/>
            </a:solidFill>
            <a:prstDash val="solid"/>
          </a:ln>
        </p:spPr>
        <p:txBody>
          <a:bodyPr/>
          <a:p/>
        </p:txBody>
      </p:sp>
      <p:sp>
        <p:nvSpPr>
          <p:cNvPr id="7" name="Non-dotnet text"/>
          <p:cNvSpPr txBox="1"/>
          <p:nvPr/>
        </p:nvSpPr>
        <p:spPr>
          <a:xfrm>
            <a:off x="777240" y="5166360"/>
            <a:ext cx="5440680" cy="960120"/>
          </a:xfrm>
          <a:prstGeom prst="rect">
            <a:avLst/>
          </a:prstGeom>
          <a:noFill/>
          <a:ln/>
        </p:spPr>
        <p:txBody>
          <a:bodyPr wrap="square" lIns="0" tIns="0" rIns="0" bIns="0" rtlCol="0" anchor="ctr"/>
          <a:lstStyle/>
          <a:p>
            <a:pPr indent="0" marL="0">
              <a:buNone/>
            </a:pPr>
            <a:r>
              <a:rPr lang="en-US" sz="1350" b="1" dirty="0">
                <a:solidFill>
                  <a:schemeClr val="tx2"/>
                </a:solidFill>
              </a:rPr>
              <a:t>Not .NET?  </a:t>
            </a:r>
            <a:pPr indent="0" marL="0">
              <a:buNone/>
            </a:pPr>
            <a:r>
              <a:rPr lang="en-US" sz="1350" dirty="0">
                <a:solidFill>
                  <a:schemeClr val="tx1"/>
                </a:solidFill>
              </a:rPr>
              <a:t>Aspire sets OTEL_EXPORTER_OTLP_ENDPOINT, so any OpenTelemetry library reports to dashboard.</a:t>
            </a:r>
            <a:endParaRPr lang="en-US" sz="1350" dirty="0"/>
          </a:p>
        </p:txBody>
      </p:sp>
      <p:sp>
        <p:nvSpPr>
          <p:cNvPr id="8" name="OpenTelemetry circle"/>
          <p:cNvSpPr/>
          <p:nvPr/>
        </p:nvSpPr>
        <p:spPr>
          <a:xfrm>
            <a:off x="6720840" y="1325880"/>
            <a:ext cx="731520" cy="731520"/>
          </a:xfrm>
          <a:prstGeom prst="ellipse">
            <a:avLst/>
          </a:prstGeom>
          <a:solidFill>
            <a:schemeClr val="bg2"/>
          </a:solidFill>
          <a:ln w="12700">
            <a:solidFill>
              <a:schemeClr val="bg2"/>
            </a:solidFill>
            <a:prstDash val="solid"/>
          </a:ln>
        </p:spPr>
        <p:txBody>
          <a:bodyPr/>
          <a:p/>
        </p:txBody>
      </p:sp>
      <p:pic>
        <p:nvPicPr>
          <p:cNvPr id="9" name="OpenTelemetry icon" descr="preencoded.png">    </p:cNvPr>
          <p:cNvPicPr>
            <a:picLocks noChangeAspect="1"/>
          </p:cNvPicPr>
          <p:nvPr/>
        </p:nvPicPr>
        <p:blipFill>
          <a:blip r:embed="rId1"/>
          <a:stretch>
            <a:fillRect/>
          </a:stretch>
        </p:blipFill>
        <p:spPr>
          <a:xfrm>
            <a:off x="6903720" y="1508760"/>
            <a:ext cx="365760" cy="365760"/>
          </a:xfrm>
          <a:prstGeom prst="rect">
            <a:avLst/>
          </a:prstGeom>
        </p:spPr>
      </p:pic>
      <p:sp>
        <p:nvSpPr>
          <p:cNvPr id="10" name="OpenTelemetry title"/>
          <p:cNvSpPr txBox="1"/>
          <p:nvPr/>
        </p:nvSpPr>
        <p:spPr>
          <a:xfrm>
            <a:off x="7635240" y="1307592"/>
            <a:ext cx="3977640" cy="365760"/>
          </a:xfrm>
          <a:prstGeom prst="rect">
            <a:avLst/>
          </a:prstGeom>
          <a:noFill/>
          <a:ln/>
        </p:spPr>
        <p:txBody>
          <a:bodyPr wrap="square" lIns="0" tIns="0" rIns="0" bIns="0" rtlCol="0" anchor="ctr"/>
          <a:lstStyle/>
          <a:p>
            <a:pPr indent="0" marL="0">
              <a:buNone/>
            </a:pPr>
            <a:r>
              <a:rPr lang="en-US" sz="1700" b="1" dirty="0">
                <a:solidFill>
                  <a:schemeClr val="tx2"/>
                </a:solidFill>
              </a:rPr>
              <a:t>OpenTelemetry</a:t>
            </a:r>
            <a:endParaRPr lang="en-US" sz="1700" dirty="0"/>
          </a:p>
        </p:txBody>
      </p:sp>
      <p:sp>
        <p:nvSpPr>
          <p:cNvPr id="11" name="OpenTelemetry body"/>
          <p:cNvSpPr txBox="1"/>
          <p:nvPr/>
        </p:nvSpPr>
        <p:spPr>
          <a:xfrm>
            <a:off x="7635240" y="1691640"/>
            <a:ext cx="3977640" cy="640080"/>
          </a:xfrm>
          <a:prstGeom prst="rect">
            <a:avLst/>
          </a:prstGeom>
          <a:noFill/>
          <a:ln/>
        </p:spPr>
        <p:txBody>
          <a:bodyPr wrap="square" lIns="0" tIns="0" rIns="0" bIns="0" rtlCol="0" anchor="t"/>
          <a:lstStyle/>
          <a:p>
            <a:pPr indent="0" marL="0">
              <a:buNone/>
            </a:pPr>
            <a:r>
              <a:rPr lang="en-US" sz="1400" dirty="0">
                <a:solidFill>
                  <a:schemeClr val="tx1"/>
                </a:solidFill>
              </a:rPr>
              <a:t>Logs, traces, metrics to dashboard</a:t>
            </a:r>
            <a:endParaRPr lang="en-US" sz="1400" dirty="0"/>
          </a:p>
        </p:txBody>
      </p:sp>
      <p:sp>
        <p:nvSpPr>
          <p:cNvPr id="12" name="Health checks circle"/>
          <p:cNvSpPr/>
          <p:nvPr/>
        </p:nvSpPr>
        <p:spPr>
          <a:xfrm>
            <a:off x="6720840" y="2542032"/>
            <a:ext cx="731520" cy="731520"/>
          </a:xfrm>
          <a:prstGeom prst="ellipse">
            <a:avLst/>
          </a:prstGeom>
          <a:solidFill>
            <a:schemeClr val="bg2"/>
          </a:solidFill>
          <a:ln w="12700">
            <a:solidFill>
              <a:schemeClr val="bg2"/>
            </a:solidFill>
            <a:prstDash val="solid"/>
          </a:ln>
        </p:spPr>
        <p:txBody>
          <a:bodyPr/>
          <a:p/>
        </p:txBody>
      </p:sp>
      <p:pic>
        <p:nvPicPr>
          <p:cNvPr id="13" name="Health checks icon" descr="preencoded.png">    </p:cNvPr>
          <p:cNvPicPr>
            <a:picLocks noChangeAspect="1"/>
          </p:cNvPicPr>
          <p:nvPr/>
        </p:nvPicPr>
        <p:blipFill>
          <a:blip r:embed="rId2"/>
          <a:stretch>
            <a:fillRect/>
          </a:stretch>
        </p:blipFill>
        <p:spPr>
          <a:xfrm>
            <a:off x="6903720" y="2724912"/>
            <a:ext cx="365760" cy="365760"/>
          </a:xfrm>
          <a:prstGeom prst="rect">
            <a:avLst/>
          </a:prstGeom>
        </p:spPr>
      </p:pic>
      <p:sp>
        <p:nvSpPr>
          <p:cNvPr id="14" name="Health checks title"/>
          <p:cNvSpPr txBox="1"/>
          <p:nvPr/>
        </p:nvSpPr>
        <p:spPr>
          <a:xfrm>
            <a:off x="7635240" y="2523744"/>
            <a:ext cx="3977640" cy="365760"/>
          </a:xfrm>
          <a:prstGeom prst="rect">
            <a:avLst/>
          </a:prstGeom>
          <a:noFill/>
          <a:ln/>
        </p:spPr>
        <p:txBody>
          <a:bodyPr wrap="square" lIns="0" tIns="0" rIns="0" bIns="0" rtlCol="0" anchor="ctr"/>
          <a:lstStyle/>
          <a:p>
            <a:pPr indent="0" marL="0">
              <a:buNone/>
            </a:pPr>
            <a:r>
              <a:rPr lang="en-US" sz="1700" b="1" dirty="0">
                <a:solidFill>
                  <a:schemeClr val="tx2"/>
                </a:solidFill>
              </a:rPr>
              <a:t>Health checks</a:t>
            </a:r>
            <a:endParaRPr lang="en-US" sz="1700" dirty="0"/>
          </a:p>
        </p:txBody>
      </p:sp>
      <p:sp>
        <p:nvSpPr>
          <p:cNvPr id="15" name="Health checks body"/>
          <p:cNvSpPr txBox="1"/>
          <p:nvPr/>
        </p:nvSpPr>
        <p:spPr>
          <a:xfrm>
            <a:off x="7635240" y="2907792"/>
            <a:ext cx="3977640" cy="640080"/>
          </a:xfrm>
          <a:prstGeom prst="rect">
            <a:avLst/>
          </a:prstGeom>
          <a:noFill/>
          <a:ln/>
        </p:spPr>
        <p:txBody>
          <a:bodyPr wrap="square" lIns="0" tIns="0" rIns="0" bIns="0" rtlCol="0" anchor="t"/>
          <a:lstStyle/>
          <a:p>
            <a:pPr indent="0" marL="0">
              <a:buNone/>
            </a:pPr>
            <a:r>
              <a:rPr lang="en-US" sz="1400" dirty="0">
                <a:solidFill>
                  <a:schemeClr val="tx1"/>
                </a:solidFill>
              </a:rPr>
              <a:t>Endpoints report alive and ready</a:t>
            </a:r>
            <a:endParaRPr lang="en-US" sz="1400" dirty="0"/>
          </a:p>
        </p:txBody>
      </p:sp>
      <p:sp>
        <p:nvSpPr>
          <p:cNvPr id="16" name="Service discovery circle"/>
          <p:cNvSpPr/>
          <p:nvPr/>
        </p:nvSpPr>
        <p:spPr>
          <a:xfrm>
            <a:off x="6720840" y="3758184"/>
            <a:ext cx="731520" cy="731520"/>
          </a:xfrm>
          <a:prstGeom prst="ellipse">
            <a:avLst/>
          </a:prstGeom>
          <a:solidFill>
            <a:schemeClr val="bg2"/>
          </a:solidFill>
          <a:ln w="12700">
            <a:solidFill>
              <a:schemeClr val="bg2"/>
            </a:solidFill>
            <a:prstDash val="solid"/>
          </a:ln>
        </p:spPr>
        <p:txBody>
          <a:bodyPr/>
          <a:p/>
        </p:txBody>
      </p:sp>
      <p:pic>
        <p:nvPicPr>
          <p:cNvPr id="17" name="Service discovery icon" descr="preencoded.png">    </p:cNvPr>
          <p:cNvPicPr>
            <a:picLocks noChangeAspect="1"/>
          </p:cNvPicPr>
          <p:nvPr/>
        </p:nvPicPr>
        <p:blipFill>
          <a:blip r:embed="rId3"/>
          <a:stretch>
            <a:fillRect/>
          </a:stretch>
        </p:blipFill>
        <p:spPr>
          <a:xfrm>
            <a:off x="6903720" y="3941064"/>
            <a:ext cx="365760" cy="365760"/>
          </a:xfrm>
          <a:prstGeom prst="rect">
            <a:avLst/>
          </a:prstGeom>
        </p:spPr>
      </p:pic>
      <p:sp>
        <p:nvSpPr>
          <p:cNvPr id="18" name="Service discovery title"/>
          <p:cNvSpPr txBox="1"/>
          <p:nvPr/>
        </p:nvSpPr>
        <p:spPr>
          <a:xfrm>
            <a:off x="7635240" y="3739896"/>
            <a:ext cx="3977640" cy="365760"/>
          </a:xfrm>
          <a:prstGeom prst="rect">
            <a:avLst/>
          </a:prstGeom>
          <a:noFill/>
          <a:ln/>
        </p:spPr>
        <p:txBody>
          <a:bodyPr wrap="square" lIns="0" tIns="0" rIns="0" bIns="0" rtlCol="0" anchor="ctr"/>
          <a:lstStyle/>
          <a:p>
            <a:pPr indent="0" marL="0">
              <a:buNone/>
            </a:pPr>
            <a:r>
              <a:rPr lang="en-US" sz="1700" b="1" dirty="0">
                <a:solidFill>
                  <a:schemeClr val="tx2"/>
                </a:solidFill>
              </a:rPr>
              <a:t>Service discovery</a:t>
            </a:r>
            <a:endParaRPr lang="en-US" sz="1700" dirty="0"/>
          </a:p>
        </p:txBody>
      </p:sp>
      <p:sp>
        <p:nvSpPr>
          <p:cNvPr id="19" name="Service discovery body"/>
          <p:cNvSpPr txBox="1"/>
          <p:nvPr/>
        </p:nvSpPr>
        <p:spPr>
          <a:xfrm>
            <a:off x="7635240" y="4123944"/>
            <a:ext cx="3977640" cy="640080"/>
          </a:xfrm>
          <a:prstGeom prst="rect">
            <a:avLst/>
          </a:prstGeom>
          <a:noFill/>
          <a:ln/>
        </p:spPr>
        <p:txBody>
          <a:bodyPr wrap="square" lIns="0" tIns="0" rIns="0" bIns="0" rtlCol="0" anchor="t"/>
          <a:lstStyle/>
          <a:p>
            <a:pPr indent="0" marL="0">
              <a:buNone/>
            </a:pPr>
            <a:r>
              <a:rPr lang="en-US" sz="1400" dirty="0">
                <a:solidFill>
                  <a:schemeClr val="tx1"/>
                </a:solidFill>
              </a:rPr>
              <a:t>Call other services by name</a:t>
            </a:r>
            <a:endParaRPr lang="en-US" sz="1400" dirty="0"/>
          </a:p>
        </p:txBody>
      </p:sp>
      <p:sp>
        <p:nvSpPr>
          <p:cNvPr id="20" name="Resilience circle"/>
          <p:cNvSpPr/>
          <p:nvPr/>
        </p:nvSpPr>
        <p:spPr>
          <a:xfrm>
            <a:off x="6720840" y="4974336"/>
            <a:ext cx="731520" cy="731520"/>
          </a:xfrm>
          <a:prstGeom prst="ellipse">
            <a:avLst/>
          </a:prstGeom>
          <a:solidFill>
            <a:schemeClr val="bg2"/>
          </a:solidFill>
          <a:ln w="12700">
            <a:solidFill>
              <a:schemeClr val="bg2"/>
            </a:solidFill>
            <a:prstDash val="solid"/>
          </a:ln>
        </p:spPr>
        <p:txBody>
          <a:bodyPr/>
          <a:p/>
        </p:txBody>
      </p:sp>
      <p:pic>
        <p:nvPicPr>
          <p:cNvPr id="21" name="Resilience icon" descr="preencoded.png">    </p:cNvPr>
          <p:cNvPicPr>
            <a:picLocks noChangeAspect="1"/>
          </p:cNvPicPr>
          <p:nvPr/>
        </p:nvPicPr>
        <p:blipFill>
          <a:blip r:embed="rId4"/>
          <a:stretch>
            <a:fillRect/>
          </a:stretch>
        </p:blipFill>
        <p:spPr>
          <a:xfrm>
            <a:off x="6903720" y="5157216"/>
            <a:ext cx="365760" cy="365760"/>
          </a:xfrm>
          <a:prstGeom prst="rect">
            <a:avLst/>
          </a:prstGeom>
        </p:spPr>
      </p:pic>
      <p:sp>
        <p:nvSpPr>
          <p:cNvPr id="22" name="Resilience title"/>
          <p:cNvSpPr txBox="1"/>
          <p:nvPr/>
        </p:nvSpPr>
        <p:spPr>
          <a:xfrm>
            <a:off x="7635240" y="4956048"/>
            <a:ext cx="3977640" cy="365760"/>
          </a:xfrm>
          <a:prstGeom prst="rect">
            <a:avLst/>
          </a:prstGeom>
          <a:noFill/>
          <a:ln/>
        </p:spPr>
        <p:txBody>
          <a:bodyPr wrap="square" lIns="0" tIns="0" rIns="0" bIns="0" rtlCol="0" anchor="ctr"/>
          <a:lstStyle/>
          <a:p>
            <a:pPr indent="0" marL="0">
              <a:buNone/>
            </a:pPr>
            <a:r>
              <a:rPr lang="en-US" sz="1700" b="1" dirty="0">
                <a:solidFill>
                  <a:schemeClr val="tx2"/>
                </a:solidFill>
              </a:rPr>
              <a:t>Resilience</a:t>
            </a:r>
            <a:endParaRPr lang="en-US" sz="1700" dirty="0"/>
          </a:p>
        </p:txBody>
      </p:sp>
      <p:sp>
        <p:nvSpPr>
          <p:cNvPr id="23" name="Resilience body"/>
          <p:cNvSpPr txBox="1"/>
          <p:nvPr/>
        </p:nvSpPr>
        <p:spPr>
          <a:xfrm>
            <a:off x="7635240" y="5340096"/>
            <a:ext cx="3977640" cy="640080"/>
          </a:xfrm>
          <a:prstGeom prst="rect">
            <a:avLst/>
          </a:prstGeom>
          <a:noFill/>
          <a:ln/>
        </p:spPr>
        <p:txBody>
          <a:bodyPr wrap="square" lIns="0" tIns="0" rIns="0" bIns="0" rtlCol="0" anchor="t"/>
          <a:lstStyle/>
          <a:p>
            <a:pPr indent="0" marL="0">
              <a:buNone/>
            </a:pPr>
            <a:r>
              <a:rPr lang="en-US" sz="1400" dirty="0">
                <a:solidFill>
                  <a:schemeClr val="tx1"/>
                </a:solidFill>
              </a:rPr>
              <a:t>Retries and timeouts for HTTP calls</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Start in three commands</a:t>
            </a:r>
            <a:endParaRPr lang="en-US" sz="3400" dirty="0"/>
          </a:p>
        </p:txBody>
      </p:sp>
      <p:sp>
        <p:nvSpPr>
          <p:cNvPr id="3" name="Getting started panel"/>
          <p:cNvSpPr/>
          <p:nvPr/>
        </p:nvSpPr>
        <p:spPr>
          <a:xfrm>
            <a:off x="548640" y="1280160"/>
            <a:ext cx="6583680" cy="4023360"/>
          </a:xfrm>
          <a:prstGeom prst="roundRect">
            <a:avLst>
              <a:gd name="adj" fmla="val 1818"/>
            </a:avLst>
          </a:prstGeom>
          <a:solidFill>
            <a:srgbClr val="1C1830"/>
          </a:solidFill>
          <a:ln w="12700">
            <a:solidFill>
              <a:srgbClr val="1C1830"/>
            </a:solidFill>
            <a:prstDash val="solid"/>
          </a:ln>
        </p:spPr>
        <p:txBody>
          <a:bodyPr/>
          <a:p/>
        </p:txBody>
      </p:sp>
      <p:sp>
        <p:nvSpPr>
          <p:cNvPr id="4" name="Getting started label"/>
          <p:cNvSpPr txBox="1"/>
          <p:nvPr/>
        </p:nvSpPr>
        <p:spPr>
          <a:xfrm>
            <a:off x="777240" y="1371600"/>
            <a:ext cx="6126480" cy="274320"/>
          </a:xfrm>
          <a:prstGeom prst="rect">
            <a:avLst/>
          </a:prstGeom>
          <a:noFill/>
          <a:ln/>
        </p:spPr>
        <p:txBody>
          <a:bodyPr wrap="square" lIns="0" tIns="0" rIns="0" bIns="0" rtlCol="0" anchor="ctr"/>
          <a:lstStyle/>
          <a:p>
            <a:pPr indent="0" marL="0">
              <a:buNone/>
            </a:pPr>
            <a:r>
              <a:rPr lang="en-US" sz="1000" b="1" spc="100" kern="0" dirty="0">
                <a:solidFill>
                  <a:srgbClr val="8B87A3"/>
                </a:solidFill>
                <a:latin typeface="Calibri" pitchFamily="34" charset="0"/>
                <a:ea typeface="Calibri" pitchFamily="34" charset="-122"/>
                <a:cs typeface="Calibri" pitchFamily="34" charset="-120"/>
              </a:rPr>
              <a:t>TERMINAL</a:t>
            </a:r>
            <a:endParaRPr lang="en-US" sz="1000" dirty="0"/>
          </a:p>
        </p:txBody>
      </p:sp>
      <p:sp>
        <p:nvSpPr>
          <p:cNvPr id="5" name="Getting started text"/>
          <p:cNvSpPr txBox="1"/>
          <p:nvPr/>
        </p:nvSpPr>
        <p:spPr>
          <a:xfrm>
            <a:off x="777240" y="1691640"/>
            <a:ext cx="6126480" cy="3520440"/>
          </a:xfrm>
          <a:prstGeom prst="rect">
            <a:avLst/>
          </a:prstGeom>
          <a:noFill/>
          <a:ln/>
        </p:spPr>
        <p:txBody>
          <a:bodyPr wrap="square" lIns="0" tIns="0" rIns="0" bIns="0" rtlCol="0" anchor="t"/>
          <a:lstStyle/>
          <a:p>
            <a:pPr indent="0" marL="0">
              <a:buNone/>
            </a:pPr>
            <a:r>
              <a:rPr lang="en-US" sz="1300" i="1" dirty="0">
                <a:solidFill>
                  <a:srgbClr val="8B87A3"/>
                </a:solidFill>
                <a:latin typeface="Courier New" pitchFamily="34" charset="0"/>
                <a:ea typeface="Courier New" pitchFamily="34" charset="-122"/>
                <a:cs typeface="Courier New" pitchFamily="34" charset="-120"/>
              </a:rPr>
              <a:t>// 1. Install the Aspire CLI</a:t>
            </a:r>
            <a:endParaRPr lang="en-US" sz="1300" dirty="0"/>
          </a:p>
          <a:p>
            <a:pPr indent="0" marL="0">
              <a:buNone/>
            </a:pPr>
            <a:r>
              <a:rPr lang="en-US" sz="1300" i="1" dirty="0">
                <a:solidFill>
                  <a:srgbClr val="8B87A3"/>
                </a:solidFill>
                <a:latin typeface="Courier New" pitchFamily="34" charset="0"/>
                <a:ea typeface="Courier New" pitchFamily="34" charset="-122"/>
                <a:cs typeface="Courier New" pitchFamily="34" charset="-120"/>
              </a:rPr>
              <a:t>// macOS / Linux:</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curl</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sSL</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https</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aspire</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dev</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install</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sh</a:t>
            </a:r>
            <a:pPr indent="0" marL="0">
              <a:buNone/>
            </a:pPr>
            <a:r>
              <a:rPr lang="en-US" sz="1300" dirty="0">
                <a:solidFill>
                  <a:srgbClr val="E8E6F0"/>
                </a:solidFill>
                <a:latin typeface="Courier New" pitchFamily="34" charset="0"/>
                <a:ea typeface="Courier New" pitchFamily="34" charset="-122"/>
                <a:cs typeface="Courier New" pitchFamily="34" charset="-120"/>
              </a:rPr>
              <a:t> | </a:t>
            </a:r>
            <a:pPr indent="0" marL="0">
              <a:buNone/>
            </a:pPr>
            <a:r>
              <a:rPr lang="en-US" sz="1300" dirty="0">
                <a:solidFill>
                  <a:srgbClr val="E8E6F0"/>
                </a:solidFill>
                <a:latin typeface="Courier New" pitchFamily="34" charset="0"/>
                <a:ea typeface="Courier New" pitchFamily="34" charset="-122"/>
                <a:cs typeface="Courier New" pitchFamily="34" charset="-120"/>
              </a:rPr>
              <a:t>bash</a:t>
            </a:r>
            <a:endParaRPr lang="en-US" sz="1300" dirty="0"/>
          </a:p>
          <a:p>
            <a:pPr indent="0" marL="0">
              <a:buNone/>
            </a:pPr>
            <a:r>
              <a:rPr lang="en-US" sz="1300" i="1" dirty="0">
                <a:solidFill>
                  <a:srgbClr val="8B87A3"/>
                </a:solidFill>
                <a:latin typeface="Courier New" pitchFamily="34" charset="0"/>
                <a:ea typeface="Courier New" pitchFamily="34" charset="-122"/>
                <a:cs typeface="Courier New" pitchFamily="34" charset="-120"/>
              </a:rPr>
              <a:t>// Windows (PowerShell):</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irm</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https</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aspire</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dev</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install</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ps1</a:t>
            </a:r>
            <a:pPr indent="0" marL="0">
              <a:buNone/>
            </a:pPr>
            <a:r>
              <a:rPr lang="en-US" sz="1300" dirty="0">
                <a:solidFill>
                  <a:srgbClr val="E8E6F0"/>
                </a:solidFill>
                <a:latin typeface="Courier New" pitchFamily="34" charset="0"/>
                <a:ea typeface="Courier New" pitchFamily="34" charset="-122"/>
                <a:cs typeface="Courier New" pitchFamily="34" charset="-120"/>
              </a:rPr>
              <a:t> | </a:t>
            </a:r>
            <a:pPr indent="0" marL="0">
              <a:buNone/>
            </a:pPr>
            <a:r>
              <a:rPr lang="en-US" sz="1300" dirty="0">
                <a:solidFill>
                  <a:srgbClr val="E8E6F0"/>
                </a:solidFill>
                <a:latin typeface="Courier New" pitchFamily="34" charset="0"/>
                <a:ea typeface="Courier New" pitchFamily="34" charset="-122"/>
                <a:cs typeface="Courier New" pitchFamily="34" charset="-120"/>
              </a:rPr>
              <a:t>iex</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endParaRPr lang="en-US" sz="1300" dirty="0"/>
          </a:p>
          <a:p>
            <a:pPr indent="0" marL="0">
              <a:buNone/>
            </a:pPr>
            <a:r>
              <a:rPr lang="en-US" sz="1300" i="1" dirty="0">
                <a:solidFill>
                  <a:srgbClr val="8B87A3"/>
                </a:solidFill>
                <a:latin typeface="Courier New" pitchFamily="34" charset="0"/>
                <a:ea typeface="Courier New" pitchFamily="34" charset="-122"/>
                <a:cs typeface="Courier New" pitchFamily="34" charset="-120"/>
              </a:rPr>
              <a:t>// 2. Create a new app from a template</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aspire</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C4A7FF"/>
                </a:solidFill>
                <a:latin typeface="Courier New" pitchFamily="34" charset="0"/>
                <a:ea typeface="Courier New" pitchFamily="34" charset="-122"/>
                <a:cs typeface="Courier New" pitchFamily="34" charset="-120"/>
              </a:rPr>
              <a:t>new</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endParaRPr lang="en-US" sz="1300" dirty="0"/>
          </a:p>
          <a:p>
            <a:pPr indent="0" marL="0">
              <a:buNone/>
            </a:pPr>
            <a:r>
              <a:rPr lang="en-US" sz="1300" i="1" dirty="0">
                <a:solidFill>
                  <a:srgbClr val="8B87A3"/>
                </a:solidFill>
                <a:latin typeface="Courier New" pitchFamily="34" charset="0"/>
                <a:ea typeface="Courier New" pitchFamily="34" charset="-122"/>
                <a:cs typeface="Courier New" pitchFamily="34" charset="-120"/>
              </a:rPr>
              <a:t>// 3. Run it: starts everything + the dashboard</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aspire</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run</a:t>
            </a:r>
            <a:endParaRPr lang="en-US" sz="1300" dirty="0"/>
          </a:p>
        </p:txBody>
      </p:sp>
      <p:sp>
        <p:nvSpPr>
          <p:cNvPr id="6" name="Run output panel"/>
          <p:cNvSpPr/>
          <p:nvPr/>
        </p:nvSpPr>
        <p:spPr>
          <a:xfrm>
            <a:off x="7360920" y="1280160"/>
            <a:ext cx="4251960" cy="2011680"/>
          </a:xfrm>
          <a:prstGeom prst="roundRect">
            <a:avLst>
              <a:gd name="adj" fmla="val 3636"/>
            </a:avLst>
          </a:prstGeom>
          <a:solidFill>
            <a:srgbClr val="1C1830"/>
          </a:solidFill>
          <a:ln w="12700">
            <a:solidFill>
              <a:srgbClr val="1C1830"/>
            </a:solidFill>
            <a:prstDash val="solid"/>
          </a:ln>
        </p:spPr>
        <p:txBody>
          <a:bodyPr/>
          <a:p/>
        </p:txBody>
      </p:sp>
      <p:sp>
        <p:nvSpPr>
          <p:cNvPr id="7" name="Run output label"/>
          <p:cNvSpPr txBox="1"/>
          <p:nvPr/>
        </p:nvSpPr>
        <p:spPr>
          <a:xfrm>
            <a:off x="7589520" y="1371600"/>
            <a:ext cx="3794760" cy="274320"/>
          </a:xfrm>
          <a:prstGeom prst="rect">
            <a:avLst/>
          </a:prstGeom>
          <a:noFill/>
          <a:ln/>
        </p:spPr>
        <p:txBody>
          <a:bodyPr wrap="square" lIns="0" tIns="0" rIns="0" bIns="0" rtlCol="0" anchor="ctr"/>
          <a:lstStyle/>
          <a:p>
            <a:pPr indent="0" marL="0">
              <a:buNone/>
            </a:pPr>
            <a:r>
              <a:rPr lang="en-US" sz="1000" b="1" spc="100" kern="0" dirty="0">
                <a:solidFill>
                  <a:srgbClr val="8B87A3"/>
                </a:solidFill>
                <a:latin typeface="Calibri" pitchFamily="34" charset="0"/>
                <a:ea typeface="Calibri" pitchFamily="34" charset="-122"/>
                <a:cs typeface="Calibri" pitchFamily="34" charset="-120"/>
              </a:rPr>
              <a:t>OUTPUT (SHORTENED)</a:t>
            </a:r>
            <a:endParaRPr lang="en-US" sz="1000" dirty="0"/>
          </a:p>
        </p:txBody>
      </p:sp>
      <p:sp>
        <p:nvSpPr>
          <p:cNvPr id="8" name="Run output text"/>
          <p:cNvSpPr txBox="1"/>
          <p:nvPr/>
        </p:nvSpPr>
        <p:spPr>
          <a:xfrm>
            <a:off x="7589520" y="1691640"/>
            <a:ext cx="3794760" cy="1508760"/>
          </a:xfrm>
          <a:prstGeom prst="rect">
            <a:avLst/>
          </a:prstGeom>
          <a:noFill/>
          <a:ln/>
        </p:spPr>
        <p:txBody>
          <a:bodyPr wrap="square" lIns="0" tIns="0" rIns="0" bIns="0" rtlCol="0" anchor="t"/>
          <a:lstStyle/>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aspire</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run</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AppHost</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apphost</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mts</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Dashboard</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https</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localhost</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F8C77A"/>
                </a:solidFill>
                <a:latin typeface="Courier New" pitchFamily="34" charset="0"/>
                <a:ea typeface="Courier New" pitchFamily="34" charset="-122"/>
                <a:cs typeface="Courier New" pitchFamily="34" charset="-120"/>
              </a:rPr>
              <a:t>17178</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login</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t</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Press</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CTRL</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C</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to</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stop</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the</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AppHost</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and</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exit</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p:txBody>
      </p:sp>
      <p:sp>
        <p:nvSpPr>
          <p:cNvPr id="9" name="Start notes panel"/>
          <p:cNvSpPr/>
          <p:nvPr/>
        </p:nvSpPr>
        <p:spPr>
          <a:xfrm>
            <a:off x="7360920" y="3474720"/>
            <a:ext cx="4251960" cy="2697480"/>
          </a:xfrm>
          <a:prstGeom prst="roundRect">
            <a:avLst>
              <a:gd name="adj" fmla="val 3390"/>
            </a:avLst>
          </a:prstGeom>
          <a:solidFill>
            <a:schemeClr val="bg2"/>
          </a:solidFill>
          <a:ln w="12700">
            <a:solidFill>
              <a:schemeClr val="bg2"/>
            </a:solidFill>
            <a:prstDash val="solid"/>
          </a:ln>
        </p:spPr>
        <p:txBody>
          <a:bodyPr/>
          <a:p/>
        </p:txBody>
      </p:sp>
      <p:sp>
        <p:nvSpPr>
          <p:cNvPr id="10" name="Start notes text"/>
          <p:cNvSpPr txBox="1"/>
          <p:nvPr/>
        </p:nvSpPr>
        <p:spPr>
          <a:xfrm>
            <a:off x="7635240" y="3703320"/>
            <a:ext cx="3703320" cy="2240280"/>
          </a:xfrm>
          <a:prstGeom prst="rect">
            <a:avLst/>
          </a:prstGeom>
          <a:noFill/>
          <a:ln/>
        </p:spPr>
        <p:txBody>
          <a:bodyPr wrap="square" lIns="0" tIns="0" rIns="0" bIns="0" rtlCol="0" anchor="t"/>
          <a:lstStyle/>
          <a:p>
            <a:pPr indent="0" marL="0">
              <a:buNone/>
            </a:pPr>
            <a:r>
              <a:rPr lang="en-US" sz="1500" b="1" dirty="0">
                <a:solidFill>
                  <a:schemeClr val="tx2"/>
                </a:solidFill>
              </a:rPr>
              <a:t>Needs</a:t>
            </a:r>
            <a:endParaRPr lang="en-US" sz="1500" dirty="0"/>
          </a:p>
          <a:p>
            <a:pPr indent="0" marL="0">
              <a:spcAft>
                <a:spcPts val="1200"/>
              </a:spcAft>
              <a:buNone/>
            </a:pPr>
            <a:r>
              <a:rPr lang="en-US" sz="1400" dirty="0">
                <a:solidFill>
                  <a:schemeClr val="tx1"/>
                </a:solidFill>
              </a:rPr>
              <a:t>Docker Desktop or Podman, for databases and caches.</a:t>
            </a:r>
            <a:endParaRPr lang="en-US" sz="1500" dirty="0"/>
          </a:p>
          <a:p>
            <a:pPr indent="0" marL="0">
              <a:buNone/>
            </a:pPr>
            <a:r>
              <a:rPr lang="en-US" sz="1500" b="1" dirty="0">
                <a:solidFill>
                  <a:schemeClr val="tx2"/>
                </a:solidFill>
              </a:rPr>
              <a:t>Open dashboard</a:t>
            </a:r>
            <a:endParaRPr lang="en-US" sz="1500" dirty="0"/>
          </a:p>
          <a:p>
            <a:pPr indent="0" marL="0">
              <a:spcAft>
                <a:spcPts val="1200"/>
              </a:spcAft>
              <a:buNone/>
            </a:pPr>
            <a:r>
              <a:rPr lang="en-US" sz="1400" dirty="0">
                <a:solidFill>
                  <a:schemeClr val="tx1"/>
                </a:solidFill>
              </a:rPr>
              <a:t>Click Dashboard link. ?t= token signs you in.</a:t>
            </a:r>
            <a:endParaRPr lang="en-US" sz="1500" dirty="0"/>
          </a:p>
        </p:txBody>
      </p:sp>
      <p:sp>
        <p:nvSpPr>
          <p:cNvPr id="11" name="Version panel"/>
          <p:cNvSpPr/>
          <p:nvPr/>
        </p:nvSpPr>
        <p:spPr>
          <a:xfrm>
            <a:off x="548640" y="5486400"/>
            <a:ext cx="6583680" cy="685800"/>
          </a:xfrm>
          <a:prstGeom prst="roundRect">
            <a:avLst>
              <a:gd name="adj" fmla="val 13333"/>
            </a:avLst>
          </a:prstGeom>
          <a:solidFill>
            <a:schemeClr val="bg2"/>
          </a:solidFill>
          <a:ln w="12700">
            <a:solidFill>
              <a:schemeClr val="bg2"/>
            </a:solidFill>
            <a:prstDash val="solid"/>
          </a:ln>
        </p:spPr>
        <p:txBody>
          <a:bodyPr/>
          <a:p/>
        </p:txBody>
      </p:sp>
      <p:sp>
        <p:nvSpPr>
          <p:cNvPr id="12" name="Version text"/>
          <p:cNvSpPr txBox="1"/>
          <p:nvPr/>
        </p:nvSpPr>
        <p:spPr>
          <a:xfrm>
            <a:off x="777240" y="5486400"/>
            <a:ext cx="6217920" cy="685800"/>
          </a:xfrm>
          <a:prstGeom prst="rect">
            <a:avLst/>
          </a:prstGeom>
          <a:noFill/>
          <a:ln/>
        </p:spPr>
        <p:txBody>
          <a:bodyPr wrap="square" lIns="0" tIns="0" rIns="0" bIns="0" rtlCol="0" anchor="ctr"/>
          <a:lstStyle/>
          <a:p>
            <a:pPr indent="0" marL="0">
              <a:buNone/>
            </a:pPr>
            <a:r>
              <a:rPr lang="en-US" sz="1400" b="1" dirty="0">
                <a:solidFill>
                  <a:schemeClr val="tx2"/>
                </a:solidFill>
              </a:rPr>
              <a:t>Installer now gives Aspire 13.6.0</a:t>
            </a:r>
            <a:pPr indent="0" marL="0">
              <a:buNone/>
            </a:pPr>
            <a:r>
              <a:rPr lang="en-US" sz="1400" dirty="0">
                <a:solidFill>
                  <a:schemeClr val="tx1"/>
                </a:solidFill>
              </a:rPr>
              <a:t>  (Sept 29, 2026)</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Part label"/>
          <p:cNvSpPr txBox="1"/>
          <p:nvPr/>
        </p:nvSpPr>
        <p:spPr>
          <a:xfrm>
            <a:off x="822960" y="2103120"/>
            <a:ext cx="3657600" cy="457200"/>
          </a:xfrm>
          <a:prstGeom prst="rect">
            <a:avLst/>
          </a:prstGeom>
          <a:noFill/>
          <a:ln/>
        </p:spPr>
        <p:txBody>
          <a:bodyPr wrap="square" lIns="0" tIns="0" rIns="0" bIns="0" rtlCol="0" anchor="ctr"/>
          <a:lstStyle/>
          <a:p>
            <a:pPr indent="0" marL="0">
              <a:buNone/>
            </a:pPr>
            <a:r>
              <a:rPr lang="en-US" sz="1600" b="1" spc="400" kern="0" dirty="0">
                <a:solidFill>
                  <a:srgbClr val="A78BFA"/>
                </a:solidFill>
              </a:rPr>
              <a:t>PART 2</a:t>
            </a:r>
            <a:endParaRPr lang="en-US" sz="1600" dirty="0"/>
          </a:p>
        </p:txBody>
      </p:sp>
      <p:sp>
        <p:nvSpPr>
          <p:cNvPr id="3" name="Part rule"/>
          <p:cNvSpPr/>
          <p:nvPr/>
        </p:nvSpPr>
        <p:spPr>
          <a:xfrm>
            <a:off x="822960" y="2560320"/>
            <a:ext cx="1097280" cy="54864"/>
          </a:xfrm>
          <a:prstGeom prst="rect">
            <a:avLst/>
          </a:prstGeom>
          <a:solidFill>
            <a:srgbClr val="A78BFA"/>
          </a:solidFill>
          <a:ln w="12700">
            <a:solidFill>
              <a:srgbClr val="A78BFA"/>
            </a:solidFill>
            <a:prstDash val="solid"/>
          </a:ln>
        </p:spPr>
        <p:txBody>
          <a:bodyPr/>
          <a:p/>
        </p:txBody>
      </p:sp>
      <p:sp>
        <p:nvSpPr>
          <p:cNvPr id="4" name="Text 0"/>
          <p:cNvSpPr/>
          <p:nvPr>
            <p:ph idx="100" type="title" hasCustomPrompt="1"/>
          </p:nvPr>
        </p:nvSpPr>
        <p:spPr>
          <a:xfrm>
            <a:off x="822960" y="2651760"/>
            <a:ext cx="10515600" cy="1097280"/>
          </a:xfrm>
          <a:prstGeom prst="rect">
            <a:avLst/>
          </a:prstGeom>
          <a:noFill/>
          <a:ln/>
        </p:spPr>
        <p:txBody>
          <a:bodyPr wrap="square" lIns="0" tIns="0" rIns="0" bIns="0" rtlCol="0" anchor="ctr"/>
          <a:lstStyle/>
          <a:p>
            <a:pPr algn="l" indent="0" marL="0">
              <a:buNone/>
            </a:pPr>
            <a:r>
              <a:rPr lang="en-US" sz="4400" b="1" dirty="0">
                <a:solidFill>
                  <a:schemeClr val="bg1"/>
                </a:solidFill>
                <a:latin typeface="Cambria" pitchFamily="34" charset="0"/>
                <a:ea typeface="Cambria" pitchFamily="34" charset="-122"/>
                <a:cs typeface="Cambria" pitchFamily="34" charset="-120"/>
              </a:rPr>
              <a:t>The dashboard</a:t>
            </a:r>
            <a:endParaRPr lang="en-US" sz="4400" dirty="0"/>
          </a:p>
        </p:txBody>
      </p:sp>
      <p:sp>
        <p:nvSpPr>
          <p:cNvPr id="5" name="Text 0"/>
          <p:cNvSpPr/>
          <p:nvPr>
            <p:ph idx="101" type="body" hasCustomPrompt="1"/>
          </p:nvPr>
        </p:nvSpPr>
        <p:spPr>
          <a:xfrm>
            <a:off x="822960" y="3794760"/>
            <a:ext cx="10058400" cy="914400"/>
          </a:xfrm>
          <a:prstGeom prst="rect">
            <a:avLst/>
          </a:prstGeom>
          <a:noFill/>
          <a:ln/>
        </p:spPr>
        <p:txBody>
          <a:bodyPr wrap="square" lIns="0" tIns="0" rIns="0" bIns="0" rtlCol="0" anchor="t"/>
          <a:lstStyle/>
          <a:p>
            <a:pPr algn="l" indent="0" marL="0">
              <a:buNone/>
            </a:pPr>
            <a:r>
              <a:rPr lang="en-US" sz="2000" dirty="0">
                <a:solidFill>
                  <a:srgbClr val="D9CCFF"/>
                </a:solidFill>
                <a:latin typeface="Calibri" pitchFamily="34" charset="0"/>
                <a:ea typeface="Calibri" pitchFamily="34" charset="-122"/>
                <a:cs typeface="Calibri" pitchFamily="34" charset="-120"/>
              </a:rPr>
              <a:t>Everything AppHost runs, in one view</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What dashboard shows</a:t>
            </a:r>
            <a:endParaRPr lang="en-US" sz="3400" dirty="0"/>
          </a:p>
        </p:txBody>
      </p:sp>
      <p:sp>
        <p:nvSpPr>
          <p:cNvPr id="3" name="Intro text"/>
          <p:cNvSpPr txBox="1"/>
          <p:nvPr/>
        </p:nvSpPr>
        <p:spPr>
          <a:xfrm>
            <a:off x="548640" y="1188720"/>
            <a:ext cx="11064240" cy="640080"/>
          </a:xfrm>
          <a:prstGeom prst="rect">
            <a:avLst/>
          </a:prstGeom>
          <a:noFill/>
          <a:ln/>
        </p:spPr>
        <p:txBody>
          <a:bodyPr wrap="square" lIns="0" tIns="0" rIns="0" bIns="0" rtlCol="0" anchor="ctr"/>
          <a:lstStyle/>
          <a:p>
            <a:pPr indent="0" marL="0">
              <a:buNone/>
            </a:pPr>
            <a:r>
              <a:rPr lang="en-US" sz="1600" dirty="0">
                <a:solidFill>
                  <a:schemeClr val="tx1"/>
                </a:solidFill>
              </a:rPr>
              <a:t>Browser app for run-time info about your distributed app. Opens with aspire run.</a:t>
            </a:r>
            <a:endParaRPr lang="en-US" sz="1600" dirty="0"/>
          </a:p>
        </p:txBody>
      </p:sp>
      <p:sp>
        <p:nvSpPr>
          <p:cNvPr id="4" name="Feature card Resources"/>
          <p:cNvSpPr/>
          <p:nvPr/>
        </p:nvSpPr>
        <p:spPr>
          <a:xfrm>
            <a:off x="548640" y="2103120"/>
            <a:ext cx="2066544" cy="2651760"/>
          </a:xfrm>
          <a:prstGeom prst="roundRect">
            <a:avLst>
              <a:gd name="adj" fmla="val 4425"/>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txBody>
          <a:bodyPr/>
          <a:p/>
        </p:txBody>
      </p:sp>
      <p:sp>
        <p:nvSpPr>
          <p:cNvPr id="5" name="Resources circle"/>
          <p:cNvSpPr/>
          <p:nvPr/>
        </p:nvSpPr>
        <p:spPr>
          <a:xfrm>
            <a:off x="777240" y="2377440"/>
            <a:ext cx="685800" cy="685800"/>
          </a:xfrm>
          <a:prstGeom prst="ellipse">
            <a:avLst/>
          </a:prstGeom>
          <a:solidFill>
            <a:schemeClr val="bg2"/>
          </a:solidFill>
          <a:ln w="12700">
            <a:solidFill>
              <a:schemeClr val="bg2"/>
            </a:solidFill>
            <a:prstDash val="solid"/>
          </a:ln>
        </p:spPr>
        <p:txBody>
          <a:bodyPr/>
          <a:p/>
        </p:txBody>
      </p:sp>
      <p:pic>
        <p:nvPicPr>
          <p:cNvPr id="6" name="Resources icon" descr="preencoded.png">    </p:cNvPr>
          <p:cNvPicPr>
            <a:picLocks noChangeAspect="1"/>
          </p:cNvPicPr>
          <p:nvPr/>
        </p:nvPicPr>
        <p:blipFill>
          <a:blip r:embed="rId1"/>
          <a:stretch>
            <a:fillRect/>
          </a:stretch>
        </p:blipFill>
        <p:spPr>
          <a:xfrm>
            <a:off x="948690" y="2548890"/>
            <a:ext cx="342900" cy="342900"/>
          </a:xfrm>
          <a:prstGeom prst="rect">
            <a:avLst/>
          </a:prstGeom>
        </p:spPr>
      </p:pic>
      <p:sp>
        <p:nvSpPr>
          <p:cNvPr id="7" name="Resources title"/>
          <p:cNvSpPr txBox="1"/>
          <p:nvPr/>
        </p:nvSpPr>
        <p:spPr>
          <a:xfrm>
            <a:off x="777240" y="3200400"/>
            <a:ext cx="1609344" cy="365760"/>
          </a:xfrm>
          <a:prstGeom prst="rect">
            <a:avLst/>
          </a:prstGeom>
          <a:noFill/>
          <a:ln/>
        </p:spPr>
        <p:txBody>
          <a:bodyPr wrap="square" lIns="0" tIns="0" rIns="0" bIns="0" rtlCol="0" anchor="ctr"/>
          <a:lstStyle/>
          <a:p>
            <a:pPr indent="0" marL="0">
              <a:buNone/>
            </a:pPr>
            <a:r>
              <a:rPr lang="en-US" sz="1700" b="1" dirty="0">
                <a:solidFill>
                  <a:schemeClr val="tx2"/>
                </a:solidFill>
              </a:rPr>
              <a:t>Resources</a:t>
            </a:r>
            <a:endParaRPr lang="en-US" sz="1700" dirty="0"/>
          </a:p>
        </p:txBody>
      </p:sp>
      <p:sp>
        <p:nvSpPr>
          <p:cNvPr id="8" name="Resources body"/>
          <p:cNvSpPr txBox="1"/>
          <p:nvPr/>
        </p:nvSpPr>
        <p:spPr>
          <a:xfrm>
            <a:off x="777240" y="3611880"/>
            <a:ext cx="1609344" cy="1005840"/>
          </a:xfrm>
          <a:prstGeom prst="rect">
            <a:avLst/>
          </a:prstGeom>
          <a:noFill/>
          <a:ln/>
        </p:spPr>
        <p:txBody>
          <a:bodyPr wrap="square" lIns="0" tIns="0" rIns="0" bIns="0" rtlCol="0" anchor="t"/>
          <a:lstStyle/>
          <a:p>
            <a:pPr indent="0" marL="0">
              <a:buNone/>
            </a:pPr>
            <a:r>
              <a:rPr lang="en-US" sz="1400" dirty="0">
                <a:solidFill>
                  <a:schemeClr val="tx1"/>
                </a:solidFill>
              </a:rPr>
              <a:t>Projects, executables, containers: state, endpoints</a:t>
            </a:r>
            <a:endParaRPr lang="en-US" sz="1400" dirty="0"/>
          </a:p>
        </p:txBody>
      </p:sp>
      <p:sp>
        <p:nvSpPr>
          <p:cNvPr id="9" name="Feature card Console logs"/>
          <p:cNvSpPr/>
          <p:nvPr/>
        </p:nvSpPr>
        <p:spPr>
          <a:xfrm>
            <a:off x="2798064" y="2103120"/>
            <a:ext cx="2066544" cy="2651760"/>
          </a:xfrm>
          <a:prstGeom prst="roundRect">
            <a:avLst>
              <a:gd name="adj" fmla="val 4425"/>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txBody>
          <a:bodyPr/>
          <a:p/>
        </p:txBody>
      </p:sp>
      <p:sp>
        <p:nvSpPr>
          <p:cNvPr id="10" name="Console logs circle"/>
          <p:cNvSpPr/>
          <p:nvPr/>
        </p:nvSpPr>
        <p:spPr>
          <a:xfrm>
            <a:off x="3026664" y="2377440"/>
            <a:ext cx="685800" cy="685800"/>
          </a:xfrm>
          <a:prstGeom prst="ellipse">
            <a:avLst/>
          </a:prstGeom>
          <a:solidFill>
            <a:schemeClr val="bg2"/>
          </a:solidFill>
          <a:ln w="12700">
            <a:solidFill>
              <a:schemeClr val="bg2"/>
            </a:solidFill>
            <a:prstDash val="solid"/>
          </a:ln>
        </p:spPr>
        <p:txBody>
          <a:bodyPr/>
          <a:p/>
        </p:txBody>
      </p:sp>
      <p:pic>
        <p:nvPicPr>
          <p:cNvPr id="11" name="Console logs icon" descr="preencoded.png">    </p:cNvPr>
          <p:cNvPicPr>
            <a:picLocks noChangeAspect="1"/>
          </p:cNvPicPr>
          <p:nvPr/>
        </p:nvPicPr>
        <p:blipFill>
          <a:blip r:embed="rId2"/>
          <a:stretch>
            <a:fillRect/>
          </a:stretch>
        </p:blipFill>
        <p:spPr>
          <a:xfrm>
            <a:off x="3198114" y="2548890"/>
            <a:ext cx="342900" cy="342900"/>
          </a:xfrm>
          <a:prstGeom prst="rect">
            <a:avLst/>
          </a:prstGeom>
        </p:spPr>
      </p:pic>
      <p:sp>
        <p:nvSpPr>
          <p:cNvPr id="12" name="Console logs title"/>
          <p:cNvSpPr txBox="1"/>
          <p:nvPr/>
        </p:nvSpPr>
        <p:spPr>
          <a:xfrm>
            <a:off x="3026664" y="3200400"/>
            <a:ext cx="1609344" cy="365760"/>
          </a:xfrm>
          <a:prstGeom prst="rect">
            <a:avLst/>
          </a:prstGeom>
          <a:noFill/>
          <a:ln/>
        </p:spPr>
        <p:txBody>
          <a:bodyPr wrap="square" lIns="0" tIns="0" rIns="0" bIns="0" rtlCol="0" anchor="ctr"/>
          <a:lstStyle/>
          <a:p>
            <a:pPr indent="0" marL="0">
              <a:buNone/>
            </a:pPr>
            <a:r>
              <a:rPr lang="en-US" sz="1700" b="1" dirty="0">
                <a:solidFill>
                  <a:schemeClr val="tx2"/>
                </a:solidFill>
              </a:rPr>
              <a:t>Console logs</a:t>
            </a:r>
            <a:endParaRPr lang="en-US" sz="1700" dirty="0"/>
          </a:p>
        </p:txBody>
      </p:sp>
      <p:sp>
        <p:nvSpPr>
          <p:cNvPr id="13" name="Console logs body"/>
          <p:cNvSpPr txBox="1"/>
          <p:nvPr/>
        </p:nvSpPr>
        <p:spPr>
          <a:xfrm>
            <a:off x="3026664" y="3611880"/>
            <a:ext cx="1609344" cy="1005840"/>
          </a:xfrm>
          <a:prstGeom prst="rect">
            <a:avLst/>
          </a:prstGeom>
          <a:noFill/>
          <a:ln/>
        </p:spPr>
        <p:txBody>
          <a:bodyPr wrap="square" lIns="0" tIns="0" rIns="0" bIns="0" rtlCol="0" anchor="t"/>
          <a:lstStyle/>
          <a:p>
            <a:pPr indent="0" marL="0">
              <a:buNone/>
            </a:pPr>
            <a:r>
              <a:rPr lang="en-US" sz="1400" dirty="0">
                <a:solidFill>
                  <a:schemeClr val="tx1"/>
                </a:solidFill>
              </a:rPr>
              <a:t>Live output from every resource</a:t>
            </a:r>
            <a:endParaRPr lang="en-US" sz="1400" dirty="0"/>
          </a:p>
        </p:txBody>
      </p:sp>
      <p:sp>
        <p:nvSpPr>
          <p:cNvPr id="14" name="Feature card Structured logs"/>
          <p:cNvSpPr/>
          <p:nvPr/>
        </p:nvSpPr>
        <p:spPr>
          <a:xfrm>
            <a:off x="5047488" y="2103120"/>
            <a:ext cx="2066544" cy="2651760"/>
          </a:xfrm>
          <a:prstGeom prst="roundRect">
            <a:avLst>
              <a:gd name="adj" fmla="val 4425"/>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txBody>
          <a:bodyPr/>
          <a:p/>
        </p:txBody>
      </p:sp>
      <p:sp>
        <p:nvSpPr>
          <p:cNvPr id="15" name="Structured logs circle"/>
          <p:cNvSpPr/>
          <p:nvPr/>
        </p:nvSpPr>
        <p:spPr>
          <a:xfrm>
            <a:off x="5276088" y="2377440"/>
            <a:ext cx="685800" cy="685800"/>
          </a:xfrm>
          <a:prstGeom prst="ellipse">
            <a:avLst/>
          </a:prstGeom>
          <a:solidFill>
            <a:schemeClr val="bg2"/>
          </a:solidFill>
          <a:ln w="12700">
            <a:solidFill>
              <a:schemeClr val="bg2"/>
            </a:solidFill>
            <a:prstDash val="solid"/>
          </a:ln>
        </p:spPr>
        <p:txBody>
          <a:bodyPr/>
          <a:p/>
        </p:txBody>
      </p:sp>
      <p:pic>
        <p:nvPicPr>
          <p:cNvPr id="16" name="Structured logs icon" descr="preencoded.png">    </p:cNvPr>
          <p:cNvPicPr>
            <a:picLocks noChangeAspect="1"/>
          </p:cNvPicPr>
          <p:nvPr/>
        </p:nvPicPr>
        <p:blipFill>
          <a:blip r:embed="rId3"/>
          <a:stretch>
            <a:fillRect/>
          </a:stretch>
        </p:blipFill>
        <p:spPr>
          <a:xfrm>
            <a:off x="5447538" y="2548890"/>
            <a:ext cx="342900" cy="342900"/>
          </a:xfrm>
          <a:prstGeom prst="rect">
            <a:avLst/>
          </a:prstGeom>
        </p:spPr>
      </p:pic>
      <p:sp>
        <p:nvSpPr>
          <p:cNvPr id="17" name="Structured logs title"/>
          <p:cNvSpPr txBox="1"/>
          <p:nvPr/>
        </p:nvSpPr>
        <p:spPr>
          <a:xfrm>
            <a:off x="5276088" y="3200400"/>
            <a:ext cx="1609344" cy="365760"/>
          </a:xfrm>
          <a:prstGeom prst="rect">
            <a:avLst/>
          </a:prstGeom>
          <a:noFill/>
          <a:ln/>
        </p:spPr>
        <p:txBody>
          <a:bodyPr wrap="square" lIns="0" tIns="0" rIns="0" bIns="0" rtlCol="0" anchor="ctr"/>
          <a:lstStyle/>
          <a:p>
            <a:pPr indent="0" marL="0">
              <a:buNone/>
            </a:pPr>
            <a:r>
              <a:rPr lang="en-US" sz="1700" b="1" dirty="0">
                <a:solidFill>
                  <a:schemeClr val="tx2"/>
                </a:solidFill>
              </a:rPr>
              <a:t>Structured logs</a:t>
            </a:r>
            <a:endParaRPr lang="en-US" sz="1700" dirty="0"/>
          </a:p>
        </p:txBody>
      </p:sp>
      <p:sp>
        <p:nvSpPr>
          <p:cNvPr id="18" name="Structured logs body"/>
          <p:cNvSpPr txBox="1"/>
          <p:nvPr/>
        </p:nvSpPr>
        <p:spPr>
          <a:xfrm>
            <a:off x="5276088" y="3611880"/>
            <a:ext cx="1609344" cy="1005840"/>
          </a:xfrm>
          <a:prstGeom prst="rect">
            <a:avLst/>
          </a:prstGeom>
          <a:noFill/>
          <a:ln/>
        </p:spPr>
        <p:txBody>
          <a:bodyPr wrap="square" lIns="0" tIns="0" rIns="0" bIns="0" rtlCol="0" anchor="t"/>
          <a:lstStyle/>
          <a:p>
            <a:pPr indent="0" marL="0">
              <a:buNone/>
            </a:pPr>
            <a:r>
              <a:rPr lang="en-US" sz="1400" dirty="0">
                <a:solidFill>
                  <a:schemeClr val="tx1"/>
                </a:solidFill>
              </a:rPr>
              <a:t>Searchable entries: level, message, trace ID</a:t>
            </a:r>
            <a:endParaRPr lang="en-US" sz="1400" dirty="0"/>
          </a:p>
        </p:txBody>
      </p:sp>
      <p:sp>
        <p:nvSpPr>
          <p:cNvPr id="19" name="Feature card Traces"/>
          <p:cNvSpPr/>
          <p:nvPr/>
        </p:nvSpPr>
        <p:spPr>
          <a:xfrm>
            <a:off x="7296912" y="2103120"/>
            <a:ext cx="2066544" cy="2651760"/>
          </a:xfrm>
          <a:prstGeom prst="roundRect">
            <a:avLst>
              <a:gd name="adj" fmla="val 4425"/>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txBody>
          <a:bodyPr/>
          <a:p/>
        </p:txBody>
      </p:sp>
      <p:sp>
        <p:nvSpPr>
          <p:cNvPr id="20" name="Traces circle"/>
          <p:cNvSpPr/>
          <p:nvPr/>
        </p:nvSpPr>
        <p:spPr>
          <a:xfrm>
            <a:off x="7525512" y="2377440"/>
            <a:ext cx="685800" cy="685800"/>
          </a:xfrm>
          <a:prstGeom prst="ellipse">
            <a:avLst/>
          </a:prstGeom>
          <a:solidFill>
            <a:schemeClr val="bg2"/>
          </a:solidFill>
          <a:ln w="12700">
            <a:solidFill>
              <a:schemeClr val="bg2"/>
            </a:solidFill>
            <a:prstDash val="solid"/>
          </a:ln>
        </p:spPr>
        <p:txBody>
          <a:bodyPr/>
          <a:p/>
        </p:txBody>
      </p:sp>
      <p:pic>
        <p:nvPicPr>
          <p:cNvPr id="21" name="Traces icon" descr="preencoded.png">    </p:cNvPr>
          <p:cNvPicPr>
            <a:picLocks noChangeAspect="1"/>
          </p:cNvPicPr>
          <p:nvPr/>
        </p:nvPicPr>
        <p:blipFill>
          <a:blip r:embed="rId4"/>
          <a:stretch>
            <a:fillRect/>
          </a:stretch>
        </p:blipFill>
        <p:spPr>
          <a:xfrm>
            <a:off x="7696962" y="2548890"/>
            <a:ext cx="342900" cy="342900"/>
          </a:xfrm>
          <a:prstGeom prst="rect">
            <a:avLst/>
          </a:prstGeom>
        </p:spPr>
      </p:pic>
      <p:sp>
        <p:nvSpPr>
          <p:cNvPr id="22" name="Traces title"/>
          <p:cNvSpPr txBox="1"/>
          <p:nvPr/>
        </p:nvSpPr>
        <p:spPr>
          <a:xfrm>
            <a:off x="7525512" y="3200400"/>
            <a:ext cx="1609344" cy="365760"/>
          </a:xfrm>
          <a:prstGeom prst="rect">
            <a:avLst/>
          </a:prstGeom>
          <a:noFill/>
          <a:ln/>
        </p:spPr>
        <p:txBody>
          <a:bodyPr wrap="square" lIns="0" tIns="0" rIns="0" bIns="0" rtlCol="0" anchor="ctr"/>
          <a:lstStyle/>
          <a:p>
            <a:pPr indent="0" marL="0">
              <a:buNone/>
            </a:pPr>
            <a:r>
              <a:rPr lang="en-US" sz="1700" b="1" dirty="0">
                <a:solidFill>
                  <a:schemeClr val="tx2"/>
                </a:solidFill>
              </a:rPr>
              <a:t>Traces</a:t>
            </a:r>
            <a:endParaRPr lang="en-US" sz="1700" dirty="0"/>
          </a:p>
        </p:txBody>
      </p:sp>
      <p:sp>
        <p:nvSpPr>
          <p:cNvPr id="23" name="Traces body"/>
          <p:cNvSpPr txBox="1"/>
          <p:nvPr/>
        </p:nvSpPr>
        <p:spPr>
          <a:xfrm>
            <a:off x="7525512" y="3611880"/>
            <a:ext cx="1609344" cy="1005840"/>
          </a:xfrm>
          <a:prstGeom prst="rect">
            <a:avLst/>
          </a:prstGeom>
          <a:noFill/>
          <a:ln/>
        </p:spPr>
        <p:txBody>
          <a:bodyPr wrap="square" lIns="0" tIns="0" rIns="0" bIns="0" rtlCol="0" anchor="t"/>
          <a:lstStyle/>
          <a:p>
            <a:pPr indent="0" marL="0">
              <a:buNone/>
            </a:pPr>
            <a:r>
              <a:rPr lang="en-US" sz="1400" dirty="0">
                <a:solidFill>
                  <a:schemeClr val="tx1"/>
                </a:solidFill>
              </a:rPr>
              <a:t>One request across services</a:t>
            </a:r>
            <a:endParaRPr lang="en-US" sz="1400" dirty="0"/>
          </a:p>
        </p:txBody>
      </p:sp>
      <p:sp>
        <p:nvSpPr>
          <p:cNvPr id="24" name="Feature card Metrics"/>
          <p:cNvSpPr/>
          <p:nvPr/>
        </p:nvSpPr>
        <p:spPr>
          <a:xfrm>
            <a:off x="9546336" y="2103120"/>
            <a:ext cx="2066544" cy="2651760"/>
          </a:xfrm>
          <a:prstGeom prst="roundRect">
            <a:avLst>
              <a:gd name="adj" fmla="val 4425"/>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txBody>
          <a:bodyPr/>
          <a:p/>
        </p:txBody>
      </p:sp>
      <p:sp>
        <p:nvSpPr>
          <p:cNvPr id="25" name="Metrics circle"/>
          <p:cNvSpPr/>
          <p:nvPr/>
        </p:nvSpPr>
        <p:spPr>
          <a:xfrm>
            <a:off x="9774936" y="2377440"/>
            <a:ext cx="685800" cy="685800"/>
          </a:xfrm>
          <a:prstGeom prst="ellipse">
            <a:avLst/>
          </a:prstGeom>
          <a:solidFill>
            <a:schemeClr val="bg2"/>
          </a:solidFill>
          <a:ln w="12700">
            <a:solidFill>
              <a:schemeClr val="bg2"/>
            </a:solidFill>
            <a:prstDash val="solid"/>
          </a:ln>
        </p:spPr>
        <p:txBody>
          <a:bodyPr/>
          <a:p/>
        </p:txBody>
      </p:sp>
      <p:pic>
        <p:nvPicPr>
          <p:cNvPr id="26" name="Metrics icon" descr="preencoded.png">    </p:cNvPr>
          <p:cNvPicPr>
            <a:picLocks noChangeAspect="1"/>
          </p:cNvPicPr>
          <p:nvPr/>
        </p:nvPicPr>
        <p:blipFill>
          <a:blip r:embed="rId5"/>
          <a:stretch>
            <a:fillRect/>
          </a:stretch>
        </p:blipFill>
        <p:spPr>
          <a:xfrm>
            <a:off x="9946386" y="2548890"/>
            <a:ext cx="342900" cy="342900"/>
          </a:xfrm>
          <a:prstGeom prst="rect">
            <a:avLst/>
          </a:prstGeom>
        </p:spPr>
      </p:pic>
      <p:sp>
        <p:nvSpPr>
          <p:cNvPr id="27" name="Metrics title"/>
          <p:cNvSpPr txBox="1"/>
          <p:nvPr/>
        </p:nvSpPr>
        <p:spPr>
          <a:xfrm>
            <a:off x="9774936" y="3200400"/>
            <a:ext cx="1609344" cy="365760"/>
          </a:xfrm>
          <a:prstGeom prst="rect">
            <a:avLst/>
          </a:prstGeom>
          <a:noFill/>
          <a:ln/>
        </p:spPr>
        <p:txBody>
          <a:bodyPr wrap="square" lIns="0" tIns="0" rIns="0" bIns="0" rtlCol="0" anchor="ctr"/>
          <a:lstStyle/>
          <a:p>
            <a:pPr indent="0" marL="0">
              <a:buNone/>
            </a:pPr>
            <a:r>
              <a:rPr lang="en-US" sz="1700" b="1" dirty="0">
                <a:solidFill>
                  <a:schemeClr val="tx2"/>
                </a:solidFill>
              </a:rPr>
              <a:t>Metrics</a:t>
            </a:r>
            <a:endParaRPr lang="en-US" sz="1700" dirty="0"/>
          </a:p>
        </p:txBody>
      </p:sp>
      <p:sp>
        <p:nvSpPr>
          <p:cNvPr id="28" name="Metrics body"/>
          <p:cNvSpPr txBox="1"/>
          <p:nvPr/>
        </p:nvSpPr>
        <p:spPr>
          <a:xfrm>
            <a:off x="9774936" y="3611880"/>
            <a:ext cx="1609344" cy="1005840"/>
          </a:xfrm>
          <a:prstGeom prst="rect">
            <a:avLst/>
          </a:prstGeom>
          <a:noFill/>
          <a:ln/>
        </p:spPr>
        <p:txBody>
          <a:bodyPr wrap="square" lIns="0" tIns="0" rIns="0" bIns="0" rtlCol="0" anchor="t"/>
          <a:lstStyle/>
          <a:p>
            <a:pPr indent="0" marL="0">
              <a:buNone/>
            </a:pPr>
            <a:r>
              <a:rPr lang="en-US" sz="1400" dirty="0">
                <a:solidFill>
                  <a:schemeClr val="tx1"/>
                </a:solidFill>
              </a:rPr>
              <a:t>Charts, like HTTP request duration</a:t>
            </a:r>
            <a:endParaRPr lang="en-US" sz="1400" dirty="0"/>
          </a:p>
        </p:txBody>
      </p:sp>
      <p:sp>
        <p:nvSpPr>
          <p:cNvPr id="29" name="Standalone panel"/>
          <p:cNvSpPr/>
          <p:nvPr/>
        </p:nvSpPr>
        <p:spPr>
          <a:xfrm>
            <a:off x="548640" y="5074920"/>
            <a:ext cx="11064240" cy="1051560"/>
          </a:xfrm>
          <a:prstGeom prst="roundRect">
            <a:avLst>
              <a:gd name="adj" fmla="val 8696"/>
            </a:avLst>
          </a:prstGeom>
          <a:solidFill>
            <a:schemeClr val="bg2"/>
          </a:solidFill>
          <a:ln w="12700">
            <a:solidFill>
              <a:schemeClr val="bg2"/>
            </a:solidFill>
            <a:prstDash val="solid"/>
          </a:ln>
        </p:spPr>
        <p:txBody>
          <a:bodyPr/>
          <a:p/>
        </p:txBody>
      </p:sp>
      <p:sp>
        <p:nvSpPr>
          <p:cNvPr id="30" name="Standalone circle"/>
          <p:cNvSpPr/>
          <p:nvPr/>
        </p:nvSpPr>
        <p:spPr>
          <a:xfrm>
            <a:off x="777240" y="5257800"/>
            <a:ext cx="685800" cy="685800"/>
          </a:xfrm>
          <a:prstGeom prst="ellipse">
            <a:avLst/>
          </a:prstGeom>
          <a:solidFill>
            <a:schemeClr val="bg2"/>
          </a:solidFill>
          <a:ln w="12700">
            <a:solidFill>
              <a:schemeClr val="bg2"/>
            </a:solidFill>
            <a:prstDash val="solid"/>
          </a:ln>
        </p:spPr>
        <p:txBody>
          <a:bodyPr/>
          <a:p/>
        </p:txBody>
      </p:sp>
      <p:pic>
        <p:nvPicPr>
          <p:cNvPr id="31" name="Standalone icon" descr="preencoded.png">    </p:cNvPr>
          <p:cNvPicPr>
            <a:picLocks noChangeAspect="1"/>
          </p:cNvPicPr>
          <p:nvPr/>
        </p:nvPicPr>
        <p:blipFill>
          <a:blip r:embed="rId6"/>
          <a:stretch>
            <a:fillRect/>
          </a:stretch>
        </p:blipFill>
        <p:spPr>
          <a:xfrm>
            <a:off x="948690" y="5429250"/>
            <a:ext cx="342900" cy="342900"/>
          </a:xfrm>
          <a:prstGeom prst="rect">
            <a:avLst/>
          </a:prstGeom>
        </p:spPr>
      </p:pic>
      <p:sp>
        <p:nvSpPr>
          <p:cNvPr id="32" name="Standalone text"/>
          <p:cNvSpPr txBox="1"/>
          <p:nvPr/>
        </p:nvSpPr>
        <p:spPr>
          <a:xfrm>
            <a:off x="1691640" y="5166360"/>
            <a:ext cx="9692640" cy="868680"/>
          </a:xfrm>
          <a:prstGeom prst="rect">
            <a:avLst/>
          </a:prstGeom>
          <a:noFill/>
          <a:ln/>
        </p:spPr>
        <p:txBody>
          <a:bodyPr wrap="square" lIns="0" tIns="0" rIns="0" bIns="0" rtlCol="0" anchor="ctr"/>
          <a:lstStyle/>
          <a:p>
            <a:pPr indent="0" marL="0">
              <a:buNone/>
            </a:pPr>
            <a:r>
              <a:rPr lang="en-US" sz="1400" b="1" dirty="0">
                <a:solidFill>
                  <a:schemeClr val="tx2"/>
                </a:solidFill>
              </a:rPr>
              <a:t>No AppHost?  </a:t>
            </a:r>
            <a:pPr indent="0" marL="0">
              <a:buNone/>
            </a:pPr>
            <a:r>
              <a:rPr lang="en-US" sz="1400" dirty="0">
                <a:solidFill>
                  <a:schemeClr val="tx1"/>
                </a:solidFill>
              </a:rPr>
              <a:t>Run dashboard as container: mcr.microsoft.com/dotnet/aspire-dashboard. UI on port 18888, OTLP telemetry in on 18889.</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Part label"/>
          <p:cNvSpPr txBox="1"/>
          <p:nvPr/>
        </p:nvSpPr>
        <p:spPr>
          <a:xfrm>
            <a:off x="822960" y="2103120"/>
            <a:ext cx="3657600" cy="457200"/>
          </a:xfrm>
          <a:prstGeom prst="rect">
            <a:avLst/>
          </a:prstGeom>
          <a:noFill/>
          <a:ln/>
        </p:spPr>
        <p:txBody>
          <a:bodyPr wrap="square" lIns="0" tIns="0" rIns="0" bIns="0" rtlCol="0" anchor="ctr"/>
          <a:lstStyle/>
          <a:p>
            <a:pPr indent="0" marL="0">
              <a:buNone/>
            </a:pPr>
            <a:r>
              <a:rPr lang="en-US" sz="1600" b="1" spc="400" kern="0" dirty="0">
                <a:solidFill>
                  <a:srgbClr val="A78BFA"/>
                </a:solidFill>
              </a:rPr>
              <a:t>PART 3</a:t>
            </a:r>
            <a:endParaRPr lang="en-US" sz="1600" dirty="0"/>
          </a:p>
        </p:txBody>
      </p:sp>
      <p:sp>
        <p:nvSpPr>
          <p:cNvPr id="3" name="Part rule"/>
          <p:cNvSpPr/>
          <p:nvPr/>
        </p:nvSpPr>
        <p:spPr>
          <a:xfrm>
            <a:off x="822960" y="2560320"/>
            <a:ext cx="1097280" cy="54864"/>
          </a:xfrm>
          <a:prstGeom prst="rect">
            <a:avLst/>
          </a:prstGeom>
          <a:solidFill>
            <a:srgbClr val="A78BFA"/>
          </a:solidFill>
          <a:ln w="12700">
            <a:solidFill>
              <a:srgbClr val="A78BFA"/>
            </a:solidFill>
            <a:prstDash val="solid"/>
          </a:ln>
        </p:spPr>
        <p:txBody>
          <a:bodyPr/>
          <a:p/>
        </p:txBody>
      </p:sp>
      <p:sp>
        <p:nvSpPr>
          <p:cNvPr id="4" name="Text 0"/>
          <p:cNvSpPr/>
          <p:nvPr>
            <p:ph idx="100" type="title" hasCustomPrompt="1"/>
          </p:nvPr>
        </p:nvSpPr>
        <p:spPr>
          <a:xfrm>
            <a:off x="822960" y="2651760"/>
            <a:ext cx="10515600" cy="1097280"/>
          </a:xfrm>
          <a:prstGeom prst="rect">
            <a:avLst/>
          </a:prstGeom>
          <a:noFill/>
          <a:ln/>
        </p:spPr>
        <p:txBody>
          <a:bodyPr wrap="square" lIns="0" tIns="0" rIns="0" bIns="0" rtlCol="0" anchor="ctr"/>
          <a:lstStyle/>
          <a:p>
            <a:pPr algn="l" indent="0" marL="0">
              <a:buNone/>
            </a:pPr>
            <a:r>
              <a:rPr lang="en-US" sz="4400" b="1" dirty="0">
                <a:solidFill>
                  <a:schemeClr val="bg1"/>
                </a:solidFill>
                <a:latin typeface="Cambria" pitchFamily="34" charset="0"/>
                <a:ea typeface="Cambria" pitchFamily="34" charset="-122"/>
                <a:cs typeface="Cambria" pitchFamily="34" charset="-120"/>
              </a:rPr>
              <a:t>What's new in Aspire 13.5</a:t>
            </a:r>
            <a:endParaRPr lang="en-US" sz="4400" dirty="0"/>
          </a:p>
        </p:txBody>
      </p:sp>
      <p:sp>
        <p:nvSpPr>
          <p:cNvPr id="5" name="Text 0"/>
          <p:cNvSpPr/>
          <p:nvPr>
            <p:ph idx="101" type="body" hasCustomPrompt="1"/>
          </p:nvPr>
        </p:nvSpPr>
        <p:spPr>
          <a:xfrm>
            <a:off x="822960" y="3794760"/>
            <a:ext cx="10058400" cy="914400"/>
          </a:xfrm>
          <a:prstGeom prst="rect">
            <a:avLst/>
          </a:prstGeom>
          <a:noFill/>
          <a:ln/>
        </p:spPr>
        <p:txBody>
          <a:bodyPr wrap="square" lIns="0" tIns="0" rIns="0" bIns="0" rtlCol="0" anchor="t"/>
          <a:lstStyle/>
          <a:p>
            <a:pPr algn="l" indent="0" marL="0">
              <a:buNone/>
            </a:pPr>
            <a:r>
              <a:rPr lang="en-US" sz="2000" dirty="0">
                <a:solidFill>
                  <a:srgbClr val="D9CCFF"/>
                </a:solidFill>
                <a:latin typeface="Calibri" pitchFamily="34" charset="0"/>
                <a:ea typeface="Calibri" pitchFamily="34" charset="-122"/>
                <a:cs typeface="Calibri" pitchFamily="34" charset="-120"/>
              </a:rPr>
              <a:t>New dashboard features, code, screenshots</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13.5 overview</a:t>
            </a:r>
            <a:endParaRPr lang="en-US" sz="3400" dirty="0"/>
          </a:p>
        </p:txBody>
      </p:sp>
      <p:sp>
        <p:nvSpPr>
          <p:cNvPr id="3" name="Glance card Refreshed, branded UI"/>
          <p:cNvSpPr/>
          <p:nvPr/>
        </p:nvSpPr>
        <p:spPr>
          <a:xfrm>
            <a:off x="548640" y="1325880"/>
            <a:ext cx="3566160" cy="2331720"/>
          </a:xfrm>
          <a:prstGeom prst="roundRect">
            <a:avLst>
              <a:gd name="adj" fmla="val 3922"/>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txBody>
          <a:bodyPr/>
          <a:p/>
        </p:txBody>
      </p:sp>
      <p:sp>
        <p:nvSpPr>
          <p:cNvPr id="4" name="Refreshed, branded UI circle"/>
          <p:cNvSpPr/>
          <p:nvPr/>
        </p:nvSpPr>
        <p:spPr>
          <a:xfrm>
            <a:off x="822960" y="1600200"/>
            <a:ext cx="640080" cy="640080"/>
          </a:xfrm>
          <a:prstGeom prst="ellipse">
            <a:avLst/>
          </a:prstGeom>
          <a:solidFill>
            <a:schemeClr val="bg2"/>
          </a:solidFill>
          <a:ln w="12700">
            <a:solidFill>
              <a:schemeClr val="bg2"/>
            </a:solidFill>
            <a:prstDash val="solid"/>
          </a:ln>
        </p:spPr>
        <p:txBody>
          <a:bodyPr/>
          <a:p/>
        </p:txBody>
      </p:sp>
      <p:pic>
        <p:nvPicPr>
          <p:cNvPr id="5" name="Refreshed, branded UI icon" descr="preencoded.png">    </p:cNvPr>
          <p:cNvPicPr>
            <a:picLocks noChangeAspect="1"/>
          </p:cNvPicPr>
          <p:nvPr/>
        </p:nvPicPr>
        <p:blipFill>
          <a:blip r:embed="rId1"/>
          <a:stretch>
            <a:fillRect/>
          </a:stretch>
        </p:blipFill>
        <p:spPr>
          <a:xfrm>
            <a:off x="982980" y="1760220"/>
            <a:ext cx="320040" cy="320040"/>
          </a:xfrm>
          <a:prstGeom prst="rect">
            <a:avLst/>
          </a:prstGeom>
        </p:spPr>
      </p:pic>
      <p:sp>
        <p:nvSpPr>
          <p:cNvPr id="6" name="Refreshed, branded UI pill"/>
          <p:cNvSpPr/>
          <p:nvPr/>
        </p:nvSpPr>
        <p:spPr>
          <a:xfrm>
            <a:off x="2697480" y="1783080"/>
            <a:ext cx="1143000" cy="274320"/>
          </a:xfrm>
          <a:prstGeom prst="roundRect">
            <a:avLst>
              <a:gd name="adj" fmla="val 50000"/>
            </a:avLst>
          </a:prstGeom>
          <a:solidFill>
            <a:srgbClr val="0E9F8E"/>
          </a:solidFill>
          <a:ln w="12700">
            <a:solidFill>
              <a:srgbClr val="0E9F8E"/>
            </a:solidFill>
            <a:prstDash val="solid"/>
          </a:ln>
        </p:spPr>
        <p:txBody>
          <a:bodyPr/>
          <a:p/>
        </p:txBody>
      </p:sp>
      <p:sp>
        <p:nvSpPr>
          <p:cNvPr id="7" name="Refreshed, branded UI pill text"/>
          <p:cNvSpPr txBox="1"/>
          <p:nvPr/>
        </p:nvSpPr>
        <p:spPr>
          <a:xfrm>
            <a:off x="2697480" y="1783080"/>
            <a:ext cx="1143000" cy="274320"/>
          </a:xfrm>
          <a:prstGeom prst="rect">
            <a:avLst/>
          </a:prstGeom>
          <a:noFill/>
          <a:ln/>
        </p:spPr>
        <p:txBody>
          <a:bodyPr wrap="square" lIns="0" tIns="0" rIns="0" bIns="0" rtlCol="0" anchor="ctr"/>
          <a:lstStyle/>
          <a:p>
            <a:pPr algn="ctr" indent="0" marL="0">
              <a:buNone/>
            </a:pPr>
            <a:r>
              <a:rPr lang="en-US" sz="1000" b="1" dirty="0">
                <a:solidFill>
                  <a:schemeClr val="bg1"/>
                </a:solidFill>
              </a:rPr>
              <a:t>UI</a:t>
            </a:r>
            <a:endParaRPr lang="en-US" sz="1000" dirty="0"/>
          </a:p>
        </p:txBody>
      </p:sp>
      <p:sp>
        <p:nvSpPr>
          <p:cNvPr id="8" name="Refreshed, branded UI title"/>
          <p:cNvSpPr txBox="1"/>
          <p:nvPr/>
        </p:nvSpPr>
        <p:spPr>
          <a:xfrm>
            <a:off x="822960" y="2331720"/>
            <a:ext cx="3017520" cy="365760"/>
          </a:xfrm>
          <a:prstGeom prst="rect">
            <a:avLst/>
          </a:prstGeom>
          <a:noFill/>
          <a:ln/>
        </p:spPr>
        <p:txBody>
          <a:bodyPr wrap="square" lIns="0" tIns="0" rIns="0" bIns="0" rtlCol="0" anchor="ctr"/>
          <a:lstStyle/>
          <a:p>
            <a:pPr indent="0" marL="0">
              <a:buNone/>
            </a:pPr>
            <a:r>
              <a:rPr lang="en-US" sz="1800" b="1" dirty="0">
                <a:solidFill>
                  <a:schemeClr val="tx2"/>
                </a:solidFill>
              </a:rPr>
              <a:t>Refreshed UI</a:t>
            </a:r>
            <a:endParaRPr lang="en-US" sz="1800" dirty="0"/>
          </a:p>
        </p:txBody>
      </p:sp>
      <p:sp>
        <p:nvSpPr>
          <p:cNvPr id="9" name="Refreshed, branded UI body"/>
          <p:cNvSpPr txBox="1"/>
          <p:nvPr/>
        </p:nvSpPr>
        <p:spPr>
          <a:xfrm>
            <a:off x="822960" y="2743200"/>
            <a:ext cx="3017520" cy="822960"/>
          </a:xfrm>
          <a:prstGeom prst="rect">
            <a:avLst/>
          </a:prstGeom>
          <a:noFill/>
          <a:ln/>
        </p:spPr>
        <p:txBody>
          <a:bodyPr wrap="square" lIns="0" tIns="0" rIns="0" bIns="0" rtlCol="0" anchor="t"/>
          <a:lstStyle/>
          <a:p>
            <a:pPr indent="0" marL="0">
              <a:buNone/>
            </a:pPr>
            <a:r>
              <a:rPr lang="en-US" sz="1400" dirty="0">
                <a:solidFill>
                  <a:schemeClr val="tx1"/>
                </a:solidFill>
              </a:rPr>
              <a:t>Official Aspire branding, new design tokens, accessibility checked</a:t>
            </a:r>
            <a:endParaRPr lang="en-US" sz="1400" dirty="0"/>
          </a:p>
        </p:txBody>
      </p:sp>
      <p:sp>
        <p:nvSpPr>
          <p:cNvPr id="10" name="Glance card Sharper filtering"/>
          <p:cNvSpPr/>
          <p:nvPr/>
        </p:nvSpPr>
        <p:spPr>
          <a:xfrm>
            <a:off x="4297680" y="1325880"/>
            <a:ext cx="3566160" cy="2331720"/>
          </a:xfrm>
          <a:prstGeom prst="roundRect">
            <a:avLst>
              <a:gd name="adj" fmla="val 3922"/>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txBody>
          <a:bodyPr/>
          <a:p/>
        </p:txBody>
      </p:sp>
      <p:sp>
        <p:nvSpPr>
          <p:cNvPr id="11" name="Sharper filtering circle"/>
          <p:cNvSpPr/>
          <p:nvPr/>
        </p:nvSpPr>
        <p:spPr>
          <a:xfrm>
            <a:off x="4572000" y="1600200"/>
            <a:ext cx="640080" cy="640080"/>
          </a:xfrm>
          <a:prstGeom prst="ellipse">
            <a:avLst/>
          </a:prstGeom>
          <a:solidFill>
            <a:schemeClr val="bg2"/>
          </a:solidFill>
          <a:ln w="12700">
            <a:solidFill>
              <a:schemeClr val="bg2"/>
            </a:solidFill>
            <a:prstDash val="solid"/>
          </a:ln>
        </p:spPr>
        <p:txBody>
          <a:bodyPr/>
          <a:p/>
        </p:txBody>
      </p:sp>
      <p:pic>
        <p:nvPicPr>
          <p:cNvPr id="12" name="Sharper filtering icon" descr="preencoded.png">    </p:cNvPr>
          <p:cNvPicPr>
            <a:picLocks noChangeAspect="1"/>
          </p:cNvPicPr>
          <p:nvPr/>
        </p:nvPicPr>
        <p:blipFill>
          <a:blip r:embed="rId2"/>
          <a:stretch>
            <a:fillRect/>
          </a:stretch>
        </p:blipFill>
        <p:spPr>
          <a:xfrm>
            <a:off x="4732020" y="1760220"/>
            <a:ext cx="320040" cy="320040"/>
          </a:xfrm>
          <a:prstGeom prst="rect">
            <a:avLst/>
          </a:prstGeom>
        </p:spPr>
      </p:pic>
      <p:sp>
        <p:nvSpPr>
          <p:cNvPr id="13" name="Sharper filtering pill"/>
          <p:cNvSpPr/>
          <p:nvPr/>
        </p:nvSpPr>
        <p:spPr>
          <a:xfrm>
            <a:off x="6446520" y="1783080"/>
            <a:ext cx="1143000" cy="274320"/>
          </a:xfrm>
          <a:prstGeom prst="roundRect">
            <a:avLst>
              <a:gd name="adj" fmla="val 50000"/>
            </a:avLst>
          </a:prstGeom>
          <a:solidFill>
            <a:srgbClr val="0E9F8E"/>
          </a:solidFill>
          <a:ln w="12700">
            <a:solidFill>
              <a:srgbClr val="0E9F8E"/>
            </a:solidFill>
            <a:prstDash val="solid"/>
          </a:ln>
        </p:spPr>
        <p:txBody>
          <a:bodyPr/>
          <a:p/>
        </p:txBody>
      </p:sp>
      <p:sp>
        <p:nvSpPr>
          <p:cNvPr id="14" name="Sharper filtering pill text"/>
          <p:cNvSpPr txBox="1"/>
          <p:nvPr/>
        </p:nvSpPr>
        <p:spPr>
          <a:xfrm>
            <a:off x="6446520" y="1783080"/>
            <a:ext cx="1143000" cy="274320"/>
          </a:xfrm>
          <a:prstGeom prst="rect">
            <a:avLst/>
          </a:prstGeom>
          <a:noFill/>
          <a:ln/>
        </p:spPr>
        <p:txBody>
          <a:bodyPr wrap="square" lIns="0" tIns="0" rIns="0" bIns="0" rtlCol="0" anchor="ctr"/>
          <a:lstStyle/>
          <a:p>
            <a:pPr algn="ctr" indent="0" marL="0">
              <a:buNone/>
            </a:pPr>
            <a:r>
              <a:rPr lang="en-US" sz="1000" b="1" dirty="0">
                <a:solidFill>
                  <a:schemeClr val="bg1"/>
                </a:solidFill>
              </a:rPr>
              <a:t>UI</a:t>
            </a:r>
            <a:endParaRPr lang="en-US" sz="1000" dirty="0"/>
          </a:p>
        </p:txBody>
      </p:sp>
      <p:sp>
        <p:nvSpPr>
          <p:cNvPr id="15" name="Sharper filtering title"/>
          <p:cNvSpPr txBox="1"/>
          <p:nvPr/>
        </p:nvSpPr>
        <p:spPr>
          <a:xfrm>
            <a:off x="4572000" y="2331720"/>
            <a:ext cx="3017520" cy="365760"/>
          </a:xfrm>
          <a:prstGeom prst="rect">
            <a:avLst/>
          </a:prstGeom>
          <a:noFill/>
          <a:ln/>
        </p:spPr>
        <p:txBody>
          <a:bodyPr wrap="square" lIns="0" tIns="0" rIns="0" bIns="0" rtlCol="0" anchor="ctr"/>
          <a:lstStyle/>
          <a:p>
            <a:pPr indent="0" marL="0">
              <a:buNone/>
            </a:pPr>
            <a:r>
              <a:rPr lang="en-US" sz="1800" b="1" dirty="0">
                <a:solidFill>
                  <a:schemeClr val="tx2"/>
                </a:solidFill>
              </a:rPr>
              <a:t>Sharper filtering</a:t>
            </a:r>
            <a:endParaRPr lang="en-US" sz="1800" dirty="0"/>
          </a:p>
        </p:txBody>
      </p:sp>
      <p:sp>
        <p:nvSpPr>
          <p:cNvPr id="16" name="Sharper filtering body"/>
          <p:cNvSpPr txBox="1"/>
          <p:nvPr/>
        </p:nvSpPr>
        <p:spPr>
          <a:xfrm>
            <a:off x="4572000" y="2743200"/>
            <a:ext cx="3017520" cy="822960"/>
          </a:xfrm>
          <a:prstGeom prst="rect">
            <a:avLst/>
          </a:prstGeom>
          <a:noFill/>
          <a:ln/>
        </p:spPr>
        <p:txBody>
          <a:bodyPr wrap="square" lIns="0" tIns="0" rIns="0" bIns="0" rtlCol="0" anchor="t"/>
          <a:lstStyle/>
          <a:p>
            <a:pPr indent="0" marL="0">
              <a:buNone/>
            </a:pPr>
            <a:r>
              <a:rPr lang="en-US" sz="1400" dirty="0">
                <a:solidFill>
                  <a:schemeClr val="tx1"/>
                </a:solidFill>
              </a:rPr>
              <a:t>Timestamp filters, exact == / != matching, console log search</a:t>
            </a:r>
            <a:endParaRPr lang="en-US" sz="1400" dirty="0"/>
          </a:p>
        </p:txBody>
      </p:sp>
      <p:sp>
        <p:nvSpPr>
          <p:cNvPr id="17" name="Glance card Terminal view"/>
          <p:cNvSpPr/>
          <p:nvPr/>
        </p:nvSpPr>
        <p:spPr>
          <a:xfrm>
            <a:off x="8046720" y="1325880"/>
            <a:ext cx="3566160" cy="2331720"/>
          </a:xfrm>
          <a:prstGeom prst="roundRect">
            <a:avLst>
              <a:gd name="adj" fmla="val 3922"/>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txBody>
          <a:bodyPr/>
          <a:p/>
        </p:txBody>
      </p:sp>
      <p:sp>
        <p:nvSpPr>
          <p:cNvPr id="18" name="Terminal view circle"/>
          <p:cNvSpPr/>
          <p:nvPr/>
        </p:nvSpPr>
        <p:spPr>
          <a:xfrm>
            <a:off x="8321040" y="1600200"/>
            <a:ext cx="640080" cy="640080"/>
          </a:xfrm>
          <a:prstGeom prst="ellipse">
            <a:avLst/>
          </a:prstGeom>
          <a:solidFill>
            <a:schemeClr val="bg2"/>
          </a:solidFill>
          <a:ln w="12700">
            <a:solidFill>
              <a:schemeClr val="bg2"/>
            </a:solidFill>
            <a:prstDash val="solid"/>
          </a:ln>
        </p:spPr>
        <p:txBody>
          <a:bodyPr/>
          <a:p/>
        </p:txBody>
      </p:sp>
      <p:pic>
        <p:nvPicPr>
          <p:cNvPr id="19" name="Terminal view icon" descr="preencoded.png">    </p:cNvPr>
          <p:cNvPicPr>
            <a:picLocks noChangeAspect="1"/>
          </p:cNvPicPr>
          <p:nvPr/>
        </p:nvPicPr>
        <p:blipFill>
          <a:blip r:embed="rId3"/>
          <a:stretch>
            <a:fillRect/>
          </a:stretch>
        </p:blipFill>
        <p:spPr>
          <a:xfrm>
            <a:off x="8481060" y="1760220"/>
            <a:ext cx="320040" cy="320040"/>
          </a:xfrm>
          <a:prstGeom prst="rect">
            <a:avLst/>
          </a:prstGeom>
        </p:spPr>
      </p:pic>
      <p:sp>
        <p:nvSpPr>
          <p:cNvPr id="20" name="Terminal view pill"/>
          <p:cNvSpPr/>
          <p:nvPr/>
        </p:nvSpPr>
        <p:spPr>
          <a:xfrm>
            <a:off x="10195560" y="1783080"/>
            <a:ext cx="1143000" cy="274320"/>
          </a:xfrm>
          <a:prstGeom prst="roundRect">
            <a:avLst>
              <a:gd name="adj" fmla="val 50000"/>
            </a:avLst>
          </a:prstGeom>
          <a:solidFill>
            <a:srgbClr val="D97706"/>
          </a:solidFill>
          <a:ln w="12700">
            <a:solidFill>
              <a:srgbClr val="D97706"/>
            </a:solidFill>
            <a:prstDash val="solid"/>
          </a:ln>
        </p:spPr>
        <p:txBody>
          <a:bodyPr/>
          <a:p/>
        </p:txBody>
      </p:sp>
      <p:sp>
        <p:nvSpPr>
          <p:cNvPr id="21" name="Terminal view pill text"/>
          <p:cNvSpPr txBox="1"/>
          <p:nvPr/>
        </p:nvSpPr>
        <p:spPr>
          <a:xfrm>
            <a:off x="10195560" y="1783080"/>
            <a:ext cx="1143000" cy="274320"/>
          </a:xfrm>
          <a:prstGeom prst="rect">
            <a:avLst/>
          </a:prstGeom>
          <a:noFill/>
          <a:ln/>
        </p:spPr>
        <p:txBody>
          <a:bodyPr wrap="square" lIns="0" tIns="0" rIns="0" bIns="0" rtlCol="0" anchor="ctr"/>
          <a:lstStyle/>
          <a:p>
            <a:pPr algn="ctr" indent="0" marL="0">
              <a:buNone/>
            </a:pPr>
            <a:r>
              <a:rPr lang="en-US" sz="1000" b="1" dirty="0">
                <a:solidFill>
                  <a:schemeClr val="bg1"/>
                </a:solidFill>
              </a:rPr>
              <a:t>Experimental</a:t>
            </a:r>
            <a:endParaRPr lang="en-US" sz="1000" dirty="0"/>
          </a:p>
        </p:txBody>
      </p:sp>
      <p:sp>
        <p:nvSpPr>
          <p:cNvPr id="22" name="Terminal view title"/>
          <p:cNvSpPr txBox="1"/>
          <p:nvPr/>
        </p:nvSpPr>
        <p:spPr>
          <a:xfrm>
            <a:off x="8321040" y="2331720"/>
            <a:ext cx="3017520" cy="365760"/>
          </a:xfrm>
          <a:prstGeom prst="rect">
            <a:avLst/>
          </a:prstGeom>
          <a:noFill/>
          <a:ln/>
        </p:spPr>
        <p:txBody>
          <a:bodyPr wrap="square" lIns="0" tIns="0" rIns="0" bIns="0" rtlCol="0" anchor="ctr"/>
          <a:lstStyle/>
          <a:p>
            <a:pPr indent="0" marL="0">
              <a:buNone/>
            </a:pPr>
            <a:r>
              <a:rPr lang="en-US" sz="1800" b="1" dirty="0">
                <a:solidFill>
                  <a:schemeClr val="tx2"/>
                </a:solidFill>
              </a:rPr>
              <a:t>Terminal view</a:t>
            </a:r>
            <a:endParaRPr lang="en-US" sz="1800" dirty="0"/>
          </a:p>
        </p:txBody>
      </p:sp>
      <p:sp>
        <p:nvSpPr>
          <p:cNvPr id="23" name="Terminal view body"/>
          <p:cNvSpPr txBox="1"/>
          <p:nvPr/>
        </p:nvSpPr>
        <p:spPr>
          <a:xfrm>
            <a:off x="8321040" y="2743200"/>
            <a:ext cx="3017520" cy="822960"/>
          </a:xfrm>
          <a:prstGeom prst="rect">
            <a:avLst/>
          </a:prstGeom>
          <a:noFill/>
          <a:ln/>
        </p:spPr>
        <p:txBody>
          <a:bodyPr wrap="square" lIns="0" tIns="0" rIns="0" bIns="0" rtlCol="0" anchor="t"/>
          <a:lstStyle/>
          <a:p>
            <a:pPr indent="0" marL="0">
              <a:buNone/>
            </a:pPr>
            <a:r>
              <a:rPr lang="en-US" sz="1400" dirty="0">
                <a:solidFill>
                  <a:schemeClr val="tx1"/>
                </a:solidFill>
              </a:rPr>
              <a:t>WithTerminal() puts live terminal in dashboard</a:t>
            </a:r>
            <a:endParaRPr lang="en-US" sz="1400" dirty="0"/>
          </a:p>
        </p:txBody>
      </p:sp>
      <p:sp>
        <p:nvSpPr>
          <p:cNvPr id="24" name="Glance card File uploads"/>
          <p:cNvSpPr/>
          <p:nvPr/>
        </p:nvSpPr>
        <p:spPr>
          <a:xfrm>
            <a:off x="548640" y="3886200"/>
            <a:ext cx="3566160" cy="2331720"/>
          </a:xfrm>
          <a:prstGeom prst="roundRect">
            <a:avLst>
              <a:gd name="adj" fmla="val 3922"/>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txBody>
          <a:bodyPr/>
          <a:p/>
        </p:txBody>
      </p:sp>
      <p:sp>
        <p:nvSpPr>
          <p:cNvPr id="25" name="File uploads circle"/>
          <p:cNvSpPr/>
          <p:nvPr/>
        </p:nvSpPr>
        <p:spPr>
          <a:xfrm>
            <a:off x="822960" y="4160520"/>
            <a:ext cx="640080" cy="640080"/>
          </a:xfrm>
          <a:prstGeom prst="ellipse">
            <a:avLst/>
          </a:prstGeom>
          <a:solidFill>
            <a:schemeClr val="bg2"/>
          </a:solidFill>
          <a:ln w="12700">
            <a:solidFill>
              <a:schemeClr val="bg2"/>
            </a:solidFill>
            <a:prstDash val="solid"/>
          </a:ln>
        </p:spPr>
        <p:txBody>
          <a:bodyPr/>
          <a:p/>
        </p:txBody>
      </p:sp>
      <p:pic>
        <p:nvPicPr>
          <p:cNvPr id="26" name="File uploads icon" descr="preencoded.png">    </p:cNvPr>
          <p:cNvPicPr>
            <a:picLocks noChangeAspect="1"/>
          </p:cNvPicPr>
          <p:nvPr/>
        </p:nvPicPr>
        <p:blipFill>
          <a:blip r:embed="rId4"/>
          <a:stretch>
            <a:fillRect/>
          </a:stretch>
        </p:blipFill>
        <p:spPr>
          <a:xfrm>
            <a:off x="982980" y="4320540"/>
            <a:ext cx="320040" cy="320040"/>
          </a:xfrm>
          <a:prstGeom prst="rect">
            <a:avLst/>
          </a:prstGeom>
        </p:spPr>
      </p:pic>
      <p:sp>
        <p:nvSpPr>
          <p:cNvPr id="27" name="File uploads pill"/>
          <p:cNvSpPr/>
          <p:nvPr/>
        </p:nvSpPr>
        <p:spPr>
          <a:xfrm>
            <a:off x="2697480" y="4343400"/>
            <a:ext cx="1143000" cy="274320"/>
          </a:xfrm>
          <a:prstGeom prst="roundRect">
            <a:avLst>
              <a:gd name="adj" fmla="val 50000"/>
            </a:avLst>
          </a:prstGeom>
          <a:solidFill>
            <a:srgbClr val="6B3FE0"/>
          </a:solidFill>
          <a:ln w="12700">
            <a:solidFill>
              <a:srgbClr val="6B3FE0"/>
            </a:solidFill>
            <a:prstDash val="solid"/>
          </a:ln>
        </p:spPr>
        <p:txBody>
          <a:bodyPr/>
          <a:p/>
        </p:txBody>
      </p:sp>
      <p:sp>
        <p:nvSpPr>
          <p:cNvPr id="28" name="File uploads pill text"/>
          <p:cNvSpPr txBox="1"/>
          <p:nvPr/>
        </p:nvSpPr>
        <p:spPr>
          <a:xfrm>
            <a:off x="2697480" y="4343400"/>
            <a:ext cx="1143000" cy="274320"/>
          </a:xfrm>
          <a:prstGeom prst="rect">
            <a:avLst/>
          </a:prstGeom>
          <a:noFill/>
          <a:ln/>
        </p:spPr>
        <p:txBody>
          <a:bodyPr wrap="square" lIns="0" tIns="0" rIns="0" bIns="0" rtlCol="0" anchor="ctr"/>
          <a:lstStyle/>
          <a:p>
            <a:pPr algn="ctr" indent="0" marL="0">
              <a:buNone/>
            </a:pPr>
            <a:r>
              <a:rPr lang="en-US" sz="1000" b="1" dirty="0">
                <a:solidFill>
                  <a:schemeClr val="bg1"/>
                </a:solidFill>
              </a:rPr>
              <a:t>Stable</a:t>
            </a:r>
            <a:endParaRPr lang="en-US" sz="1000" dirty="0"/>
          </a:p>
        </p:txBody>
      </p:sp>
      <p:sp>
        <p:nvSpPr>
          <p:cNvPr id="29" name="File uploads title"/>
          <p:cNvSpPr txBox="1"/>
          <p:nvPr/>
        </p:nvSpPr>
        <p:spPr>
          <a:xfrm>
            <a:off x="822960" y="4892040"/>
            <a:ext cx="3017520" cy="365760"/>
          </a:xfrm>
          <a:prstGeom prst="rect">
            <a:avLst/>
          </a:prstGeom>
          <a:noFill/>
          <a:ln/>
        </p:spPr>
        <p:txBody>
          <a:bodyPr wrap="square" lIns="0" tIns="0" rIns="0" bIns="0" rtlCol="0" anchor="ctr"/>
          <a:lstStyle/>
          <a:p>
            <a:pPr indent="0" marL="0">
              <a:buNone/>
            </a:pPr>
            <a:r>
              <a:rPr lang="en-US" sz="1800" b="1" dirty="0">
                <a:solidFill>
                  <a:schemeClr val="tx2"/>
                </a:solidFill>
              </a:rPr>
              <a:t>File uploads</a:t>
            </a:r>
            <a:endParaRPr lang="en-US" sz="1800" dirty="0"/>
          </a:p>
        </p:txBody>
      </p:sp>
      <p:sp>
        <p:nvSpPr>
          <p:cNvPr id="30" name="File uploads body"/>
          <p:cNvSpPr txBox="1"/>
          <p:nvPr/>
        </p:nvSpPr>
        <p:spPr>
          <a:xfrm>
            <a:off x="822960" y="5303520"/>
            <a:ext cx="3017520" cy="822960"/>
          </a:xfrm>
          <a:prstGeom prst="rect">
            <a:avLst/>
          </a:prstGeom>
          <a:noFill/>
          <a:ln/>
        </p:spPr>
        <p:txBody>
          <a:bodyPr wrap="square" lIns="0" tIns="0" rIns="0" bIns="0" rtlCol="0" anchor="t"/>
          <a:lstStyle/>
          <a:p>
            <a:pPr indent="0" marL="0">
              <a:buNone/>
            </a:pPr>
            <a:r>
              <a:rPr lang="en-US" sz="1400" dirty="0">
                <a:solidFill>
                  <a:schemeClr val="tx1"/>
                </a:solidFill>
              </a:rPr>
              <a:t>Commands ask user for a file</a:t>
            </a:r>
            <a:endParaRPr lang="en-US" sz="1400" dirty="0"/>
          </a:p>
        </p:txBody>
      </p:sp>
      <p:sp>
        <p:nvSpPr>
          <p:cNvPr id="31" name="Glance card Command arguments"/>
          <p:cNvSpPr/>
          <p:nvPr/>
        </p:nvSpPr>
        <p:spPr>
          <a:xfrm>
            <a:off x="4297680" y="3886200"/>
            <a:ext cx="3566160" cy="2331720"/>
          </a:xfrm>
          <a:prstGeom prst="roundRect">
            <a:avLst>
              <a:gd name="adj" fmla="val 3922"/>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txBody>
          <a:bodyPr/>
          <a:p/>
        </p:txBody>
      </p:sp>
      <p:sp>
        <p:nvSpPr>
          <p:cNvPr id="32" name="Command arguments circle"/>
          <p:cNvSpPr/>
          <p:nvPr/>
        </p:nvSpPr>
        <p:spPr>
          <a:xfrm>
            <a:off x="4572000" y="4160520"/>
            <a:ext cx="640080" cy="640080"/>
          </a:xfrm>
          <a:prstGeom prst="ellipse">
            <a:avLst/>
          </a:prstGeom>
          <a:solidFill>
            <a:schemeClr val="bg2"/>
          </a:solidFill>
          <a:ln w="12700">
            <a:solidFill>
              <a:schemeClr val="bg2"/>
            </a:solidFill>
            <a:prstDash val="solid"/>
          </a:ln>
        </p:spPr>
        <p:txBody>
          <a:bodyPr/>
          <a:p/>
        </p:txBody>
      </p:sp>
      <p:pic>
        <p:nvPicPr>
          <p:cNvPr id="33" name="Command arguments icon" descr="preencoded.png">    </p:cNvPr>
          <p:cNvPicPr>
            <a:picLocks noChangeAspect="1"/>
          </p:cNvPicPr>
          <p:nvPr/>
        </p:nvPicPr>
        <p:blipFill>
          <a:blip r:embed="rId5"/>
          <a:stretch>
            <a:fillRect/>
          </a:stretch>
        </p:blipFill>
        <p:spPr>
          <a:xfrm>
            <a:off x="4732020" y="4320540"/>
            <a:ext cx="320040" cy="320040"/>
          </a:xfrm>
          <a:prstGeom prst="rect">
            <a:avLst/>
          </a:prstGeom>
        </p:spPr>
      </p:pic>
      <p:sp>
        <p:nvSpPr>
          <p:cNvPr id="34" name="Command arguments pill"/>
          <p:cNvSpPr/>
          <p:nvPr/>
        </p:nvSpPr>
        <p:spPr>
          <a:xfrm>
            <a:off x="6446520" y="4343400"/>
            <a:ext cx="1143000" cy="274320"/>
          </a:xfrm>
          <a:prstGeom prst="roundRect">
            <a:avLst>
              <a:gd name="adj" fmla="val 50000"/>
            </a:avLst>
          </a:prstGeom>
          <a:solidFill>
            <a:srgbClr val="6B3FE0"/>
          </a:solidFill>
          <a:ln w="12700">
            <a:solidFill>
              <a:srgbClr val="6B3FE0"/>
            </a:solidFill>
            <a:prstDash val="solid"/>
          </a:ln>
        </p:spPr>
        <p:txBody>
          <a:bodyPr/>
          <a:p/>
        </p:txBody>
      </p:sp>
      <p:sp>
        <p:nvSpPr>
          <p:cNvPr id="35" name="Command arguments pill text"/>
          <p:cNvSpPr txBox="1"/>
          <p:nvPr/>
        </p:nvSpPr>
        <p:spPr>
          <a:xfrm>
            <a:off x="6446520" y="4343400"/>
            <a:ext cx="1143000" cy="274320"/>
          </a:xfrm>
          <a:prstGeom prst="rect">
            <a:avLst/>
          </a:prstGeom>
          <a:noFill/>
          <a:ln/>
        </p:spPr>
        <p:txBody>
          <a:bodyPr wrap="square" lIns="0" tIns="0" rIns="0" bIns="0" rtlCol="0" anchor="ctr"/>
          <a:lstStyle/>
          <a:p>
            <a:pPr algn="ctr" indent="0" marL="0">
              <a:buNone/>
            </a:pPr>
            <a:r>
              <a:rPr lang="en-US" sz="1000" b="1" dirty="0">
                <a:solidFill>
                  <a:schemeClr val="bg1"/>
                </a:solidFill>
              </a:rPr>
              <a:t>Stable</a:t>
            </a:r>
            <a:endParaRPr lang="en-US" sz="1000" dirty="0"/>
          </a:p>
        </p:txBody>
      </p:sp>
      <p:sp>
        <p:nvSpPr>
          <p:cNvPr id="36" name="Command arguments title"/>
          <p:cNvSpPr txBox="1"/>
          <p:nvPr/>
        </p:nvSpPr>
        <p:spPr>
          <a:xfrm>
            <a:off x="4572000" y="4892040"/>
            <a:ext cx="3017520" cy="365760"/>
          </a:xfrm>
          <a:prstGeom prst="rect">
            <a:avLst/>
          </a:prstGeom>
          <a:noFill/>
          <a:ln/>
        </p:spPr>
        <p:txBody>
          <a:bodyPr wrap="square" lIns="0" tIns="0" rIns="0" bIns="0" rtlCol="0" anchor="ctr"/>
          <a:lstStyle/>
          <a:p>
            <a:pPr indent="0" marL="0">
              <a:buNone/>
            </a:pPr>
            <a:r>
              <a:rPr lang="en-US" sz="1800" b="1" dirty="0">
                <a:solidFill>
                  <a:schemeClr val="tx2"/>
                </a:solidFill>
              </a:rPr>
              <a:t>Command arguments</a:t>
            </a:r>
            <a:endParaRPr lang="en-US" sz="1800" dirty="0"/>
          </a:p>
        </p:txBody>
      </p:sp>
      <p:sp>
        <p:nvSpPr>
          <p:cNvPr id="37" name="Command arguments body"/>
          <p:cNvSpPr txBox="1"/>
          <p:nvPr/>
        </p:nvSpPr>
        <p:spPr>
          <a:xfrm>
            <a:off x="4572000" y="5303520"/>
            <a:ext cx="3017520" cy="822960"/>
          </a:xfrm>
          <a:prstGeom prst="rect">
            <a:avLst/>
          </a:prstGeom>
          <a:noFill/>
          <a:ln/>
        </p:spPr>
        <p:txBody>
          <a:bodyPr wrap="square" lIns="0" tIns="0" rIns="0" bIns="0" rtlCol="0" anchor="t"/>
          <a:lstStyle/>
          <a:p>
            <a:pPr indent="0" marL="0">
              <a:buNone/>
            </a:pPr>
            <a:r>
              <a:rPr lang="en-US" sz="1400" dirty="0">
                <a:solidFill>
                  <a:schemeClr val="tx1"/>
                </a:solidFill>
              </a:rPr>
              <a:t>Named inputs: form in dashboard, options in CLI</a:t>
            </a:r>
            <a:endParaRPr lang="en-US" sz="1400" dirty="0"/>
          </a:p>
        </p:txBody>
      </p:sp>
      <p:sp>
        <p:nvSpPr>
          <p:cNvPr id="38" name="Glance card Progress dialogs"/>
          <p:cNvSpPr/>
          <p:nvPr/>
        </p:nvSpPr>
        <p:spPr>
          <a:xfrm>
            <a:off x="8046720" y="3886200"/>
            <a:ext cx="3566160" cy="2331720"/>
          </a:xfrm>
          <a:prstGeom prst="roundRect">
            <a:avLst>
              <a:gd name="adj" fmla="val 3922"/>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txBody>
          <a:bodyPr/>
          <a:p/>
        </p:txBody>
      </p:sp>
      <p:sp>
        <p:nvSpPr>
          <p:cNvPr id="39" name="Progress dialogs circle"/>
          <p:cNvSpPr/>
          <p:nvPr/>
        </p:nvSpPr>
        <p:spPr>
          <a:xfrm>
            <a:off x="8321040" y="4160520"/>
            <a:ext cx="640080" cy="640080"/>
          </a:xfrm>
          <a:prstGeom prst="ellipse">
            <a:avLst/>
          </a:prstGeom>
          <a:solidFill>
            <a:schemeClr val="bg2"/>
          </a:solidFill>
          <a:ln w="12700">
            <a:solidFill>
              <a:schemeClr val="bg2"/>
            </a:solidFill>
            <a:prstDash val="solid"/>
          </a:ln>
        </p:spPr>
        <p:txBody>
          <a:bodyPr/>
          <a:p/>
        </p:txBody>
      </p:sp>
      <p:pic>
        <p:nvPicPr>
          <p:cNvPr id="40" name="Progress dialogs icon" descr="preencoded.png">    </p:cNvPr>
          <p:cNvPicPr>
            <a:picLocks noChangeAspect="1"/>
          </p:cNvPicPr>
          <p:nvPr/>
        </p:nvPicPr>
        <p:blipFill>
          <a:blip r:embed="rId6"/>
          <a:stretch>
            <a:fillRect/>
          </a:stretch>
        </p:blipFill>
        <p:spPr>
          <a:xfrm>
            <a:off x="8481060" y="4320540"/>
            <a:ext cx="320040" cy="320040"/>
          </a:xfrm>
          <a:prstGeom prst="rect">
            <a:avLst/>
          </a:prstGeom>
        </p:spPr>
      </p:pic>
      <p:sp>
        <p:nvSpPr>
          <p:cNvPr id="41" name="Progress dialogs pill"/>
          <p:cNvSpPr/>
          <p:nvPr/>
        </p:nvSpPr>
        <p:spPr>
          <a:xfrm>
            <a:off x="10195560" y="4343400"/>
            <a:ext cx="1143000" cy="274320"/>
          </a:xfrm>
          <a:prstGeom prst="roundRect">
            <a:avLst>
              <a:gd name="adj" fmla="val 50000"/>
            </a:avLst>
          </a:prstGeom>
          <a:solidFill>
            <a:srgbClr val="D97706"/>
          </a:solidFill>
          <a:ln w="12700">
            <a:solidFill>
              <a:srgbClr val="D97706"/>
            </a:solidFill>
            <a:prstDash val="solid"/>
          </a:ln>
        </p:spPr>
        <p:txBody>
          <a:bodyPr/>
          <a:p/>
        </p:txBody>
      </p:sp>
      <p:sp>
        <p:nvSpPr>
          <p:cNvPr id="42" name="Progress dialogs pill text"/>
          <p:cNvSpPr txBox="1"/>
          <p:nvPr/>
        </p:nvSpPr>
        <p:spPr>
          <a:xfrm>
            <a:off x="10195560" y="4343400"/>
            <a:ext cx="1143000" cy="274320"/>
          </a:xfrm>
          <a:prstGeom prst="rect">
            <a:avLst/>
          </a:prstGeom>
          <a:noFill/>
          <a:ln/>
        </p:spPr>
        <p:txBody>
          <a:bodyPr wrap="square" lIns="0" tIns="0" rIns="0" bIns="0" rtlCol="0" anchor="ctr"/>
          <a:lstStyle/>
          <a:p>
            <a:pPr algn="ctr" indent="0" marL="0">
              <a:buNone/>
            </a:pPr>
            <a:r>
              <a:rPr lang="en-US" sz="1000" b="1" dirty="0">
                <a:solidFill>
                  <a:schemeClr val="bg1"/>
                </a:solidFill>
              </a:rPr>
              <a:t>Experimental</a:t>
            </a:r>
            <a:endParaRPr lang="en-US" sz="1000" dirty="0"/>
          </a:p>
        </p:txBody>
      </p:sp>
      <p:sp>
        <p:nvSpPr>
          <p:cNvPr id="43" name="Progress dialogs title"/>
          <p:cNvSpPr txBox="1"/>
          <p:nvPr/>
        </p:nvSpPr>
        <p:spPr>
          <a:xfrm>
            <a:off x="8321040" y="4892040"/>
            <a:ext cx="3017520" cy="365760"/>
          </a:xfrm>
          <a:prstGeom prst="rect">
            <a:avLst/>
          </a:prstGeom>
          <a:noFill/>
          <a:ln/>
        </p:spPr>
        <p:txBody>
          <a:bodyPr wrap="square" lIns="0" tIns="0" rIns="0" bIns="0" rtlCol="0" anchor="ctr"/>
          <a:lstStyle/>
          <a:p>
            <a:pPr indent="0" marL="0">
              <a:buNone/>
            </a:pPr>
            <a:r>
              <a:rPr lang="en-US" sz="1800" b="1" dirty="0">
                <a:solidFill>
                  <a:schemeClr val="tx2"/>
                </a:solidFill>
              </a:rPr>
              <a:t>Progress dialogs</a:t>
            </a:r>
            <a:endParaRPr lang="en-US" sz="1800" dirty="0"/>
          </a:p>
        </p:txBody>
      </p:sp>
      <p:sp>
        <p:nvSpPr>
          <p:cNvPr id="44" name="Progress dialogs body"/>
          <p:cNvSpPr txBox="1"/>
          <p:nvPr/>
        </p:nvSpPr>
        <p:spPr>
          <a:xfrm>
            <a:off x="8321040" y="5303520"/>
            <a:ext cx="3017520" cy="822960"/>
          </a:xfrm>
          <a:prstGeom prst="rect">
            <a:avLst/>
          </a:prstGeom>
          <a:noFill/>
          <a:ln/>
        </p:spPr>
        <p:txBody>
          <a:bodyPr wrap="square" lIns="0" tIns="0" rIns="0" bIns="0" rtlCol="0" anchor="t"/>
          <a:lstStyle/>
          <a:p>
            <a:pPr indent="0" marL="0">
              <a:buNone/>
            </a:pPr>
            <a:r>
              <a:rPr lang="en-US" sz="1400" dirty="0">
                <a:solidFill>
                  <a:schemeClr val="tx1"/>
                </a:solidFill>
              </a:rPr>
              <a:t>Dialog during long commands, optional cancel</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New look, better filters</a:t>
            </a:r>
            <a:endParaRPr lang="en-US" sz="3400" dirty="0"/>
          </a:p>
        </p:txBody>
      </p:sp>
      <p:sp>
        <p:nvSpPr>
          <p:cNvPr id="3" name="Refresh card"/>
          <p:cNvSpPr/>
          <p:nvPr/>
        </p:nvSpPr>
        <p:spPr>
          <a:xfrm>
            <a:off x="548640" y="1325880"/>
            <a:ext cx="4754880" cy="4846320"/>
          </a:xfrm>
          <a:prstGeom prst="roundRect">
            <a:avLst>
              <a:gd name="adj" fmla="val 1923"/>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txBody>
          <a:bodyPr/>
          <a:p/>
        </p:txBody>
      </p:sp>
      <p:sp>
        <p:nvSpPr>
          <p:cNvPr id="4" name="Refresh title"/>
          <p:cNvSpPr txBox="1"/>
          <p:nvPr/>
        </p:nvSpPr>
        <p:spPr>
          <a:xfrm>
            <a:off x="868680" y="1600200"/>
            <a:ext cx="4114800" cy="411480"/>
          </a:xfrm>
          <a:prstGeom prst="rect">
            <a:avLst/>
          </a:prstGeom>
          <a:noFill/>
          <a:ln/>
        </p:spPr>
        <p:txBody>
          <a:bodyPr wrap="square" lIns="0" tIns="0" rIns="0" bIns="0" rtlCol="0" anchor="ctr"/>
          <a:lstStyle/>
          <a:p>
            <a:pPr indent="0" marL="0">
              <a:buNone/>
            </a:pPr>
            <a:r>
              <a:rPr lang="en-US" sz="2200" b="1" dirty="0">
                <a:solidFill>
                  <a:schemeClr val="tx2"/>
                </a:solidFill>
              </a:rPr>
              <a:t>Refreshed UI</a:t>
            </a:r>
            <a:endParaRPr lang="en-US" sz="2200" dirty="0"/>
          </a:p>
        </p:txBody>
      </p:sp>
      <p:sp>
        <p:nvSpPr>
          <p:cNvPr id="5" name="Refresh bullets"/>
          <p:cNvSpPr txBox="1"/>
          <p:nvPr/>
        </p:nvSpPr>
        <p:spPr>
          <a:xfrm>
            <a:off x="868680" y="4857750"/>
            <a:ext cx="4206240" cy="1177289"/>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Official Aspire colors and logo, light and dark</a:t>
            </a:r>
            <a:endParaRPr lang="en-US" sz="1500" dirty="0"/>
          </a:p>
          <a:p>
            <a:pPr marL="342900" indent="-342900">
              <a:spcAft>
                <a:spcPts val="400"/>
              </a:spcAft>
              <a:buSzPct val="100000"/>
              <a:buChar char="•"/>
            </a:pPr>
            <a:r>
              <a:rPr lang="en-US" sz="1300" dirty="0">
                <a:solidFill>
                  <a:schemeClr val="tx1"/>
                </a:solidFill>
              </a:rPr>
              <a:t>Contrast checked to WCAG AA</a:t>
            </a:r>
            <a:endParaRPr lang="en-US" sz="1500" dirty="0"/>
          </a:p>
          <a:p>
            <a:pPr marL="342900" indent="-342900">
              <a:spcAft>
                <a:spcPts val="400"/>
              </a:spcAft>
              <a:buSzPct val="100000"/>
              <a:buChar char="•"/>
            </a:pPr>
            <a:r>
              <a:rPr lang="en-US" sz="1300" dirty="0">
                <a:solidFill>
                  <a:schemeClr val="tx1"/>
                </a:solidFill>
              </a:rPr>
              <a:t>Same layout, nothing moved</a:t>
            </a:r>
            <a:endParaRPr lang="en-US" sz="1500" dirty="0"/>
          </a:p>
        </p:txBody>
      </p:sp>
      <p:sp>
        <p:nvSpPr>
          <p:cNvPr id="6" name="Filter by timestamp circle"/>
          <p:cNvSpPr/>
          <p:nvPr/>
        </p:nvSpPr>
        <p:spPr>
          <a:xfrm>
            <a:off x="5760720" y="1371600"/>
            <a:ext cx="731520" cy="731520"/>
          </a:xfrm>
          <a:prstGeom prst="ellipse">
            <a:avLst/>
          </a:prstGeom>
          <a:solidFill>
            <a:schemeClr val="bg2"/>
          </a:solidFill>
          <a:ln w="12700">
            <a:solidFill>
              <a:schemeClr val="bg2"/>
            </a:solidFill>
            <a:prstDash val="solid"/>
          </a:ln>
        </p:spPr>
        <p:txBody>
          <a:bodyPr/>
          <a:p/>
        </p:txBody>
      </p:sp>
      <p:pic>
        <p:nvPicPr>
          <p:cNvPr id="7" name="Filter by timestamp icon" descr="preencoded.png">    </p:cNvPr>
          <p:cNvPicPr>
            <a:picLocks noChangeAspect="1"/>
          </p:cNvPicPr>
          <p:nvPr/>
        </p:nvPicPr>
        <p:blipFill>
          <a:blip r:embed="rId1"/>
          <a:stretch>
            <a:fillRect/>
          </a:stretch>
        </p:blipFill>
        <p:spPr>
          <a:xfrm>
            <a:off x="5943600" y="1554480"/>
            <a:ext cx="365760" cy="365760"/>
          </a:xfrm>
          <a:prstGeom prst="rect">
            <a:avLst/>
          </a:prstGeom>
        </p:spPr>
      </p:pic>
      <p:sp>
        <p:nvSpPr>
          <p:cNvPr id="8" name="Filter by timestamp title"/>
          <p:cNvSpPr txBox="1"/>
          <p:nvPr/>
        </p:nvSpPr>
        <p:spPr>
          <a:xfrm>
            <a:off x="6720840" y="1353312"/>
            <a:ext cx="4892040" cy="365760"/>
          </a:xfrm>
          <a:prstGeom prst="rect">
            <a:avLst/>
          </a:prstGeom>
          <a:noFill/>
          <a:ln/>
        </p:spPr>
        <p:txBody>
          <a:bodyPr wrap="square" lIns="0" tIns="0" rIns="0" bIns="0" rtlCol="0" anchor="ctr"/>
          <a:lstStyle/>
          <a:p>
            <a:pPr indent="0" marL="0">
              <a:buNone/>
            </a:pPr>
            <a:r>
              <a:rPr lang="en-US" sz="1700" b="1" dirty="0">
                <a:solidFill>
                  <a:schemeClr val="tx2"/>
                </a:solidFill>
              </a:rPr>
              <a:t>Filter by timestamp</a:t>
            </a:r>
            <a:endParaRPr lang="en-US" sz="1700" dirty="0"/>
          </a:p>
        </p:txBody>
      </p:sp>
      <p:sp>
        <p:nvSpPr>
          <p:cNvPr id="9" name="Filter by timestamp body"/>
          <p:cNvSpPr txBox="1"/>
          <p:nvPr/>
        </p:nvSpPr>
        <p:spPr>
          <a:xfrm>
            <a:off x="6720840" y="1737360"/>
            <a:ext cx="4892040" cy="640080"/>
          </a:xfrm>
          <a:prstGeom prst="rect">
            <a:avLst/>
          </a:prstGeom>
          <a:noFill/>
          <a:ln/>
        </p:spPr>
        <p:txBody>
          <a:bodyPr wrap="square" lIns="0" tIns="0" rIns="0" bIns="0" rtlCol="0" anchor="t"/>
          <a:lstStyle/>
          <a:p>
            <a:pPr indent="0" marL="0">
              <a:buNone/>
            </a:pPr>
            <a:r>
              <a:rPr lang="en-US" sz="1400" dirty="0">
                <a:solidFill>
                  <a:schemeClr val="tx1"/>
                </a:solidFill>
              </a:rPr>
              <a:t>Narrow logs and traces to time range</a:t>
            </a:r>
            <a:endParaRPr lang="en-US" sz="1400" dirty="0"/>
          </a:p>
        </p:txBody>
      </p:sp>
      <p:sp>
        <p:nvSpPr>
          <p:cNvPr id="10" name="Exact numeric matching circle"/>
          <p:cNvSpPr/>
          <p:nvPr/>
        </p:nvSpPr>
        <p:spPr>
          <a:xfrm>
            <a:off x="5760720" y="2587752"/>
            <a:ext cx="731520" cy="731520"/>
          </a:xfrm>
          <a:prstGeom prst="ellipse">
            <a:avLst/>
          </a:prstGeom>
          <a:solidFill>
            <a:schemeClr val="bg2"/>
          </a:solidFill>
          <a:ln w="12700">
            <a:solidFill>
              <a:schemeClr val="bg2"/>
            </a:solidFill>
            <a:prstDash val="solid"/>
          </a:ln>
        </p:spPr>
        <p:txBody>
          <a:bodyPr/>
          <a:p/>
        </p:txBody>
      </p:sp>
      <p:pic>
        <p:nvPicPr>
          <p:cNvPr id="11" name="Exact numeric matching icon" descr="preencoded.png">    </p:cNvPr>
          <p:cNvPicPr>
            <a:picLocks noChangeAspect="1"/>
          </p:cNvPicPr>
          <p:nvPr/>
        </p:nvPicPr>
        <p:blipFill>
          <a:blip r:embed="rId2"/>
          <a:stretch>
            <a:fillRect/>
          </a:stretch>
        </p:blipFill>
        <p:spPr>
          <a:xfrm>
            <a:off x="5943600" y="2770632"/>
            <a:ext cx="365760" cy="365760"/>
          </a:xfrm>
          <a:prstGeom prst="rect">
            <a:avLst/>
          </a:prstGeom>
        </p:spPr>
      </p:pic>
      <p:sp>
        <p:nvSpPr>
          <p:cNvPr id="12" name="Exact numeric matching title"/>
          <p:cNvSpPr txBox="1"/>
          <p:nvPr/>
        </p:nvSpPr>
        <p:spPr>
          <a:xfrm>
            <a:off x="6720840" y="2569464"/>
            <a:ext cx="4892040" cy="365760"/>
          </a:xfrm>
          <a:prstGeom prst="rect">
            <a:avLst/>
          </a:prstGeom>
          <a:noFill/>
          <a:ln/>
        </p:spPr>
        <p:txBody>
          <a:bodyPr wrap="square" lIns="0" tIns="0" rIns="0" bIns="0" rtlCol="0" anchor="ctr"/>
          <a:lstStyle/>
          <a:p>
            <a:pPr indent="0" marL="0">
              <a:buNone/>
            </a:pPr>
            <a:r>
              <a:rPr lang="en-US" sz="1700" b="1" dirty="0">
                <a:solidFill>
                  <a:schemeClr val="tx2"/>
                </a:solidFill>
              </a:rPr>
              <a:t>Exact numeric matching</a:t>
            </a:r>
            <a:endParaRPr lang="en-US" sz="1700" dirty="0"/>
          </a:p>
        </p:txBody>
      </p:sp>
      <p:sp>
        <p:nvSpPr>
          <p:cNvPr id="13" name="Exact numeric matching body"/>
          <p:cNvSpPr txBox="1"/>
          <p:nvPr/>
        </p:nvSpPr>
        <p:spPr>
          <a:xfrm>
            <a:off x="6720840" y="2953512"/>
            <a:ext cx="4892040" cy="640080"/>
          </a:xfrm>
          <a:prstGeom prst="rect">
            <a:avLst/>
          </a:prstGeom>
          <a:noFill/>
          <a:ln/>
        </p:spPr>
        <p:txBody>
          <a:bodyPr wrap="square" lIns="0" tIns="0" rIns="0" bIns="0" rtlCol="0" anchor="t"/>
          <a:lstStyle/>
          <a:p>
            <a:pPr indent="0" marL="0">
              <a:buNone/>
            </a:pPr>
            <a:r>
              <a:rPr lang="en-US" sz="1400" dirty="0">
                <a:solidFill>
                  <a:schemeClr val="tx1"/>
                </a:solidFill>
              </a:rPr>
              <a:t>New == and != operators, e.g. exact status code</a:t>
            </a:r>
            <a:endParaRPr lang="en-US" sz="1400" dirty="0"/>
          </a:p>
        </p:txBody>
      </p:sp>
      <p:sp>
        <p:nvSpPr>
          <p:cNvPr id="14" name="Search console logs circle"/>
          <p:cNvSpPr/>
          <p:nvPr/>
        </p:nvSpPr>
        <p:spPr>
          <a:xfrm>
            <a:off x="5760720" y="3803904"/>
            <a:ext cx="731520" cy="731520"/>
          </a:xfrm>
          <a:prstGeom prst="ellipse">
            <a:avLst/>
          </a:prstGeom>
          <a:solidFill>
            <a:schemeClr val="bg2"/>
          </a:solidFill>
          <a:ln w="12700">
            <a:solidFill>
              <a:schemeClr val="bg2"/>
            </a:solidFill>
            <a:prstDash val="solid"/>
          </a:ln>
        </p:spPr>
        <p:txBody>
          <a:bodyPr/>
          <a:p/>
        </p:txBody>
      </p:sp>
      <p:pic>
        <p:nvPicPr>
          <p:cNvPr id="15" name="Search console logs icon" descr="preencoded.png">    </p:cNvPr>
          <p:cNvPicPr>
            <a:picLocks noChangeAspect="1"/>
          </p:cNvPicPr>
          <p:nvPr/>
        </p:nvPicPr>
        <p:blipFill>
          <a:blip r:embed="rId3"/>
          <a:stretch>
            <a:fillRect/>
          </a:stretch>
        </p:blipFill>
        <p:spPr>
          <a:xfrm>
            <a:off x="5943600" y="3986784"/>
            <a:ext cx="365760" cy="365760"/>
          </a:xfrm>
          <a:prstGeom prst="rect">
            <a:avLst/>
          </a:prstGeom>
        </p:spPr>
      </p:pic>
      <p:sp>
        <p:nvSpPr>
          <p:cNvPr id="16" name="Search console logs title"/>
          <p:cNvSpPr txBox="1"/>
          <p:nvPr/>
        </p:nvSpPr>
        <p:spPr>
          <a:xfrm>
            <a:off x="6720840" y="3785616"/>
            <a:ext cx="4892040" cy="365760"/>
          </a:xfrm>
          <a:prstGeom prst="rect">
            <a:avLst/>
          </a:prstGeom>
          <a:noFill/>
          <a:ln/>
        </p:spPr>
        <p:txBody>
          <a:bodyPr wrap="square" lIns="0" tIns="0" rIns="0" bIns="0" rtlCol="0" anchor="ctr"/>
          <a:lstStyle/>
          <a:p>
            <a:pPr indent="0" marL="0">
              <a:buNone/>
            </a:pPr>
            <a:r>
              <a:rPr lang="en-US" sz="1700" b="1" dirty="0">
                <a:solidFill>
                  <a:schemeClr val="tx2"/>
                </a:solidFill>
              </a:rPr>
              <a:t>Search console logs</a:t>
            </a:r>
            <a:endParaRPr lang="en-US" sz="1700" dirty="0"/>
          </a:p>
        </p:txBody>
      </p:sp>
      <p:sp>
        <p:nvSpPr>
          <p:cNvPr id="17" name="Search console logs body"/>
          <p:cNvSpPr txBox="1"/>
          <p:nvPr/>
        </p:nvSpPr>
        <p:spPr>
          <a:xfrm>
            <a:off x="6720840" y="4169664"/>
            <a:ext cx="4892040" cy="640080"/>
          </a:xfrm>
          <a:prstGeom prst="rect">
            <a:avLst/>
          </a:prstGeom>
          <a:noFill/>
          <a:ln/>
        </p:spPr>
        <p:txBody>
          <a:bodyPr wrap="square" lIns="0" tIns="0" rIns="0" bIns="0" rtlCol="0" anchor="t"/>
          <a:lstStyle/>
          <a:p>
            <a:pPr indent="0" marL="0">
              <a:buNone/>
            </a:pPr>
            <a:r>
              <a:rPr lang="en-US" sz="1400" dirty="0">
                <a:solidFill>
                  <a:schemeClr val="tx1"/>
                </a:solidFill>
              </a:rPr>
              <a:t>Text filter on console output, case-insensitive</a:t>
            </a:r>
            <a:endParaRPr lang="en-US" sz="1400" dirty="0"/>
          </a:p>
        </p:txBody>
      </p:sp>
      <p:sp>
        <p:nvSpPr>
          <p:cNvPr id="18" name="Clearer reconnects circle"/>
          <p:cNvSpPr/>
          <p:nvPr/>
        </p:nvSpPr>
        <p:spPr>
          <a:xfrm>
            <a:off x="5760720" y="5020056"/>
            <a:ext cx="731520" cy="731520"/>
          </a:xfrm>
          <a:prstGeom prst="ellipse">
            <a:avLst/>
          </a:prstGeom>
          <a:solidFill>
            <a:schemeClr val="bg2"/>
          </a:solidFill>
          <a:ln w="12700">
            <a:solidFill>
              <a:schemeClr val="bg2"/>
            </a:solidFill>
            <a:prstDash val="solid"/>
          </a:ln>
        </p:spPr>
        <p:txBody>
          <a:bodyPr/>
          <a:p/>
        </p:txBody>
      </p:sp>
      <p:pic>
        <p:nvPicPr>
          <p:cNvPr id="19" name="Clearer reconnects icon" descr="preencoded.png">    </p:cNvPr>
          <p:cNvPicPr>
            <a:picLocks noChangeAspect="1"/>
          </p:cNvPicPr>
          <p:nvPr/>
        </p:nvPicPr>
        <p:blipFill>
          <a:blip r:embed="rId4"/>
          <a:stretch>
            <a:fillRect/>
          </a:stretch>
        </p:blipFill>
        <p:spPr>
          <a:xfrm>
            <a:off x="5943600" y="5202936"/>
            <a:ext cx="365760" cy="365760"/>
          </a:xfrm>
          <a:prstGeom prst="rect">
            <a:avLst/>
          </a:prstGeom>
        </p:spPr>
      </p:pic>
      <p:sp>
        <p:nvSpPr>
          <p:cNvPr id="20" name="Clearer reconnects title"/>
          <p:cNvSpPr txBox="1"/>
          <p:nvPr/>
        </p:nvSpPr>
        <p:spPr>
          <a:xfrm>
            <a:off x="6720840" y="5001768"/>
            <a:ext cx="4892040" cy="365760"/>
          </a:xfrm>
          <a:prstGeom prst="rect">
            <a:avLst/>
          </a:prstGeom>
          <a:noFill/>
          <a:ln/>
        </p:spPr>
        <p:txBody>
          <a:bodyPr wrap="square" lIns="0" tIns="0" rIns="0" bIns="0" rtlCol="0" anchor="ctr"/>
          <a:lstStyle/>
          <a:p>
            <a:pPr indent="0" marL="0">
              <a:buNone/>
            </a:pPr>
            <a:r>
              <a:rPr lang="en-US" sz="1700" b="1" dirty="0">
                <a:solidFill>
                  <a:schemeClr val="tx2"/>
                </a:solidFill>
              </a:rPr>
              <a:t>Clearer reconnects</a:t>
            </a:r>
            <a:endParaRPr lang="en-US" sz="1700" dirty="0"/>
          </a:p>
        </p:txBody>
      </p:sp>
      <p:sp>
        <p:nvSpPr>
          <p:cNvPr id="21" name="Clearer reconnects body"/>
          <p:cNvSpPr txBox="1"/>
          <p:nvPr/>
        </p:nvSpPr>
        <p:spPr>
          <a:xfrm>
            <a:off x="6720840" y="5385816"/>
            <a:ext cx="4892040" cy="640080"/>
          </a:xfrm>
          <a:prstGeom prst="rect">
            <a:avLst/>
          </a:prstGeom>
          <a:noFill/>
          <a:ln/>
        </p:spPr>
        <p:txBody>
          <a:bodyPr wrap="square" lIns="0" tIns="0" rIns="0" bIns="0" rtlCol="0" anchor="t"/>
          <a:lstStyle/>
          <a:p>
            <a:pPr indent="0" marL="0">
              <a:buNone/>
            </a:pPr>
            <a:r>
              <a:rPr lang="en-US" sz="1400" dirty="0">
                <a:solidFill>
                  <a:schemeClr val="tx1"/>
                </a:solidFill>
              </a:rPr>
              <a:t>Clearer dialog when dashboard loses AppHost connection</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17</a:t>
            </a:fld>
            <a:endParaRPr lang="en-US"/>
          </a:p>
        </p:txBody>
      </p:sp>
      <p:pic>
        <p:nvPicPr>
          <p:cNvPr id="26" name="Refreshed dashboard screenshot" descr="The refreshed Aspire 13.5 dashboard Resources page"/>
          <p:cNvPicPr>
            <a:picLocks noChangeAspect="1"/>
          </p:cNvPicPr>
          <p:nvPr/>
        </p:nvPicPr>
        <p:blipFill>
          <a:blip r:embed="rId7"/>
          <a:stretch>
            <a:fillRect/>
          </a:stretch>
        </p:blipFill>
        <p:spPr>
          <a:xfrm>
            <a:off x="868680" y="2103120"/>
            <a:ext cx="4114800" cy="2571750"/>
          </a:xfrm>
          <a:prstGeom prst="rect">
            <a:avLst/>
          </a:prstGeom>
          <a:ln w="12700">
            <a:solidFill>
              <a:srgbClr val="D9D6E8"/>
            </a:solid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Interactive terminal: WithTerminal()</a:t>
            </a:r>
            <a:endParaRPr lang="en-US" sz="3400" dirty="0"/>
          </a:p>
        </p:txBody>
      </p:sp>
      <p:sp>
        <p:nvSpPr>
          <p:cNvPr id="3" name="Terminal CS panel"/>
          <p:cNvSpPr/>
          <p:nvPr/>
        </p:nvSpPr>
        <p:spPr>
          <a:xfrm>
            <a:off x="548640" y="1325880"/>
            <a:ext cx="6949440" cy="3840480"/>
          </a:xfrm>
          <a:prstGeom prst="roundRect">
            <a:avLst>
              <a:gd name="adj" fmla="val 1905"/>
            </a:avLst>
          </a:prstGeom>
          <a:solidFill>
            <a:srgbClr val="1C1830"/>
          </a:solidFill>
          <a:ln w="12700">
            <a:solidFill>
              <a:srgbClr val="1C1830"/>
            </a:solidFill>
            <a:prstDash val="solid"/>
          </a:ln>
        </p:spPr>
        <p:txBody>
          <a:bodyPr/>
          <a:p/>
        </p:txBody>
      </p:sp>
      <p:sp>
        <p:nvSpPr>
          <p:cNvPr id="4" name="Terminal CS label"/>
          <p:cNvSpPr txBox="1"/>
          <p:nvPr/>
        </p:nvSpPr>
        <p:spPr>
          <a:xfrm>
            <a:off x="777240" y="1417320"/>
            <a:ext cx="6492240" cy="274320"/>
          </a:xfrm>
          <a:prstGeom prst="rect">
            <a:avLst/>
          </a:prstGeom>
          <a:noFill/>
          <a:ln/>
        </p:spPr>
        <p:txBody>
          <a:bodyPr wrap="square" lIns="0" tIns="0" rIns="0" bIns="0" rtlCol="0" anchor="ctr"/>
          <a:lstStyle/>
          <a:p>
            <a:pPr indent="0" marL="0">
              <a:buNone/>
            </a:pPr>
            <a:r>
              <a:rPr lang="en-US" sz="1000" b="1" spc="100" kern="0" dirty="0">
                <a:solidFill>
                  <a:srgbClr val="8B87A3"/>
                </a:solidFill>
                <a:latin typeface="Calibri" pitchFamily="34" charset="0"/>
                <a:ea typeface="Calibri" pitchFamily="34" charset="-122"/>
                <a:cs typeface="Calibri" pitchFamily="34" charset="-120"/>
              </a:rPr>
              <a:t>C#  ·  AppHost.cs</a:t>
            </a:r>
            <a:endParaRPr lang="en-US" sz="1000" dirty="0"/>
          </a:p>
        </p:txBody>
      </p:sp>
      <p:sp>
        <p:nvSpPr>
          <p:cNvPr id="5" name="Terminal CS text"/>
          <p:cNvSpPr txBox="1"/>
          <p:nvPr/>
        </p:nvSpPr>
        <p:spPr>
          <a:xfrm>
            <a:off x="777240" y="1737360"/>
            <a:ext cx="6492240" cy="3337560"/>
          </a:xfrm>
          <a:prstGeom prst="rect">
            <a:avLst/>
          </a:prstGeom>
          <a:noFill/>
          <a:ln/>
        </p:spPr>
        <p:txBody>
          <a:bodyPr wrap="square" lIns="0" tIns="0" rIns="0" bIns="0" rtlCol="0" anchor="t"/>
          <a:lstStyle/>
          <a:p>
            <a:pPr indent="0" marL="0">
              <a:buNone/>
            </a:pPr>
            <a:r>
              <a:rPr lang="en-US" sz="1300" i="1" dirty="0">
                <a:solidFill>
                  <a:srgbClr val="8B87A3"/>
                </a:solidFill>
                <a:latin typeface="Courier New" pitchFamily="34" charset="0"/>
                <a:ea typeface="Courier New" pitchFamily="34" charset="-122"/>
                <a:cs typeface="Courier New" pitchFamily="34" charset="-120"/>
              </a:rPr>
              <a:t>#pragma warning disable ASPIRETERMINAL001 // experimental API</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C4A7FF"/>
                </a:solidFill>
                <a:latin typeface="Courier New" pitchFamily="34" charset="0"/>
                <a:ea typeface="Courier New" pitchFamily="34" charset="-122"/>
                <a:cs typeface="Courier New" pitchFamily="34" charset="-120"/>
              </a:rPr>
              <a:t>var</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builder</a:t>
            </a:r>
            <a:pPr indent="0" marL="0">
              <a:buNone/>
            </a:pPr>
            <a:r>
              <a:rPr lang="en-US" sz="1300" dirty="0">
                <a:solidFill>
                  <a:srgbClr val="E8E6F0"/>
                </a:solidFill>
                <a:latin typeface="Courier New" pitchFamily="34" charset="0"/>
                <a:ea typeface="Courier New" pitchFamily="34" charset="-122"/>
                <a:cs typeface="Courier New" pitchFamily="34" charset="-120"/>
              </a:rPr>
              <a:t> = </a:t>
            </a:r>
            <a:pPr indent="0" marL="0">
              <a:buNone/>
            </a:pPr>
            <a:r>
              <a:rPr lang="en-US" sz="1300" dirty="0">
                <a:solidFill>
                  <a:srgbClr val="7CC7FF"/>
                </a:solidFill>
                <a:latin typeface="Courier New" pitchFamily="34" charset="0"/>
                <a:ea typeface="Courier New" pitchFamily="34" charset="-122"/>
                <a:cs typeface="Courier New" pitchFamily="34" charset="-120"/>
              </a:rPr>
              <a:t>DistributedApplication</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CreateBuilder</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args</a:t>
            </a:r>
            <a:pPr indent="0" marL="0">
              <a:buNone/>
            </a:pPr>
            <a:r>
              <a:rPr lang="en-US" sz="1300" dirty="0">
                <a:solidFill>
                  <a:srgbClr val="E8E6F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builder</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AddContainer</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8FE3B0"/>
                </a:solidFill>
                <a:latin typeface="Courier New" pitchFamily="34" charset="0"/>
                <a:ea typeface="Courier New" pitchFamily="34" charset="-122"/>
                <a:cs typeface="Courier New" pitchFamily="34" charset="-120"/>
              </a:rPr>
              <a:t>"db"</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8FE3B0"/>
                </a:solidFill>
                <a:latin typeface="Courier New" pitchFamily="34" charset="0"/>
                <a:ea typeface="Courier New" pitchFamily="34" charset="-122"/>
                <a:cs typeface="Courier New" pitchFamily="34" charset="-120"/>
              </a:rPr>
              <a:t>"postgres"</a:t>
            </a:r>
            <a:pPr indent="0" marL="0">
              <a:buNone/>
            </a:pPr>
            <a:r>
              <a:rPr lang="en-US" sz="1300" dirty="0">
                <a:solidFill>
                  <a:srgbClr val="E8E6F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WithTerminal</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options</a:t>
            </a:r>
            <a:pPr indent="0" marL="0">
              <a:buNone/>
            </a:pPr>
            <a:r>
              <a:rPr lang="en-US" sz="1300" dirty="0">
                <a:solidFill>
                  <a:srgbClr val="E8E6F0"/>
                </a:solidFill>
                <a:latin typeface="Courier New" pitchFamily="34" charset="0"/>
                <a:ea typeface="Courier New" pitchFamily="34" charset="-122"/>
                <a:cs typeface="Courier New" pitchFamily="34" charset="-120"/>
              </a:rPr>
              <a:t> =&gt;</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options</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Columns</a:t>
            </a:r>
            <a:pPr indent="0" marL="0">
              <a:buNone/>
            </a:pPr>
            <a:r>
              <a:rPr lang="en-US" sz="1300" dirty="0">
                <a:solidFill>
                  <a:srgbClr val="E8E6F0"/>
                </a:solidFill>
                <a:latin typeface="Courier New" pitchFamily="34" charset="0"/>
                <a:ea typeface="Courier New" pitchFamily="34" charset="-122"/>
                <a:cs typeface="Courier New" pitchFamily="34" charset="-120"/>
              </a:rPr>
              <a:t> = </a:t>
            </a:r>
            <a:pPr indent="0" marL="0">
              <a:buNone/>
            </a:pPr>
            <a:r>
              <a:rPr lang="en-US" sz="1300" dirty="0">
                <a:solidFill>
                  <a:srgbClr val="F8C77A"/>
                </a:solidFill>
                <a:latin typeface="Courier New" pitchFamily="34" charset="0"/>
                <a:ea typeface="Courier New" pitchFamily="34" charset="-122"/>
                <a:cs typeface="Courier New" pitchFamily="34" charset="-120"/>
              </a:rPr>
              <a:t>200</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i="1" dirty="0">
                <a:solidFill>
                  <a:srgbClr val="8B87A3"/>
                </a:solidFill>
                <a:latin typeface="Courier New" pitchFamily="34" charset="0"/>
                <a:ea typeface="Courier New" pitchFamily="34" charset="-122"/>
                <a:cs typeface="Courier New" pitchFamily="34" charset="-120"/>
              </a:rPr>
              <a:t>// default is 120</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options</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Rows</a:t>
            </a:r>
            <a:pPr indent="0" marL="0">
              <a:buNone/>
            </a:pPr>
            <a:r>
              <a:rPr lang="en-US" sz="1300" dirty="0">
                <a:solidFill>
                  <a:srgbClr val="E8E6F0"/>
                </a:solidFill>
                <a:latin typeface="Courier New" pitchFamily="34" charset="0"/>
                <a:ea typeface="Courier New" pitchFamily="34" charset="-122"/>
                <a:cs typeface="Courier New" pitchFamily="34" charset="-120"/>
              </a:rPr>
              <a:t> = </a:t>
            </a:r>
            <a:pPr indent="0" marL="0">
              <a:buNone/>
            </a:pPr>
            <a:r>
              <a:rPr lang="en-US" sz="1300" dirty="0">
                <a:solidFill>
                  <a:srgbClr val="F8C77A"/>
                </a:solidFill>
                <a:latin typeface="Courier New" pitchFamily="34" charset="0"/>
                <a:ea typeface="Courier New" pitchFamily="34" charset="-122"/>
                <a:cs typeface="Courier New" pitchFamily="34" charset="-120"/>
              </a:rPr>
              <a:t>50</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i="1" dirty="0">
                <a:solidFill>
                  <a:srgbClr val="8B87A3"/>
                </a:solidFill>
                <a:latin typeface="Courier New" pitchFamily="34" charset="0"/>
                <a:ea typeface="Courier New" pitchFamily="34" charset="-122"/>
                <a:cs typeface="Courier New" pitchFamily="34" charset="-120"/>
              </a:rPr>
              <a:t>// default is 30</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builder</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Build</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Run</a:t>
            </a:r>
            <a:pPr indent="0" marL="0">
              <a:buNone/>
            </a:pPr>
            <a:r>
              <a:rPr lang="en-US" sz="1300" dirty="0">
                <a:solidFill>
                  <a:srgbClr val="E8E6F0"/>
                </a:solidFill>
                <a:latin typeface="Courier New" pitchFamily="34" charset="0"/>
                <a:ea typeface="Courier New" pitchFamily="34" charset="-122"/>
                <a:cs typeface="Courier New" pitchFamily="34" charset="-120"/>
              </a:rPr>
              <a:t>();</a:t>
            </a:r>
            <a:endParaRPr lang="en-US" sz="1300" dirty="0"/>
          </a:p>
        </p:txBody>
      </p:sp>
      <p:sp>
        <p:nvSpPr>
          <p:cNvPr id="6" name="Terminal notes panel"/>
          <p:cNvSpPr/>
          <p:nvPr/>
        </p:nvSpPr>
        <p:spPr>
          <a:xfrm>
            <a:off x="7772400" y="1325880"/>
            <a:ext cx="3840480" cy="4846320"/>
          </a:xfrm>
          <a:prstGeom prst="roundRect">
            <a:avLst>
              <a:gd name="adj" fmla="val 2381"/>
            </a:avLst>
          </a:prstGeom>
          <a:solidFill>
            <a:schemeClr val="bg2"/>
          </a:solidFill>
          <a:ln w="12700">
            <a:solidFill>
              <a:schemeClr val="bg2"/>
            </a:solidFill>
            <a:prstDash val="solid"/>
          </a:ln>
        </p:spPr>
        <p:txBody>
          <a:bodyPr/>
          <a:p/>
        </p:txBody>
      </p:sp>
      <p:sp>
        <p:nvSpPr>
          <p:cNvPr id="7" name="Terminal notes text"/>
          <p:cNvSpPr txBox="1"/>
          <p:nvPr/>
        </p:nvSpPr>
        <p:spPr>
          <a:xfrm>
            <a:off x="8046720" y="1554480"/>
            <a:ext cx="3291840" cy="4389120"/>
          </a:xfrm>
          <a:prstGeom prst="rect">
            <a:avLst/>
          </a:prstGeom>
          <a:noFill/>
          <a:ln/>
        </p:spPr>
        <p:txBody>
          <a:bodyPr wrap="square" lIns="0" tIns="0" rIns="0" bIns="0" rtlCol="0" anchor="t"/>
          <a:lstStyle/>
          <a:p>
            <a:pPr indent="0" marL="0">
              <a:buNone/>
            </a:pPr>
            <a:r>
              <a:rPr lang="en-US" sz="1500" b="1" dirty="0">
                <a:solidFill>
                  <a:schemeClr val="tx2"/>
                </a:solidFill>
              </a:rPr>
              <a:t>What it does</a:t>
            </a:r>
            <a:endParaRPr lang="en-US" sz="1500" dirty="0"/>
          </a:p>
          <a:p>
            <a:pPr indent="0" marL="0">
              <a:spcAft>
                <a:spcPts val="1200"/>
              </a:spcAft>
              <a:buNone/>
            </a:pPr>
            <a:r>
              <a:rPr lang="en-US" sz="1400" dirty="0">
                <a:solidFill>
                  <a:schemeClr val="tx1"/>
                </a:solidFill>
              </a:rPr>
              <a:t>Resource gets live terminal you type into from dashboard. Shells, REPLs (psql, Python), text apps.</a:t>
            </a:r>
            <a:endParaRPr lang="en-US" sz="1500" dirty="0"/>
          </a:p>
          <a:p>
            <a:pPr indent="0" marL="0">
              <a:buNone/>
            </a:pPr>
            <a:r>
              <a:rPr lang="en-US" sz="1500" b="1" dirty="0">
                <a:solidFill>
                  <a:schemeClr val="tx2"/>
                </a:solidFill>
              </a:rPr>
              <a:t>Opens automatically</a:t>
            </a:r>
            <a:endParaRPr lang="en-US" sz="1500" dirty="0"/>
          </a:p>
          <a:p>
            <a:pPr indent="0" marL="0">
              <a:spcAft>
                <a:spcPts val="1200"/>
              </a:spcAft>
              <a:buNone/>
            </a:pPr>
            <a:r>
              <a:rPr lang="en-US" sz="1400" dirty="0">
                <a:solidFill>
                  <a:schemeClr val="tx1"/>
                </a:solidFill>
              </a:rPr>
              <a:t>Running resource opens in terminal view. Before that, console logs.</a:t>
            </a:r>
            <a:endParaRPr lang="en-US" sz="1500" dirty="0"/>
          </a:p>
          <a:p>
            <a:pPr indent="0" marL="0">
              <a:buNone/>
            </a:pPr>
            <a:r>
              <a:rPr lang="en-US" sz="1500" b="1" dirty="0">
                <a:solidFill>
                  <a:schemeClr val="tx2"/>
                </a:solidFill>
              </a:rPr>
              <a:t>Many viewers</a:t>
            </a:r>
            <a:endParaRPr lang="en-US" sz="1500" dirty="0"/>
          </a:p>
          <a:p>
            <a:pPr indent="0" marL="0">
              <a:spcAft>
                <a:spcPts val="1200"/>
              </a:spcAft>
              <a:buNone/>
            </a:pPr>
            <a:r>
              <a:rPr lang="en-US" sz="1400" dirty="0">
                <a:solidFill>
                  <a:schemeClr val="tx1"/>
                </a:solidFill>
              </a:rPr>
              <a:t>Several people or tabs can attach to same session.</a:t>
            </a:r>
            <a:endParaRPr lang="en-US" sz="1500" dirty="0"/>
          </a:p>
        </p:txBody>
      </p:sp>
      <p:pic>
        <p:nvPicPr>
          <p:cNvPr id="8" name="Experimental icon" descr="preencoded.png">    </p:cNvPr>
          <p:cNvPicPr>
            <a:picLocks noChangeAspect="1"/>
          </p:cNvPicPr>
          <p:nvPr/>
        </p:nvPicPr>
        <p:blipFill>
          <a:blip r:embed="rId1"/>
          <a:stretch>
            <a:fillRect/>
          </a:stretch>
        </p:blipFill>
        <p:spPr>
          <a:xfrm>
            <a:off x="548640" y="5440680"/>
            <a:ext cx="365760" cy="365760"/>
          </a:xfrm>
          <a:prstGeom prst="rect">
            <a:avLst/>
          </a:prstGeom>
        </p:spPr>
      </p:pic>
      <p:sp>
        <p:nvSpPr>
          <p:cNvPr id="9" name="Experimental note"/>
          <p:cNvSpPr txBox="1"/>
          <p:nvPr/>
        </p:nvSpPr>
        <p:spPr>
          <a:xfrm>
            <a:off x="1051560" y="5394960"/>
            <a:ext cx="6400800" cy="457200"/>
          </a:xfrm>
          <a:prstGeom prst="rect">
            <a:avLst/>
          </a:prstGeom>
          <a:noFill/>
          <a:ln/>
        </p:spPr>
        <p:txBody>
          <a:bodyPr wrap="square" lIns="0" tIns="0" rIns="0" bIns="0" rtlCol="0" anchor="ctr"/>
          <a:lstStyle/>
          <a:p>
            <a:pPr indent="0" marL="0">
              <a:buNone/>
            </a:pPr>
            <a:r>
              <a:rPr lang="en-US" sz="1400" dirty="0">
                <a:solidFill>
                  <a:schemeClr val="tx1"/>
                </a:solidFill>
              </a:rPr>
              <a:t>Experimental. C# must suppress ASPIRETERMINAL001. API may change.</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Terminal view</a:t>
            </a:r>
            <a:endParaRPr lang="en-US" sz="3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19</a:t>
            </a:fld>
            <a:endParaRPr lang="en-US"/>
          </a:p>
        </p:txBody>
      </p:sp>
      <p:pic>
        <p:nvPicPr>
          <p:cNvPr id="26" name="Dashboard screenshot" descr="The Aspire 13.5 dashboard Console logs page showing a live terminal running the guessing-game resource"/>
          <p:cNvPicPr>
            <a:picLocks noChangeAspect="1"/>
          </p:cNvPicPr>
          <p:nvPr/>
        </p:nvPicPr>
        <p:blipFill>
          <a:blip r:embed="rId3"/>
          <a:stretch>
            <a:fillRect/>
          </a:stretch>
        </p:blipFill>
        <p:spPr>
          <a:xfrm>
            <a:off x="548640" y="1280160"/>
            <a:ext cx="7168896" cy="4480560"/>
          </a:xfrm>
          <a:prstGeom prst="rect">
            <a:avLst/>
          </a:prstGeom>
          <a:ln w="12700">
            <a:solidFill>
              <a:srgbClr val="D9D6E8"/>
            </a:solidFill>
          </a:ln>
        </p:spPr>
      </p:pic>
      <p:sp>
        <p:nvSpPr>
          <p:cNvPr id="1001" name="Step circle 1"/>
          <p:cNvSpPr/>
          <p:nvPr/>
        </p:nvSpPr>
        <p:spPr>
          <a:xfrm>
            <a:off x="8503920" y="1325880"/>
            <a:ext cx="347472" cy="347472"/>
          </a:xfrm>
          <a:prstGeom prst="ellipse">
            <a:avLst/>
          </a:prstGeom>
          <a:solidFill>
            <a:schemeClr val="accent1"/>
          </a:solidFill>
          <a:ln w="12700">
            <a:solidFill>
              <a:schemeClr val="accent1"/>
            </a:solidFill>
            <a:prstDash val="solid"/>
          </a:ln>
        </p:spPr>
        <p:txBody>
          <a:bodyPr/>
          <a:p/>
        </p:txBody>
      </p:sp>
      <p:sp>
        <p:nvSpPr>
          <p:cNvPr id="1002" name="Step number 1"/>
          <p:cNvSpPr txBox="1"/>
          <p:nvPr/>
        </p:nvSpPr>
        <p:spPr>
          <a:xfrm>
            <a:off x="8503920" y="132588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1003" name="Step title 1"/>
          <p:cNvSpPr txBox="1"/>
          <p:nvPr/>
        </p:nvSpPr>
        <p:spPr>
          <a:xfrm>
            <a:off x="8961120" y="1325880"/>
            <a:ext cx="2743200" cy="347472"/>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Open Console logs</a:t>
            </a:r>
            <a:endParaRPr lang="en-US" sz="1500" dirty="0"/>
          </a:p>
        </p:txBody>
      </p:sp>
      <p:sp>
        <p:nvSpPr>
          <p:cNvPr id="1004" name="Step body 1"/>
          <p:cNvSpPr txBox="1"/>
          <p:nvPr/>
        </p:nvSpPr>
        <p:spPr>
          <a:xfrm>
            <a:off x="8961120" y="1709928"/>
            <a:ext cx="2743200" cy="10058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Pick resource from Resource dropdown (here: guessing-game).</a:t>
            </a:r>
            <a:endParaRPr lang="en-US" sz="1300" dirty="0"/>
          </a:p>
        </p:txBody>
      </p:sp>
      <p:sp>
        <p:nvSpPr>
          <p:cNvPr id="1005" name="Step circle 2"/>
          <p:cNvSpPr/>
          <p:nvPr/>
        </p:nvSpPr>
        <p:spPr>
          <a:xfrm>
            <a:off x="8503920" y="2788920"/>
            <a:ext cx="347472" cy="347472"/>
          </a:xfrm>
          <a:prstGeom prst="ellipse">
            <a:avLst/>
          </a:prstGeom>
          <a:solidFill>
            <a:schemeClr val="accent1"/>
          </a:solidFill>
          <a:ln w="12700">
            <a:solidFill>
              <a:schemeClr val="accent1"/>
            </a:solidFill>
            <a:prstDash val="solid"/>
          </a:ln>
        </p:spPr>
        <p:txBody>
          <a:bodyPr/>
          <a:p/>
        </p:txBody>
      </p:sp>
      <p:sp>
        <p:nvSpPr>
          <p:cNvPr id="1006" name="Step number 2"/>
          <p:cNvSpPr txBox="1"/>
          <p:nvPr/>
        </p:nvSpPr>
        <p:spPr>
          <a:xfrm>
            <a:off x="8503920" y="278892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007" name="Step title 2"/>
          <p:cNvSpPr txBox="1"/>
          <p:nvPr/>
        </p:nvSpPr>
        <p:spPr>
          <a:xfrm>
            <a:off x="8961120" y="2788920"/>
            <a:ext cx="2743200" cy="347472"/>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Live terminal shows</a:t>
            </a:r>
            <a:endParaRPr lang="en-US" sz="1500" dirty="0"/>
          </a:p>
        </p:txBody>
      </p:sp>
      <p:sp>
        <p:nvSpPr>
          <p:cNvPr id="1008" name="Step body 2"/>
          <p:cNvSpPr txBox="1"/>
          <p:nvPr/>
        </p:nvSpPr>
        <p:spPr>
          <a:xfrm>
            <a:off x="8961120" y="3172968"/>
            <a:ext cx="2743200" cy="10058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Resource with WithTerminal() gets interactive session. Switch replicas or back to logs without stopping it.</a:t>
            </a:r>
            <a:endParaRPr lang="en-US" sz="1300" dirty="0"/>
          </a:p>
        </p:txBody>
      </p:sp>
      <p:sp>
        <p:nvSpPr>
          <p:cNvPr id="1009" name="Step circle 3"/>
          <p:cNvSpPr/>
          <p:nvPr/>
        </p:nvSpPr>
        <p:spPr>
          <a:xfrm>
            <a:off x="8503920" y="4251960"/>
            <a:ext cx="347472" cy="347472"/>
          </a:xfrm>
          <a:prstGeom prst="ellipse">
            <a:avLst/>
          </a:prstGeom>
          <a:solidFill>
            <a:schemeClr val="accent1"/>
          </a:solidFill>
          <a:ln w="12700">
            <a:solidFill>
              <a:schemeClr val="accent1"/>
            </a:solidFill>
            <a:prstDash val="solid"/>
          </a:ln>
        </p:spPr>
        <p:txBody>
          <a:bodyPr/>
          <a:p/>
        </p:txBody>
      </p:sp>
      <p:sp>
        <p:nvSpPr>
          <p:cNvPr id="1010" name="Step number 3"/>
          <p:cNvSpPr txBox="1"/>
          <p:nvPr/>
        </p:nvSpPr>
        <p:spPr>
          <a:xfrm>
            <a:off x="8503920" y="425196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011" name="Step title 3"/>
          <p:cNvSpPr txBox="1"/>
          <p:nvPr/>
        </p:nvSpPr>
        <p:spPr>
          <a:xfrm>
            <a:off x="8961120" y="4251960"/>
            <a:ext cx="2743200" cy="347472"/>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Type like any shell</a:t>
            </a:r>
            <a:endParaRPr lang="en-US" sz="1500" dirty="0"/>
          </a:p>
        </p:txBody>
      </p:sp>
      <p:sp>
        <p:nvSpPr>
          <p:cNvPr id="1012" name="Step body 3"/>
          <p:cNvSpPr txBox="1"/>
          <p:nvPr/>
        </p:nvSpPr>
        <p:spPr>
          <a:xfrm>
            <a:off x="8961120" y="4636008"/>
            <a:ext cx="2743200" cy="10058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Keys go to live session. Size shown top-right (95 × 24 here).</a:t>
            </a:r>
            <a:endParaRPr lang="en-US" sz="1300" dirty="0"/>
          </a:p>
        </p:txBody>
      </p:sp>
      <p:sp>
        <p:nvSpPr>
          <p:cNvPr id="1013" name="Screenshot source"/>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100" i="1" dirty="0">
                <a:solidFill>
                  <a:srgbClr val="6B6785"/>
                </a:solidFill>
                <a:latin typeface="Calibri" pitchFamily="34" charset="0"/>
                <a:ea typeface="Calibri" pitchFamily="34" charset="-122"/>
                <a:cs typeface="Calibri" pitchFamily="34" charset="-120"/>
              </a:rPr>
              <a:t>Screenshot: guessing-game playground. Source: Aspire blog, “Aspire 13.5: Fresh pixels and better workflows”, Aug 18, 2026.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Same terminal from TypeScript and CLI</a:t>
            </a:r>
            <a:endParaRPr lang="en-US" sz="3400" dirty="0"/>
          </a:p>
        </p:txBody>
      </p:sp>
      <p:sp>
        <p:nvSpPr>
          <p:cNvPr id="3" name="Terminal TS panel"/>
          <p:cNvSpPr/>
          <p:nvPr/>
        </p:nvSpPr>
        <p:spPr>
          <a:xfrm>
            <a:off x="548640" y="1325880"/>
            <a:ext cx="6949440" cy="3108960"/>
          </a:xfrm>
          <a:prstGeom prst="roundRect">
            <a:avLst>
              <a:gd name="adj" fmla="val 2353"/>
            </a:avLst>
          </a:prstGeom>
          <a:solidFill>
            <a:srgbClr val="1C1830"/>
          </a:solidFill>
          <a:ln w="12700">
            <a:solidFill>
              <a:srgbClr val="1C1830"/>
            </a:solidFill>
            <a:prstDash val="solid"/>
          </a:ln>
        </p:spPr>
        <p:txBody>
          <a:bodyPr/>
          <a:p/>
        </p:txBody>
      </p:sp>
      <p:sp>
        <p:nvSpPr>
          <p:cNvPr id="4" name="Terminal TS label"/>
          <p:cNvSpPr txBox="1"/>
          <p:nvPr/>
        </p:nvSpPr>
        <p:spPr>
          <a:xfrm>
            <a:off x="777240" y="1417320"/>
            <a:ext cx="6492240" cy="274320"/>
          </a:xfrm>
          <a:prstGeom prst="rect">
            <a:avLst/>
          </a:prstGeom>
          <a:noFill/>
          <a:ln/>
        </p:spPr>
        <p:txBody>
          <a:bodyPr wrap="square" lIns="0" tIns="0" rIns="0" bIns="0" rtlCol="0" anchor="ctr"/>
          <a:lstStyle/>
          <a:p>
            <a:pPr indent="0" marL="0">
              <a:buNone/>
            </a:pPr>
            <a:r>
              <a:rPr lang="en-US" sz="1000" b="1" spc="100" kern="0" dirty="0">
                <a:solidFill>
                  <a:srgbClr val="8B87A3"/>
                </a:solidFill>
                <a:latin typeface="Calibri" pitchFamily="34" charset="0"/>
                <a:ea typeface="Calibri" pitchFamily="34" charset="-122"/>
                <a:cs typeface="Calibri" pitchFamily="34" charset="-120"/>
              </a:rPr>
              <a:t>TYPESCRIPT  ·  apphost.mts</a:t>
            </a:r>
            <a:endParaRPr lang="en-US" sz="1000" dirty="0"/>
          </a:p>
        </p:txBody>
      </p:sp>
      <p:sp>
        <p:nvSpPr>
          <p:cNvPr id="5" name="Terminal TS text"/>
          <p:cNvSpPr txBox="1"/>
          <p:nvPr/>
        </p:nvSpPr>
        <p:spPr>
          <a:xfrm>
            <a:off x="777240" y="1737360"/>
            <a:ext cx="6492240" cy="2606040"/>
          </a:xfrm>
          <a:prstGeom prst="rect">
            <a:avLst/>
          </a:prstGeom>
          <a:noFill/>
          <a:ln/>
        </p:spPr>
        <p:txBody>
          <a:bodyPr wrap="square" lIns="0" tIns="0" rIns="0" bIns="0" rtlCol="0" anchor="t"/>
          <a:lstStyle/>
          <a:p>
            <a:pPr indent="0" marL="0">
              <a:buNone/>
            </a:pPr>
            <a:r>
              <a:rPr lang="en-US" sz="1300" dirty="0">
                <a:solidFill>
                  <a:srgbClr val="C4A7FF"/>
                </a:solidFill>
                <a:latin typeface="Courier New" pitchFamily="34" charset="0"/>
                <a:ea typeface="Courier New" pitchFamily="34" charset="-122"/>
                <a:cs typeface="Courier New" pitchFamily="34" charset="-120"/>
              </a:rPr>
              <a:t>import</a:t>
            </a:r>
            <a:pPr indent="0" marL="0">
              <a:buNone/>
            </a:pPr>
            <a:r>
              <a:rPr lang="en-US" sz="1300" dirty="0">
                <a:solidFill>
                  <a:srgbClr val="E8E6F0"/>
                </a:solidFill>
                <a:latin typeface="Courier New" pitchFamily="34" charset="0"/>
                <a:ea typeface="Courier New" pitchFamily="34" charset="-122"/>
                <a:cs typeface="Courier New" pitchFamily="34" charset="-120"/>
              </a:rPr>
              <a:t> { </a:t>
            </a:r>
            <a:pPr indent="0" marL="0">
              <a:buNone/>
            </a:pPr>
            <a:r>
              <a:rPr lang="en-US" sz="1300" dirty="0">
                <a:solidFill>
                  <a:srgbClr val="E8E6F0"/>
                </a:solidFill>
                <a:latin typeface="Courier New" pitchFamily="34" charset="0"/>
                <a:ea typeface="Courier New" pitchFamily="34" charset="-122"/>
                <a:cs typeface="Courier New" pitchFamily="34" charset="-120"/>
              </a:rPr>
              <a:t>createBuilder</a:t>
            </a:r>
            <a:pPr indent="0" marL="0">
              <a:buNone/>
            </a:pPr>
            <a:r>
              <a:rPr lang="en-US" sz="1300" dirty="0">
                <a:solidFill>
                  <a:srgbClr val="E8E6F0"/>
                </a:solidFill>
                <a:latin typeface="Courier New" pitchFamily="34" charset="0"/>
                <a:ea typeface="Courier New" pitchFamily="34" charset="-122"/>
                <a:cs typeface="Courier New" pitchFamily="34" charset="-120"/>
              </a:rPr>
              <a:t> } </a:t>
            </a:r>
            <a:pPr indent="0" marL="0">
              <a:buNone/>
            </a:pPr>
            <a:r>
              <a:rPr lang="en-US" sz="1300" dirty="0">
                <a:solidFill>
                  <a:srgbClr val="C4A7FF"/>
                </a:solidFill>
                <a:latin typeface="Courier New" pitchFamily="34" charset="0"/>
                <a:ea typeface="Courier New" pitchFamily="34" charset="-122"/>
                <a:cs typeface="Courier New" pitchFamily="34" charset="-120"/>
              </a:rPr>
              <a:t>from</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8FE3B0"/>
                </a:solidFill>
                <a:latin typeface="Courier New" pitchFamily="34" charset="0"/>
                <a:ea typeface="Courier New" pitchFamily="34" charset="-122"/>
                <a:cs typeface="Courier New" pitchFamily="34" charset="-120"/>
              </a:rPr>
              <a:t>'./.aspire/modules/aspire.mjs'</a:t>
            </a:r>
            <a:pPr indent="0" marL="0">
              <a:buNone/>
            </a:pPr>
            <a:r>
              <a:rPr lang="en-US" sz="1300" dirty="0">
                <a:solidFill>
                  <a:srgbClr val="E8E6F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C4A7FF"/>
                </a:solidFill>
                <a:latin typeface="Courier New" pitchFamily="34" charset="0"/>
                <a:ea typeface="Courier New" pitchFamily="34" charset="-122"/>
                <a:cs typeface="Courier New" pitchFamily="34" charset="-120"/>
              </a:rPr>
              <a:t>const</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builder</a:t>
            </a:r>
            <a:pPr indent="0" marL="0">
              <a:buNone/>
            </a:pPr>
            <a:r>
              <a:rPr lang="en-US" sz="1300" dirty="0">
                <a:solidFill>
                  <a:srgbClr val="E8E6F0"/>
                </a:solidFill>
                <a:latin typeface="Courier New" pitchFamily="34" charset="0"/>
                <a:ea typeface="Courier New" pitchFamily="34" charset="-122"/>
                <a:cs typeface="Courier New" pitchFamily="34" charset="-120"/>
              </a:rPr>
              <a:t> = </a:t>
            </a:r>
            <a:pPr indent="0" marL="0">
              <a:buNone/>
            </a:pPr>
            <a:r>
              <a:rPr lang="en-US" sz="1300" dirty="0">
                <a:solidFill>
                  <a:srgbClr val="C4A7FF"/>
                </a:solidFill>
                <a:latin typeface="Courier New" pitchFamily="34" charset="0"/>
                <a:ea typeface="Courier New" pitchFamily="34" charset="-122"/>
                <a:cs typeface="Courier New" pitchFamily="34" charset="-120"/>
              </a:rPr>
              <a:t>await</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createBuilder</a:t>
            </a:r>
            <a:pPr indent="0" marL="0">
              <a:buNone/>
            </a:pPr>
            <a:r>
              <a:rPr lang="en-US" sz="1300" dirty="0">
                <a:solidFill>
                  <a:srgbClr val="E8E6F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endParaRPr lang="en-US" sz="1300" dirty="0"/>
          </a:p>
          <a:p>
            <a:pPr indent="0" marL="0">
              <a:buNone/>
            </a:pPr>
            <a:r>
              <a:rPr lang="en-US" sz="1300" i="1" dirty="0">
                <a:solidFill>
                  <a:srgbClr val="8B87A3"/>
                </a:solidFill>
                <a:latin typeface="Courier New" pitchFamily="34" charset="0"/>
                <a:ea typeface="Courier New" pitchFamily="34" charset="-122"/>
                <a:cs typeface="Courier New" pitchFamily="34" charset="-120"/>
              </a:rPr>
              <a:t>// TypeScript exposes a parameterless withTerminal().</a:t>
            </a:r>
            <a:endParaRPr lang="en-US" sz="1300" dirty="0"/>
          </a:p>
          <a:p>
            <a:pPr indent="0" marL="0">
              <a:buNone/>
            </a:pPr>
            <a:r>
              <a:rPr lang="en-US" sz="1300" i="1" dirty="0">
                <a:solidFill>
                  <a:srgbClr val="8B87A3"/>
                </a:solidFill>
                <a:latin typeface="Courier New" pitchFamily="34" charset="0"/>
                <a:ea typeface="Courier New" pitchFamily="34" charset="-122"/>
                <a:cs typeface="Courier New" pitchFamily="34" charset="-120"/>
              </a:rPr>
              <a:t>// Columns/Rows can only be set from C#.</a:t>
            </a:r>
            <a:endParaRPr lang="en-US" sz="1300" dirty="0"/>
          </a:p>
          <a:p>
            <a:pPr indent="0" marL="0">
              <a:buNone/>
            </a:pPr>
            <a:r>
              <a:rPr lang="en-US" sz="1300" dirty="0">
                <a:solidFill>
                  <a:srgbClr val="C4A7FF"/>
                </a:solidFill>
                <a:latin typeface="Courier New" pitchFamily="34" charset="0"/>
                <a:ea typeface="Courier New" pitchFamily="34" charset="-122"/>
                <a:cs typeface="Courier New" pitchFamily="34" charset="-120"/>
              </a:rPr>
              <a:t>await</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builder</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addContainer</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8FE3B0"/>
                </a:solidFill>
                <a:latin typeface="Courier New" pitchFamily="34" charset="0"/>
                <a:ea typeface="Courier New" pitchFamily="34" charset="-122"/>
                <a:cs typeface="Courier New" pitchFamily="34" charset="-120"/>
              </a:rPr>
              <a:t>'db'</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8FE3B0"/>
                </a:solidFill>
                <a:latin typeface="Courier New" pitchFamily="34" charset="0"/>
                <a:ea typeface="Courier New" pitchFamily="34" charset="-122"/>
                <a:cs typeface="Courier New" pitchFamily="34" charset="-120"/>
              </a:rPr>
              <a:t>'postgres'</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withTerminal</a:t>
            </a:r>
            <a:pPr indent="0" marL="0">
              <a:buNone/>
            </a:pPr>
            <a:r>
              <a:rPr lang="en-US" sz="1300" dirty="0">
                <a:solidFill>
                  <a:srgbClr val="E8E6F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C4A7FF"/>
                </a:solidFill>
                <a:latin typeface="Courier New" pitchFamily="34" charset="0"/>
                <a:ea typeface="Courier New" pitchFamily="34" charset="-122"/>
                <a:cs typeface="Courier New" pitchFamily="34" charset="-120"/>
              </a:rPr>
              <a:t>await</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builder</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build</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run</a:t>
            </a:r>
            <a:pPr indent="0" marL="0">
              <a:buNone/>
            </a:pPr>
            <a:r>
              <a:rPr lang="en-US" sz="1300" dirty="0">
                <a:solidFill>
                  <a:srgbClr val="E8E6F0"/>
                </a:solidFill>
                <a:latin typeface="Courier New" pitchFamily="34" charset="0"/>
                <a:ea typeface="Courier New" pitchFamily="34" charset="-122"/>
                <a:cs typeface="Courier New" pitchFamily="34" charset="-120"/>
              </a:rPr>
              <a:t>();</a:t>
            </a:r>
            <a:endParaRPr lang="en-US" sz="1300" dirty="0"/>
          </a:p>
        </p:txBody>
      </p:sp>
      <p:sp>
        <p:nvSpPr>
          <p:cNvPr id="6" name="Terminal CLI panel"/>
          <p:cNvSpPr/>
          <p:nvPr/>
        </p:nvSpPr>
        <p:spPr>
          <a:xfrm>
            <a:off x="548640" y="4663440"/>
            <a:ext cx="6949440" cy="1280160"/>
          </a:xfrm>
          <a:prstGeom prst="roundRect">
            <a:avLst>
              <a:gd name="adj" fmla="val 5714"/>
            </a:avLst>
          </a:prstGeom>
          <a:solidFill>
            <a:srgbClr val="1C1830"/>
          </a:solidFill>
          <a:ln w="12700">
            <a:solidFill>
              <a:srgbClr val="1C1830"/>
            </a:solidFill>
            <a:prstDash val="solid"/>
          </a:ln>
        </p:spPr>
        <p:txBody>
          <a:bodyPr/>
          <a:p/>
        </p:txBody>
      </p:sp>
      <p:sp>
        <p:nvSpPr>
          <p:cNvPr id="7" name="Terminal CLI label"/>
          <p:cNvSpPr txBox="1"/>
          <p:nvPr/>
        </p:nvSpPr>
        <p:spPr>
          <a:xfrm>
            <a:off x="777240" y="4754880"/>
            <a:ext cx="6492240" cy="274320"/>
          </a:xfrm>
          <a:prstGeom prst="rect">
            <a:avLst/>
          </a:prstGeom>
          <a:noFill/>
          <a:ln/>
        </p:spPr>
        <p:txBody>
          <a:bodyPr wrap="square" lIns="0" tIns="0" rIns="0" bIns="0" rtlCol="0" anchor="ctr"/>
          <a:lstStyle/>
          <a:p>
            <a:pPr indent="0" marL="0">
              <a:buNone/>
            </a:pPr>
            <a:r>
              <a:rPr lang="en-US" sz="1000" b="1" spc="100" kern="0" dirty="0">
                <a:solidFill>
                  <a:srgbClr val="8B87A3"/>
                </a:solidFill>
                <a:latin typeface="Calibri" pitchFamily="34" charset="0"/>
                <a:ea typeface="Calibri" pitchFamily="34" charset="-122"/>
                <a:cs typeface="Calibri" pitchFamily="34" charset="-120"/>
              </a:rPr>
              <a:t>TERMINAL  ·  Aspire CLI</a:t>
            </a:r>
            <a:endParaRPr lang="en-US" sz="1000" dirty="0"/>
          </a:p>
        </p:txBody>
      </p:sp>
      <p:sp>
        <p:nvSpPr>
          <p:cNvPr id="8" name="Terminal CLI text"/>
          <p:cNvSpPr txBox="1"/>
          <p:nvPr/>
        </p:nvSpPr>
        <p:spPr>
          <a:xfrm>
            <a:off x="777240" y="5074920"/>
            <a:ext cx="6492240" cy="777240"/>
          </a:xfrm>
          <a:prstGeom prst="rect">
            <a:avLst/>
          </a:prstGeom>
          <a:noFill/>
          <a:ln/>
        </p:spPr>
        <p:txBody>
          <a:bodyPr wrap="square" lIns="0" tIns="0" rIns="0" bIns="0" rtlCol="0" anchor="t"/>
          <a:lstStyle/>
          <a:p>
            <a:pPr indent="0" marL="0">
              <a:buNone/>
            </a:pPr>
            <a:r>
              <a:rPr lang="en-US" sz="1300" i="1" dirty="0">
                <a:solidFill>
                  <a:srgbClr val="8B87A3"/>
                </a:solidFill>
                <a:latin typeface="Courier New" pitchFamily="34" charset="0"/>
                <a:ea typeface="Courier New" pitchFamily="34" charset="-122"/>
                <a:cs typeface="Courier New" pitchFamily="34" charset="-120"/>
              </a:rPr>
              <a:t>// Turn on the experimental terminal commands</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aspire</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config</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set</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features</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terminalCommandsEnabled</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C4A7FF"/>
                </a:solidFill>
                <a:latin typeface="Courier New" pitchFamily="34" charset="0"/>
                <a:ea typeface="Courier New" pitchFamily="34" charset="-122"/>
                <a:cs typeface="Courier New" pitchFamily="34" charset="-120"/>
              </a:rPr>
              <a:t>true</a:t>
            </a:r>
            <a:endParaRPr lang="en-US" sz="1300" dirty="0"/>
          </a:p>
        </p:txBody>
      </p:sp>
      <p:sp>
        <p:nvSpPr>
          <p:cNvPr id="9" name="TS notes panel"/>
          <p:cNvSpPr/>
          <p:nvPr/>
        </p:nvSpPr>
        <p:spPr>
          <a:xfrm>
            <a:off x="7772400" y="1325880"/>
            <a:ext cx="3840480" cy="4846320"/>
          </a:xfrm>
          <a:prstGeom prst="roundRect">
            <a:avLst>
              <a:gd name="adj" fmla="val 2381"/>
            </a:avLst>
          </a:prstGeom>
          <a:solidFill>
            <a:schemeClr val="bg2"/>
          </a:solidFill>
          <a:ln w="12700">
            <a:solidFill>
              <a:schemeClr val="bg2"/>
            </a:solidFill>
            <a:prstDash val="solid"/>
          </a:ln>
        </p:spPr>
        <p:txBody>
          <a:bodyPr/>
          <a:p/>
        </p:txBody>
      </p:sp>
      <p:sp>
        <p:nvSpPr>
          <p:cNvPr id="10" name="TS notes text"/>
          <p:cNvSpPr txBox="1"/>
          <p:nvPr/>
        </p:nvSpPr>
        <p:spPr>
          <a:xfrm>
            <a:off x="8046720" y="1554480"/>
            <a:ext cx="3291840" cy="4389120"/>
          </a:xfrm>
          <a:prstGeom prst="rect">
            <a:avLst/>
          </a:prstGeom>
          <a:noFill/>
          <a:ln/>
        </p:spPr>
        <p:txBody>
          <a:bodyPr wrap="square" lIns="0" tIns="0" rIns="0" bIns="0" rtlCol="0" anchor="t"/>
          <a:lstStyle/>
          <a:p>
            <a:pPr indent="0" marL="0">
              <a:buNone/>
            </a:pPr>
            <a:r>
              <a:rPr lang="en-US" sz="1500" b="1" dirty="0">
                <a:solidFill>
                  <a:schemeClr val="tx2"/>
                </a:solidFill>
              </a:rPr>
              <a:t>TypeScript AppHosts</a:t>
            </a:r>
            <a:endParaRPr lang="en-US" sz="1500" dirty="0"/>
          </a:p>
          <a:p>
            <a:pPr indent="0" marL="0">
              <a:spcAft>
                <a:spcPts val="1200"/>
              </a:spcAft>
              <a:buNone/>
            </a:pPr>
            <a:r>
              <a:rPr lang="en-US" sz="1400" dirty="0">
                <a:solidFill>
                  <a:schemeClr val="tx1"/>
                </a:solidFill>
              </a:rPr>
              <a:t>Generally available in 13.5. No experimental opt-in for TypeScript itself.</a:t>
            </a:r>
            <a:endParaRPr lang="en-US" sz="1500" dirty="0"/>
          </a:p>
          <a:p>
            <a:pPr indent="0" marL="0">
              <a:buNone/>
            </a:pPr>
            <a:r>
              <a:rPr lang="en-US" sz="1500" b="1" dirty="0">
                <a:solidFill>
                  <a:schemeClr val="tx2"/>
                </a:solidFill>
              </a:rPr>
              <a:t>Attach from your shell</a:t>
            </a:r>
            <a:endParaRPr lang="en-US" sz="1500" dirty="0"/>
          </a:p>
          <a:p>
            <a:pPr indent="0" marL="0">
              <a:spcAft>
                <a:spcPts val="1200"/>
              </a:spcAft>
              <a:buNone/>
            </a:pPr>
            <a:r>
              <a:rPr lang="en-US" sz="1400" dirty="0">
                <a:solidFill>
                  <a:schemeClr val="tx1"/>
                </a:solidFill>
              </a:rPr>
              <a:t>With feature flag on, aspire terminal commands list sessions and attach from your shell.</a:t>
            </a:r>
            <a:endParaRPr lang="en-US" sz="1500" dirty="0"/>
          </a:p>
          <a:p>
            <a:pPr indent="0" marL="0">
              <a:buNone/>
            </a:pPr>
            <a:r>
              <a:rPr lang="en-US" sz="1500" b="1" dirty="0">
                <a:solidFill>
                  <a:schemeClr val="tx2"/>
                </a:solidFill>
              </a:rPr>
              <a:t>Try it</a:t>
            </a:r>
            <a:endParaRPr lang="en-US" sz="1500" dirty="0"/>
          </a:p>
          <a:p>
            <a:pPr indent="0" marL="0">
              <a:spcAft>
                <a:spcPts val="1200"/>
              </a:spcAft>
              <a:buNone/>
            </a:pPr>
            <a:r>
              <a:rPr lang="en-US" sz="1400" dirty="0">
                <a:solidFill>
                  <a:schemeClr val="tx1"/>
                </a:solidFill>
              </a:rPr>
              <a:t>Aspire repo has small guessing-game playground, playable in dashboard.</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Ask user for input</a:t>
            </a:r>
            <a:endParaRPr lang="en-US" sz="3400" dirty="0"/>
          </a:p>
        </p:txBody>
      </p:sp>
      <p:sp>
        <p:nvSpPr>
          <p:cNvPr id="3" name="Prompt CS panel"/>
          <p:cNvSpPr/>
          <p:nvPr/>
        </p:nvSpPr>
        <p:spPr>
          <a:xfrm>
            <a:off x="548640" y="1234440"/>
            <a:ext cx="7589520" cy="5074920"/>
          </a:xfrm>
          <a:prstGeom prst="roundRect">
            <a:avLst>
              <a:gd name="adj" fmla="val 1441"/>
            </a:avLst>
          </a:prstGeom>
          <a:solidFill>
            <a:srgbClr val="1C1830"/>
          </a:solidFill>
          <a:ln w="12700">
            <a:solidFill>
              <a:srgbClr val="1C1830"/>
            </a:solidFill>
            <a:prstDash val="solid"/>
          </a:ln>
        </p:spPr>
        <p:txBody>
          <a:bodyPr/>
          <a:p/>
        </p:txBody>
      </p:sp>
      <p:sp>
        <p:nvSpPr>
          <p:cNvPr id="4" name="Prompt CS label"/>
          <p:cNvSpPr txBox="1"/>
          <p:nvPr/>
        </p:nvSpPr>
        <p:spPr>
          <a:xfrm>
            <a:off x="777240" y="1325880"/>
            <a:ext cx="7132320" cy="274320"/>
          </a:xfrm>
          <a:prstGeom prst="rect">
            <a:avLst/>
          </a:prstGeom>
          <a:noFill/>
          <a:ln/>
        </p:spPr>
        <p:txBody>
          <a:bodyPr wrap="square" lIns="0" tIns="0" rIns="0" bIns="0" rtlCol="0" anchor="ctr"/>
          <a:lstStyle/>
          <a:p>
            <a:pPr indent="0" marL="0">
              <a:buNone/>
            </a:pPr>
            <a:r>
              <a:rPr lang="en-US" sz="1000" b="1" spc="100" kern="0" dirty="0">
                <a:solidFill>
                  <a:srgbClr val="8B87A3"/>
                </a:solidFill>
                <a:latin typeface="Calibri" pitchFamily="34" charset="0"/>
                <a:ea typeface="Calibri" pitchFamily="34" charset="-122"/>
                <a:cs typeface="Calibri" pitchFamily="34" charset="-120"/>
              </a:rPr>
              <a:t>C#  ·  AppHost.cs  (needs using Microsoft.Extensions.DependencyInjection;)</a:t>
            </a:r>
            <a:endParaRPr lang="en-US" sz="1000" dirty="0"/>
          </a:p>
        </p:txBody>
      </p:sp>
      <p:sp>
        <p:nvSpPr>
          <p:cNvPr id="5" name="Prompt CS text"/>
          <p:cNvSpPr txBox="1"/>
          <p:nvPr/>
        </p:nvSpPr>
        <p:spPr>
          <a:xfrm>
            <a:off x="777240" y="1645920"/>
            <a:ext cx="7132320" cy="4572000"/>
          </a:xfrm>
          <a:prstGeom prst="rect">
            <a:avLst/>
          </a:prstGeom>
          <a:noFill/>
          <a:ln/>
        </p:spPr>
        <p:txBody>
          <a:bodyPr wrap="square" lIns="0" tIns="0" rIns="0" bIns="0" rtlCol="0" anchor="t"/>
          <a:lstStyle/>
          <a:p>
            <a:pPr indent="0" marL="0">
              <a:buNone/>
            </a:pPr>
            <a:r>
              <a:rPr lang="en-US" sz="1050" dirty="0">
                <a:solidFill>
                  <a:srgbClr val="C4A7FF"/>
                </a:solidFill>
                <a:latin typeface="Courier New" pitchFamily="34" charset="0"/>
                <a:ea typeface="Courier New" pitchFamily="34" charset="-122"/>
                <a:cs typeface="Courier New" pitchFamily="34" charset="-120"/>
              </a:rPr>
              <a:t>var</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builder</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7CC7FF"/>
                </a:solidFill>
                <a:latin typeface="Courier New" pitchFamily="34" charset="0"/>
                <a:ea typeface="Courier New" pitchFamily="34" charset="-122"/>
                <a:cs typeface="Courier New" pitchFamily="34" charset="-120"/>
              </a:rPr>
              <a:t>DistributedApplication</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CreateBuilder</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args</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C4A7FF"/>
                </a:solidFill>
                <a:latin typeface="Courier New" pitchFamily="34" charset="0"/>
                <a:ea typeface="Courier New" pitchFamily="34" charset="-122"/>
                <a:cs typeface="Courier New" pitchFamily="34" charset="-120"/>
              </a:rPr>
              <a:t>var</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api</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E8E6F0"/>
                </a:solidFill>
                <a:latin typeface="Courier New" pitchFamily="34" charset="0"/>
                <a:ea typeface="Courier New" pitchFamily="34" charset="-122"/>
                <a:cs typeface="Courier New" pitchFamily="34" charset="-120"/>
              </a:rPr>
              <a:t>builder</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AddContainer</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8FE3B0"/>
                </a:solidFill>
                <a:latin typeface="Courier New" pitchFamily="34" charset="0"/>
                <a:ea typeface="Courier New" pitchFamily="34" charset="-122"/>
                <a:cs typeface="Courier New" pitchFamily="34" charset="-120"/>
              </a:rPr>
              <a:t>"api"</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8FE3B0"/>
                </a:solidFill>
                <a:latin typeface="Courier New" pitchFamily="34" charset="0"/>
                <a:ea typeface="Courier New" pitchFamily="34" charset="-122"/>
                <a:cs typeface="Courier New" pitchFamily="34" charset="-120"/>
              </a:rPr>
              <a:t>"nginx"</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api</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WithCommand</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8FE3B0"/>
                </a:solidFill>
                <a:latin typeface="Courier New" pitchFamily="34" charset="0"/>
                <a:ea typeface="Courier New" pitchFamily="34" charset="-122"/>
                <a:cs typeface="Courier New" pitchFamily="34" charset="-120"/>
              </a:rPr>
              <a:t>"configure-region"</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8FE3B0"/>
                </a:solidFill>
                <a:latin typeface="Courier New" pitchFamily="34" charset="0"/>
                <a:ea typeface="Courier New" pitchFamily="34" charset="-122"/>
                <a:cs typeface="Courier New" pitchFamily="34" charset="-120"/>
              </a:rPr>
              <a:t>"Configure region"</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async</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ctx</a:t>
            </a:r>
            <a:pPr indent="0" marL="0">
              <a:buNone/>
            </a:pPr>
            <a:r>
              <a:rPr lang="en-US" sz="1050" dirty="0">
                <a:solidFill>
                  <a:srgbClr val="E8E6F0"/>
                </a:solidFill>
                <a:latin typeface="Courier New" pitchFamily="34" charset="0"/>
                <a:ea typeface="Courier New" pitchFamily="34" charset="-122"/>
                <a:cs typeface="Courier New" pitchFamily="34" charset="-120"/>
              </a:rPr>
              <a:t> =&gt;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var</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interaction</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E8E6F0"/>
                </a:solidFill>
                <a:latin typeface="Courier New" pitchFamily="34" charset="0"/>
                <a:ea typeface="Courier New" pitchFamily="34" charset="-122"/>
                <a:cs typeface="Courier New" pitchFamily="34" charset="-120"/>
              </a:rPr>
              <a:t>ctx</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Services</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GetRequiredService</a:t>
            </a:r>
            <a:pPr indent="0" marL="0">
              <a:buNone/>
            </a:pPr>
            <a:r>
              <a:rPr lang="en-US" sz="1050" dirty="0">
                <a:solidFill>
                  <a:srgbClr val="E8E6F0"/>
                </a:solidFill>
                <a:latin typeface="Courier New" pitchFamily="34" charset="0"/>
                <a:ea typeface="Courier New" pitchFamily="34" charset="-122"/>
                <a:cs typeface="Courier New" pitchFamily="34" charset="-120"/>
              </a:rPr>
              <a:t>&lt;</a:t>
            </a:r>
            <a:pPr indent="0" marL="0">
              <a:buNone/>
            </a:pPr>
            <a:r>
              <a:rPr lang="en-US" sz="1050" dirty="0">
                <a:solidFill>
                  <a:srgbClr val="7CC7FF"/>
                </a:solidFill>
                <a:latin typeface="Courier New" pitchFamily="34" charset="0"/>
                <a:ea typeface="Courier New" pitchFamily="34" charset="-122"/>
                <a:cs typeface="Courier New" pitchFamily="34" charset="-120"/>
              </a:rPr>
              <a:t>IInteractionService</a:t>
            </a:r>
            <a:pPr indent="0" marL="0">
              <a:buNone/>
            </a:pPr>
            <a:r>
              <a:rPr lang="en-US" sz="1050" dirty="0">
                <a:solidFill>
                  <a:srgbClr val="E8E6F0"/>
                </a:solidFill>
                <a:latin typeface="Courier New" pitchFamily="34" charset="0"/>
                <a:ea typeface="Courier New" pitchFamily="34" charset="-122"/>
                <a:cs typeface="Courier New" pitchFamily="34" charset="-120"/>
              </a:rPr>
              <a:t>&gt;();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i="1" dirty="0">
                <a:solidFill>
                  <a:srgbClr val="8B87A3"/>
                </a:solidFill>
                <a:latin typeface="Courier New" pitchFamily="34" charset="0"/>
                <a:ea typeface="Courier New" pitchFamily="34" charset="-122"/>
                <a:cs typeface="Courier New" pitchFamily="34" charset="-120"/>
              </a:rPr>
              <a:t>// Commands run from the CLI have no UI, so only prompt when one exists.</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if</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interaction</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IsAvailable</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return</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7CC7FF"/>
                </a:solidFill>
                <a:latin typeface="Courier New" pitchFamily="34" charset="0"/>
                <a:ea typeface="Courier New" pitchFamily="34" charset="-122"/>
                <a:cs typeface="Courier New" pitchFamily="34" charset="-120"/>
              </a:rPr>
              <a:t>CommandResults</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Success</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var</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result</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C4A7FF"/>
                </a:solidFill>
                <a:latin typeface="Courier New" pitchFamily="34" charset="0"/>
                <a:ea typeface="Courier New" pitchFamily="34" charset="-122"/>
                <a:cs typeface="Courier New" pitchFamily="34" charset="-120"/>
              </a:rPr>
              <a:t>await</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interaction</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PromptInputsAsync</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title</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8FE3B0"/>
                </a:solidFill>
                <a:latin typeface="Courier New" pitchFamily="34" charset="0"/>
                <a:ea typeface="Courier New" pitchFamily="34" charset="-122"/>
                <a:cs typeface="Courier New" pitchFamily="34" charset="-120"/>
              </a:rPr>
              <a:t>"Configure region"</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message</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8FE3B0"/>
                </a:solidFill>
                <a:latin typeface="Courier New" pitchFamily="34" charset="0"/>
                <a:ea typeface="Courier New" pitchFamily="34" charset="-122"/>
                <a:cs typeface="Courier New" pitchFamily="34" charset="-120"/>
              </a:rPr>
              <a:t>"Choose the region to deploy to."</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inputs</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new</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7CC7FF"/>
                </a:solidFill>
                <a:latin typeface="Courier New" pitchFamily="34" charset="0"/>
                <a:ea typeface="Courier New" pitchFamily="34" charset="-122"/>
                <a:cs typeface="Courier New" pitchFamily="34" charset="-120"/>
              </a:rPr>
              <a:t>InteractionInput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Name</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8FE3B0"/>
                </a:solidFill>
                <a:latin typeface="Courier New" pitchFamily="34" charset="0"/>
                <a:ea typeface="Courier New" pitchFamily="34" charset="-122"/>
                <a:cs typeface="Courier New" pitchFamily="34" charset="-120"/>
              </a:rPr>
              <a:t>"region"</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Label</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8FE3B0"/>
                </a:solidFill>
                <a:latin typeface="Courier New" pitchFamily="34" charset="0"/>
                <a:ea typeface="Courier New" pitchFamily="34" charset="-122"/>
                <a:cs typeface="Courier New" pitchFamily="34" charset="-120"/>
              </a:rPr>
              <a:t>"Region"</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7CC7FF"/>
                </a:solidFill>
                <a:latin typeface="Courier New" pitchFamily="34" charset="0"/>
                <a:ea typeface="Courier New" pitchFamily="34" charset="-122"/>
                <a:cs typeface="Courier New" pitchFamily="34" charset="-120"/>
              </a:rPr>
              <a:t>InputType</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7CC7FF"/>
                </a:solidFill>
                <a:latin typeface="Courier New" pitchFamily="34" charset="0"/>
                <a:ea typeface="Courier New" pitchFamily="34" charset="-122"/>
                <a:cs typeface="Courier New" pitchFamily="34" charset="-120"/>
              </a:rPr>
              <a:t>InputType</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Choice</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Options</a:t>
            </a:r>
            <a:pPr indent="0" marL="0">
              <a:buNone/>
            </a:pPr>
            <a:r>
              <a:rPr lang="en-US" sz="1050" dirty="0">
                <a:solidFill>
                  <a:srgbClr val="E8E6F0"/>
                </a:solidFill>
                <a:latin typeface="Courier New" pitchFamily="34" charset="0"/>
                <a:ea typeface="Courier New" pitchFamily="34" charset="-122"/>
                <a:cs typeface="Courier New" pitchFamily="34" charset="-120"/>
              </a:rPr>
              <a:t> = [ </a:t>
            </a:r>
            <a:pPr indent="0" marL="0">
              <a:buNone/>
            </a:pPr>
            <a:r>
              <a:rPr lang="en-US" sz="1050" dirty="0">
                <a:solidFill>
                  <a:srgbClr val="C4A7FF"/>
                </a:solidFill>
                <a:latin typeface="Courier New" pitchFamily="34" charset="0"/>
                <a:ea typeface="Courier New" pitchFamily="34" charset="-122"/>
                <a:cs typeface="Courier New" pitchFamily="34" charset="-120"/>
              </a:rPr>
              <a:t>new</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8FE3B0"/>
                </a:solidFill>
                <a:latin typeface="Courier New" pitchFamily="34" charset="0"/>
                <a:ea typeface="Courier New" pitchFamily="34" charset="-122"/>
                <a:cs typeface="Courier New" pitchFamily="34" charset="-120"/>
              </a:rPr>
              <a:t>"us"</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8FE3B0"/>
                </a:solidFill>
                <a:latin typeface="Courier New" pitchFamily="34" charset="0"/>
                <a:ea typeface="Courier New" pitchFamily="34" charset="-122"/>
                <a:cs typeface="Courier New" pitchFamily="34" charset="-120"/>
              </a:rPr>
              <a:t>"United States"</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new</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8FE3B0"/>
                </a:solidFill>
                <a:latin typeface="Courier New" pitchFamily="34" charset="0"/>
                <a:ea typeface="Courier New" pitchFamily="34" charset="-122"/>
                <a:cs typeface="Courier New" pitchFamily="34" charset="-120"/>
              </a:rPr>
              <a:t>"eu"</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8FE3B0"/>
                </a:solidFill>
                <a:latin typeface="Courier New" pitchFamily="34" charset="0"/>
                <a:ea typeface="Courier New" pitchFamily="34" charset="-122"/>
                <a:cs typeface="Courier New" pitchFamily="34" charset="-120"/>
              </a:rPr>
              <a:t>"Europe"</a:t>
            </a:r>
            <a:pPr indent="0" marL="0">
              <a:buNone/>
            </a:pPr>
            <a:r>
              <a:rPr lang="en-US" sz="1050" dirty="0">
                <a:solidFill>
                  <a:srgbClr val="E8E6F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cancellationToken</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ctx</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CancellationToken</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if</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result</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Canceled</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return</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7CC7FF"/>
                </a:solidFill>
                <a:latin typeface="Courier New" pitchFamily="34" charset="0"/>
                <a:ea typeface="Courier New" pitchFamily="34" charset="-122"/>
                <a:cs typeface="Courier New" pitchFamily="34" charset="-120"/>
              </a:rPr>
              <a:t>CommandResults</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Canceled</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var</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region</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E8E6F0"/>
                </a:solidFill>
                <a:latin typeface="Courier New" pitchFamily="34" charset="0"/>
                <a:ea typeface="Courier New" pitchFamily="34" charset="-122"/>
                <a:cs typeface="Courier New" pitchFamily="34" charset="-120"/>
              </a:rPr>
              <a:t>result</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Data</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8FE3B0"/>
                </a:solidFill>
                <a:latin typeface="Courier New" pitchFamily="34" charset="0"/>
                <a:ea typeface="Courier New" pitchFamily="34" charset="-122"/>
                <a:cs typeface="Courier New" pitchFamily="34" charset="-120"/>
              </a:rPr>
              <a:t>"region"</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Value</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return</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7CC7FF"/>
                </a:solidFill>
                <a:latin typeface="Courier New" pitchFamily="34" charset="0"/>
                <a:ea typeface="Courier New" pitchFamily="34" charset="-122"/>
                <a:cs typeface="Courier New" pitchFamily="34" charset="-120"/>
              </a:rPr>
              <a:t>CommandResults</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Success</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builder</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Build</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Run</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p:txBody>
      </p:sp>
      <p:sp>
        <p:nvSpPr>
          <p:cNvPr id="6" name="Prompt notes panel"/>
          <p:cNvSpPr/>
          <p:nvPr/>
        </p:nvSpPr>
        <p:spPr>
          <a:xfrm>
            <a:off x="8366760" y="1234440"/>
            <a:ext cx="3246120" cy="5074920"/>
          </a:xfrm>
          <a:prstGeom prst="roundRect">
            <a:avLst>
              <a:gd name="adj" fmla="val 2817"/>
            </a:avLst>
          </a:prstGeom>
          <a:solidFill>
            <a:schemeClr val="bg2"/>
          </a:solidFill>
          <a:ln w="12700">
            <a:solidFill>
              <a:schemeClr val="bg2"/>
            </a:solidFill>
            <a:prstDash val="solid"/>
          </a:ln>
        </p:spPr>
        <p:txBody>
          <a:bodyPr/>
          <a:p/>
        </p:txBody>
      </p:sp>
      <p:sp>
        <p:nvSpPr>
          <p:cNvPr id="7" name="Prompt notes text"/>
          <p:cNvSpPr txBox="1"/>
          <p:nvPr/>
        </p:nvSpPr>
        <p:spPr>
          <a:xfrm>
            <a:off x="8641080" y="1463040"/>
            <a:ext cx="2697480" cy="4617720"/>
          </a:xfrm>
          <a:prstGeom prst="rect">
            <a:avLst/>
          </a:prstGeom>
          <a:noFill/>
          <a:ln/>
        </p:spPr>
        <p:txBody>
          <a:bodyPr wrap="square" lIns="0" tIns="0" rIns="0" bIns="0" rtlCol="0" anchor="t"/>
          <a:lstStyle/>
          <a:p>
            <a:pPr indent="0" marL="0">
              <a:buNone/>
            </a:pPr>
            <a:r>
              <a:rPr lang="en-US" sz="1500" b="1" dirty="0">
                <a:solidFill>
                  <a:schemeClr val="tx2"/>
                </a:solidFill>
              </a:rPr>
              <a:t>Interaction Service</a:t>
            </a:r>
            <a:endParaRPr lang="en-US" sz="1500" dirty="0"/>
          </a:p>
          <a:p>
            <a:pPr indent="0" marL="0">
              <a:spcAft>
                <a:spcPts val="1200"/>
              </a:spcAft>
              <a:buNone/>
            </a:pPr>
            <a:r>
              <a:rPr lang="en-US" sz="1400" dirty="0">
                <a:solidFill>
                  <a:schemeClr val="tx1"/>
                </a:solidFill>
              </a:rPr>
              <a:t>AppHost's way to show dialogs, prompts, notifications in dashboard.</a:t>
            </a:r>
            <a:endParaRPr lang="en-US" sz="1500" dirty="0"/>
          </a:p>
          <a:p>
            <a:pPr indent="0" marL="0">
              <a:buNone/>
            </a:pPr>
            <a:r>
              <a:rPr lang="en-US" sz="1500" b="1" dirty="0">
                <a:solidFill>
                  <a:schemeClr val="tx2"/>
                </a:solidFill>
              </a:rPr>
              <a:t>Now stable</a:t>
            </a:r>
            <a:endParaRPr lang="en-US" sz="1500" dirty="0"/>
          </a:p>
          <a:p>
            <a:pPr indent="0" marL="0">
              <a:spcAft>
                <a:spcPts val="1200"/>
              </a:spcAft>
              <a:buNone/>
            </a:pPr>
            <a:r>
              <a:rPr lang="en-US" sz="1400" dirty="0">
                <a:solidFill>
                  <a:schemeClr val="tx1"/>
                </a:solidFill>
              </a:rPr>
              <a:t>PromptInputAsync, PromptInputsAsync, InteractionInput. No ASPIREINTERACTION001 suppression.</a:t>
            </a:r>
            <a:endParaRPr lang="en-US" sz="1500" dirty="0"/>
          </a:p>
          <a:p>
            <a:pPr indent="0" marL="0">
              <a:buNone/>
            </a:pPr>
            <a:r>
              <a:rPr lang="en-US" sz="1500" b="1" dirty="0">
                <a:solidFill>
                  <a:schemeClr val="tx2"/>
                </a:solidFill>
              </a:rPr>
              <a:t>C# and TypeScript</a:t>
            </a:r>
            <a:endParaRPr lang="en-US" sz="1500" dirty="0"/>
          </a:p>
          <a:p>
            <a:pPr indent="0" marL="0">
              <a:spcAft>
                <a:spcPts val="1200"/>
              </a:spcAft>
              <a:buNone/>
            </a:pPr>
            <a:r>
              <a:rPr lang="en-US" sz="1400" dirty="0">
                <a:solidFill>
                  <a:schemeClr val="tx1"/>
                </a:solidFill>
              </a:rPr>
              <a:t>Works same in both AppHost languages.</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Region prompt</a:t>
            </a:r>
            <a:endParaRPr lang="en-US" sz="3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22</a:t>
            </a:fld>
            <a:endParaRPr lang="en-US"/>
          </a:p>
        </p:txBody>
      </p:sp>
      <p:pic>
        <p:nvPicPr>
          <p:cNvPr id="26" name="Dashboard screenshot" descr="An Aspire 13.5 dashboard dialog titled Deploy application with the Environment dropdown open showing Development, Staging and Production"/>
          <p:cNvPicPr>
            <a:picLocks noChangeAspect="1"/>
          </p:cNvPicPr>
          <p:nvPr/>
        </p:nvPicPr>
        <p:blipFill>
          <a:blip r:embed="rId3"/>
          <a:stretch>
            <a:fillRect/>
          </a:stretch>
        </p:blipFill>
        <p:spPr>
          <a:xfrm>
            <a:off x="548640" y="1280160"/>
            <a:ext cx="7680960" cy="4123462"/>
          </a:xfrm>
          <a:prstGeom prst="rect">
            <a:avLst/>
          </a:prstGeom>
          <a:ln w="12700">
            <a:solidFill>
              <a:srgbClr val="D9D6E8"/>
            </a:solidFill>
          </a:ln>
        </p:spPr>
      </p:pic>
      <p:sp>
        <p:nvSpPr>
          <p:cNvPr id="1014" name="Step circle 1"/>
          <p:cNvSpPr/>
          <p:nvPr/>
        </p:nvSpPr>
        <p:spPr>
          <a:xfrm>
            <a:off x="8503920" y="1325880"/>
            <a:ext cx="347472" cy="347472"/>
          </a:xfrm>
          <a:prstGeom prst="ellipse">
            <a:avLst/>
          </a:prstGeom>
          <a:solidFill>
            <a:schemeClr val="accent1"/>
          </a:solidFill>
          <a:ln w="12700">
            <a:solidFill>
              <a:schemeClr val="accent1"/>
            </a:solidFill>
            <a:prstDash val="solid"/>
          </a:ln>
        </p:spPr>
        <p:txBody>
          <a:bodyPr/>
          <a:p/>
        </p:txBody>
      </p:sp>
      <p:sp>
        <p:nvSpPr>
          <p:cNvPr id="1015" name="Step number 1"/>
          <p:cNvSpPr txBox="1"/>
          <p:nvPr/>
        </p:nvSpPr>
        <p:spPr>
          <a:xfrm>
            <a:off x="8503920" y="132588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1016" name="Step title 1"/>
          <p:cNvSpPr txBox="1"/>
          <p:nvPr/>
        </p:nvSpPr>
        <p:spPr>
          <a:xfrm>
            <a:off x="8961120" y="1325880"/>
            <a:ext cx="2743200" cy="347472"/>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Run the command</a:t>
            </a:r>
            <a:endParaRPr lang="en-US" sz="1500" dirty="0"/>
          </a:p>
        </p:txBody>
      </p:sp>
      <p:sp>
        <p:nvSpPr>
          <p:cNvPr id="1017" name="Step body 1"/>
          <p:cNvSpPr txBox="1"/>
          <p:nvPr/>
        </p:nvSpPr>
        <p:spPr>
          <a:xfrm>
            <a:off x="8961120" y="1709928"/>
            <a:ext cx="2743200" cy="10058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Click ••• in Actions column, then command (Configure region in our code).</a:t>
            </a:r>
            <a:endParaRPr lang="en-US" sz="1300" dirty="0"/>
          </a:p>
        </p:txBody>
      </p:sp>
      <p:sp>
        <p:nvSpPr>
          <p:cNvPr id="1018" name="Step circle 2"/>
          <p:cNvSpPr/>
          <p:nvPr/>
        </p:nvSpPr>
        <p:spPr>
          <a:xfrm>
            <a:off x="8503920" y="2788920"/>
            <a:ext cx="347472" cy="347472"/>
          </a:xfrm>
          <a:prstGeom prst="ellipse">
            <a:avLst/>
          </a:prstGeom>
          <a:solidFill>
            <a:schemeClr val="accent1"/>
          </a:solidFill>
          <a:ln w="12700">
            <a:solidFill>
              <a:schemeClr val="accent1"/>
            </a:solidFill>
            <a:prstDash val="solid"/>
          </a:ln>
        </p:spPr>
        <p:txBody>
          <a:bodyPr/>
          <a:p/>
        </p:txBody>
      </p:sp>
      <p:sp>
        <p:nvSpPr>
          <p:cNvPr id="1019" name="Step number 2"/>
          <p:cNvSpPr txBox="1"/>
          <p:nvPr/>
        </p:nvSpPr>
        <p:spPr>
          <a:xfrm>
            <a:off x="8503920" y="278892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020" name="Step title 2"/>
          <p:cNvSpPr txBox="1"/>
          <p:nvPr/>
        </p:nvSpPr>
        <p:spPr>
          <a:xfrm>
            <a:off x="8961120" y="2788920"/>
            <a:ext cx="2743200" cy="347472"/>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Dialog opens</a:t>
            </a:r>
            <a:endParaRPr lang="en-US" sz="1500" dirty="0"/>
          </a:p>
        </p:txBody>
      </p:sp>
      <p:sp>
        <p:nvSpPr>
          <p:cNvPr id="1021" name="Step body 2"/>
          <p:cNvSpPr txBox="1"/>
          <p:nvPr/>
        </p:nvSpPr>
        <p:spPr>
          <a:xfrm>
            <a:off x="8961120" y="3172968"/>
            <a:ext cx="2743200" cy="10058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Title and message on top, inputs below. Required inputs get red *.</a:t>
            </a:r>
            <a:endParaRPr lang="en-US" sz="1300" dirty="0"/>
          </a:p>
        </p:txBody>
      </p:sp>
      <p:sp>
        <p:nvSpPr>
          <p:cNvPr id="1022" name="Step circle 3"/>
          <p:cNvSpPr/>
          <p:nvPr/>
        </p:nvSpPr>
        <p:spPr>
          <a:xfrm>
            <a:off x="8503920" y="4251960"/>
            <a:ext cx="347472" cy="347472"/>
          </a:xfrm>
          <a:prstGeom prst="ellipse">
            <a:avLst/>
          </a:prstGeom>
          <a:solidFill>
            <a:schemeClr val="accent1"/>
          </a:solidFill>
          <a:ln w="12700">
            <a:solidFill>
              <a:schemeClr val="accent1"/>
            </a:solidFill>
            <a:prstDash val="solid"/>
          </a:ln>
        </p:spPr>
        <p:txBody>
          <a:bodyPr/>
          <a:p/>
        </p:txBody>
      </p:sp>
      <p:sp>
        <p:nvSpPr>
          <p:cNvPr id="1023" name="Step number 3"/>
          <p:cNvSpPr txBox="1"/>
          <p:nvPr/>
        </p:nvSpPr>
        <p:spPr>
          <a:xfrm>
            <a:off x="8503920" y="425196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024" name="Step title 3"/>
          <p:cNvSpPr txBox="1"/>
          <p:nvPr/>
        </p:nvSpPr>
        <p:spPr>
          <a:xfrm>
            <a:off x="8961120" y="4251960"/>
            <a:ext cx="2743200" cy="347472"/>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Choice = dropdown</a:t>
            </a:r>
            <a:endParaRPr lang="en-US" sz="1500" dirty="0"/>
          </a:p>
        </p:txBody>
      </p:sp>
      <p:sp>
        <p:nvSpPr>
          <p:cNvPr id="1025" name="Step body 3"/>
          <p:cNvSpPr txBox="1"/>
          <p:nvPr/>
        </p:nvSpPr>
        <p:spPr>
          <a:xfrm>
            <a:off x="8961120" y="4636008"/>
            <a:ext cx="2743200" cy="10058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InputType.Choice lists its Options. Main button left of Cancel.</a:t>
            </a:r>
            <a:endParaRPr lang="en-US" sz="1300" dirty="0"/>
          </a:p>
        </p:txBody>
      </p:sp>
      <p:sp>
        <p:nvSpPr>
          <p:cNvPr id="1026" name="Screenshot source"/>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100" i="1" dirty="0">
                <a:solidFill>
                  <a:srgbClr val="6B6785"/>
                </a:solidFill>
                <a:latin typeface="Calibri" pitchFamily="34" charset="0"/>
                <a:ea typeface="Calibri" pitchFamily="34" charset="-122"/>
                <a:cs typeface="Calibri" pitchFamily="34" charset="-120"/>
              </a:rPr>
              <a:t>Frame from 13.5 blog demo video. Sample command “Deploy application”, not our region code.</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File upload</a:t>
            </a:r>
            <a:endParaRPr lang="en-US" sz="3400" dirty="0"/>
          </a:p>
        </p:txBody>
      </p:sp>
      <p:sp>
        <p:nvSpPr>
          <p:cNvPr id="3" name="Upload CS panel"/>
          <p:cNvSpPr/>
          <p:nvPr/>
        </p:nvSpPr>
        <p:spPr>
          <a:xfrm>
            <a:off x="548640" y="1234440"/>
            <a:ext cx="7589520" cy="5074920"/>
          </a:xfrm>
          <a:prstGeom prst="roundRect">
            <a:avLst>
              <a:gd name="adj" fmla="val 1441"/>
            </a:avLst>
          </a:prstGeom>
          <a:solidFill>
            <a:srgbClr val="1C1830"/>
          </a:solidFill>
          <a:ln w="12700">
            <a:solidFill>
              <a:srgbClr val="1C1830"/>
            </a:solidFill>
            <a:prstDash val="solid"/>
          </a:ln>
        </p:spPr>
        <p:txBody>
          <a:bodyPr/>
          <a:p/>
        </p:txBody>
      </p:sp>
      <p:sp>
        <p:nvSpPr>
          <p:cNvPr id="4" name="Upload CS label"/>
          <p:cNvSpPr txBox="1"/>
          <p:nvPr/>
        </p:nvSpPr>
        <p:spPr>
          <a:xfrm>
            <a:off x="777240" y="1325880"/>
            <a:ext cx="7132320" cy="274320"/>
          </a:xfrm>
          <a:prstGeom prst="rect">
            <a:avLst/>
          </a:prstGeom>
          <a:noFill/>
          <a:ln/>
        </p:spPr>
        <p:txBody>
          <a:bodyPr wrap="square" lIns="0" tIns="0" rIns="0" bIns="0" rtlCol="0" anchor="ctr"/>
          <a:lstStyle/>
          <a:p>
            <a:pPr indent="0" marL="0">
              <a:buNone/>
            </a:pPr>
            <a:r>
              <a:rPr lang="en-US" sz="1000" b="1" spc="100" kern="0" dirty="0">
                <a:solidFill>
                  <a:srgbClr val="8B87A3"/>
                </a:solidFill>
                <a:latin typeface="Calibri" pitchFamily="34" charset="0"/>
                <a:ea typeface="Calibri" pitchFamily="34" charset="-122"/>
                <a:cs typeface="Calibri" pitchFamily="34" charset="-120"/>
              </a:rPr>
              <a:t>C#  ·  AppHost.cs</a:t>
            </a:r>
            <a:endParaRPr lang="en-US" sz="1000" dirty="0"/>
          </a:p>
        </p:txBody>
      </p:sp>
      <p:sp>
        <p:nvSpPr>
          <p:cNvPr id="5" name="Upload CS text"/>
          <p:cNvSpPr txBox="1"/>
          <p:nvPr/>
        </p:nvSpPr>
        <p:spPr>
          <a:xfrm>
            <a:off x="777240" y="1645920"/>
            <a:ext cx="7132320" cy="4572000"/>
          </a:xfrm>
          <a:prstGeom prst="rect">
            <a:avLst/>
          </a:prstGeom>
          <a:noFill/>
          <a:ln/>
        </p:spPr>
        <p:txBody>
          <a:bodyPr wrap="square" lIns="0" tIns="0" rIns="0" bIns="0" rtlCol="0" anchor="t"/>
          <a:lstStyle/>
          <a:p>
            <a:pPr indent="0" marL="0">
              <a:buNone/>
            </a:pPr>
            <a:r>
              <a:rPr lang="en-US" sz="1050" dirty="0">
                <a:solidFill>
                  <a:srgbClr val="C4A7FF"/>
                </a:solidFill>
                <a:latin typeface="Courier New" pitchFamily="34" charset="0"/>
                <a:ea typeface="Courier New" pitchFamily="34" charset="-122"/>
                <a:cs typeface="Courier New" pitchFamily="34" charset="-120"/>
              </a:rPr>
              <a:t>var</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importer</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E8E6F0"/>
                </a:solidFill>
                <a:latin typeface="Courier New" pitchFamily="34" charset="0"/>
                <a:ea typeface="Courier New" pitchFamily="34" charset="-122"/>
                <a:cs typeface="Courier New" pitchFamily="34" charset="-120"/>
              </a:rPr>
              <a:t>builder</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AddContainer</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8FE3B0"/>
                </a:solidFill>
                <a:latin typeface="Courier New" pitchFamily="34" charset="0"/>
                <a:ea typeface="Courier New" pitchFamily="34" charset="-122"/>
                <a:cs typeface="Courier New" pitchFamily="34" charset="-120"/>
              </a:rPr>
              <a:t>"importer"</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8FE3B0"/>
                </a:solidFill>
                <a:latin typeface="Courier New" pitchFamily="34" charset="0"/>
                <a:ea typeface="Courier New" pitchFamily="34" charset="-122"/>
                <a:cs typeface="Courier New" pitchFamily="34" charset="-120"/>
              </a:rPr>
              <a:t>"nginx"</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importer</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WithCommand</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8FE3B0"/>
                </a:solidFill>
                <a:latin typeface="Courier New" pitchFamily="34" charset="0"/>
                <a:ea typeface="Courier New" pitchFamily="34" charset="-122"/>
                <a:cs typeface="Courier New" pitchFamily="34" charset="-120"/>
              </a:rPr>
              <a:t>"import-data"</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8FE3B0"/>
                </a:solidFill>
                <a:latin typeface="Courier New" pitchFamily="34" charset="0"/>
                <a:ea typeface="Courier New" pitchFamily="34" charset="-122"/>
                <a:cs typeface="Courier New" pitchFamily="34" charset="-120"/>
              </a:rPr>
              <a:t>"Import data"</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async</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ctx</a:t>
            </a:r>
            <a:pPr indent="0" marL="0">
              <a:buNone/>
            </a:pPr>
            <a:r>
              <a:rPr lang="en-US" sz="1050" dirty="0">
                <a:solidFill>
                  <a:srgbClr val="E8E6F0"/>
                </a:solidFill>
                <a:latin typeface="Courier New" pitchFamily="34" charset="0"/>
                <a:ea typeface="Courier New" pitchFamily="34" charset="-122"/>
                <a:cs typeface="Courier New" pitchFamily="34" charset="-120"/>
              </a:rPr>
              <a:t> =&gt;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var</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interaction</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E8E6F0"/>
                </a:solidFill>
                <a:latin typeface="Courier New" pitchFamily="34" charset="0"/>
                <a:ea typeface="Courier New" pitchFamily="34" charset="-122"/>
                <a:cs typeface="Courier New" pitchFamily="34" charset="-120"/>
              </a:rPr>
              <a:t>ctx</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Services</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GetRequiredService</a:t>
            </a:r>
            <a:pPr indent="0" marL="0">
              <a:buNone/>
            </a:pPr>
            <a:r>
              <a:rPr lang="en-US" sz="1050" dirty="0">
                <a:solidFill>
                  <a:srgbClr val="E8E6F0"/>
                </a:solidFill>
                <a:latin typeface="Courier New" pitchFamily="34" charset="0"/>
                <a:ea typeface="Courier New" pitchFamily="34" charset="-122"/>
                <a:cs typeface="Courier New" pitchFamily="34" charset="-120"/>
              </a:rPr>
              <a:t>&lt;</a:t>
            </a:r>
            <a:pPr indent="0" marL="0">
              <a:buNone/>
            </a:pPr>
            <a:r>
              <a:rPr lang="en-US" sz="1050" dirty="0">
                <a:solidFill>
                  <a:srgbClr val="7CC7FF"/>
                </a:solidFill>
                <a:latin typeface="Courier New" pitchFamily="34" charset="0"/>
                <a:ea typeface="Courier New" pitchFamily="34" charset="-122"/>
                <a:cs typeface="Courier New" pitchFamily="34" charset="-120"/>
              </a:rPr>
              <a:t>IInteractionService</a:t>
            </a:r>
            <a:pPr indent="0" marL="0">
              <a:buNone/>
            </a:pPr>
            <a:r>
              <a:rPr lang="en-US" sz="1050" dirty="0">
                <a:solidFill>
                  <a:srgbClr val="E8E6F0"/>
                </a:solidFill>
                <a:latin typeface="Courier New" pitchFamily="34" charset="0"/>
                <a:ea typeface="Courier New" pitchFamily="34" charset="-122"/>
                <a:cs typeface="Courier New" pitchFamily="34" charset="-120"/>
              </a:rPr>
              <a:t>&gt;();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if</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interaction</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IsAvailable</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return</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7CC7FF"/>
                </a:solidFill>
                <a:latin typeface="Courier New" pitchFamily="34" charset="0"/>
                <a:ea typeface="Courier New" pitchFamily="34" charset="-122"/>
                <a:cs typeface="Courier New" pitchFamily="34" charset="-120"/>
              </a:rPr>
              <a:t>CommandResults</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Success</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var</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result</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C4A7FF"/>
                </a:solidFill>
                <a:latin typeface="Courier New" pitchFamily="34" charset="0"/>
                <a:ea typeface="Courier New" pitchFamily="34" charset="-122"/>
                <a:cs typeface="Courier New" pitchFamily="34" charset="-120"/>
              </a:rPr>
              <a:t>await</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interaction</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PromptInputsAsync</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title</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8FE3B0"/>
                </a:solidFill>
                <a:latin typeface="Courier New" pitchFamily="34" charset="0"/>
                <a:ea typeface="Courier New" pitchFamily="34" charset="-122"/>
                <a:cs typeface="Courier New" pitchFamily="34" charset="-120"/>
              </a:rPr>
              <a:t>"Import data"</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message</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8FE3B0"/>
                </a:solidFill>
                <a:latin typeface="Courier New" pitchFamily="34" charset="0"/>
                <a:ea typeface="Courier New" pitchFamily="34" charset="-122"/>
                <a:cs typeface="Courier New" pitchFamily="34" charset="-120"/>
              </a:rPr>
              <a:t>"Select a JSON file to import."</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inputs</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new</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7CC7FF"/>
                </a:solidFill>
                <a:latin typeface="Courier New" pitchFamily="34" charset="0"/>
                <a:ea typeface="Courier New" pitchFamily="34" charset="-122"/>
                <a:cs typeface="Courier New" pitchFamily="34" charset="-120"/>
              </a:rPr>
              <a:t>InteractionInput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Name</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8FE3B0"/>
                </a:solidFill>
                <a:latin typeface="Courier New" pitchFamily="34" charset="0"/>
                <a:ea typeface="Courier New" pitchFamily="34" charset="-122"/>
                <a:cs typeface="Courier New" pitchFamily="34" charset="-120"/>
              </a:rPr>
              <a:t>"dataFile"</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Label</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8FE3B0"/>
                </a:solidFill>
                <a:latin typeface="Courier New" pitchFamily="34" charset="0"/>
                <a:ea typeface="Courier New" pitchFamily="34" charset="-122"/>
                <a:cs typeface="Courier New" pitchFamily="34" charset="-120"/>
              </a:rPr>
              <a:t>"Data file"</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7CC7FF"/>
                </a:solidFill>
                <a:latin typeface="Courier New" pitchFamily="34" charset="0"/>
                <a:ea typeface="Courier New" pitchFamily="34" charset="-122"/>
                <a:cs typeface="Courier New" pitchFamily="34" charset="-120"/>
              </a:rPr>
              <a:t>InputType</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7CC7FF"/>
                </a:solidFill>
                <a:latin typeface="Courier New" pitchFamily="34" charset="0"/>
                <a:ea typeface="Courier New" pitchFamily="34" charset="-122"/>
                <a:cs typeface="Courier New" pitchFamily="34" charset="-120"/>
              </a:rPr>
              <a:t>InputType</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File</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FileFilter</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8FE3B0"/>
                </a:solidFill>
                <a:latin typeface="Courier New" pitchFamily="34" charset="0"/>
                <a:ea typeface="Courier New" pitchFamily="34" charset="-122"/>
                <a:cs typeface="Courier New" pitchFamily="34" charset="-120"/>
              </a:rPr>
              <a:t>".json"</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MaxFileSize</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F8C77A"/>
                </a:solidFill>
                <a:latin typeface="Courier New" pitchFamily="34" charset="0"/>
                <a:ea typeface="Courier New" pitchFamily="34" charset="-122"/>
                <a:cs typeface="Courier New" pitchFamily="34" charset="-120"/>
              </a:rPr>
              <a:t>10</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F8C77A"/>
                </a:solidFill>
                <a:latin typeface="Courier New" pitchFamily="34" charset="0"/>
                <a:ea typeface="Courier New" pitchFamily="34" charset="-122"/>
                <a:cs typeface="Courier New" pitchFamily="34" charset="-120"/>
              </a:rPr>
              <a:t>1024</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F8C77A"/>
                </a:solidFill>
                <a:latin typeface="Courier New" pitchFamily="34" charset="0"/>
                <a:ea typeface="Courier New" pitchFamily="34" charset="-122"/>
                <a:cs typeface="Courier New" pitchFamily="34" charset="-120"/>
              </a:rPr>
              <a:t>1024</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i="1" dirty="0">
                <a:solidFill>
                  <a:srgbClr val="8B87A3"/>
                </a:solidFill>
                <a:latin typeface="Courier New" pitchFamily="34" charset="0"/>
                <a:ea typeface="Courier New" pitchFamily="34" charset="-122"/>
                <a:cs typeface="Courier New" pitchFamily="34" charset="-120"/>
              </a:rPr>
              <a:t>// 10 MB</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Required</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C4A7FF"/>
                </a:solidFill>
                <a:latin typeface="Courier New" pitchFamily="34" charset="0"/>
                <a:ea typeface="Courier New" pitchFamily="34" charset="-122"/>
                <a:cs typeface="Courier New" pitchFamily="34" charset="-120"/>
              </a:rPr>
              <a:t>true</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cancellationToken</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ctx</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CancellationToken</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if</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result</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Canceled</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return</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7CC7FF"/>
                </a:solidFill>
                <a:latin typeface="Courier New" pitchFamily="34" charset="0"/>
                <a:ea typeface="Courier New" pitchFamily="34" charset="-122"/>
                <a:cs typeface="Courier New" pitchFamily="34" charset="-120"/>
              </a:rPr>
              <a:t>CommandResults</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Canceled</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var</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file</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E8E6F0"/>
                </a:solidFill>
                <a:latin typeface="Courier New" pitchFamily="34" charset="0"/>
                <a:ea typeface="Courier New" pitchFamily="34" charset="-122"/>
                <a:cs typeface="Courier New" pitchFamily="34" charset="-120"/>
              </a:rPr>
              <a:t>result</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Data</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8FE3B0"/>
                </a:solidFill>
                <a:latin typeface="Courier New" pitchFamily="34" charset="0"/>
                <a:ea typeface="Courier New" pitchFamily="34" charset="-122"/>
                <a:cs typeface="Courier New" pitchFamily="34" charset="-120"/>
              </a:rPr>
              <a:t>"dataFile"</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Files</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F8C77A"/>
                </a:solidFill>
                <a:latin typeface="Courier New" pitchFamily="34" charset="0"/>
                <a:ea typeface="Courier New" pitchFamily="34" charset="-122"/>
                <a:cs typeface="Courier New" pitchFamily="34" charset="-120"/>
              </a:rPr>
              <a:t>0</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if</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file</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is</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null</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return</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7CC7FF"/>
                </a:solidFill>
                <a:latin typeface="Courier New" pitchFamily="34" charset="0"/>
                <a:ea typeface="Courier New" pitchFamily="34" charset="-122"/>
                <a:cs typeface="Courier New" pitchFamily="34" charset="-120"/>
              </a:rPr>
              <a:t>CommandResults</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Failure</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8FE3B0"/>
                </a:solidFill>
                <a:latin typeface="Courier New" pitchFamily="34" charset="0"/>
                <a:ea typeface="Courier New" pitchFamily="34" charset="-122"/>
                <a:cs typeface="Courier New" pitchFamily="34" charset="-120"/>
              </a:rPr>
              <a:t>"No file was uploaded."</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var</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bytes</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C4A7FF"/>
                </a:solidFill>
                <a:latin typeface="Courier New" pitchFamily="34" charset="0"/>
                <a:ea typeface="Courier New" pitchFamily="34" charset="-122"/>
                <a:cs typeface="Courier New" pitchFamily="34" charset="-120"/>
              </a:rPr>
              <a:t>await</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file</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ReadAllBytesAsync</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ctx</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CancellationToken</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return</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7CC7FF"/>
                </a:solidFill>
                <a:latin typeface="Courier New" pitchFamily="34" charset="0"/>
                <a:ea typeface="Courier New" pitchFamily="34" charset="-122"/>
                <a:cs typeface="Courier New" pitchFamily="34" charset="-120"/>
              </a:rPr>
              <a:t>CommandResults</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Success</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p:txBody>
      </p:sp>
      <p:sp>
        <p:nvSpPr>
          <p:cNvPr id="6" name="Upload notes panel"/>
          <p:cNvSpPr/>
          <p:nvPr/>
        </p:nvSpPr>
        <p:spPr>
          <a:xfrm>
            <a:off x="8366760" y="1234440"/>
            <a:ext cx="3246120" cy="5074920"/>
          </a:xfrm>
          <a:prstGeom prst="roundRect">
            <a:avLst>
              <a:gd name="adj" fmla="val 2817"/>
            </a:avLst>
          </a:prstGeom>
          <a:solidFill>
            <a:schemeClr val="bg2"/>
          </a:solidFill>
          <a:ln w="12700">
            <a:solidFill>
              <a:schemeClr val="bg2"/>
            </a:solidFill>
            <a:prstDash val="solid"/>
          </a:ln>
        </p:spPr>
        <p:txBody>
          <a:bodyPr/>
          <a:p/>
        </p:txBody>
      </p:sp>
      <p:sp>
        <p:nvSpPr>
          <p:cNvPr id="7" name="Upload notes text"/>
          <p:cNvSpPr txBox="1"/>
          <p:nvPr/>
        </p:nvSpPr>
        <p:spPr>
          <a:xfrm>
            <a:off x="8641080" y="1463040"/>
            <a:ext cx="2697480" cy="4617720"/>
          </a:xfrm>
          <a:prstGeom prst="rect">
            <a:avLst/>
          </a:prstGeom>
          <a:noFill/>
          <a:ln/>
        </p:spPr>
        <p:txBody>
          <a:bodyPr wrap="square" lIns="0" tIns="0" rIns="0" bIns="0" rtlCol="0" anchor="t"/>
          <a:lstStyle/>
          <a:p>
            <a:pPr indent="0" marL="0">
              <a:buNone/>
            </a:pPr>
            <a:r>
              <a:rPr lang="en-US" sz="1500" b="1" dirty="0">
                <a:solidFill>
                  <a:schemeClr val="tx2"/>
                </a:solidFill>
              </a:rPr>
              <a:t>InputType.File</a:t>
            </a:r>
            <a:endParaRPr lang="en-US" sz="1500" dirty="0"/>
          </a:p>
          <a:p>
            <a:pPr indent="0" marL="0">
              <a:spcAft>
                <a:spcPts val="1200"/>
              </a:spcAft>
              <a:buNone/>
            </a:pPr>
            <a:r>
              <a:rPr lang="en-US" sz="1400" dirty="0">
                <a:solidFill>
                  <a:schemeClr val="tx1"/>
                </a:solidFill>
              </a:rPr>
              <a:t>Dashboard shows file picker, limited by FileFilter and MaxFileSize.</a:t>
            </a:r>
            <a:endParaRPr lang="en-US" sz="1500" dirty="0"/>
          </a:p>
          <a:p>
            <a:pPr indent="0" marL="0">
              <a:buNone/>
            </a:pPr>
            <a:r>
              <a:rPr lang="en-US" sz="1500" b="1" dirty="0">
                <a:solidFill>
                  <a:schemeClr val="tx2"/>
                </a:solidFill>
              </a:rPr>
              <a:t>Read the file</a:t>
            </a:r>
            <a:endParaRPr lang="en-US" sz="1500" dirty="0"/>
          </a:p>
          <a:p>
            <a:pPr indent="0" marL="0">
              <a:spcAft>
                <a:spcPts val="1200"/>
              </a:spcAft>
              <a:buNone/>
            </a:pPr>
            <a:r>
              <a:rPr lang="en-US" sz="1400" dirty="0">
                <a:solidFill>
                  <a:schemeClr val="tx1"/>
                </a:solidFill>
              </a:rPr>
              <a:t>C#: ReadAllBytesAsync() or OpenRead(). TypeScript: read file.filePath with Node fs.</a:t>
            </a:r>
            <a:endParaRPr lang="en-US" sz="1500" dirty="0"/>
          </a:p>
          <a:p>
            <a:pPr indent="0" marL="0">
              <a:buNone/>
            </a:pPr>
            <a:r>
              <a:rPr lang="en-US" sz="1500" b="1" dirty="0">
                <a:solidFill>
                  <a:schemeClr val="tx2"/>
                </a:solidFill>
              </a:rPr>
              <a:t>Stable</a:t>
            </a:r>
            <a:endParaRPr lang="en-US" sz="1500" dirty="0"/>
          </a:p>
          <a:p>
            <a:pPr indent="0" marL="0">
              <a:spcAft>
                <a:spcPts val="1200"/>
              </a:spcAft>
              <a:buNone/>
            </a:pPr>
            <a:r>
              <a:rPr lang="en-US" sz="1400" dirty="0">
                <a:solidFill>
                  <a:schemeClr val="tx1"/>
                </a:solidFill>
              </a:rPr>
              <a:t>No suppression needed.</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File picker</a:t>
            </a:r>
            <a:endParaRPr lang="en-US" sz="3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24</a:t>
            </a:fld>
            <a:endParaRPr lang="en-US"/>
          </a:p>
        </p:txBody>
      </p:sp>
      <p:pic>
        <p:nvPicPr>
          <p:cNvPr id="26" name="Dashboard screenshot" descr="An Aspire 13.5 dashboard dialog titled Import configuration with a required Configuration file input and a button to select a JSON or YAML file"/>
          <p:cNvPicPr>
            <a:picLocks noChangeAspect="1"/>
          </p:cNvPicPr>
          <p:nvPr/>
        </p:nvPicPr>
        <p:blipFill>
          <a:blip r:embed="rId3"/>
          <a:stretch>
            <a:fillRect/>
          </a:stretch>
        </p:blipFill>
        <p:spPr>
          <a:xfrm>
            <a:off x="548640" y="1280160"/>
            <a:ext cx="7168896" cy="4480560"/>
          </a:xfrm>
          <a:prstGeom prst="rect">
            <a:avLst/>
          </a:prstGeom>
          <a:ln w="12700">
            <a:solidFill>
              <a:srgbClr val="D9D6E8"/>
            </a:solidFill>
          </a:ln>
        </p:spPr>
      </p:pic>
      <p:sp>
        <p:nvSpPr>
          <p:cNvPr id="1027" name="Step circle 1"/>
          <p:cNvSpPr/>
          <p:nvPr/>
        </p:nvSpPr>
        <p:spPr>
          <a:xfrm>
            <a:off x="8503920" y="1325880"/>
            <a:ext cx="347472" cy="347472"/>
          </a:xfrm>
          <a:prstGeom prst="ellipse">
            <a:avLst/>
          </a:prstGeom>
          <a:solidFill>
            <a:schemeClr val="accent1"/>
          </a:solidFill>
          <a:ln w="12700">
            <a:solidFill>
              <a:schemeClr val="accent1"/>
            </a:solidFill>
            <a:prstDash val="solid"/>
          </a:ln>
        </p:spPr>
        <p:txBody>
          <a:bodyPr/>
          <a:p/>
        </p:txBody>
      </p:sp>
      <p:sp>
        <p:nvSpPr>
          <p:cNvPr id="1028" name="Step number 1"/>
          <p:cNvSpPr txBox="1"/>
          <p:nvPr/>
        </p:nvSpPr>
        <p:spPr>
          <a:xfrm>
            <a:off x="8503920" y="132588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1029" name="Step title 1"/>
          <p:cNvSpPr txBox="1"/>
          <p:nvPr/>
        </p:nvSpPr>
        <p:spPr>
          <a:xfrm>
            <a:off x="8961120" y="1325880"/>
            <a:ext cx="2743200" cy="347472"/>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Run the command</a:t>
            </a:r>
            <a:endParaRPr lang="en-US" sz="1500" dirty="0"/>
          </a:p>
        </p:txBody>
      </p:sp>
      <p:sp>
        <p:nvSpPr>
          <p:cNvPr id="1030" name="Step body 1"/>
          <p:cNvSpPr txBox="1"/>
          <p:nvPr/>
        </p:nvSpPr>
        <p:spPr>
          <a:xfrm>
            <a:off x="8961120" y="1709928"/>
            <a:ext cx="2743200" cy="10058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Click ••• on resource, pick command. Notification shows it starting, with Cancel.</a:t>
            </a:r>
            <a:endParaRPr lang="en-US" sz="1300" dirty="0"/>
          </a:p>
        </p:txBody>
      </p:sp>
      <p:sp>
        <p:nvSpPr>
          <p:cNvPr id="1031" name="Step circle 2"/>
          <p:cNvSpPr/>
          <p:nvPr/>
        </p:nvSpPr>
        <p:spPr>
          <a:xfrm>
            <a:off x="8503920" y="2788920"/>
            <a:ext cx="347472" cy="347472"/>
          </a:xfrm>
          <a:prstGeom prst="ellipse">
            <a:avLst/>
          </a:prstGeom>
          <a:solidFill>
            <a:schemeClr val="accent1"/>
          </a:solidFill>
          <a:ln w="12700">
            <a:solidFill>
              <a:schemeClr val="accent1"/>
            </a:solidFill>
            <a:prstDash val="solid"/>
          </a:ln>
        </p:spPr>
        <p:txBody>
          <a:bodyPr/>
          <a:p/>
        </p:txBody>
      </p:sp>
      <p:sp>
        <p:nvSpPr>
          <p:cNvPr id="1032" name="Step number 2"/>
          <p:cNvSpPr txBox="1"/>
          <p:nvPr/>
        </p:nvSpPr>
        <p:spPr>
          <a:xfrm>
            <a:off x="8503920" y="278892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033" name="Step title 2"/>
          <p:cNvSpPr txBox="1"/>
          <p:nvPr/>
        </p:nvSpPr>
        <p:spPr>
          <a:xfrm>
            <a:off x="8961120" y="2788920"/>
            <a:ext cx="2743200" cy="347472"/>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Dialog asks for file</a:t>
            </a:r>
            <a:endParaRPr lang="en-US" sz="1500" dirty="0"/>
          </a:p>
        </p:txBody>
      </p:sp>
      <p:sp>
        <p:nvSpPr>
          <p:cNvPr id="1034" name="Step body 2"/>
          <p:cNvSpPr txBox="1"/>
          <p:nvPr/>
        </p:nvSpPr>
        <p:spPr>
          <a:xfrm>
            <a:off x="8961120" y="3172968"/>
            <a:ext cx="2743200" cy="10058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Title, message, required (*) file input. Here: “Import configuration”.</a:t>
            </a:r>
            <a:endParaRPr lang="en-US" sz="1300" dirty="0"/>
          </a:p>
        </p:txBody>
      </p:sp>
      <p:sp>
        <p:nvSpPr>
          <p:cNvPr id="1035" name="Step circle 3"/>
          <p:cNvSpPr/>
          <p:nvPr/>
        </p:nvSpPr>
        <p:spPr>
          <a:xfrm>
            <a:off x="8503920" y="4251960"/>
            <a:ext cx="347472" cy="347472"/>
          </a:xfrm>
          <a:prstGeom prst="ellipse">
            <a:avLst/>
          </a:prstGeom>
          <a:solidFill>
            <a:schemeClr val="accent1"/>
          </a:solidFill>
          <a:ln w="12700">
            <a:solidFill>
              <a:schemeClr val="accent1"/>
            </a:solidFill>
            <a:prstDash val="solid"/>
          </a:ln>
        </p:spPr>
        <p:txBody>
          <a:bodyPr/>
          <a:p/>
        </p:txBody>
      </p:sp>
      <p:sp>
        <p:nvSpPr>
          <p:cNvPr id="1036" name="Step number 3"/>
          <p:cNvSpPr txBox="1"/>
          <p:nvPr/>
        </p:nvSpPr>
        <p:spPr>
          <a:xfrm>
            <a:off x="8503920" y="425196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037" name="Step title 3"/>
          <p:cNvSpPr txBox="1"/>
          <p:nvPr/>
        </p:nvSpPr>
        <p:spPr>
          <a:xfrm>
            <a:off x="8961120" y="4251960"/>
            <a:ext cx="2743200" cy="347472"/>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Pick the file</a:t>
            </a:r>
            <a:endParaRPr lang="en-US" sz="1500" dirty="0"/>
          </a:p>
        </p:txBody>
      </p:sp>
      <p:sp>
        <p:nvSpPr>
          <p:cNvPr id="1038" name="Step body 3"/>
          <p:cNvSpPr txBox="1"/>
          <p:nvPr/>
        </p:nvSpPr>
        <p:spPr>
          <a:xfrm>
            <a:off x="8961120" y="4636008"/>
            <a:ext cx="2743200" cy="10058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Click button, choose file. FileFilter and MaxFileSize limit what's accepted.</a:t>
            </a:r>
            <a:endParaRPr lang="en-US" sz="1300" dirty="0"/>
          </a:p>
        </p:txBody>
      </p:sp>
      <p:sp>
        <p:nvSpPr>
          <p:cNvPr id="1039" name="Screenshot source"/>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100" i="1" dirty="0">
                <a:solidFill>
                  <a:srgbClr val="6B6785"/>
                </a:solidFill>
                <a:latin typeface="Calibri" pitchFamily="34" charset="0"/>
                <a:ea typeface="Calibri" pitchFamily="34" charset="-122"/>
                <a:cs typeface="Calibri" pitchFamily="34" charset="-120"/>
              </a:rPr>
              <a:t>Screenshot: “Import configuration” command. Source: Aspire blog, “Aspire 13.5: Fresh pixels and better workflows”, Aug 18, 2026.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Progress during long work</a:t>
            </a:r>
            <a:endParaRPr lang="en-US" sz="3400" dirty="0"/>
          </a:p>
        </p:txBody>
      </p:sp>
      <p:sp>
        <p:nvSpPr>
          <p:cNvPr id="3" name="Progress CS panel"/>
          <p:cNvSpPr/>
          <p:nvPr/>
        </p:nvSpPr>
        <p:spPr>
          <a:xfrm>
            <a:off x="548640" y="1325880"/>
            <a:ext cx="7589520" cy="3749040"/>
          </a:xfrm>
          <a:prstGeom prst="roundRect">
            <a:avLst>
              <a:gd name="adj" fmla="val 1951"/>
            </a:avLst>
          </a:prstGeom>
          <a:solidFill>
            <a:srgbClr val="1C1830"/>
          </a:solidFill>
          <a:ln w="12700">
            <a:solidFill>
              <a:srgbClr val="1C1830"/>
            </a:solidFill>
            <a:prstDash val="solid"/>
          </a:ln>
        </p:spPr>
        <p:txBody>
          <a:bodyPr/>
          <a:p/>
        </p:txBody>
      </p:sp>
      <p:sp>
        <p:nvSpPr>
          <p:cNvPr id="4" name="Progress CS label"/>
          <p:cNvSpPr txBox="1"/>
          <p:nvPr/>
        </p:nvSpPr>
        <p:spPr>
          <a:xfrm>
            <a:off x="777240" y="1417320"/>
            <a:ext cx="7132320" cy="274320"/>
          </a:xfrm>
          <a:prstGeom prst="rect">
            <a:avLst/>
          </a:prstGeom>
          <a:noFill/>
          <a:ln/>
        </p:spPr>
        <p:txBody>
          <a:bodyPr wrap="square" lIns="0" tIns="0" rIns="0" bIns="0" rtlCol="0" anchor="ctr"/>
          <a:lstStyle/>
          <a:p>
            <a:pPr indent="0" marL="0">
              <a:buNone/>
            </a:pPr>
            <a:r>
              <a:rPr lang="en-US" sz="1000" b="1" spc="100" kern="0" dirty="0">
                <a:solidFill>
                  <a:srgbClr val="8B87A3"/>
                </a:solidFill>
                <a:latin typeface="Calibri" pitchFamily="34" charset="0"/>
                <a:ea typeface="Calibri" pitchFamily="34" charset="-122"/>
                <a:cs typeface="Calibri" pitchFamily="34" charset="-120"/>
              </a:rPr>
              <a:t>C#  ·  AppHost.cs</a:t>
            </a:r>
            <a:endParaRPr lang="en-US" sz="1000" dirty="0"/>
          </a:p>
        </p:txBody>
      </p:sp>
      <p:sp>
        <p:nvSpPr>
          <p:cNvPr id="5" name="Progress CS text"/>
          <p:cNvSpPr txBox="1"/>
          <p:nvPr/>
        </p:nvSpPr>
        <p:spPr>
          <a:xfrm>
            <a:off x="777240" y="1737360"/>
            <a:ext cx="7132320" cy="3246120"/>
          </a:xfrm>
          <a:prstGeom prst="rect">
            <a:avLst/>
          </a:prstGeom>
          <a:noFill/>
          <a:ln/>
        </p:spPr>
        <p:txBody>
          <a:bodyPr wrap="square" lIns="0" tIns="0" rIns="0" bIns="0" rtlCol="0" anchor="t"/>
          <a:lstStyle/>
          <a:p>
            <a:pPr indent="0" marL="0">
              <a:buNone/>
            </a:pPr>
            <a:r>
              <a:rPr lang="en-US" sz="1100" i="1" dirty="0">
                <a:solidFill>
                  <a:srgbClr val="8B87A3"/>
                </a:solidFill>
                <a:latin typeface="Courier New" pitchFamily="34" charset="0"/>
                <a:ea typeface="Courier New" pitchFamily="34" charset="-122"/>
                <a:cs typeface="Courier New" pitchFamily="34" charset="-120"/>
              </a:rPr>
              <a:t>#pragma warning disable ASPIREINTERACTION001 // experimental API</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i="1" dirty="0">
                <a:solidFill>
                  <a:srgbClr val="8B87A3"/>
                </a:solidFill>
                <a:latin typeface="Courier New" pitchFamily="34" charset="0"/>
                <a:ea typeface="Courier New" pitchFamily="34" charset="-122"/>
                <a:cs typeface="Courier New" pitchFamily="34" charset="-120"/>
              </a:rPr>
              <a:t>// ...inside the "import-data" command, after reading the file:</a:t>
            </a:r>
            <a:endParaRPr lang="en-US" sz="1100" dirty="0"/>
          </a:p>
          <a:p>
            <a:pPr indent="0" marL="0">
              <a:buNone/>
            </a:pPr>
            <a:r>
              <a:rPr lang="en-US" sz="1100" dirty="0">
                <a:solidFill>
                  <a:srgbClr val="C4A7FF"/>
                </a:solidFill>
                <a:latin typeface="Courier New" pitchFamily="34" charset="0"/>
                <a:ea typeface="Courier New" pitchFamily="34" charset="-122"/>
                <a:cs typeface="Courier New" pitchFamily="34" charset="-120"/>
              </a:rPr>
              <a:t>await</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interaction</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PromptProgressAsync</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message</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8FE3B0"/>
                </a:solidFill>
                <a:latin typeface="Courier New" pitchFamily="34" charset="0"/>
                <a:ea typeface="Courier New" pitchFamily="34" charset="-122"/>
                <a:cs typeface="Courier New" pitchFamily="34" charset="-120"/>
              </a:rPr>
              <a:t>$"Processing {bytes.Length} bytes"</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title</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8FE3B0"/>
                </a:solidFill>
                <a:latin typeface="Courier New" pitchFamily="34" charset="0"/>
                <a:ea typeface="Courier New" pitchFamily="34" charset="-122"/>
                <a:cs typeface="Courier New" pitchFamily="34" charset="-120"/>
              </a:rPr>
              <a:t>"Importing..."</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options</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C4A7FF"/>
                </a:solidFill>
                <a:latin typeface="Courier New" pitchFamily="34" charset="0"/>
                <a:ea typeface="Courier New" pitchFamily="34" charset="-122"/>
                <a:cs typeface="Courier New" pitchFamily="34" charset="-120"/>
              </a:rPr>
              <a:t>new</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7CC7FF"/>
                </a:solidFill>
                <a:latin typeface="Courier New" pitchFamily="34" charset="0"/>
                <a:ea typeface="Courier New" pitchFamily="34" charset="-122"/>
                <a:cs typeface="Courier New" pitchFamily="34" charset="-120"/>
              </a:rPr>
              <a:t>ProgressInteractionOptions</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i="1" dirty="0">
                <a:solidFill>
                  <a:srgbClr val="8B87A3"/>
                </a:solidFill>
                <a:latin typeface="Courier New" pitchFamily="34" charset="0"/>
                <a:ea typeface="Courier New" pitchFamily="34" charset="-122"/>
                <a:cs typeface="Courier New" pitchFamily="34" charset="-120"/>
              </a:rPr>
              <a:t>// The dialog stays open while Work runs, then closes.</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Work</a:t>
            </a:r>
            <a:pPr indent="0" marL="0">
              <a:buNone/>
            </a:pPr>
            <a:r>
              <a:rPr lang="en-US" sz="1100" dirty="0">
                <a:solidFill>
                  <a:srgbClr val="E8E6F0"/>
                </a:solidFill>
                <a:latin typeface="Courier New" pitchFamily="34" charset="0"/>
                <a:ea typeface="Courier New" pitchFamily="34" charset="-122"/>
                <a:cs typeface="Courier New" pitchFamily="34" charset="-120"/>
              </a:rPr>
              <a:t> = </a:t>
            </a:r>
            <a:pPr indent="0" marL="0">
              <a:buNone/>
            </a:pPr>
            <a:r>
              <a:rPr lang="en-US" sz="1100" dirty="0">
                <a:solidFill>
                  <a:srgbClr val="C4A7FF"/>
                </a:solidFill>
                <a:latin typeface="Courier New" pitchFamily="34" charset="0"/>
                <a:ea typeface="Courier New" pitchFamily="34" charset="-122"/>
                <a:cs typeface="Courier New" pitchFamily="34" charset="-120"/>
              </a:rPr>
              <a:t>async</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progress</a:t>
            </a:r>
            <a:pPr indent="0" marL="0">
              <a:buNone/>
            </a:pPr>
            <a:r>
              <a:rPr lang="en-US" sz="1100" dirty="0">
                <a:solidFill>
                  <a:srgbClr val="E8E6F0"/>
                </a:solidFill>
                <a:latin typeface="Courier New" pitchFamily="34" charset="0"/>
                <a:ea typeface="Courier New" pitchFamily="34" charset="-122"/>
                <a:cs typeface="Courier New" pitchFamily="34" charset="-120"/>
              </a:rPr>
              <a:t> =&gt;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C4A7FF"/>
                </a:solidFill>
                <a:latin typeface="Courier New" pitchFamily="34" charset="0"/>
                <a:ea typeface="Courier New" pitchFamily="34" charset="-122"/>
                <a:cs typeface="Courier New" pitchFamily="34" charset="-120"/>
              </a:rPr>
              <a:t>await</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7CC7FF"/>
                </a:solidFill>
                <a:latin typeface="Courier New" pitchFamily="34" charset="0"/>
                <a:ea typeface="Courier New" pitchFamily="34" charset="-122"/>
                <a:cs typeface="Courier New" pitchFamily="34" charset="-120"/>
              </a:rPr>
              <a:t>Task</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Delay</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7CC7FF"/>
                </a:solidFill>
                <a:latin typeface="Courier New" pitchFamily="34" charset="0"/>
                <a:ea typeface="Courier New" pitchFamily="34" charset="-122"/>
                <a:cs typeface="Courier New" pitchFamily="34" charset="-120"/>
              </a:rPr>
              <a:t>TimeSpan</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FromSeconds</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F8C77A"/>
                </a:solidFill>
                <a:latin typeface="Courier New" pitchFamily="34" charset="0"/>
                <a:ea typeface="Courier New" pitchFamily="34" charset="-122"/>
                <a:cs typeface="Courier New" pitchFamily="34" charset="-120"/>
              </a:rPr>
              <a:t>2</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progress</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CancellationToken</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cancellationToken</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ctx</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CancellationToken</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C4A7FF"/>
                </a:solidFill>
                <a:latin typeface="Courier New" pitchFamily="34" charset="0"/>
                <a:ea typeface="Courier New" pitchFamily="34" charset="-122"/>
                <a:cs typeface="Courier New" pitchFamily="34" charset="-120"/>
              </a:rPr>
              <a:t>return</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7CC7FF"/>
                </a:solidFill>
                <a:latin typeface="Courier New" pitchFamily="34" charset="0"/>
                <a:ea typeface="Courier New" pitchFamily="34" charset="-122"/>
                <a:cs typeface="Courier New" pitchFamily="34" charset="-120"/>
              </a:rPr>
              <a:t>CommandResults</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Success</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p:txBody>
      </p:sp>
      <p:sp>
        <p:nvSpPr>
          <p:cNvPr id="6" name="Progress notes panel"/>
          <p:cNvSpPr/>
          <p:nvPr/>
        </p:nvSpPr>
        <p:spPr>
          <a:xfrm>
            <a:off x="8366760" y="1325880"/>
            <a:ext cx="3246120" cy="4846320"/>
          </a:xfrm>
          <a:prstGeom prst="roundRect">
            <a:avLst>
              <a:gd name="adj" fmla="val 2817"/>
            </a:avLst>
          </a:prstGeom>
          <a:solidFill>
            <a:schemeClr val="bg2"/>
          </a:solidFill>
          <a:ln w="12700">
            <a:solidFill>
              <a:schemeClr val="bg2"/>
            </a:solidFill>
            <a:prstDash val="solid"/>
          </a:ln>
        </p:spPr>
        <p:txBody>
          <a:bodyPr/>
          <a:p/>
        </p:txBody>
      </p:sp>
      <p:sp>
        <p:nvSpPr>
          <p:cNvPr id="7" name="Progress notes text"/>
          <p:cNvSpPr txBox="1"/>
          <p:nvPr/>
        </p:nvSpPr>
        <p:spPr>
          <a:xfrm>
            <a:off x="8641080" y="1554480"/>
            <a:ext cx="2697480" cy="4389120"/>
          </a:xfrm>
          <a:prstGeom prst="rect">
            <a:avLst/>
          </a:prstGeom>
          <a:noFill/>
          <a:ln/>
        </p:spPr>
        <p:txBody>
          <a:bodyPr wrap="square" lIns="0" tIns="0" rIns="0" bIns="0" rtlCol="0" anchor="t"/>
          <a:lstStyle/>
          <a:p>
            <a:pPr indent="0" marL="0">
              <a:buNone/>
            </a:pPr>
            <a:r>
              <a:rPr lang="en-US" sz="1500" b="1" dirty="0">
                <a:solidFill>
                  <a:schemeClr val="tx2"/>
                </a:solidFill>
              </a:rPr>
              <a:t>Progress dialog</a:t>
            </a:r>
            <a:endParaRPr lang="en-US" sz="1500" dirty="0"/>
          </a:p>
          <a:p>
            <a:pPr indent="0" marL="0">
              <a:spcAft>
                <a:spcPts val="1200"/>
              </a:spcAft>
              <a:buNone/>
            </a:pPr>
            <a:r>
              <a:rPr lang="en-US" sz="1400" dirty="0">
                <a:solidFill>
                  <a:schemeClr val="tx1"/>
                </a:solidFill>
              </a:rPr>
              <a:t>Can't be dismissed while work runs. Cancel optional.</a:t>
            </a:r>
            <a:endParaRPr lang="en-US" sz="1500" dirty="0"/>
          </a:p>
          <a:p>
            <a:pPr indent="0" marL="0">
              <a:buNone/>
            </a:pPr>
            <a:r>
              <a:rPr lang="en-US" sz="1500" b="1" dirty="0">
                <a:solidFill>
                  <a:schemeClr val="tx2"/>
                </a:solidFill>
              </a:rPr>
              <a:t>Use Work</a:t>
            </a:r>
            <a:endParaRPr lang="en-US" sz="1500" dirty="0"/>
          </a:p>
          <a:p>
            <a:pPr indent="0" marL="0">
              <a:spcAft>
                <a:spcPts val="1200"/>
              </a:spcAft>
              <a:buNone/>
            </a:pPr>
            <a:r>
              <a:rPr lang="en-US" sz="1400" dirty="0">
                <a:solidFill>
                  <a:schemeClr val="tx1"/>
                </a:solidFill>
              </a:rPr>
              <a:t>Slow code goes in Work. Without it, dialog stays open until token canceled.</a:t>
            </a:r>
            <a:endParaRPr lang="en-US" sz="1500" dirty="0"/>
          </a:p>
          <a:p>
            <a:pPr indent="0" marL="0">
              <a:buNone/>
            </a:pPr>
            <a:r>
              <a:rPr lang="en-US" sz="1500" b="1" dirty="0">
                <a:solidFill>
                  <a:schemeClr val="tx2"/>
                </a:solidFill>
              </a:rPr>
              <a:t>TypeScript</a:t>
            </a:r>
            <a:endParaRPr lang="en-US" sz="1500" dirty="0"/>
          </a:p>
          <a:p>
            <a:pPr indent="0" marL="0">
              <a:spcAft>
                <a:spcPts val="1200"/>
              </a:spcAft>
              <a:buNone/>
            </a:pPr>
            <a:r>
              <a:rPr lang="en-US" sz="1400" dirty="0">
                <a:solidFill>
                  <a:schemeClr val="tx1"/>
                </a:solidFill>
              </a:rPr>
              <a:t>interaction.promptProgress(...) with options.work callback.</a:t>
            </a:r>
            <a:endParaRPr lang="en-US" sz="1500" dirty="0"/>
          </a:p>
        </p:txBody>
      </p:sp>
      <p:pic>
        <p:nvPicPr>
          <p:cNvPr id="8" name="Experimental icon 2" descr="preencoded.png">    </p:cNvPr>
          <p:cNvPicPr>
            <a:picLocks noChangeAspect="1"/>
          </p:cNvPicPr>
          <p:nvPr/>
        </p:nvPicPr>
        <p:blipFill>
          <a:blip r:embed="rId1"/>
          <a:stretch>
            <a:fillRect/>
          </a:stretch>
        </p:blipFill>
        <p:spPr>
          <a:xfrm>
            <a:off x="548640" y="5349240"/>
            <a:ext cx="365760" cy="365760"/>
          </a:xfrm>
          <a:prstGeom prst="rect">
            <a:avLst/>
          </a:prstGeom>
        </p:spPr>
      </p:pic>
      <p:sp>
        <p:nvSpPr>
          <p:cNvPr id="9" name="Experimental note 2"/>
          <p:cNvSpPr txBox="1"/>
          <p:nvPr/>
        </p:nvSpPr>
        <p:spPr>
          <a:xfrm>
            <a:off x="1051560" y="5303520"/>
            <a:ext cx="7040880" cy="457200"/>
          </a:xfrm>
          <a:prstGeom prst="rect">
            <a:avLst/>
          </a:prstGeom>
          <a:noFill/>
          <a:ln/>
        </p:spPr>
        <p:txBody>
          <a:bodyPr wrap="square" lIns="0" tIns="0" rIns="0" bIns="0" rtlCol="0" anchor="ctr"/>
          <a:lstStyle/>
          <a:p>
            <a:pPr indent="0" marL="0">
              <a:buNone/>
            </a:pPr>
            <a:r>
              <a:rPr lang="en-US" sz="1400" dirty="0">
                <a:solidFill>
                  <a:schemeClr val="tx1"/>
                </a:solidFill>
              </a:rPr>
              <a:t>Experimental: PromptProgressAsync, ProgressInteractionOptions, ProgressContext.</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Progress dialog</a:t>
            </a:r>
            <a:endParaRPr lang="en-US" sz="3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26</a:t>
            </a:fld>
            <a:endParaRPr lang="en-US"/>
          </a:p>
        </p:txBody>
      </p:sp>
      <p:pic>
        <p:nvPicPr>
          <p:cNvPr id="26" name="Dashboard screenshot" descr="An Aspire 13.5 dashboard progress dialog with a spinner, the message Deploying application, and a Cancel button"/>
          <p:cNvPicPr>
            <a:picLocks noChangeAspect="1"/>
          </p:cNvPicPr>
          <p:nvPr/>
        </p:nvPicPr>
        <p:blipFill>
          <a:blip r:embed="rId3"/>
          <a:stretch>
            <a:fillRect/>
          </a:stretch>
        </p:blipFill>
        <p:spPr>
          <a:xfrm>
            <a:off x="548640" y="1280160"/>
            <a:ext cx="7680960" cy="3302812"/>
          </a:xfrm>
          <a:prstGeom prst="rect">
            <a:avLst/>
          </a:prstGeom>
          <a:ln w="12700">
            <a:solidFill>
              <a:srgbClr val="D9D6E8"/>
            </a:solidFill>
          </a:ln>
        </p:spPr>
      </p:pic>
      <p:sp>
        <p:nvSpPr>
          <p:cNvPr id="1040" name="Step circle 1"/>
          <p:cNvSpPr/>
          <p:nvPr/>
        </p:nvSpPr>
        <p:spPr>
          <a:xfrm>
            <a:off x="8503920" y="1325880"/>
            <a:ext cx="347472" cy="347472"/>
          </a:xfrm>
          <a:prstGeom prst="ellipse">
            <a:avLst/>
          </a:prstGeom>
          <a:solidFill>
            <a:schemeClr val="accent1"/>
          </a:solidFill>
          <a:ln w="12700">
            <a:solidFill>
              <a:schemeClr val="accent1"/>
            </a:solidFill>
            <a:prstDash val="solid"/>
          </a:ln>
        </p:spPr>
        <p:txBody>
          <a:bodyPr/>
          <a:p/>
        </p:txBody>
      </p:sp>
      <p:sp>
        <p:nvSpPr>
          <p:cNvPr id="1041" name="Step number 1"/>
          <p:cNvSpPr txBox="1"/>
          <p:nvPr/>
        </p:nvSpPr>
        <p:spPr>
          <a:xfrm>
            <a:off x="8503920" y="132588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1042" name="Step title 1"/>
          <p:cNvSpPr txBox="1"/>
          <p:nvPr/>
        </p:nvSpPr>
        <p:spPr>
          <a:xfrm>
            <a:off x="8961120" y="1325880"/>
            <a:ext cx="2743200" cy="347472"/>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Opens after confirm</a:t>
            </a:r>
            <a:endParaRPr lang="en-US" sz="1500" dirty="0"/>
          </a:p>
        </p:txBody>
      </p:sp>
      <p:sp>
        <p:nvSpPr>
          <p:cNvPr id="1043" name="Step body 1"/>
          <p:cNvSpPr txBox="1"/>
          <p:nvPr/>
        </p:nvSpPr>
        <p:spPr>
          <a:xfrm>
            <a:off x="8961120" y="1709928"/>
            <a:ext cx="2743200" cy="10058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Input dialog closes, progress dialog takes over.</a:t>
            </a:r>
            <a:endParaRPr lang="en-US" sz="1300" dirty="0"/>
          </a:p>
        </p:txBody>
      </p:sp>
      <p:sp>
        <p:nvSpPr>
          <p:cNvPr id="1044" name="Step circle 2"/>
          <p:cNvSpPr/>
          <p:nvPr/>
        </p:nvSpPr>
        <p:spPr>
          <a:xfrm>
            <a:off x="8503920" y="2788920"/>
            <a:ext cx="347472" cy="347472"/>
          </a:xfrm>
          <a:prstGeom prst="ellipse">
            <a:avLst/>
          </a:prstGeom>
          <a:solidFill>
            <a:schemeClr val="accent1"/>
          </a:solidFill>
          <a:ln w="12700">
            <a:solidFill>
              <a:schemeClr val="accent1"/>
            </a:solidFill>
            <a:prstDash val="solid"/>
          </a:ln>
        </p:spPr>
        <p:txBody>
          <a:bodyPr/>
          <a:p/>
        </p:txBody>
      </p:sp>
      <p:sp>
        <p:nvSpPr>
          <p:cNvPr id="1045" name="Step number 2"/>
          <p:cNvSpPr txBox="1"/>
          <p:nvPr/>
        </p:nvSpPr>
        <p:spPr>
          <a:xfrm>
            <a:off x="8503920" y="278892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046" name="Step title 2"/>
          <p:cNvSpPr txBox="1"/>
          <p:nvPr/>
        </p:nvSpPr>
        <p:spPr>
          <a:xfrm>
            <a:off x="8961120" y="2788920"/>
            <a:ext cx="2743200" cy="347472"/>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Spinner and message</a:t>
            </a:r>
            <a:endParaRPr lang="en-US" sz="1500" dirty="0"/>
          </a:p>
        </p:txBody>
      </p:sp>
      <p:sp>
        <p:nvSpPr>
          <p:cNvPr id="1047" name="Step body 2"/>
          <p:cNvSpPr txBox="1"/>
          <p:nvPr/>
        </p:nvSpPr>
        <p:spPr>
          <a:xfrm>
            <a:off x="8961120" y="3172968"/>
            <a:ext cx="2743200" cy="10058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Spinner plus your message while Work runs. No close (X) button.</a:t>
            </a:r>
            <a:endParaRPr lang="en-US" sz="1300" dirty="0"/>
          </a:p>
        </p:txBody>
      </p:sp>
      <p:sp>
        <p:nvSpPr>
          <p:cNvPr id="1048" name="Step circle 3"/>
          <p:cNvSpPr/>
          <p:nvPr/>
        </p:nvSpPr>
        <p:spPr>
          <a:xfrm>
            <a:off x="8503920" y="4251960"/>
            <a:ext cx="347472" cy="347472"/>
          </a:xfrm>
          <a:prstGeom prst="ellipse">
            <a:avLst/>
          </a:prstGeom>
          <a:solidFill>
            <a:schemeClr val="accent1"/>
          </a:solidFill>
          <a:ln w="12700">
            <a:solidFill>
              <a:schemeClr val="accent1"/>
            </a:solidFill>
            <a:prstDash val="solid"/>
          </a:ln>
        </p:spPr>
        <p:txBody>
          <a:bodyPr/>
          <a:p/>
        </p:txBody>
      </p:sp>
      <p:sp>
        <p:nvSpPr>
          <p:cNvPr id="1049" name="Step number 3"/>
          <p:cNvSpPr txBox="1"/>
          <p:nvPr/>
        </p:nvSpPr>
        <p:spPr>
          <a:xfrm>
            <a:off x="8503920" y="425196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050" name="Step title 3"/>
          <p:cNvSpPr txBox="1"/>
          <p:nvPr/>
        </p:nvSpPr>
        <p:spPr>
          <a:xfrm>
            <a:off x="8961120" y="4251960"/>
            <a:ext cx="2743200" cy="347472"/>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Cancel or finish</a:t>
            </a:r>
            <a:endParaRPr lang="en-US" sz="1500" dirty="0"/>
          </a:p>
        </p:txBody>
      </p:sp>
      <p:sp>
        <p:nvSpPr>
          <p:cNvPr id="1051" name="Step body 3"/>
          <p:cNvSpPr txBox="1"/>
          <p:nvPr/>
        </p:nvSpPr>
        <p:spPr>
          <a:xfrm>
            <a:off x="8961120" y="4636008"/>
            <a:ext cx="2743200" cy="10058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Cancel fires CancellationToken. Work done = dialog closes, command returns result.</a:t>
            </a:r>
            <a:endParaRPr lang="en-US" sz="1300" dirty="0"/>
          </a:p>
        </p:txBody>
      </p:sp>
      <p:sp>
        <p:nvSpPr>
          <p:cNvPr id="1052" name="Screenshot source"/>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100" i="1" dirty="0">
                <a:solidFill>
                  <a:srgbClr val="6B6785"/>
                </a:solidFill>
                <a:latin typeface="Calibri" pitchFamily="34" charset="0"/>
                <a:ea typeface="Calibri" pitchFamily="34" charset="-122"/>
                <a:cs typeface="Calibri" pitchFamily="34" charset="-120"/>
              </a:rPr>
              <a:t>Frame from 13.5 blog demo video. Source: Aspire blog, “Aspire 13.5: Fresh pixels and better workflows”, Aug 18, 2026.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Named command arguments</a:t>
            </a:r>
            <a:endParaRPr lang="en-US" sz="3400" dirty="0"/>
          </a:p>
        </p:txBody>
      </p:sp>
      <p:sp>
        <p:nvSpPr>
          <p:cNvPr id="3" name="Args CS panel"/>
          <p:cNvSpPr/>
          <p:nvPr/>
        </p:nvSpPr>
        <p:spPr>
          <a:xfrm>
            <a:off x="548640" y="1234440"/>
            <a:ext cx="7589520" cy="5074920"/>
          </a:xfrm>
          <a:prstGeom prst="roundRect">
            <a:avLst>
              <a:gd name="adj" fmla="val 1441"/>
            </a:avLst>
          </a:prstGeom>
          <a:solidFill>
            <a:srgbClr val="1C1830"/>
          </a:solidFill>
          <a:ln w="12700">
            <a:solidFill>
              <a:srgbClr val="1C1830"/>
            </a:solidFill>
            <a:prstDash val="solid"/>
          </a:ln>
        </p:spPr>
        <p:txBody>
          <a:bodyPr/>
          <a:p/>
        </p:txBody>
      </p:sp>
      <p:sp>
        <p:nvSpPr>
          <p:cNvPr id="4" name="Args CS label"/>
          <p:cNvSpPr txBox="1"/>
          <p:nvPr/>
        </p:nvSpPr>
        <p:spPr>
          <a:xfrm>
            <a:off x="777240" y="1325880"/>
            <a:ext cx="7132320" cy="274320"/>
          </a:xfrm>
          <a:prstGeom prst="rect">
            <a:avLst/>
          </a:prstGeom>
          <a:noFill/>
          <a:ln/>
        </p:spPr>
        <p:txBody>
          <a:bodyPr wrap="square" lIns="0" tIns="0" rIns="0" bIns="0" rtlCol="0" anchor="ctr"/>
          <a:lstStyle/>
          <a:p>
            <a:pPr indent="0" marL="0">
              <a:buNone/>
            </a:pPr>
            <a:r>
              <a:rPr lang="en-US" sz="1000" b="1" spc="100" kern="0" dirty="0">
                <a:solidFill>
                  <a:srgbClr val="8B87A3"/>
                </a:solidFill>
                <a:latin typeface="Calibri" pitchFamily="34" charset="0"/>
                <a:ea typeface="Calibri" pitchFamily="34" charset="-122"/>
                <a:cs typeface="Calibri" pitchFamily="34" charset="-120"/>
              </a:rPr>
              <a:t>C#  ·  AppHost.cs</a:t>
            </a:r>
            <a:endParaRPr lang="en-US" sz="1000" dirty="0"/>
          </a:p>
        </p:txBody>
      </p:sp>
      <p:sp>
        <p:nvSpPr>
          <p:cNvPr id="5" name="Args CS text"/>
          <p:cNvSpPr txBox="1"/>
          <p:nvPr/>
        </p:nvSpPr>
        <p:spPr>
          <a:xfrm>
            <a:off x="777240" y="1645920"/>
            <a:ext cx="7132320" cy="4572000"/>
          </a:xfrm>
          <a:prstGeom prst="rect">
            <a:avLst/>
          </a:prstGeom>
          <a:noFill/>
          <a:ln/>
        </p:spPr>
        <p:txBody>
          <a:bodyPr wrap="square" lIns="0" tIns="0" rIns="0" bIns="0" rtlCol="0" anchor="t"/>
          <a:lstStyle/>
          <a:p>
            <a:pPr indent="0" marL="0">
              <a:buNone/>
            </a:pPr>
            <a:r>
              <a:rPr lang="en-US" sz="1100" dirty="0">
                <a:solidFill>
                  <a:srgbClr val="C4A7FF"/>
                </a:solidFill>
                <a:latin typeface="Courier New" pitchFamily="34" charset="0"/>
                <a:ea typeface="Courier New" pitchFamily="34" charset="-122"/>
                <a:cs typeface="Courier New" pitchFamily="34" charset="-120"/>
              </a:rPr>
              <a:t>var</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builder</a:t>
            </a:r>
            <a:pPr indent="0" marL="0">
              <a:buNone/>
            </a:pPr>
            <a:r>
              <a:rPr lang="en-US" sz="1100" dirty="0">
                <a:solidFill>
                  <a:srgbClr val="E8E6F0"/>
                </a:solidFill>
                <a:latin typeface="Courier New" pitchFamily="34" charset="0"/>
                <a:ea typeface="Courier New" pitchFamily="34" charset="-122"/>
                <a:cs typeface="Courier New" pitchFamily="34" charset="-120"/>
              </a:rPr>
              <a:t> = </a:t>
            </a:r>
            <a:pPr indent="0" marL="0">
              <a:buNone/>
            </a:pPr>
            <a:r>
              <a:rPr lang="en-US" sz="1100" dirty="0">
                <a:solidFill>
                  <a:srgbClr val="7CC7FF"/>
                </a:solidFill>
                <a:latin typeface="Courier New" pitchFamily="34" charset="0"/>
                <a:ea typeface="Courier New" pitchFamily="34" charset="-122"/>
                <a:cs typeface="Courier New" pitchFamily="34" charset="-120"/>
              </a:rPr>
              <a:t>DistributedApplication</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CreateBuilder</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args</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builder</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AddContainer</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8FE3B0"/>
                </a:solidFill>
                <a:latin typeface="Courier New" pitchFamily="34" charset="0"/>
                <a:ea typeface="Courier New" pitchFamily="34" charset="-122"/>
                <a:cs typeface="Courier New" pitchFamily="34" charset="-120"/>
              </a:rPr>
              <a:t>"api"</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8FE3B0"/>
                </a:solidFill>
                <a:latin typeface="Courier New" pitchFamily="34" charset="0"/>
                <a:ea typeface="Courier New" pitchFamily="34" charset="-122"/>
                <a:cs typeface="Courier New" pitchFamily="34" charset="-120"/>
              </a:rPr>
              <a:t>"nginx"</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WithCommand</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name</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8FE3B0"/>
                </a:solidFill>
                <a:latin typeface="Courier New" pitchFamily="34" charset="0"/>
                <a:ea typeface="Courier New" pitchFamily="34" charset="-122"/>
                <a:cs typeface="Courier New" pitchFamily="34" charset="-120"/>
              </a:rPr>
              <a:t>"echo"</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displayName</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8FE3B0"/>
                </a:solidFill>
                <a:latin typeface="Courier New" pitchFamily="34" charset="0"/>
                <a:ea typeface="Courier New" pitchFamily="34" charset="-122"/>
                <a:cs typeface="Courier New" pitchFamily="34" charset="-120"/>
              </a:rPr>
              <a:t>"Echo"</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executeCommand</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ctx</a:t>
            </a:r>
            <a:pPr indent="0" marL="0">
              <a:buNone/>
            </a:pPr>
            <a:r>
              <a:rPr lang="en-US" sz="1100" dirty="0">
                <a:solidFill>
                  <a:srgbClr val="E8E6F0"/>
                </a:solidFill>
                <a:latin typeface="Courier New" pitchFamily="34" charset="0"/>
                <a:ea typeface="Courier New" pitchFamily="34" charset="-122"/>
                <a:cs typeface="Courier New" pitchFamily="34" charset="-120"/>
              </a:rPr>
              <a:t> =&gt;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C4A7FF"/>
                </a:solidFill>
                <a:latin typeface="Courier New" pitchFamily="34" charset="0"/>
                <a:ea typeface="Courier New" pitchFamily="34" charset="-122"/>
                <a:cs typeface="Courier New" pitchFamily="34" charset="-120"/>
              </a:rPr>
              <a:t>var</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message</a:t>
            </a:r>
            <a:pPr indent="0" marL="0">
              <a:buNone/>
            </a:pPr>
            <a:r>
              <a:rPr lang="en-US" sz="1100" dirty="0">
                <a:solidFill>
                  <a:srgbClr val="E8E6F0"/>
                </a:solidFill>
                <a:latin typeface="Courier New" pitchFamily="34" charset="0"/>
                <a:ea typeface="Courier New" pitchFamily="34" charset="-122"/>
                <a:cs typeface="Courier New" pitchFamily="34" charset="-120"/>
              </a:rPr>
              <a:t> = </a:t>
            </a:r>
            <a:pPr indent="0" marL="0">
              <a:buNone/>
            </a:pPr>
            <a:r>
              <a:rPr lang="en-US" sz="1100" dirty="0">
                <a:solidFill>
                  <a:srgbClr val="E8E6F0"/>
                </a:solidFill>
                <a:latin typeface="Courier New" pitchFamily="34" charset="0"/>
                <a:ea typeface="Courier New" pitchFamily="34" charset="-122"/>
                <a:cs typeface="Courier New" pitchFamily="34" charset="-120"/>
              </a:rPr>
              <a:t>ctx</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Arguments</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8FE3B0"/>
                </a:solidFill>
                <a:latin typeface="Courier New" pitchFamily="34" charset="0"/>
                <a:ea typeface="Courier New" pitchFamily="34" charset="-122"/>
                <a:cs typeface="Courier New" pitchFamily="34" charset="-120"/>
              </a:rPr>
              <a:t>"message"</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Value</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i="1" dirty="0">
                <a:solidFill>
                  <a:srgbClr val="8B87A3"/>
                </a:solidFill>
                <a:latin typeface="Courier New" pitchFamily="34" charset="0"/>
                <a:ea typeface="Courier New" pitchFamily="34" charset="-122"/>
                <a:cs typeface="Courier New" pitchFamily="34" charset="-120"/>
              </a:rPr>
              <a:t>// Use the collected argument...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C4A7FF"/>
                </a:solidFill>
                <a:latin typeface="Courier New" pitchFamily="34" charset="0"/>
                <a:ea typeface="Courier New" pitchFamily="34" charset="-122"/>
                <a:cs typeface="Courier New" pitchFamily="34" charset="-120"/>
              </a:rPr>
              <a:t>return</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7CC7FF"/>
                </a:solidFill>
                <a:latin typeface="Courier New" pitchFamily="34" charset="0"/>
                <a:ea typeface="Courier New" pitchFamily="34" charset="-122"/>
                <a:cs typeface="Courier New" pitchFamily="34" charset="-120"/>
              </a:rPr>
              <a:t>Task</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FromResult</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7CC7FF"/>
                </a:solidFill>
                <a:latin typeface="Courier New" pitchFamily="34" charset="0"/>
                <a:ea typeface="Courier New" pitchFamily="34" charset="-122"/>
                <a:cs typeface="Courier New" pitchFamily="34" charset="-120"/>
              </a:rPr>
              <a:t>CommandResults</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Success</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commandOptions</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C4A7FF"/>
                </a:solidFill>
                <a:latin typeface="Courier New" pitchFamily="34" charset="0"/>
                <a:ea typeface="Courier New" pitchFamily="34" charset="-122"/>
                <a:cs typeface="Courier New" pitchFamily="34" charset="-120"/>
              </a:rPr>
              <a:t>new</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7CC7FF"/>
                </a:solidFill>
                <a:latin typeface="Courier New" pitchFamily="34" charset="0"/>
                <a:ea typeface="Courier New" pitchFamily="34" charset="-122"/>
                <a:cs typeface="Courier New" pitchFamily="34" charset="-120"/>
              </a:rPr>
              <a:t>CommandOptions</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Description</a:t>
            </a:r>
            <a:pPr indent="0" marL="0">
              <a:buNone/>
            </a:pPr>
            <a:r>
              <a:rPr lang="en-US" sz="1100" dirty="0">
                <a:solidFill>
                  <a:srgbClr val="E8E6F0"/>
                </a:solidFill>
                <a:latin typeface="Courier New" pitchFamily="34" charset="0"/>
                <a:ea typeface="Courier New" pitchFamily="34" charset="-122"/>
                <a:cs typeface="Courier New" pitchFamily="34" charset="-120"/>
              </a:rPr>
              <a:t> = </a:t>
            </a:r>
            <a:pPr indent="0" marL="0">
              <a:buNone/>
            </a:pPr>
            <a:r>
              <a:rPr lang="en-US" sz="1100" dirty="0">
                <a:solidFill>
                  <a:srgbClr val="8FE3B0"/>
                </a:solidFill>
                <a:latin typeface="Courier New" pitchFamily="34" charset="0"/>
                <a:ea typeface="Courier New" pitchFamily="34" charset="-122"/>
                <a:cs typeface="Courier New" pitchFamily="34" charset="-120"/>
              </a:rPr>
              <a:t>"Echo a message."</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Arguments</a:t>
            </a:r>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C4A7FF"/>
                </a:solidFill>
                <a:latin typeface="Courier New" pitchFamily="34" charset="0"/>
                <a:ea typeface="Courier New" pitchFamily="34" charset="-122"/>
                <a:cs typeface="Courier New" pitchFamily="34" charset="-120"/>
              </a:rPr>
              <a:t>new</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7CC7FF"/>
                </a:solidFill>
                <a:latin typeface="Courier New" pitchFamily="34" charset="0"/>
                <a:ea typeface="Courier New" pitchFamily="34" charset="-122"/>
                <a:cs typeface="Courier New" pitchFamily="34" charset="-120"/>
              </a:rPr>
              <a:t>InteractionInput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Name</a:t>
            </a:r>
            <a:pPr indent="0" marL="0">
              <a:buNone/>
            </a:pPr>
            <a:r>
              <a:rPr lang="en-US" sz="1100" dirty="0">
                <a:solidFill>
                  <a:srgbClr val="E8E6F0"/>
                </a:solidFill>
                <a:latin typeface="Courier New" pitchFamily="34" charset="0"/>
                <a:ea typeface="Courier New" pitchFamily="34" charset="-122"/>
                <a:cs typeface="Courier New" pitchFamily="34" charset="-120"/>
              </a:rPr>
              <a:t> = </a:t>
            </a:r>
            <a:pPr indent="0" marL="0">
              <a:buNone/>
            </a:pPr>
            <a:r>
              <a:rPr lang="en-US" sz="1100" dirty="0">
                <a:solidFill>
                  <a:srgbClr val="8FE3B0"/>
                </a:solidFill>
                <a:latin typeface="Courier New" pitchFamily="34" charset="0"/>
                <a:ea typeface="Courier New" pitchFamily="34" charset="-122"/>
                <a:cs typeface="Courier New" pitchFamily="34" charset="-120"/>
              </a:rPr>
              <a:t>"message"</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Label</a:t>
            </a:r>
            <a:pPr indent="0" marL="0">
              <a:buNone/>
            </a:pPr>
            <a:r>
              <a:rPr lang="en-US" sz="1100" dirty="0">
                <a:solidFill>
                  <a:srgbClr val="E8E6F0"/>
                </a:solidFill>
                <a:latin typeface="Courier New" pitchFamily="34" charset="0"/>
                <a:ea typeface="Courier New" pitchFamily="34" charset="-122"/>
                <a:cs typeface="Courier New" pitchFamily="34" charset="-120"/>
              </a:rPr>
              <a:t> = </a:t>
            </a:r>
            <a:pPr indent="0" marL="0">
              <a:buNone/>
            </a:pPr>
            <a:r>
              <a:rPr lang="en-US" sz="1100" dirty="0">
                <a:solidFill>
                  <a:srgbClr val="8FE3B0"/>
                </a:solidFill>
                <a:latin typeface="Courier New" pitchFamily="34" charset="0"/>
                <a:ea typeface="Courier New" pitchFamily="34" charset="-122"/>
                <a:cs typeface="Courier New" pitchFamily="34" charset="-120"/>
              </a:rPr>
              <a:t>"Message"</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7CC7FF"/>
                </a:solidFill>
                <a:latin typeface="Courier New" pitchFamily="34" charset="0"/>
                <a:ea typeface="Courier New" pitchFamily="34" charset="-122"/>
                <a:cs typeface="Courier New" pitchFamily="34" charset="-120"/>
              </a:rPr>
              <a:t>InputType</a:t>
            </a:r>
            <a:pPr indent="0" marL="0">
              <a:buNone/>
            </a:pPr>
            <a:r>
              <a:rPr lang="en-US" sz="1100" dirty="0">
                <a:solidFill>
                  <a:srgbClr val="E8E6F0"/>
                </a:solidFill>
                <a:latin typeface="Courier New" pitchFamily="34" charset="0"/>
                <a:ea typeface="Courier New" pitchFamily="34" charset="-122"/>
                <a:cs typeface="Courier New" pitchFamily="34" charset="-120"/>
              </a:rPr>
              <a:t> = </a:t>
            </a:r>
            <a:pPr indent="0" marL="0">
              <a:buNone/>
            </a:pPr>
            <a:r>
              <a:rPr lang="en-US" sz="1100" dirty="0">
                <a:solidFill>
                  <a:srgbClr val="7CC7FF"/>
                </a:solidFill>
                <a:latin typeface="Courier New" pitchFamily="34" charset="0"/>
                <a:ea typeface="Courier New" pitchFamily="34" charset="-122"/>
                <a:cs typeface="Courier New" pitchFamily="34" charset="-120"/>
              </a:rPr>
              <a:t>InputType</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Text</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Required</a:t>
            </a:r>
            <a:pPr indent="0" marL="0">
              <a:buNone/>
            </a:pPr>
            <a:r>
              <a:rPr lang="en-US" sz="1100" dirty="0">
                <a:solidFill>
                  <a:srgbClr val="E8E6F0"/>
                </a:solidFill>
                <a:latin typeface="Courier New" pitchFamily="34" charset="0"/>
                <a:ea typeface="Courier New" pitchFamily="34" charset="-122"/>
                <a:cs typeface="Courier New" pitchFamily="34" charset="-120"/>
              </a:rPr>
              <a:t> = </a:t>
            </a:r>
            <a:pPr indent="0" marL="0">
              <a:buNone/>
            </a:pPr>
            <a:r>
              <a:rPr lang="en-US" sz="1100" dirty="0">
                <a:solidFill>
                  <a:srgbClr val="C4A7FF"/>
                </a:solidFill>
                <a:latin typeface="Courier New" pitchFamily="34" charset="0"/>
                <a:ea typeface="Courier New" pitchFamily="34" charset="-122"/>
                <a:cs typeface="Courier New" pitchFamily="34" charset="-120"/>
              </a:rPr>
              <a:t>true</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builder</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Build</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Run</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p:txBody>
      </p:sp>
      <p:sp>
        <p:nvSpPr>
          <p:cNvPr id="6" name="Args notes panel"/>
          <p:cNvSpPr/>
          <p:nvPr/>
        </p:nvSpPr>
        <p:spPr>
          <a:xfrm>
            <a:off x="8366760" y="1234440"/>
            <a:ext cx="3246120" cy="5074920"/>
          </a:xfrm>
          <a:prstGeom prst="roundRect">
            <a:avLst>
              <a:gd name="adj" fmla="val 2817"/>
            </a:avLst>
          </a:prstGeom>
          <a:solidFill>
            <a:schemeClr val="bg2"/>
          </a:solidFill>
          <a:ln w="12700">
            <a:solidFill>
              <a:schemeClr val="bg2"/>
            </a:solidFill>
            <a:prstDash val="solid"/>
          </a:ln>
        </p:spPr>
        <p:txBody>
          <a:bodyPr/>
          <a:p/>
        </p:txBody>
      </p:sp>
      <p:sp>
        <p:nvSpPr>
          <p:cNvPr id="7" name="Args notes text"/>
          <p:cNvSpPr txBox="1"/>
          <p:nvPr/>
        </p:nvSpPr>
        <p:spPr>
          <a:xfrm>
            <a:off x="8641080" y="1463040"/>
            <a:ext cx="2697480" cy="4617720"/>
          </a:xfrm>
          <a:prstGeom prst="rect">
            <a:avLst/>
          </a:prstGeom>
          <a:noFill/>
          <a:ln/>
        </p:spPr>
        <p:txBody>
          <a:bodyPr wrap="square" lIns="0" tIns="0" rIns="0" bIns="0" rtlCol="0" anchor="t"/>
          <a:lstStyle/>
          <a:p>
            <a:pPr indent="0" marL="0">
              <a:buNone/>
            </a:pPr>
            <a:r>
              <a:rPr lang="en-US" sz="1500" b="1" dirty="0">
                <a:solidFill>
                  <a:schemeClr val="tx2"/>
                </a:solidFill>
              </a:rPr>
              <a:t>Declare once</a:t>
            </a:r>
            <a:endParaRPr lang="en-US" sz="1500" dirty="0"/>
          </a:p>
          <a:p>
            <a:pPr indent="0" marL="0">
              <a:spcAft>
                <a:spcPts val="1200"/>
              </a:spcAft>
              <a:buNone/>
            </a:pPr>
            <a:r>
              <a:rPr lang="en-US" sz="1400" dirty="0">
                <a:solidFill>
                  <a:schemeClr val="tx1"/>
                </a:solidFill>
              </a:rPr>
              <a:t>InteractionInput items go in CommandOptions.Arguments.</a:t>
            </a:r>
            <a:endParaRPr lang="en-US" sz="1500" dirty="0"/>
          </a:p>
          <a:p>
            <a:pPr indent="0" marL="0">
              <a:buNone/>
            </a:pPr>
            <a:r>
              <a:rPr lang="en-US" sz="1500" b="1" dirty="0">
                <a:solidFill>
                  <a:schemeClr val="tx2"/>
                </a:solidFill>
              </a:rPr>
              <a:t>Two front ends</a:t>
            </a:r>
            <a:endParaRPr lang="en-US" sz="1500" dirty="0"/>
          </a:p>
          <a:p>
            <a:pPr indent="0" marL="0">
              <a:spcAft>
                <a:spcPts val="1200"/>
              </a:spcAft>
              <a:buNone/>
            </a:pPr>
            <a:r>
              <a:rPr lang="en-US" sz="1400" dirty="0">
                <a:solidFill>
                  <a:schemeClr val="tx1"/>
                </a:solidFill>
              </a:rPr>
              <a:t>Dashboard: form before command runs. CLI: each argument becomes option with same name.</a:t>
            </a:r>
            <a:endParaRPr lang="en-US" sz="1500" dirty="0"/>
          </a:p>
          <a:p>
            <a:pPr indent="0" marL="0">
              <a:buNone/>
            </a:pPr>
            <a:r>
              <a:rPr lang="en-US" sz="1500" b="1" dirty="0">
                <a:solidFill>
                  <a:schemeClr val="tx2"/>
                </a:solidFill>
              </a:rPr>
              <a:t>Required</a:t>
            </a:r>
            <a:endParaRPr lang="en-US" sz="1500" dirty="0"/>
          </a:p>
          <a:p>
            <a:pPr indent="0" marL="0">
              <a:spcAft>
                <a:spcPts val="1200"/>
              </a:spcAft>
              <a:buNone/>
            </a:pPr>
            <a:r>
              <a:rPr lang="en-US" sz="1400" dirty="0">
                <a:solidFill>
                  <a:schemeClr val="tx1"/>
                </a:solidFill>
              </a:rPr>
              <a:t>CLI errors if required option missing. Stable.</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Command arguments</a:t>
            </a:r>
            <a:endParaRPr lang="en-US" sz="3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28</a:t>
            </a:fld>
            <a:endParaRPr lang="en-US"/>
          </a:p>
        </p:txBody>
      </p:sp>
      <p:pic>
        <p:nvPicPr>
          <p:cNvPr id="26" name="Dashboard screenshot" descr="An Aspire 13.5 dashboard dialog titled Deploy application with an Environment dropdown, a Release version text box and a Run health checks checkbox"/>
          <p:cNvPicPr>
            <a:picLocks noChangeAspect="1"/>
          </p:cNvPicPr>
          <p:nvPr/>
        </p:nvPicPr>
        <p:blipFill>
          <a:blip r:embed="rId3"/>
          <a:stretch>
            <a:fillRect/>
          </a:stretch>
        </p:blipFill>
        <p:spPr>
          <a:xfrm>
            <a:off x="548640" y="1280160"/>
            <a:ext cx="7680960" cy="4123462"/>
          </a:xfrm>
          <a:prstGeom prst="rect">
            <a:avLst/>
          </a:prstGeom>
          <a:ln w="12700">
            <a:solidFill>
              <a:srgbClr val="D9D6E8"/>
            </a:solidFill>
          </a:ln>
        </p:spPr>
      </p:pic>
      <p:sp>
        <p:nvSpPr>
          <p:cNvPr id="1053" name="Step circle 1"/>
          <p:cNvSpPr/>
          <p:nvPr/>
        </p:nvSpPr>
        <p:spPr>
          <a:xfrm>
            <a:off x="8503920" y="1325880"/>
            <a:ext cx="347472" cy="347472"/>
          </a:xfrm>
          <a:prstGeom prst="ellipse">
            <a:avLst/>
          </a:prstGeom>
          <a:solidFill>
            <a:schemeClr val="accent1"/>
          </a:solidFill>
          <a:ln w="12700">
            <a:solidFill>
              <a:schemeClr val="accent1"/>
            </a:solidFill>
            <a:prstDash val="solid"/>
          </a:ln>
        </p:spPr>
        <p:txBody>
          <a:bodyPr/>
          <a:p/>
        </p:txBody>
      </p:sp>
      <p:sp>
        <p:nvSpPr>
          <p:cNvPr id="1054" name="Step number 1"/>
          <p:cNvSpPr txBox="1"/>
          <p:nvPr/>
        </p:nvSpPr>
        <p:spPr>
          <a:xfrm>
            <a:off x="8503920" y="132588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1055" name="Step title 1"/>
          <p:cNvSpPr txBox="1"/>
          <p:nvPr/>
        </p:nvSpPr>
        <p:spPr>
          <a:xfrm>
            <a:off x="8961120" y="1325880"/>
            <a:ext cx="2743200" cy="347472"/>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Run the command</a:t>
            </a:r>
            <a:endParaRPr lang="en-US" sz="1500" dirty="0"/>
          </a:p>
        </p:txBody>
      </p:sp>
      <p:sp>
        <p:nvSpPr>
          <p:cNvPr id="1056" name="Step body 1"/>
          <p:cNvSpPr txBox="1"/>
          <p:nvPr/>
        </p:nvSpPr>
        <p:spPr>
          <a:xfrm>
            <a:off x="8961120" y="1709928"/>
            <a:ext cx="2743200" cy="10058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Click ••• on resource, then command (Echo in our code).</a:t>
            </a:r>
            <a:endParaRPr lang="en-US" sz="1300" dirty="0"/>
          </a:p>
        </p:txBody>
      </p:sp>
      <p:sp>
        <p:nvSpPr>
          <p:cNvPr id="1057" name="Step circle 2"/>
          <p:cNvSpPr/>
          <p:nvPr/>
        </p:nvSpPr>
        <p:spPr>
          <a:xfrm>
            <a:off x="8503920" y="2788920"/>
            <a:ext cx="347472" cy="347472"/>
          </a:xfrm>
          <a:prstGeom prst="ellipse">
            <a:avLst/>
          </a:prstGeom>
          <a:solidFill>
            <a:schemeClr val="accent1"/>
          </a:solidFill>
          <a:ln w="12700">
            <a:solidFill>
              <a:schemeClr val="accent1"/>
            </a:solidFill>
            <a:prstDash val="solid"/>
          </a:ln>
        </p:spPr>
        <p:txBody>
          <a:bodyPr/>
          <a:p/>
        </p:txBody>
      </p:sp>
      <p:sp>
        <p:nvSpPr>
          <p:cNvPr id="1058" name="Step number 2"/>
          <p:cNvSpPr txBox="1"/>
          <p:nvPr/>
        </p:nvSpPr>
        <p:spPr>
          <a:xfrm>
            <a:off x="8503920" y="278892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059" name="Step title 2"/>
          <p:cNvSpPr txBox="1"/>
          <p:nvPr/>
        </p:nvSpPr>
        <p:spPr>
          <a:xfrm>
            <a:off x="8961120" y="2788920"/>
            <a:ext cx="2743200" cy="347472"/>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Arguments first</a:t>
            </a:r>
            <a:endParaRPr lang="en-US" sz="1500" dirty="0"/>
          </a:p>
        </p:txBody>
      </p:sp>
      <p:sp>
        <p:nvSpPr>
          <p:cNvPr id="1060" name="Step body 2"/>
          <p:cNvSpPr txBox="1"/>
          <p:nvPr/>
        </p:nvSpPr>
        <p:spPr>
          <a:xfrm>
            <a:off x="8961120" y="3172968"/>
            <a:ext cx="2743200" cy="10058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Each argument becomes labelled input. Required get red *. Sample: dropdown, text box, checkbox.</a:t>
            </a:r>
            <a:endParaRPr lang="en-US" sz="1300" dirty="0"/>
          </a:p>
        </p:txBody>
      </p:sp>
      <p:sp>
        <p:nvSpPr>
          <p:cNvPr id="1061" name="Step circle 3"/>
          <p:cNvSpPr/>
          <p:nvPr/>
        </p:nvSpPr>
        <p:spPr>
          <a:xfrm>
            <a:off x="8503920" y="4251960"/>
            <a:ext cx="347472" cy="347472"/>
          </a:xfrm>
          <a:prstGeom prst="ellipse">
            <a:avLst/>
          </a:prstGeom>
          <a:solidFill>
            <a:schemeClr val="accent1"/>
          </a:solidFill>
          <a:ln w="12700">
            <a:solidFill>
              <a:schemeClr val="accent1"/>
            </a:solidFill>
            <a:prstDash val="solid"/>
          </a:ln>
        </p:spPr>
        <p:txBody>
          <a:bodyPr/>
          <a:p/>
        </p:txBody>
      </p:sp>
      <p:sp>
        <p:nvSpPr>
          <p:cNvPr id="1062" name="Step number 3"/>
          <p:cNvSpPr txBox="1"/>
          <p:nvPr/>
        </p:nvSpPr>
        <p:spPr>
          <a:xfrm>
            <a:off x="8503920" y="425196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063" name="Step title 3"/>
          <p:cNvSpPr txBox="1"/>
          <p:nvPr/>
        </p:nvSpPr>
        <p:spPr>
          <a:xfrm>
            <a:off x="8961120" y="4251960"/>
            <a:ext cx="2743200" cy="347472"/>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Then command runs</a:t>
            </a:r>
            <a:endParaRPr lang="en-US" sz="1500" dirty="0"/>
          </a:p>
        </p:txBody>
      </p:sp>
      <p:sp>
        <p:nvSpPr>
          <p:cNvPr id="1064" name="Step body 3"/>
          <p:cNvSpPr txBox="1"/>
          <p:nvPr/>
        </p:nvSpPr>
        <p:spPr>
          <a:xfrm>
            <a:off x="8961120" y="4636008"/>
            <a:ext cx="2743200" cy="10058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Callback reads ctx.Arguments. In CLI, same arguments are --name options.</a:t>
            </a:r>
            <a:endParaRPr lang="en-US" sz="1300" dirty="0"/>
          </a:p>
        </p:txBody>
      </p:sp>
      <p:sp>
        <p:nvSpPr>
          <p:cNvPr id="1065" name="Screenshot source"/>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100" i="1" dirty="0">
                <a:solidFill>
                  <a:srgbClr val="6B6785"/>
                </a:solidFill>
                <a:latin typeface="Calibri" pitchFamily="34" charset="0"/>
                <a:ea typeface="Calibri" pitchFamily="34" charset="-122"/>
                <a:cs typeface="Calibri" pitchFamily="34" charset="-120"/>
              </a:rPr>
              <a:t>Frame from 13.5 blog demo video. Sample command “Deploy application”, not our Echo code.</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Part label"/>
          <p:cNvSpPr txBox="1"/>
          <p:nvPr/>
        </p:nvSpPr>
        <p:spPr>
          <a:xfrm>
            <a:off x="822960" y="2103120"/>
            <a:ext cx="3657600" cy="457200"/>
          </a:xfrm>
          <a:prstGeom prst="rect">
            <a:avLst/>
          </a:prstGeom>
          <a:noFill/>
          <a:ln/>
        </p:spPr>
        <p:txBody>
          <a:bodyPr wrap="square" lIns="0" tIns="0" rIns="0" bIns="0" rtlCol="0" anchor="ctr"/>
          <a:lstStyle/>
          <a:p>
            <a:pPr indent="0" marL="0">
              <a:buNone/>
            </a:pPr>
            <a:r>
              <a:rPr lang="en-US" sz="1600" b="1" spc="400" kern="0" dirty="0">
                <a:solidFill>
                  <a:srgbClr val="A78BFA"/>
                </a:solidFill>
              </a:rPr>
              <a:t>PART 4</a:t>
            </a:r>
            <a:endParaRPr lang="en-US" sz="1600" dirty="0"/>
          </a:p>
        </p:txBody>
      </p:sp>
      <p:sp>
        <p:nvSpPr>
          <p:cNvPr id="3" name="Part rule"/>
          <p:cNvSpPr/>
          <p:nvPr/>
        </p:nvSpPr>
        <p:spPr>
          <a:xfrm>
            <a:off x="822960" y="2560320"/>
            <a:ext cx="1097280" cy="54864"/>
          </a:xfrm>
          <a:prstGeom prst="rect">
            <a:avLst/>
          </a:prstGeom>
          <a:solidFill>
            <a:srgbClr val="A78BFA"/>
          </a:solidFill>
          <a:ln w="12700">
            <a:solidFill>
              <a:srgbClr val="A78BFA"/>
            </a:solidFill>
            <a:prstDash val="solid"/>
          </a:ln>
        </p:spPr>
        <p:txBody>
          <a:bodyPr/>
          <a:p/>
        </p:txBody>
      </p:sp>
      <p:sp>
        <p:nvSpPr>
          <p:cNvPr id="4" name="Text 0"/>
          <p:cNvSpPr/>
          <p:nvPr>
            <p:ph idx="100" type="title" hasCustomPrompt="1"/>
          </p:nvPr>
        </p:nvSpPr>
        <p:spPr>
          <a:xfrm>
            <a:off x="822960" y="2651760"/>
            <a:ext cx="10515600" cy="1097280"/>
          </a:xfrm>
          <a:prstGeom prst="rect">
            <a:avLst/>
          </a:prstGeom>
          <a:noFill/>
          <a:ln/>
        </p:spPr>
        <p:txBody>
          <a:bodyPr wrap="square" lIns="0" tIns="0" rIns="0" bIns="0" rtlCol="0" anchor="ctr"/>
          <a:lstStyle/>
          <a:p>
            <a:pPr algn="l" indent="0" marL="0">
              <a:buNone/>
            </a:pPr>
            <a:r>
              <a:rPr lang="en-US" sz="4400" b="1" dirty="0">
                <a:solidFill>
                  <a:schemeClr val="bg1"/>
                </a:solidFill>
                <a:latin typeface="Cambria" pitchFamily="34" charset="0"/>
                <a:ea typeface="Cambria" pitchFamily="34" charset="-122"/>
                <a:cs typeface="Cambria" pitchFamily="34" charset="-120"/>
              </a:rPr>
              <a:t>Wrap-up</a:t>
            </a:r>
            <a:endParaRPr lang="en-US" sz="4400" dirty="0"/>
          </a:p>
        </p:txBody>
      </p:sp>
      <p:sp>
        <p:nvSpPr>
          <p:cNvPr id="5" name="Text 0"/>
          <p:cNvSpPr/>
          <p:nvPr>
            <p:ph idx="101" type="body" hasCustomPrompt="1"/>
          </p:nvPr>
        </p:nvSpPr>
        <p:spPr>
          <a:xfrm>
            <a:off x="822960" y="3794760"/>
            <a:ext cx="10058400" cy="914400"/>
          </a:xfrm>
          <a:prstGeom prst="rect">
            <a:avLst/>
          </a:prstGeom>
          <a:noFill/>
          <a:ln/>
        </p:spPr>
        <p:txBody>
          <a:bodyPr wrap="square" lIns="0" tIns="0" rIns="0" bIns="0" rtlCol="0" anchor="t"/>
          <a:lstStyle/>
          <a:p>
            <a:pPr algn="l" indent="0" marL="0">
              <a:buNone/>
            </a:pPr>
            <a:r>
              <a:rPr lang="en-US" sz="2000" dirty="0">
                <a:solidFill>
                  <a:srgbClr val="D9CCFF"/>
                </a:solidFill>
                <a:latin typeface="Calibri" pitchFamily="34" charset="0"/>
                <a:ea typeface="Calibri" pitchFamily="34" charset="-122"/>
                <a:cs typeface="Calibri" pitchFamily="34" charset="-120"/>
              </a:rPr>
              <a:t>Upgrade, languages, links</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Upgrade and watch-outs</a:t>
            </a:r>
            <a:endParaRPr lang="en-US" sz="3400" dirty="0"/>
          </a:p>
        </p:txBody>
      </p:sp>
      <p:sp>
        <p:nvSpPr>
          <p:cNvPr id="3" name="Upgrade CLI panel"/>
          <p:cNvSpPr/>
          <p:nvPr/>
        </p:nvSpPr>
        <p:spPr>
          <a:xfrm>
            <a:off x="548640" y="1325880"/>
            <a:ext cx="5120640" cy="3291840"/>
          </a:xfrm>
          <a:prstGeom prst="roundRect">
            <a:avLst>
              <a:gd name="adj" fmla="val 2222"/>
            </a:avLst>
          </a:prstGeom>
          <a:solidFill>
            <a:srgbClr val="1C1830"/>
          </a:solidFill>
          <a:ln w="12700">
            <a:solidFill>
              <a:srgbClr val="1C1830"/>
            </a:solidFill>
            <a:prstDash val="solid"/>
          </a:ln>
        </p:spPr>
        <p:txBody>
          <a:bodyPr/>
          <a:p/>
        </p:txBody>
      </p:sp>
      <p:sp>
        <p:nvSpPr>
          <p:cNvPr id="4" name="Upgrade CLI label"/>
          <p:cNvSpPr txBox="1"/>
          <p:nvPr/>
        </p:nvSpPr>
        <p:spPr>
          <a:xfrm>
            <a:off x="777240" y="1417320"/>
            <a:ext cx="4663440" cy="274320"/>
          </a:xfrm>
          <a:prstGeom prst="rect">
            <a:avLst/>
          </a:prstGeom>
          <a:noFill/>
          <a:ln/>
        </p:spPr>
        <p:txBody>
          <a:bodyPr wrap="square" lIns="0" tIns="0" rIns="0" bIns="0" rtlCol="0" anchor="ctr"/>
          <a:lstStyle/>
          <a:p>
            <a:pPr indent="0" marL="0">
              <a:buNone/>
            </a:pPr>
            <a:r>
              <a:rPr lang="en-US" sz="1000" b="1" spc="100" kern="0" dirty="0">
                <a:solidFill>
                  <a:srgbClr val="8B87A3"/>
                </a:solidFill>
                <a:latin typeface="Calibri" pitchFamily="34" charset="0"/>
                <a:ea typeface="Calibri" pitchFamily="34" charset="-122"/>
                <a:cs typeface="Calibri" pitchFamily="34" charset="-120"/>
              </a:rPr>
              <a:t>TERMINAL  ·  Aspire CLI</a:t>
            </a:r>
            <a:endParaRPr lang="en-US" sz="1000" dirty="0"/>
          </a:p>
        </p:txBody>
      </p:sp>
      <p:sp>
        <p:nvSpPr>
          <p:cNvPr id="5" name="Upgrade CLI text"/>
          <p:cNvSpPr txBox="1"/>
          <p:nvPr/>
        </p:nvSpPr>
        <p:spPr>
          <a:xfrm>
            <a:off x="777240" y="1737360"/>
            <a:ext cx="4663440" cy="2788920"/>
          </a:xfrm>
          <a:prstGeom prst="rect">
            <a:avLst/>
          </a:prstGeom>
          <a:noFill/>
          <a:ln/>
        </p:spPr>
        <p:txBody>
          <a:bodyPr wrap="square" lIns="0" tIns="0" rIns="0" bIns="0" rtlCol="0" anchor="t"/>
          <a:lstStyle/>
          <a:p>
            <a:pPr indent="0" marL="0">
              <a:buNone/>
            </a:pPr>
            <a:r>
              <a:rPr lang="en-US" sz="1400" i="1" dirty="0">
                <a:solidFill>
                  <a:srgbClr val="8B87A3"/>
                </a:solidFill>
                <a:latin typeface="Courier New" pitchFamily="34" charset="0"/>
                <a:ea typeface="Courier New" pitchFamily="34" charset="-122"/>
                <a:cs typeface="Courier New" pitchFamily="34" charset="-120"/>
              </a:rPr>
              <a:t>// 1. Update the Aspire CLI itself</a:t>
            </a:r>
            <a:endParaRPr lang="en-US" sz="1400" dirty="0"/>
          </a:p>
          <a:p>
            <a:pPr indent="0" marL="0">
              <a:buNone/>
            </a:pPr>
            <a:r>
              <a:rPr lang="en-US" sz="1400" dirty="0">
                <a:solidFill>
                  <a:srgbClr val="E8E6F0"/>
                </a:solidFill>
                <a:latin typeface="Courier New" pitchFamily="34" charset="0"/>
                <a:ea typeface="Courier New" pitchFamily="34" charset="-122"/>
                <a:cs typeface="Courier New" pitchFamily="34" charset="-120"/>
              </a:rPr>
              <a:t>aspire</a:t>
            </a:r>
            <a:pPr indent="0" marL="0">
              <a:buNone/>
            </a:pPr>
            <a:r>
              <a:rPr lang="en-US" sz="1400" dirty="0">
                <a:solidFill>
                  <a:srgbClr val="E8E6F0"/>
                </a:solidFill>
                <a:latin typeface="Courier New" pitchFamily="34" charset="0"/>
                <a:ea typeface="Courier New" pitchFamily="34" charset="-122"/>
                <a:cs typeface="Courier New" pitchFamily="34" charset="-120"/>
              </a:rPr>
              <a:t> </a:t>
            </a:r>
            <a:pPr indent="0" marL="0">
              <a:buNone/>
            </a:pPr>
            <a:r>
              <a:rPr lang="en-US" sz="1400" dirty="0">
                <a:solidFill>
                  <a:srgbClr val="E8E6F0"/>
                </a:solidFill>
                <a:latin typeface="Courier New" pitchFamily="34" charset="0"/>
                <a:ea typeface="Courier New" pitchFamily="34" charset="-122"/>
                <a:cs typeface="Courier New" pitchFamily="34" charset="-120"/>
              </a:rPr>
              <a:t>update</a:t>
            </a:r>
            <a:pPr indent="0" marL="0">
              <a:buNone/>
            </a:pPr>
            <a:r>
              <a:rPr lang="en-US" sz="1400" dirty="0">
                <a:solidFill>
                  <a:srgbClr val="E8E6F0"/>
                </a:solidFill>
                <a:latin typeface="Courier New" pitchFamily="34" charset="0"/>
                <a:ea typeface="Courier New" pitchFamily="34" charset="-122"/>
                <a:cs typeface="Courier New" pitchFamily="34" charset="-120"/>
              </a:rPr>
              <a:t> --</a:t>
            </a:r>
            <a:pPr indent="0" marL="0">
              <a:buNone/>
            </a:pPr>
            <a:r>
              <a:rPr lang="en-US" sz="1400" dirty="0">
                <a:solidFill>
                  <a:srgbClr val="E8E6F0"/>
                </a:solidFill>
                <a:latin typeface="Courier New" pitchFamily="34" charset="0"/>
                <a:ea typeface="Courier New" pitchFamily="34" charset="-122"/>
                <a:cs typeface="Courier New" pitchFamily="34" charset="-120"/>
              </a:rPr>
              <a:t>self</a:t>
            </a:r>
            <a:endParaRPr lang="en-US" sz="1400" dirty="0"/>
          </a:p>
          <a:p>
            <a:pPr indent="0" marL="0">
              <a:buNone/>
            </a:pPr>
            <a:r>
              <a:rPr lang="en-US" sz="1400" dirty="0">
                <a:solidFill>
                  <a:srgbClr val="E8E6F0"/>
                </a:solidFill>
                <a:latin typeface="Courier New" pitchFamily="34" charset="0"/>
                <a:ea typeface="Courier New" pitchFamily="34" charset="-122"/>
                <a:cs typeface="Courier New" pitchFamily="34" charset="-120"/>
              </a:rPr>
              <a:t> </a:t>
            </a:r>
            <a:endParaRPr lang="en-US" sz="1400" dirty="0"/>
          </a:p>
          <a:p>
            <a:pPr indent="0" marL="0">
              <a:buNone/>
            </a:pPr>
            <a:r>
              <a:rPr lang="en-US" sz="1400" i="1" dirty="0">
                <a:solidFill>
                  <a:srgbClr val="8B87A3"/>
                </a:solidFill>
                <a:latin typeface="Courier New" pitchFamily="34" charset="0"/>
                <a:ea typeface="Courier New" pitchFamily="34" charset="-122"/>
                <a:cs typeface="Courier New" pitchFamily="34" charset="-120"/>
              </a:rPr>
              <a:t>// 2. Update your projects (from repo root)</a:t>
            </a:r>
            <a:endParaRPr lang="en-US" sz="1400" dirty="0"/>
          </a:p>
          <a:p>
            <a:pPr indent="0" marL="0">
              <a:buNone/>
            </a:pPr>
            <a:r>
              <a:rPr lang="en-US" sz="1400" dirty="0">
                <a:solidFill>
                  <a:srgbClr val="E8E6F0"/>
                </a:solidFill>
                <a:latin typeface="Courier New" pitchFamily="34" charset="0"/>
                <a:ea typeface="Courier New" pitchFamily="34" charset="-122"/>
                <a:cs typeface="Courier New" pitchFamily="34" charset="-120"/>
              </a:rPr>
              <a:t>aspire</a:t>
            </a:r>
            <a:pPr indent="0" marL="0">
              <a:buNone/>
            </a:pPr>
            <a:r>
              <a:rPr lang="en-US" sz="1400" dirty="0">
                <a:solidFill>
                  <a:srgbClr val="E8E6F0"/>
                </a:solidFill>
                <a:latin typeface="Courier New" pitchFamily="34" charset="0"/>
                <a:ea typeface="Courier New" pitchFamily="34" charset="-122"/>
                <a:cs typeface="Courier New" pitchFamily="34" charset="-120"/>
              </a:rPr>
              <a:t> </a:t>
            </a:r>
            <a:pPr indent="0" marL="0">
              <a:buNone/>
            </a:pPr>
            <a:r>
              <a:rPr lang="en-US" sz="1400" dirty="0">
                <a:solidFill>
                  <a:srgbClr val="E8E6F0"/>
                </a:solidFill>
                <a:latin typeface="Courier New" pitchFamily="34" charset="0"/>
                <a:ea typeface="Courier New" pitchFamily="34" charset="-122"/>
                <a:cs typeface="Courier New" pitchFamily="34" charset="-120"/>
              </a:rPr>
              <a:t>update</a:t>
            </a:r>
            <a:endParaRPr lang="en-US" sz="1400" dirty="0"/>
          </a:p>
          <a:p>
            <a:pPr indent="0" marL="0">
              <a:buNone/>
            </a:pPr>
            <a:r>
              <a:rPr lang="en-US" sz="1400" dirty="0">
                <a:solidFill>
                  <a:srgbClr val="E8E6F0"/>
                </a:solidFill>
                <a:latin typeface="Courier New" pitchFamily="34" charset="0"/>
                <a:ea typeface="Courier New" pitchFamily="34" charset="-122"/>
                <a:cs typeface="Courier New" pitchFamily="34" charset="-120"/>
              </a:rPr>
              <a:t> </a:t>
            </a:r>
            <a:endParaRPr lang="en-US" sz="1400" dirty="0"/>
          </a:p>
          <a:p>
            <a:pPr indent="0" marL="0">
              <a:buNone/>
            </a:pPr>
            <a:r>
              <a:rPr lang="en-US" sz="1400" i="1" dirty="0">
                <a:solidFill>
                  <a:srgbClr val="8B87A3"/>
                </a:solidFill>
                <a:latin typeface="Courier New" pitchFamily="34" charset="0"/>
                <a:ea typeface="Courier New" pitchFamily="34" charset="-122"/>
                <a:cs typeface="Courier New" pitchFamily="34" charset="-120"/>
              </a:rPr>
              <a:t>// 3. Run the app + open the dashboard</a:t>
            </a:r>
            <a:endParaRPr lang="en-US" sz="1400" dirty="0"/>
          </a:p>
          <a:p>
            <a:pPr indent="0" marL="0">
              <a:buNone/>
            </a:pPr>
            <a:r>
              <a:rPr lang="en-US" sz="1400" dirty="0">
                <a:solidFill>
                  <a:srgbClr val="E8E6F0"/>
                </a:solidFill>
                <a:latin typeface="Courier New" pitchFamily="34" charset="0"/>
                <a:ea typeface="Courier New" pitchFamily="34" charset="-122"/>
                <a:cs typeface="Courier New" pitchFamily="34" charset="-120"/>
              </a:rPr>
              <a:t>aspire</a:t>
            </a:r>
            <a:pPr indent="0" marL="0">
              <a:buNone/>
            </a:pPr>
            <a:r>
              <a:rPr lang="en-US" sz="1400" dirty="0">
                <a:solidFill>
                  <a:srgbClr val="E8E6F0"/>
                </a:solidFill>
                <a:latin typeface="Courier New" pitchFamily="34" charset="0"/>
                <a:ea typeface="Courier New" pitchFamily="34" charset="-122"/>
                <a:cs typeface="Courier New" pitchFamily="34" charset="-120"/>
              </a:rPr>
              <a:t> </a:t>
            </a:r>
            <a:pPr indent="0" marL="0">
              <a:buNone/>
            </a:pPr>
            <a:r>
              <a:rPr lang="en-US" sz="1400" dirty="0">
                <a:solidFill>
                  <a:srgbClr val="E8E6F0"/>
                </a:solidFill>
                <a:latin typeface="Courier New" pitchFamily="34" charset="0"/>
                <a:ea typeface="Courier New" pitchFamily="34" charset="-122"/>
                <a:cs typeface="Courier New" pitchFamily="34" charset="-120"/>
              </a:rPr>
              <a:t>run</a:t>
            </a:r>
            <a:endParaRPr lang="en-US" sz="1400" dirty="0"/>
          </a:p>
        </p:txBody>
      </p:sp>
      <p:pic>
        <p:nvPicPr>
          <p:cNvPr id="6" name="Watch icon 0" descr="preencoded.png">    </p:cNvPr>
          <p:cNvPicPr>
            <a:picLocks noChangeAspect="1"/>
          </p:cNvPicPr>
          <p:nvPr/>
        </p:nvPicPr>
        <p:blipFill>
          <a:blip r:embed="rId1"/>
          <a:stretch>
            <a:fillRect/>
          </a:stretch>
        </p:blipFill>
        <p:spPr>
          <a:xfrm>
            <a:off x="6035040" y="1371600"/>
            <a:ext cx="411480" cy="411480"/>
          </a:xfrm>
          <a:prstGeom prst="rect">
            <a:avLst/>
          </a:prstGeom>
        </p:spPr>
      </p:pic>
      <p:sp>
        <p:nvSpPr>
          <p:cNvPr id="7" name="Watch title 0"/>
          <p:cNvSpPr txBox="1"/>
          <p:nvPr/>
        </p:nvSpPr>
        <p:spPr>
          <a:xfrm>
            <a:off x="6629400" y="1325880"/>
            <a:ext cx="4983480" cy="365760"/>
          </a:xfrm>
          <a:prstGeom prst="rect">
            <a:avLst/>
          </a:prstGeom>
          <a:noFill/>
          <a:ln/>
        </p:spPr>
        <p:txBody>
          <a:bodyPr wrap="square" lIns="0" tIns="0" rIns="0" bIns="0" rtlCol="0" anchor="ctr"/>
          <a:lstStyle/>
          <a:p>
            <a:pPr indent="0" marL="0">
              <a:buNone/>
            </a:pPr>
            <a:r>
              <a:rPr lang="en-US" sz="1600" b="1" dirty="0">
                <a:solidFill>
                  <a:schemeClr val="tx2"/>
                </a:solidFill>
              </a:rPr>
              <a:t>Don't mix 13.4 and 13.5 packages</a:t>
            </a:r>
            <a:endParaRPr lang="en-US" sz="1600" dirty="0"/>
          </a:p>
        </p:txBody>
      </p:sp>
      <p:sp>
        <p:nvSpPr>
          <p:cNvPr id="8" name="Watch body 0"/>
          <p:cNvSpPr txBox="1"/>
          <p:nvPr/>
        </p:nvSpPr>
        <p:spPr>
          <a:xfrm>
            <a:off x="6629400" y="1709928"/>
            <a:ext cx="4983480" cy="685800"/>
          </a:xfrm>
          <a:prstGeom prst="rect">
            <a:avLst/>
          </a:prstGeom>
          <a:noFill/>
          <a:ln/>
        </p:spPr>
        <p:txBody>
          <a:bodyPr wrap="square" lIns="0" tIns="0" rIns="0" bIns="0" rtlCol="0" anchor="t"/>
          <a:lstStyle/>
          <a:p>
            <a:pPr indent="0" marL="0">
              <a:buNone/>
            </a:pPr>
            <a:r>
              <a:rPr lang="en-US" sz="1400" dirty="0">
                <a:solidFill>
                  <a:schemeClr val="tx1"/>
                </a:solidFill>
              </a:rPr>
              <a:t>Mixed versions can fail at startup. Upgrade SDK and all Aspire.Hosting.* packages together.</a:t>
            </a:r>
            <a:endParaRPr lang="en-US" sz="1400" dirty="0"/>
          </a:p>
        </p:txBody>
      </p:sp>
      <p:pic>
        <p:nvPicPr>
          <p:cNvPr id="9" name="Watch icon 1" descr="preencoded.png">    </p:cNvPr>
          <p:cNvPicPr>
            <a:picLocks noChangeAspect="1"/>
          </p:cNvPicPr>
          <p:nvPr/>
        </p:nvPicPr>
        <p:blipFill>
          <a:blip r:embed="rId2"/>
          <a:stretch>
            <a:fillRect/>
          </a:stretch>
        </p:blipFill>
        <p:spPr>
          <a:xfrm>
            <a:off x="6035040" y="2587752"/>
            <a:ext cx="411480" cy="411480"/>
          </a:xfrm>
          <a:prstGeom prst="rect">
            <a:avLst/>
          </a:prstGeom>
        </p:spPr>
      </p:pic>
      <p:sp>
        <p:nvSpPr>
          <p:cNvPr id="10" name="Watch title 1"/>
          <p:cNvSpPr txBox="1"/>
          <p:nvPr/>
        </p:nvSpPr>
        <p:spPr>
          <a:xfrm>
            <a:off x="6629400" y="2542032"/>
            <a:ext cx="4983480" cy="365760"/>
          </a:xfrm>
          <a:prstGeom prst="rect">
            <a:avLst/>
          </a:prstGeom>
          <a:noFill/>
          <a:ln/>
        </p:spPr>
        <p:txBody>
          <a:bodyPr wrap="square" lIns="0" tIns="0" rIns="0" bIns="0" rtlCol="0" anchor="ctr"/>
          <a:lstStyle/>
          <a:p>
            <a:pPr indent="0" marL="0">
              <a:buNone/>
            </a:pPr>
            <a:r>
              <a:rPr lang="en-US" sz="1600" b="1" dirty="0">
                <a:solidFill>
                  <a:schemeClr val="tx2"/>
                </a:solidFill>
              </a:rPr>
              <a:t>Dashboard AI Assistant removed</a:t>
            </a:r>
            <a:endParaRPr lang="en-US" sz="1600" dirty="0"/>
          </a:p>
        </p:txBody>
      </p:sp>
      <p:sp>
        <p:nvSpPr>
          <p:cNvPr id="11" name="Watch body 1"/>
          <p:cNvSpPr txBox="1"/>
          <p:nvPr/>
        </p:nvSpPr>
        <p:spPr>
          <a:xfrm>
            <a:off x="6629400" y="2926080"/>
            <a:ext cx="4983480" cy="685800"/>
          </a:xfrm>
          <a:prstGeom prst="rect">
            <a:avLst/>
          </a:prstGeom>
          <a:noFill/>
          <a:ln/>
        </p:spPr>
        <p:txBody>
          <a:bodyPr wrap="square" lIns="0" tIns="0" rIns="0" bIns="0" rtlCol="0" anchor="t"/>
          <a:lstStyle/>
          <a:p>
            <a:pPr indent="0" marL="0">
              <a:buNone/>
            </a:pPr>
            <a:r>
              <a:rPr lang="en-US" sz="1400" dirty="0">
                <a:solidFill>
                  <a:schemeClr val="tx1"/>
                </a:solidFill>
              </a:rPr>
              <a:t>Built-in chat gone. Use Aspire MCP server to connect AI agents.</a:t>
            </a:r>
            <a:endParaRPr lang="en-US" sz="1400" dirty="0"/>
          </a:p>
        </p:txBody>
      </p:sp>
      <p:pic>
        <p:nvPicPr>
          <p:cNvPr id="12" name="Watch icon 2" descr="preencoded.png">    </p:cNvPr>
          <p:cNvPicPr>
            <a:picLocks noChangeAspect="1"/>
          </p:cNvPicPr>
          <p:nvPr/>
        </p:nvPicPr>
        <p:blipFill>
          <a:blip r:embed="rId3"/>
          <a:stretch>
            <a:fillRect/>
          </a:stretch>
        </p:blipFill>
        <p:spPr>
          <a:xfrm>
            <a:off x="6035040" y="3803904"/>
            <a:ext cx="411480" cy="411480"/>
          </a:xfrm>
          <a:prstGeom prst="rect">
            <a:avLst/>
          </a:prstGeom>
        </p:spPr>
      </p:pic>
      <p:sp>
        <p:nvSpPr>
          <p:cNvPr id="13" name="Watch title 2"/>
          <p:cNvSpPr txBox="1"/>
          <p:nvPr/>
        </p:nvSpPr>
        <p:spPr>
          <a:xfrm>
            <a:off x="6629400" y="3758184"/>
            <a:ext cx="4983480" cy="365760"/>
          </a:xfrm>
          <a:prstGeom prst="rect">
            <a:avLst/>
          </a:prstGeom>
          <a:noFill/>
          <a:ln/>
        </p:spPr>
        <p:txBody>
          <a:bodyPr wrap="square" lIns="0" tIns="0" rIns="0" bIns="0" rtlCol="0" anchor="ctr"/>
          <a:lstStyle/>
          <a:p>
            <a:pPr indent="0" marL="0">
              <a:buNone/>
            </a:pPr>
            <a:r>
              <a:rPr lang="en-US" sz="1600" b="1" dirty="0">
                <a:solidFill>
                  <a:schemeClr val="tx2"/>
                </a:solidFill>
              </a:rPr>
              <a:t>VS Code no longer auto-opens dashboard</a:t>
            </a:r>
            <a:endParaRPr lang="en-US" sz="1600" dirty="0"/>
          </a:p>
        </p:txBody>
      </p:sp>
      <p:sp>
        <p:nvSpPr>
          <p:cNvPr id="14" name="Watch body 2"/>
          <p:cNvSpPr txBox="1"/>
          <p:nvPr/>
        </p:nvSpPr>
        <p:spPr>
          <a:xfrm>
            <a:off x="6629400" y="4142232"/>
            <a:ext cx="4983480" cy="685800"/>
          </a:xfrm>
          <a:prstGeom prst="rect">
            <a:avLst/>
          </a:prstGeom>
          <a:noFill/>
          <a:ln/>
        </p:spPr>
        <p:txBody>
          <a:bodyPr wrap="square" lIns="0" tIns="0" rIns="0" bIns="0" rtlCol="0" anchor="t"/>
          <a:lstStyle/>
          <a:p>
            <a:pPr indent="0" marL="0">
              <a:buNone/>
            </a:pPr>
            <a:r>
              <a:rPr lang="en-US" sz="1400" dirty="0">
                <a:solidFill>
                  <a:schemeClr val="tx1"/>
                </a:solidFill>
              </a:rPr>
              <a:t>Opt in: Aspire: Dashboard Browser setting, or dashboardBrowser in launch.json.</a:t>
            </a:r>
            <a:endParaRPr lang="en-US" sz="1400" dirty="0"/>
          </a:p>
        </p:txBody>
      </p:sp>
      <p:pic>
        <p:nvPicPr>
          <p:cNvPr id="15" name="Watch icon 3" descr="preencoded.png">    </p:cNvPr>
          <p:cNvPicPr>
            <a:picLocks noChangeAspect="1"/>
          </p:cNvPicPr>
          <p:nvPr/>
        </p:nvPicPr>
        <p:blipFill>
          <a:blip r:embed="rId4"/>
          <a:stretch>
            <a:fillRect/>
          </a:stretch>
        </p:blipFill>
        <p:spPr>
          <a:xfrm>
            <a:off x="6035040" y="5020056"/>
            <a:ext cx="411480" cy="411480"/>
          </a:xfrm>
          <a:prstGeom prst="rect">
            <a:avLst/>
          </a:prstGeom>
        </p:spPr>
      </p:pic>
      <p:sp>
        <p:nvSpPr>
          <p:cNvPr id="16" name="Watch title 3"/>
          <p:cNvSpPr txBox="1"/>
          <p:nvPr/>
        </p:nvSpPr>
        <p:spPr>
          <a:xfrm>
            <a:off x="6629400" y="4974336"/>
            <a:ext cx="4983480" cy="365760"/>
          </a:xfrm>
          <a:prstGeom prst="rect">
            <a:avLst/>
          </a:prstGeom>
          <a:noFill/>
          <a:ln/>
        </p:spPr>
        <p:txBody>
          <a:bodyPr wrap="square" lIns="0" tIns="0" rIns="0" bIns="0" rtlCol="0" anchor="ctr"/>
          <a:lstStyle/>
          <a:p>
            <a:pPr indent="0" marL="0">
              <a:buNone/>
            </a:pPr>
            <a:r>
              <a:rPr lang="en-US" sz="1600" b="1" dirty="0">
                <a:solidFill>
                  <a:schemeClr val="tx2"/>
                </a:solidFill>
              </a:rPr>
              <a:t>ServiceProvider is now Services</a:t>
            </a:r>
            <a:endParaRPr lang="en-US" sz="1600" dirty="0"/>
          </a:p>
        </p:txBody>
      </p:sp>
      <p:sp>
        <p:nvSpPr>
          <p:cNvPr id="17" name="Watch body 3"/>
          <p:cNvSpPr txBox="1"/>
          <p:nvPr/>
        </p:nvSpPr>
        <p:spPr>
          <a:xfrm>
            <a:off x="6629400" y="5358384"/>
            <a:ext cx="4983480" cy="685800"/>
          </a:xfrm>
          <a:prstGeom prst="rect">
            <a:avLst/>
          </a:prstGeom>
          <a:noFill/>
          <a:ln/>
        </p:spPr>
        <p:txBody>
          <a:bodyPr wrap="square" lIns="0" tIns="0" rIns="0" bIns="0" rtlCol="0" anchor="t"/>
          <a:lstStyle/>
          <a:p>
            <a:pPr indent="0" marL="0">
              <a:buNone/>
            </a:pPr>
            <a:r>
              <a:rPr lang="en-US" sz="1400" dirty="0">
                <a:solidFill>
                  <a:schemeClr val="tx1"/>
                </a:solidFill>
              </a:rPr>
              <a:t>Rename property on hosting context types in AppHost code.</a:t>
            </a:r>
            <a:endParaRPr lang="en-US" sz="1400" dirty="0"/>
          </a:p>
        </p:txBody>
      </p:sp>
      <p:sp>
        <p:nvSpPr>
          <p:cNvPr id="18" name="Next release panel"/>
          <p:cNvSpPr/>
          <p:nvPr/>
        </p:nvSpPr>
        <p:spPr>
          <a:xfrm>
            <a:off x="548640" y="4892040"/>
            <a:ext cx="5120640" cy="1280160"/>
          </a:xfrm>
          <a:prstGeom prst="roundRect">
            <a:avLst>
              <a:gd name="adj" fmla="val 7143"/>
            </a:avLst>
          </a:prstGeom>
          <a:solidFill>
            <a:schemeClr val="bg2"/>
          </a:solidFill>
          <a:ln w="12700">
            <a:solidFill>
              <a:schemeClr val="bg2"/>
            </a:solidFill>
            <a:prstDash val="solid"/>
          </a:ln>
        </p:spPr>
        <p:txBody>
          <a:bodyPr/>
          <a:p/>
        </p:txBody>
      </p:sp>
      <p:sp>
        <p:nvSpPr>
          <p:cNvPr id="19" name="Next release text"/>
          <p:cNvSpPr txBox="1"/>
          <p:nvPr/>
        </p:nvSpPr>
        <p:spPr>
          <a:xfrm>
            <a:off x="777240" y="4983480"/>
            <a:ext cx="4663440" cy="1097280"/>
          </a:xfrm>
          <a:prstGeom prst="rect">
            <a:avLst/>
          </a:prstGeom>
          <a:noFill/>
          <a:ln/>
        </p:spPr>
        <p:txBody>
          <a:bodyPr wrap="square" lIns="0" tIns="0" rIns="0" bIns="0" rtlCol="0" anchor="ctr"/>
          <a:lstStyle/>
          <a:p>
            <a:pPr indent="0" marL="0">
              <a:buNone/>
            </a:pPr>
            <a:r>
              <a:rPr lang="en-US" sz="1400" b="1" dirty="0">
                <a:solidFill>
                  <a:schemeClr val="tx2"/>
                </a:solidFill>
              </a:rPr>
              <a:t>13.6 is out</a:t>
            </a:r>
            <a:endParaRPr lang="en-US" sz="1400" dirty="0"/>
          </a:p>
          <a:p>
            <a:pPr indent="0" marL="0">
              <a:buNone/>
            </a:pPr>
            <a:r>
              <a:rPr lang="en-US" sz="1400" dirty="0">
                <a:solidFill>
                  <a:schemeClr val="tx1"/>
                </a:solidFill>
              </a:rPr>
              <a:t>Released Sept 29, 2026. Dashboard now keeps telemetry from past runs.</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Languages and runtimes</a:t>
            </a:r>
            <a:endParaRPr lang="en-US" sz="3400" dirty="0"/>
          </a:p>
        </p:txBody>
      </p:sp>
      <p:sp>
        <p:nvSpPr>
          <p:cNvPr id="3" name="Langs intro"/>
          <p:cNvSpPr txBox="1"/>
          <p:nvPr/>
        </p:nvSpPr>
        <p:spPr>
          <a:xfrm>
            <a:off x="548640" y="1188720"/>
            <a:ext cx="11064240" cy="640080"/>
          </a:xfrm>
          <a:prstGeom prst="rect">
            <a:avLst/>
          </a:prstGeom>
          <a:noFill/>
          <a:ln/>
        </p:spPr>
        <p:txBody>
          <a:bodyPr wrap="square" lIns="0" tIns="0" rIns="0" bIns="0" rtlCol="0" anchor="ctr"/>
          <a:lstStyle/>
          <a:p>
            <a:pPr indent="0" marL="0">
              <a:buNone/>
            </a:pPr>
            <a:r>
              <a:rPr lang="en-US" sz="1600" dirty="0">
                <a:solidFill>
                  <a:schemeClr val="tx1"/>
                </a:solidFill>
              </a:rPr>
              <a:t>Two choices: AppHost language (wires app) and service languages. They don't need to match.</a:t>
            </a:r>
            <a:endParaRPr lang="en-US" sz="1600" dirty="0"/>
          </a:p>
        </p:txBody>
      </p:sp>
      <p:sp>
        <p:nvSpPr>
          <p:cNvPr id="4" name="Lang card 0"/>
          <p:cNvSpPr/>
          <p:nvPr/>
        </p:nvSpPr>
        <p:spPr>
          <a:xfrm>
            <a:off x="548640" y="2011680"/>
            <a:ext cx="3520440" cy="2834640"/>
          </a:xfrm>
          <a:prstGeom prst="roundRect">
            <a:avLst>
              <a:gd name="adj" fmla="val 3226"/>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txBody>
          <a:bodyPr/>
          <a:p/>
        </p:txBody>
      </p:sp>
      <p:sp>
        <p:nvSpPr>
          <p:cNvPr id="5" name="Lang title 0"/>
          <p:cNvSpPr txBox="1"/>
          <p:nvPr/>
        </p:nvSpPr>
        <p:spPr>
          <a:xfrm>
            <a:off x="822960" y="2240280"/>
            <a:ext cx="1783080" cy="685800"/>
          </a:xfrm>
          <a:prstGeom prst="rect">
            <a:avLst/>
          </a:prstGeom>
          <a:noFill/>
          <a:ln/>
        </p:spPr>
        <p:txBody>
          <a:bodyPr wrap="square" lIns="0" tIns="0" rIns="0" bIns="0" rtlCol="0" anchor="t"/>
          <a:lstStyle/>
          <a:p>
            <a:pPr indent="0" marL="0">
              <a:buNone/>
            </a:pPr>
            <a:r>
              <a:rPr lang="en-US" sz="1700" b="1" dirty="0">
                <a:solidFill>
                  <a:schemeClr val="tx2"/>
                </a:solidFill>
              </a:rPr>
              <a:t>AppHost languages</a:t>
            </a:r>
            <a:endParaRPr lang="en-US" sz="1700" dirty="0"/>
          </a:p>
        </p:txBody>
      </p:sp>
      <p:sp>
        <p:nvSpPr>
          <p:cNvPr id="6" name="Lang 0 pill"/>
          <p:cNvSpPr/>
          <p:nvPr/>
        </p:nvSpPr>
        <p:spPr>
          <a:xfrm>
            <a:off x="2651760" y="2286000"/>
            <a:ext cx="1143000" cy="274320"/>
          </a:xfrm>
          <a:prstGeom prst="roundRect">
            <a:avLst>
              <a:gd name="adj" fmla="val 50000"/>
            </a:avLst>
          </a:prstGeom>
          <a:solidFill>
            <a:srgbClr val="6B3FE0"/>
          </a:solidFill>
          <a:ln w="12700">
            <a:solidFill>
              <a:srgbClr val="6B3FE0"/>
            </a:solidFill>
            <a:prstDash val="solid"/>
          </a:ln>
        </p:spPr>
        <p:txBody>
          <a:bodyPr/>
          <a:p/>
        </p:txBody>
      </p:sp>
      <p:sp>
        <p:nvSpPr>
          <p:cNvPr id="7" name="Lang 0 pill text"/>
          <p:cNvSpPr txBox="1"/>
          <p:nvPr/>
        </p:nvSpPr>
        <p:spPr>
          <a:xfrm>
            <a:off x="2651760" y="2286000"/>
            <a:ext cx="1143000" cy="274320"/>
          </a:xfrm>
          <a:prstGeom prst="rect">
            <a:avLst/>
          </a:prstGeom>
          <a:noFill/>
          <a:ln/>
        </p:spPr>
        <p:txBody>
          <a:bodyPr wrap="square" lIns="0" tIns="0" rIns="0" bIns="0" rtlCol="0" anchor="ctr"/>
          <a:lstStyle/>
          <a:p>
            <a:pPr algn="ctr" indent="0" marL="0">
              <a:buNone/>
            </a:pPr>
            <a:r>
              <a:rPr lang="en-US" sz="1000" b="1" dirty="0">
                <a:solidFill>
                  <a:schemeClr val="bg1"/>
                </a:solidFill>
              </a:rPr>
              <a:t>Official</a:t>
            </a:r>
            <a:endParaRPr lang="en-US" sz="1000" dirty="0"/>
          </a:p>
        </p:txBody>
      </p:sp>
      <p:sp>
        <p:nvSpPr>
          <p:cNvPr id="8" name="Lang list 0"/>
          <p:cNvSpPr txBox="1"/>
          <p:nvPr/>
        </p:nvSpPr>
        <p:spPr>
          <a:xfrm>
            <a:off x="822960" y="3017520"/>
            <a:ext cx="2971800" cy="16916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C#</a:t>
            </a:r>
            <a:endParaRPr lang="en-US" sz="1600" dirty="0"/>
          </a:p>
          <a:p>
            <a:pPr marL="342900" indent="-342900">
              <a:spcAft>
                <a:spcPts val="600"/>
              </a:spcAft>
              <a:buSzPct val="100000"/>
              <a:buChar char="•"/>
            </a:pPr>
            <a:r>
              <a:rPr lang="en-US" sz="1600" dirty="0">
                <a:solidFill>
                  <a:schemeClr val="tx1"/>
                </a:solidFill>
              </a:rPr>
              <a:t>TypeScript</a:t>
            </a:r>
            <a:endParaRPr lang="en-US" sz="1600" dirty="0"/>
          </a:p>
        </p:txBody>
      </p:sp>
      <p:sp>
        <p:nvSpPr>
          <p:cNvPr id="9" name="Lang card 1"/>
          <p:cNvSpPr/>
          <p:nvPr/>
        </p:nvSpPr>
        <p:spPr>
          <a:xfrm>
            <a:off x="4320540" y="2011680"/>
            <a:ext cx="3520440" cy="2834640"/>
          </a:xfrm>
          <a:prstGeom prst="roundRect">
            <a:avLst>
              <a:gd name="adj" fmla="val 3226"/>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txBody>
          <a:bodyPr/>
          <a:p/>
        </p:txBody>
      </p:sp>
      <p:sp>
        <p:nvSpPr>
          <p:cNvPr id="10" name="Lang title 1"/>
          <p:cNvSpPr txBox="1"/>
          <p:nvPr/>
        </p:nvSpPr>
        <p:spPr>
          <a:xfrm>
            <a:off x="4594860" y="2240280"/>
            <a:ext cx="1783080" cy="685800"/>
          </a:xfrm>
          <a:prstGeom prst="rect">
            <a:avLst/>
          </a:prstGeom>
          <a:noFill/>
          <a:ln/>
        </p:spPr>
        <p:txBody>
          <a:bodyPr wrap="square" lIns="0" tIns="0" rIns="0" bIns="0" rtlCol="0" anchor="t"/>
          <a:lstStyle/>
          <a:p>
            <a:pPr indent="0" marL="0">
              <a:buNone/>
            </a:pPr>
            <a:r>
              <a:rPr lang="en-US" sz="1700" b="1" dirty="0">
                <a:solidFill>
                  <a:schemeClr val="tx2"/>
                </a:solidFill>
              </a:rPr>
              <a:t>App languages: official</a:t>
            </a:r>
            <a:endParaRPr lang="en-US" sz="1700" dirty="0"/>
          </a:p>
        </p:txBody>
      </p:sp>
      <p:sp>
        <p:nvSpPr>
          <p:cNvPr id="11" name="Lang 1 pill"/>
          <p:cNvSpPr/>
          <p:nvPr/>
        </p:nvSpPr>
        <p:spPr>
          <a:xfrm>
            <a:off x="6423660" y="2286000"/>
            <a:ext cx="1143000" cy="274320"/>
          </a:xfrm>
          <a:prstGeom prst="roundRect">
            <a:avLst>
              <a:gd name="adj" fmla="val 50000"/>
            </a:avLst>
          </a:prstGeom>
          <a:solidFill>
            <a:srgbClr val="6B3FE0"/>
          </a:solidFill>
          <a:ln w="12700">
            <a:solidFill>
              <a:srgbClr val="6B3FE0"/>
            </a:solidFill>
            <a:prstDash val="solid"/>
          </a:ln>
        </p:spPr>
        <p:txBody>
          <a:bodyPr/>
          <a:p/>
        </p:txBody>
      </p:sp>
      <p:sp>
        <p:nvSpPr>
          <p:cNvPr id="12" name="Lang 1 pill text"/>
          <p:cNvSpPr txBox="1"/>
          <p:nvPr/>
        </p:nvSpPr>
        <p:spPr>
          <a:xfrm>
            <a:off x="6423660" y="2286000"/>
            <a:ext cx="1143000" cy="274320"/>
          </a:xfrm>
          <a:prstGeom prst="rect">
            <a:avLst/>
          </a:prstGeom>
          <a:noFill/>
          <a:ln/>
        </p:spPr>
        <p:txBody>
          <a:bodyPr wrap="square" lIns="0" tIns="0" rIns="0" bIns="0" rtlCol="0" anchor="ctr"/>
          <a:lstStyle/>
          <a:p>
            <a:pPr algn="ctr" indent="0" marL="0">
              <a:buNone/>
            </a:pPr>
            <a:r>
              <a:rPr lang="en-US" sz="1000" b="1" dirty="0">
                <a:solidFill>
                  <a:schemeClr val="bg1"/>
                </a:solidFill>
              </a:rPr>
              <a:t>Official</a:t>
            </a:r>
            <a:endParaRPr lang="en-US" sz="1000" dirty="0"/>
          </a:p>
        </p:txBody>
      </p:sp>
      <p:sp>
        <p:nvSpPr>
          <p:cNvPr id="13" name="Lang list 1"/>
          <p:cNvSpPr txBox="1"/>
          <p:nvPr/>
        </p:nvSpPr>
        <p:spPr>
          <a:xfrm>
            <a:off x="4594860" y="3017520"/>
            <a:ext cx="2971800" cy="16916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C# and .NET</a:t>
            </a:r>
            <a:endParaRPr lang="en-US" sz="1600" dirty="0"/>
          </a:p>
          <a:p>
            <a:pPr marL="342900" indent="-342900">
              <a:spcAft>
                <a:spcPts val="600"/>
              </a:spcAft>
              <a:buSzPct val="100000"/>
              <a:buChar char="•"/>
            </a:pPr>
            <a:r>
              <a:rPr lang="en-US" sz="1600" dirty="0">
                <a:solidFill>
                  <a:schemeClr val="tx1"/>
                </a:solidFill>
              </a:rPr>
              <a:t>JavaScript and Node.js</a:t>
            </a:r>
            <a:endParaRPr lang="en-US" sz="1600" dirty="0"/>
          </a:p>
          <a:p>
            <a:pPr marL="342900" indent="-342900">
              <a:spcAft>
                <a:spcPts val="600"/>
              </a:spcAft>
              <a:buSzPct val="100000"/>
              <a:buChar char="•"/>
            </a:pPr>
            <a:r>
              <a:rPr lang="en-US" sz="1600" dirty="0">
                <a:solidFill>
                  <a:schemeClr val="tx1"/>
                </a:solidFill>
              </a:rPr>
              <a:t>Python</a:t>
            </a:r>
            <a:endParaRPr lang="en-US" sz="1600" dirty="0"/>
          </a:p>
          <a:p>
            <a:pPr marL="342900" indent="-342900">
              <a:spcAft>
                <a:spcPts val="600"/>
              </a:spcAft>
              <a:buSzPct val="100000"/>
              <a:buChar char="•"/>
            </a:pPr>
            <a:r>
              <a:rPr lang="en-US" sz="1600" dirty="0">
                <a:solidFill>
                  <a:schemeClr val="tx1"/>
                </a:solidFill>
              </a:rPr>
              <a:t>Go</a:t>
            </a:r>
            <a:endParaRPr lang="en-US" sz="1600" dirty="0"/>
          </a:p>
        </p:txBody>
      </p:sp>
      <p:sp>
        <p:nvSpPr>
          <p:cNvPr id="14" name="Lang card 2"/>
          <p:cNvSpPr/>
          <p:nvPr/>
        </p:nvSpPr>
        <p:spPr>
          <a:xfrm>
            <a:off x="8092440" y="2011680"/>
            <a:ext cx="3520440" cy="2834640"/>
          </a:xfrm>
          <a:prstGeom prst="roundRect">
            <a:avLst>
              <a:gd name="adj" fmla="val 3226"/>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txBody>
          <a:bodyPr/>
          <a:p/>
        </p:txBody>
      </p:sp>
      <p:sp>
        <p:nvSpPr>
          <p:cNvPr id="15" name="Lang title 2"/>
          <p:cNvSpPr txBox="1"/>
          <p:nvPr/>
        </p:nvSpPr>
        <p:spPr>
          <a:xfrm>
            <a:off x="8366760" y="2240280"/>
            <a:ext cx="1783080" cy="685800"/>
          </a:xfrm>
          <a:prstGeom prst="rect">
            <a:avLst/>
          </a:prstGeom>
          <a:noFill/>
          <a:ln/>
        </p:spPr>
        <p:txBody>
          <a:bodyPr wrap="square" lIns="0" tIns="0" rIns="0" bIns="0" rtlCol="0" anchor="t"/>
          <a:lstStyle/>
          <a:p>
            <a:pPr indent="0" marL="0">
              <a:buNone/>
            </a:pPr>
            <a:r>
              <a:rPr lang="en-US" sz="1700" b="1" dirty="0">
                <a:solidFill>
                  <a:schemeClr val="tx2"/>
                </a:solidFill>
              </a:rPr>
              <a:t>App languages: community</a:t>
            </a:r>
            <a:endParaRPr lang="en-US" sz="1700" dirty="0"/>
          </a:p>
        </p:txBody>
      </p:sp>
      <p:sp>
        <p:nvSpPr>
          <p:cNvPr id="16" name="Lang 2 pill"/>
          <p:cNvSpPr/>
          <p:nvPr/>
        </p:nvSpPr>
        <p:spPr>
          <a:xfrm>
            <a:off x="10195560" y="2286000"/>
            <a:ext cx="1143000" cy="274320"/>
          </a:xfrm>
          <a:prstGeom prst="roundRect">
            <a:avLst>
              <a:gd name="adj" fmla="val 50000"/>
            </a:avLst>
          </a:prstGeom>
          <a:solidFill>
            <a:srgbClr val="0E9F8E"/>
          </a:solidFill>
          <a:ln w="12700">
            <a:solidFill>
              <a:srgbClr val="0E9F8E"/>
            </a:solidFill>
            <a:prstDash val="solid"/>
          </a:ln>
        </p:spPr>
        <p:txBody>
          <a:bodyPr/>
          <a:p/>
        </p:txBody>
      </p:sp>
      <p:sp>
        <p:nvSpPr>
          <p:cNvPr id="17" name="Lang 2 pill text"/>
          <p:cNvSpPr txBox="1"/>
          <p:nvPr/>
        </p:nvSpPr>
        <p:spPr>
          <a:xfrm>
            <a:off x="10195560" y="2286000"/>
            <a:ext cx="1143000" cy="274320"/>
          </a:xfrm>
          <a:prstGeom prst="rect">
            <a:avLst/>
          </a:prstGeom>
          <a:noFill/>
          <a:ln/>
        </p:spPr>
        <p:txBody>
          <a:bodyPr wrap="square" lIns="0" tIns="0" rIns="0" bIns="0" rtlCol="0" anchor="ctr"/>
          <a:lstStyle/>
          <a:p>
            <a:pPr algn="ctr" indent="0" marL="0">
              <a:buNone/>
            </a:pPr>
            <a:r>
              <a:rPr lang="en-US" sz="1000" b="1" dirty="0">
                <a:solidFill>
                  <a:schemeClr val="bg1"/>
                </a:solidFill>
              </a:rPr>
              <a:t>Toolkit</a:t>
            </a:r>
            <a:endParaRPr lang="en-US" sz="1000" dirty="0"/>
          </a:p>
        </p:txBody>
      </p:sp>
      <p:sp>
        <p:nvSpPr>
          <p:cNvPr id="18" name="Lang list 2"/>
          <p:cNvSpPr txBox="1"/>
          <p:nvPr/>
        </p:nvSpPr>
        <p:spPr>
          <a:xfrm>
            <a:off x="8366760" y="3017520"/>
            <a:ext cx="2971800" cy="16916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Java</a:t>
            </a:r>
            <a:endParaRPr lang="en-US" sz="1600" dirty="0"/>
          </a:p>
          <a:p>
            <a:pPr marL="342900" indent="-342900">
              <a:spcAft>
                <a:spcPts val="600"/>
              </a:spcAft>
              <a:buSzPct val="100000"/>
              <a:buChar char="•"/>
            </a:pPr>
            <a:r>
              <a:rPr lang="en-US" sz="1600" dirty="0">
                <a:solidFill>
                  <a:schemeClr val="tx1"/>
                </a:solidFill>
              </a:rPr>
              <a:t>Rust</a:t>
            </a:r>
            <a:endParaRPr lang="en-US" sz="1600" dirty="0"/>
          </a:p>
          <a:p>
            <a:pPr marL="342900" indent="-342900">
              <a:spcAft>
                <a:spcPts val="600"/>
              </a:spcAft>
              <a:buSzPct val="100000"/>
              <a:buChar char="•"/>
            </a:pPr>
            <a:r>
              <a:rPr lang="en-US" sz="1600" dirty="0">
                <a:solidFill>
                  <a:schemeClr val="tx1"/>
                </a:solidFill>
              </a:rPr>
              <a:t>PowerShell</a:t>
            </a:r>
            <a:endParaRPr lang="en-US" sz="1600" dirty="0"/>
          </a:p>
        </p:txBody>
      </p:sp>
      <p:sp>
        <p:nvSpPr>
          <p:cNvPr id="19" name="Docs link panel"/>
          <p:cNvSpPr/>
          <p:nvPr/>
        </p:nvSpPr>
        <p:spPr>
          <a:xfrm>
            <a:off x="548640" y="5074920"/>
            <a:ext cx="11064240" cy="1097280"/>
          </a:xfrm>
          <a:prstGeom prst="roundRect">
            <a:avLst>
              <a:gd name="adj" fmla="val 8333"/>
            </a:avLst>
          </a:prstGeom>
          <a:solidFill>
            <a:schemeClr val="tx2"/>
          </a:solidFill>
          <a:ln w="12700">
            <a:solidFill>
              <a:schemeClr val="tx2"/>
            </a:solidFill>
            <a:prstDash val="solid"/>
          </a:ln>
        </p:spPr>
        <p:txBody>
          <a:bodyPr/>
          <a:p/>
        </p:txBody>
      </p:sp>
      <p:pic>
        <p:nvPicPr>
          <p:cNvPr id="20" name="Docs link icon" descr="preencoded.png">    </p:cNvPr>
          <p:cNvPicPr>
            <a:picLocks noChangeAspect="1"/>
          </p:cNvPicPr>
          <p:nvPr/>
        </p:nvPicPr>
        <p:blipFill>
          <a:blip r:embed="rId1"/>
          <a:stretch>
            <a:fillRect/>
          </a:stretch>
        </p:blipFill>
        <p:spPr>
          <a:xfrm>
            <a:off x="822960" y="5394960"/>
            <a:ext cx="457200" cy="457200"/>
          </a:xfrm>
          <a:prstGeom prst="rect">
            <a:avLst/>
          </a:prstGeom>
        </p:spPr>
      </p:pic>
      <p:sp>
        <p:nvSpPr>
          <p:cNvPr id="21" name="Docs link text"/>
          <p:cNvSpPr txBox="1"/>
          <p:nvPr/>
        </p:nvSpPr>
        <p:spPr>
          <a:xfrm>
            <a:off x="1463040" y="5120640"/>
            <a:ext cx="9966960" cy="1005840"/>
          </a:xfrm>
          <a:prstGeom prst="rect">
            <a:avLst/>
          </a:prstGeom>
          <a:noFill/>
          <a:ln/>
        </p:spPr>
        <p:txBody>
          <a:bodyPr wrap="square" lIns="0" tIns="0" rIns="0" bIns="0" rtlCol="0" anchor="ctr"/>
          <a:lstStyle/>
          <a:p>
            <a:pPr indent="0" marL="0">
              <a:buNone/>
            </a:pPr>
            <a:r>
              <a:rPr lang="en-US" sz="1600" b="1" dirty="0">
                <a:solidFill>
                  <a:schemeClr val="bg1"/>
                </a:solidFill>
              </a:rPr>
              <a:t>Aspire docs: Languages &amp; runtimes</a:t>
            </a:r>
            <a:endParaRPr lang="en-US" sz="1600" dirty="0"/>
          </a:p>
          <a:p>
            <a:pPr indent="0" marL="0">
              <a:buNone/>
            </a:pPr>
            <a:r>
              <a:rPr lang="en-US" sz="1600" u="sng" dirty="0">
                <a:solidFill>
                  <a:srgbClr val="D9CCFF"/>
                </a:solidFill>
                <a:hlinkClick r:id="rId2" invalidUrl="" action="" tgtFrame="" tooltip="Aspire languages and runtimes" history="1" highlightClick="0" endSnd="0">
                  <a:extLst>
                    <a:ext uri="{A12FA001-AC4F-418D-AE19-62706E023703}">
                      <ahyp:hlinkClr xmlns:ahyp="http://schemas.microsoft.com/office/drawing/2018/hyperlinkcolor" val="tx"/>
                    </a:ext>
                  </a:extLst>
                </a:hlinkClick>
              </a:rPr>
              <a:t>https://aspire.dev/languages-and-runtimes/</a:t>
            </a:r>
            <a:endParaRPr lang="en-US" sz="1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822960"/>
          </a:xfrm>
          <a:prstGeom prst="rect">
            <a:avLst/>
          </a:prstGeom>
          <a:noFill/>
          <a:ln/>
        </p:spPr>
        <p:txBody>
          <a:bodyPr wrap="square" lIns="0" tIns="0" rIns="0" bIns="0" rtlCol="0" anchor="ctr"/>
          <a:lstStyle/>
          <a:p>
            <a:pPr algn="l" indent="0" marL="0">
              <a:buNone/>
            </a:pPr>
            <a:r>
              <a:rPr lang="en-US" sz="3600" b="1" dirty="0">
                <a:solidFill>
                  <a:schemeClr val="bg1"/>
                </a:solidFill>
                <a:latin typeface="Cambria" pitchFamily="34" charset="0"/>
                <a:ea typeface="Cambria" pitchFamily="34" charset="-122"/>
                <a:cs typeface="Cambria" pitchFamily="34" charset="-120"/>
              </a:rPr>
              <a:t>Links and sources</a:t>
            </a:r>
            <a:endParaRPr lang="en-US" sz="3600" dirty="0"/>
          </a:p>
        </p:txBody>
      </p:sp>
      <p:sp>
        <p:nvSpPr>
          <p:cNvPr id="3" name="Link card 0"/>
          <p:cNvSpPr/>
          <p:nvPr/>
        </p:nvSpPr>
        <p:spPr>
          <a:xfrm>
            <a:off x="640080" y="1600200"/>
            <a:ext cx="5349240" cy="960120"/>
          </a:xfrm>
          <a:prstGeom prst="roundRect">
            <a:avLst>
              <a:gd name="adj" fmla="val 9524"/>
            </a:avLst>
          </a:prstGeom>
          <a:solidFill>
            <a:srgbClr val="3A2680"/>
          </a:solidFill>
          <a:ln w="12700">
            <a:solidFill>
              <a:srgbClr val="3A2680"/>
            </a:solidFill>
            <a:prstDash val="solid"/>
          </a:ln>
        </p:spPr>
        <p:txBody>
          <a:bodyPr/>
          <a:p/>
        </p:txBody>
      </p:sp>
      <p:pic>
        <p:nvPicPr>
          <p:cNvPr id="4" name="Link icon 0" descr="preencoded.png">    </p:cNvPr>
          <p:cNvPicPr>
            <a:picLocks noChangeAspect="1"/>
          </p:cNvPicPr>
          <p:nvPr/>
        </p:nvPicPr>
        <p:blipFill>
          <a:blip r:embed="rId1"/>
          <a:stretch>
            <a:fillRect/>
          </a:stretch>
        </p:blipFill>
        <p:spPr>
          <a:xfrm>
            <a:off x="868680" y="1874520"/>
            <a:ext cx="411480" cy="411480"/>
          </a:xfrm>
          <a:prstGeom prst="rect">
            <a:avLst/>
          </a:prstGeom>
        </p:spPr>
      </p:pic>
      <p:sp>
        <p:nvSpPr>
          <p:cNvPr id="5" name="Link text 0"/>
          <p:cNvSpPr txBox="1"/>
          <p:nvPr/>
        </p:nvSpPr>
        <p:spPr>
          <a:xfrm>
            <a:off x="1463040" y="1691640"/>
            <a:ext cx="4389120" cy="777240"/>
          </a:xfrm>
          <a:prstGeom prst="rect">
            <a:avLst/>
          </a:prstGeom>
          <a:noFill/>
          <a:ln/>
        </p:spPr>
        <p:txBody>
          <a:bodyPr wrap="square" lIns="0" tIns="0" rIns="0" bIns="0" rtlCol="0" anchor="ctr"/>
          <a:lstStyle/>
          <a:p>
            <a:pPr indent="0" marL="0">
              <a:buNone/>
            </a:pPr>
            <a:r>
              <a:rPr lang="en-US" sz="1500" b="1" dirty="0">
                <a:solidFill>
                  <a:schemeClr val="bg1"/>
                </a:solidFill>
              </a:rPr>
              <a:t>Video: Aspire 13.5 is here!</a:t>
            </a:r>
            <a:endParaRPr lang="en-US" sz="1500" dirty="0"/>
          </a:p>
          <a:p>
            <a:pPr indent="0" marL="0">
              <a:buNone/>
            </a:pPr>
            <a:r>
              <a:rPr lang="en-US" sz="1200" u="sng" dirty="0">
                <a:solidFill>
                  <a:srgbClr val="D9CCFF"/>
                </a:solidFill>
                <a:hlinkClick r:id="rId2" invalidUrl="" action="" tgtFrame="" tooltip="Video: Aspire 13.5 is here!" history="1" highlightClick="0" endSnd="0">
                  <a:extLst>
                    <a:ext uri="{A12FA001-AC4F-418D-AE19-62706E023703}">
                      <ahyp:hlinkClr xmlns:ahyp="http://schemas.microsoft.com/office/drawing/2018/hyperlinkcolor" val="tx"/>
                    </a:ext>
                  </a:extLst>
                </a:hlinkClick>
              </a:rPr>
              <a:t>https://youtu.be/pEbo-qKif1U</a:t>
            </a:r>
            <a:endParaRPr lang="en-US" sz="1500" dirty="0"/>
          </a:p>
        </p:txBody>
      </p:sp>
      <p:sp>
        <p:nvSpPr>
          <p:cNvPr id="6" name="Link card 1"/>
          <p:cNvSpPr/>
          <p:nvPr/>
        </p:nvSpPr>
        <p:spPr>
          <a:xfrm>
            <a:off x="6217920" y="1600200"/>
            <a:ext cx="5349240" cy="960120"/>
          </a:xfrm>
          <a:prstGeom prst="roundRect">
            <a:avLst>
              <a:gd name="adj" fmla="val 9524"/>
            </a:avLst>
          </a:prstGeom>
          <a:solidFill>
            <a:srgbClr val="3A2680"/>
          </a:solidFill>
          <a:ln w="12700">
            <a:solidFill>
              <a:srgbClr val="3A2680"/>
            </a:solidFill>
            <a:prstDash val="solid"/>
          </a:ln>
        </p:spPr>
        <p:txBody>
          <a:bodyPr/>
          <a:p/>
        </p:txBody>
      </p:sp>
      <p:pic>
        <p:nvPicPr>
          <p:cNvPr id="7" name="Link icon 1" descr="preencoded.png">    </p:cNvPr>
          <p:cNvPicPr>
            <a:picLocks noChangeAspect="1"/>
          </p:cNvPicPr>
          <p:nvPr/>
        </p:nvPicPr>
        <p:blipFill>
          <a:blip r:embed="rId3"/>
          <a:stretch>
            <a:fillRect/>
          </a:stretch>
        </p:blipFill>
        <p:spPr>
          <a:xfrm>
            <a:off x="6446520" y="1874520"/>
            <a:ext cx="411480" cy="411480"/>
          </a:xfrm>
          <a:prstGeom prst="rect">
            <a:avLst/>
          </a:prstGeom>
        </p:spPr>
      </p:pic>
      <p:sp>
        <p:nvSpPr>
          <p:cNvPr id="8" name="Link text 1"/>
          <p:cNvSpPr txBox="1"/>
          <p:nvPr/>
        </p:nvSpPr>
        <p:spPr>
          <a:xfrm>
            <a:off x="7040880" y="1691640"/>
            <a:ext cx="4389120" cy="777240"/>
          </a:xfrm>
          <a:prstGeom prst="rect">
            <a:avLst/>
          </a:prstGeom>
          <a:noFill/>
          <a:ln/>
        </p:spPr>
        <p:txBody>
          <a:bodyPr wrap="square" lIns="0" tIns="0" rIns="0" bIns="0" rtlCol="0" anchor="ctr"/>
          <a:lstStyle/>
          <a:p>
            <a:pPr indent="0" marL="0">
              <a:buNone/>
            </a:pPr>
            <a:r>
              <a:rPr lang="en-US" sz="1500" b="1" dirty="0">
                <a:solidFill>
                  <a:schemeClr val="bg1"/>
                </a:solidFill>
              </a:rPr>
              <a:t>What's new in Aspire 13.5</a:t>
            </a:r>
            <a:endParaRPr lang="en-US" sz="1500" dirty="0"/>
          </a:p>
          <a:p>
            <a:pPr indent="0" marL="0">
              <a:buNone/>
            </a:pPr>
            <a:r>
              <a:rPr lang="en-US" sz="1200" u="sng" dirty="0">
                <a:solidFill>
                  <a:srgbClr val="D9CCFF"/>
                </a:solidFill>
                <a:hlinkClick r:id="rId4" invalidUrl="" action="" tgtFrame="" tooltip="What's new in Aspire 13.5" history="1" highlightClick="0" endSnd="0">
                  <a:extLst>
                    <a:ext uri="{A12FA001-AC4F-418D-AE19-62706E023703}">
                      <ahyp:hlinkClr xmlns:ahyp="http://schemas.microsoft.com/office/drawing/2018/hyperlinkcolor" val="tx"/>
                    </a:ext>
                  </a:extLst>
                </a:hlinkClick>
              </a:rPr>
              <a:t>https://aspire.dev/whats-new/aspire-13-5/</a:t>
            </a:r>
            <a:endParaRPr lang="en-US" sz="1500" dirty="0"/>
          </a:p>
        </p:txBody>
      </p:sp>
      <p:sp>
        <p:nvSpPr>
          <p:cNvPr id="9" name="Link card 2"/>
          <p:cNvSpPr/>
          <p:nvPr/>
        </p:nvSpPr>
        <p:spPr>
          <a:xfrm>
            <a:off x="640080" y="2743200"/>
            <a:ext cx="5349240" cy="960120"/>
          </a:xfrm>
          <a:prstGeom prst="roundRect">
            <a:avLst>
              <a:gd name="adj" fmla="val 9524"/>
            </a:avLst>
          </a:prstGeom>
          <a:solidFill>
            <a:srgbClr val="3A2680"/>
          </a:solidFill>
          <a:ln w="12700">
            <a:solidFill>
              <a:srgbClr val="3A2680"/>
            </a:solidFill>
            <a:prstDash val="solid"/>
          </a:ln>
        </p:spPr>
        <p:txBody>
          <a:bodyPr/>
          <a:p/>
        </p:txBody>
      </p:sp>
      <p:pic>
        <p:nvPicPr>
          <p:cNvPr id="10" name="Link icon 2" descr="preencoded.png">    </p:cNvPr>
          <p:cNvPicPr>
            <a:picLocks noChangeAspect="1"/>
          </p:cNvPicPr>
          <p:nvPr/>
        </p:nvPicPr>
        <p:blipFill>
          <a:blip r:embed="rId5"/>
          <a:stretch>
            <a:fillRect/>
          </a:stretch>
        </p:blipFill>
        <p:spPr>
          <a:xfrm>
            <a:off x="868680" y="3017520"/>
            <a:ext cx="411480" cy="411480"/>
          </a:xfrm>
          <a:prstGeom prst="rect">
            <a:avLst/>
          </a:prstGeom>
        </p:spPr>
      </p:pic>
      <p:sp>
        <p:nvSpPr>
          <p:cNvPr id="11" name="Link text 2"/>
          <p:cNvSpPr txBox="1"/>
          <p:nvPr/>
        </p:nvSpPr>
        <p:spPr>
          <a:xfrm>
            <a:off x="1463040" y="2834640"/>
            <a:ext cx="4389120" cy="777240"/>
          </a:xfrm>
          <a:prstGeom prst="rect">
            <a:avLst/>
          </a:prstGeom>
          <a:noFill/>
          <a:ln/>
        </p:spPr>
        <p:txBody>
          <a:bodyPr wrap="square" lIns="0" tIns="0" rIns="0" bIns="0" rtlCol="0" anchor="ctr"/>
          <a:lstStyle/>
          <a:p>
            <a:pPr indent="0" marL="0">
              <a:buNone/>
            </a:pPr>
            <a:r>
              <a:rPr lang="en-US" sz="1500" b="1" dirty="0">
                <a:solidFill>
                  <a:schemeClr val="bg1"/>
                </a:solidFill>
              </a:rPr>
              <a:t>Languages &amp; runtimes</a:t>
            </a:r>
            <a:endParaRPr lang="en-US" sz="1500" dirty="0"/>
          </a:p>
          <a:p>
            <a:pPr indent="0" marL="0">
              <a:buNone/>
            </a:pPr>
            <a:r>
              <a:rPr lang="en-US" sz="1200" u="sng" dirty="0">
                <a:solidFill>
                  <a:srgbClr val="D9CCFF"/>
                </a:solidFill>
                <a:hlinkClick r:id="rId6" invalidUrl="" action="" tgtFrame="" tooltip="Languages &amp; runtimes" history="1" highlightClick="0" endSnd="0">
                  <a:extLst>
                    <a:ext uri="{A12FA001-AC4F-418D-AE19-62706E023703}">
                      <ahyp:hlinkClr xmlns:ahyp="http://schemas.microsoft.com/office/drawing/2018/hyperlinkcolor" val="tx"/>
                    </a:ext>
                  </a:extLst>
                </a:hlinkClick>
              </a:rPr>
              <a:t>https://aspire.dev/languages-and-runtimes/</a:t>
            </a:r>
            <a:endParaRPr lang="en-US" sz="1500" dirty="0"/>
          </a:p>
        </p:txBody>
      </p:sp>
      <p:sp>
        <p:nvSpPr>
          <p:cNvPr id="12" name="Link card 3"/>
          <p:cNvSpPr/>
          <p:nvPr/>
        </p:nvSpPr>
        <p:spPr>
          <a:xfrm>
            <a:off x="6217920" y="2743200"/>
            <a:ext cx="5349240" cy="960120"/>
          </a:xfrm>
          <a:prstGeom prst="roundRect">
            <a:avLst>
              <a:gd name="adj" fmla="val 9524"/>
            </a:avLst>
          </a:prstGeom>
          <a:solidFill>
            <a:srgbClr val="3A2680"/>
          </a:solidFill>
          <a:ln w="12700">
            <a:solidFill>
              <a:srgbClr val="3A2680"/>
            </a:solidFill>
            <a:prstDash val="solid"/>
          </a:ln>
        </p:spPr>
        <p:txBody>
          <a:bodyPr/>
          <a:p/>
        </p:txBody>
      </p:sp>
      <p:pic>
        <p:nvPicPr>
          <p:cNvPr id="13" name="Link icon 3" descr="preencoded.png">    </p:cNvPr>
          <p:cNvPicPr>
            <a:picLocks noChangeAspect="1"/>
          </p:cNvPicPr>
          <p:nvPr/>
        </p:nvPicPr>
        <p:blipFill>
          <a:blip r:embed="rId7"/>
          <a:stretch>
            <a:fillRect/>
          </a:stretch>
        </p:blipFill>
        <p:spPr>
          <a:xfrm>
            <a:off x="6446520" y="3017520"/>
            <a:ext cx="411480" cy="411480"/>
          </a:xfrm>
          <a:prstGeom prst="rect">
            <a:avLst/>
          </a:prstGeom>
        </p:spPr>
      </p:pic>
      <p:sp>
        <p:nvSpPr>
          <p:cNvPr id="14" name="Link text 3"/>
          <p:cNvSpPr txBox="1"/>
          <p:nvPr/>
        </p:nvSpPr>
        <p:spPr>
          <a:xfrm>
            <a:off x="7040880" y="2834640"/>
            <a:ext cx="4389120" cy="777240"/>
          </a:xfrm>
          <a:prstGeom prst="rect">
            <a:avLst/>
          </a:prstGeom>
          <a:noFill/>
          <a:ln/>
        </p:spPr>
        <p:txBody>
          <a:bodyPr wrap="square" lIns="0" tIns="0" rIns="0" bIns="0" rtlCol="0" anchor="ctr"/>
          <a:lstStyle/>
          <a:p>
            <a:pPr indent="0" marL="0">
              <a:buNone/>
            </a:pPr>
            <a:r>
              <a:rPr lang="en-US" sz="1500" b="1" dirty="0">
                <a:solidFill>
                  <a:schemeClr val="bg1"/>
                </a:solidFill>
              </a:rPr>
              <a:t>Dashboard docs</a:t>
            </a:r>
            <a:endParaRPr lang="en-US" sz="1500" dirty="0"/>
          </a:p>
          <a:p>
            <a:pPr indent="0" marL="0">
              <a:buNone/>
            </a:pPr>
            <a:r>
              <a:rPr lang="en-US" sz="1200" u="sng" dirty="0">
                <a:solidFill>
                  <a:srgbClr val="D9CCFF"/>
                </a:solidFill>
                <a:hlinkClick r:id="rId8" invalidUrl="" action="" tgtFrame="" tooltip="Dashboard docs" history="1" highlightClick="0" endSnd="0">
                  <a:extLst>
                    <a:ext uri="{A12FA001-AC4F-418D-AE19-62706E023703}">
                      <ahyp:hlinkClr xmlns:ahyp="http://schemas.microsoft.com/office/drawing/2018/hyperlinkcolor" val="tx"/>
                    </a:ext>
                  </a:extLst>
                </a:hlinkClick>
              </a:rPr>
              <a:t>https://aspire.dev/dashboard/</a:t>
            </a:r>
            <a:endParaRPr lang="en-US" sz="1500" dirty="0"/>
          </a:p>
        </p:txBody>
      </p:sp>
      <p:sp>
        <p:nvSpPr>
          <p:cNvPr id="15" name="Link card 4"/>
          <p:cNvSpPr/>
          <p:nvPr/>
        </p:nvSpPr>
        <p:spPr>
          <a:xfrm>
            <a:off x="640080" y="3886200"/>
            <a:ext cx="5349240" cy="960120"/>
          </a:xfrm>
          <a:prstGeom prst="roundRect">
            <a:avLst>
              <a:gd name="adj" fmla="val 9524"/>
            </a:avLst>
          </a:prstGeom>
          <a:solidFill>
            <a:srgbClr val="3A2680"/>
          </a:solidFill>
          <a:ln w="12700">
            <a:solidFill>
              <a:srgbClr val="3A2680"/>
            </a:solidFill>
            <a:prstDash val="solid"/>
          </a:ln>
        </p:spPr>
        <p:txBody>
          <a:bodyPr/>
          <a:p/>
        </p:txBody>
      </p:sp>
      <p:pic>
        <p:nvPicPr>
          <p:cNvPr id="16" name="Link icon 4" descr="preencoded.png">    </p:cNvPr>
          <p:cNvPicPr>
            <a:picLocks noChangeAspect="1"/>
          </p:cNvPicPr>
          <p:nvPr/>
        </p:nvPicPr>
        <p:blipFill>
          <a:blip r:embed="rId9"/>
          <a:stretch>
            <a:fillRect/>
          </a:stretch>
        </p:blipFill>
        <p:spPr>
          <a:xfrm>
            <a:off x="868680" y="4160520"/>
            <a:ext cx="411480" cy="411480"/>
          </a:xfrm>
          <a:prstGeom prst="rect">
            <a:avLst/>
          </a:prstGeom>
        </p:spPr>
      </p:pic>
      <p:sp>
        <p:nvSpPr>
          <p:cNvPr id="17" name="Link text 4"/>
          <p:cNvSpPr txBox="1"/>
          <p:nvPr/>
        </p:nvSpPr>
        <p:spPr>
          <a:xfrm>
            <a:off x="1463040" y="3977640"/>
            <a:ext cx="4389120" cy="777240"/>
          </a:xfrm>
          <a:prstGeom prst="rect">
            <a:avLst/>
          </a:prstGeom>
          <a:noFill/>
          <a:ln/>
        </p:spPr>
        <p:txBody>
          <a:bodyPr wrap="square" lIns="0" tIns="0" rIns="0" bIns="0" rtlCol="0" anchor="ctr"/>
          <a:lstStyle/>
          <a:p>
            <a:pPr indent="0" marL="0">
              <a:buNone/>
            </a:pPr>
            <a:r>
              <a:rPr lang="en-US" sz="1500" b="1" dirty="0">
                <a:solidFill>
                  <a:schemeClr val="bg1"/>
                </a:solidFill>
              </a:rPr>
              <a:t>Interactive terminals (WithTerminal)</a:t>
            </a:r>
            <a:endParaRPr lang="en-US" sz="1500" dirty="0"/>
          </a:p>
          <a:p>
            <a:pPr indent="0" marL="0">
              <a:buNone/>
            </a:pPr>
            <a:r>
              <a:rPr lang="en-US" sz="1200" u="sng" dirty="0">
                <a:solidFill>
                  <a:srgbClr val="D9CCFF"/>
                </a:solidFill>
                <a:hlinkClick r:id="rId10" invalidUrl="" action="" tgtFrame="" tooltip="Interactive terminals (WithTerminal)" history="1" highlightClick="0" endSnd="0">
                  <a:extLst>
                    <a:ext uri="{A12FA001-AC4F-418D-AE19-62706E023703}">
                      <ahyp:hlinkClr xmlns:ahyp="http://schemas.microsoft.com/office/drawing/2018/hyperlinkcolor" val="tx"/>
                    </a:ext>
                  </a:extLst>
                </a:hlinkClick>
              </a:rPr>
              <a:t>https://aspire.dev/app-host/with-terminal/</a:t>
            </a:r>
            <a:endParaRPr lang="en-US" sz="1500" dirty="0"/>
          </a:p>
        </p:txBody>
      </p:sp>
      <p:sp>
        <p:nvSpPr>
          <p:cNvPr id="18" name="Link card 5"/>
          <p:cNvSpPr/>
          <p:nvPr/>
        </p:nvSpPr>
        <p:spPr>
          <a:xfrm>
            <a:off x="6217920" y="3886200"/>
            <a:ext cx="5349240" cy="960120"/>
          </a:xfrm>
          <a:prstGeom prst="roundRect">
            <a:avLst>
              <a:gd name="adj" fmla="val 9524"/>
            </a:avLst>
          </a:prstGeom>
          <a:solidFill>
            <a:srgbClr val="3A2680"/>
          </a:solidFill>
          <a:ln w="12700">
            <a:solidFill>
              <a:srgbClr val="3A2680"/>
            </a:solidFill>
            <a:prstDash val="solid"/>
          </a:ln>
        </p:spPr>
        <p:txBody>
          <a:bodyPr/>
          <a:p/>
        </p:txBody>
      </p:sp>
      <p:pic>
        <p:nvPicPr>
          <p:cNvPr id="19" name="Link icon 5" descr="preencoded.png">    </p:cNvPr>
          <p:cNvPicPr>
            <a:picLocks noChangeAspect="1"/>
          </p:cNvPicPr>
          <p:nvPr/>
        </p:nvPicPr>
        <p:blipFill>
          <a:blip r:embed="rId11"/>
          <a:stretch>
            <a:fillRect/>
          </a:stretch>
        </p:blipFill>
        <p:spPr>
          <a:xfrm>
            <a:off x="6446520" y="4160520"/>
            <a:ext cx="411480" cy="411480"/>
          </a:xfrm>
          <a:prstGeom prst="rect">
            <a:avLst/>
          </a:prstGeom>
        </p:spPr>
      </p:pic>
      <p:sp>
        <p:nvSpPr>
          <p:cNvPr id="20" name="Link text 5"/>
          <p:cNvSpPr txBox="1"/>
          <p:nvPr/>
        </p:nvSpPr>
        <p:spPr>
          <a:xfrm>
            <a:off x="7040880" y="3977640"/>
            <a:ext cx="4389120" cy="777240"/>
          </a:xfrm>
          <a:prstGeom prst="rect">
            <a:avLst/>
          </a:prstGeom>
          <a:noFill/>
          <a:ln/>
        </p:spPr>
        <p:txBody>
          <a:bodyPr wrap="square" lIns="0" tIns="0" rIns="0" bIns="0" rtlCol="0" anchor="ctr"/>
          <a:lstStyle/>
          <a:p>
            <a:pPr indent="0" marL="0">
              <a:buNone/>
            </a:pPr>
            <a:r>
              <a:rPr lang="en-US" sz="1500" b="1" dirty="0">
                <a:solidFill>
                  <a:schemeClr val="bg1"/>
                </a:solidFill>
              </a:rPr>
              <a:t>Interaction service</a:t>
            </a:r>
            <a:endParaRPr lang="en-US" sz="1500" dirty="0"/>
          </a:p>
          <a:p>
            <a:pPr indent="0" marL="0">
              <a:buNone/>
            </a:pPr>
            <a:r>
              <a:rPr lang="en-US" sz="1200" u="sng" dirty="0">
                <a:solidFill>
                  <a:srgbClr val="D9CCFF"/>
                </a:solidFill>
                <a:hlinkClick r:id="rId12" invalidUrl="" action="" tgtFrame="" tooltip="Interaction service" history="1" highlightClick="0" endSnd="0">
                  <a:extLst>
                    <a:ext uri="{A12FA001-AC4F-418D-AE19-62706E023703}">
                      <ahyp:hlinkClr xmlns:ahyp="http://schemas.microsoft.com/office/drawing/2018/hyperlinkcolor" val="tx"/>
                    </a:ext>
                  </a:extLst>
                </a:hlinkClick>
              </a:rPr>
              <a:t>https://aspire.dev/extensibility/interaction-service/</a:t>
            </a:r>
            <a:endParaRPr lang="en-US" sz="1500" dirty="0"/>
          </a:p>
        </p:txBody>
      </p:sp>
      <p:sp>
        <p:nvSpPr>
          <p:cNvPr id="21" name="Link card 6"/>
          <p:cNvSpPr/>
          <p:nvPr/>
        </p:nvSpPr>
        <p:spPr>
          <a:xfrm>
            <a:off x="640080" y="5029200"/>
            <a:ext cx="5349240" cy="960120"/>
          </a:xfrm>
          <a:prstGeom prst="roundRect">
            <a:avLst>
              <a:gd name="adj" fmla="val 9524"/>
            </a:avLst>
          </a:prstGeom>
          <a:solidFill>
            <a:srgbClr val="3A2680"/>
          </a:solidFill>
          <a:ln w="12700">
            <a:solidFill>
              <a:srgbClr val="3A2680"/>
            </a:solidFill>
            <a:prstDash val="solid"/>
          </a:ln>
        </p:spPr>
        <p:txBody>
          <a:bodyPr/>
          <a:p/>
        </p:txBody>
      </p:sp>
      <p:pic>
        <p:nvPicPr>
          <p:cNvPr id="22" name="Link icon 6" descr="preencoded.png">    </p:cNvPr>
          <p:cNvPicPr>
            <a:picLocks noChangeAspect="1"/>
          </p:cNvPicPr>
          <p:nvPr/>
        </p:nvPicPr>
        <p:blipFill>
          <a:blip r:embed="rId13"/>
          <a:stretch>
            <a:fillRect/>
          </a:stretch>
        </p:blipFill>
        <p:spPr>
          <a:xfrm>
            <a:off x="868680" y="5303520"/>
            <a:ext cx="411480" cy="411480"/>
          </a:xfrm>
          <a:prstGeom prst="rect">
            <a:avLst/>
          </a:prstGeom>
        </p:spPr>
      </p:pic>
      <p:sp>
        <p:nvSpPr>
          <p:cNvPr id="23" name="Link text 6"/>
          <p:cNvSpPr txBox="1"/>
          <p:nvPr/>
        </p:nvSpPr>
        <p:spPr>
          <a:xfrm>
            <a:off x="1463040" y="5120640"/>
            <a:ext cx="4389120" cy="777240"/>
          </a:xfrm>
          <a:prstGeom prst="rect">
            <a:avLst/>
          </a:prstGeom>
          <a:noFill/>
          <a:ln/>
        </p:spPr>
        <p:txBody>
          <a:bodyPr wrap="square" lIns="0" tIns="0" rIns="0" bIns="0" rtlCol="0" anchor="ctr"/>
          <a:lstStyle/>
          <a:p>
            <a:pPr indent="0" marL="0">
              <a:buNone/>
            </a:pPr>
            <a:r>
              <a:rPr lang="en-US" sz="1500" b="1" dirty="0">
                <a:solidFill>
                  <a:schemeClr val="bg1"/>
                </a:solidFill>
              </a:rPr>
              <a:t>Custom resource commands</a:t>
            </a:r>
            <a:endParaRPr lang="en-US" sz="1500" dirty="0"/>
          </a:p>
          <a:p>
            <a:pPr indent="0" marL="0">
              <a:buNone/>
            </a:pPr>
            <a:r>
              <a:rPr lang="en-US" sz="1200" u="sng" dirty="0">
                <a:solidFill>
                  <a:srgbClr val="D9CCFF"/>
                </a:solidFill>
                <a:hlinkClick r:id="rId14" invalidUrl="" action="" tgtFrame="" tooltip="Custom resource commands" history="1" highlightClick="0" endSnd="0">
                  <a:extLst>
                    <a:ext uri="{A12FA001-AC4F-418D-AE19-62706E023703}">
                      <ahyp:hlinkClr xmlns:ahyp="http://schemas.microsoft.com/office/drawing/2018/hyperlinkcolor" val="tx"/>
                    </a:ext>
                  </a:extLst>
                </a:hlinkClick>
              </a:rPr>
              <a:t>https://aspire.dev/fundamentals/custom-resource-commands/</a:t>
            </a:r>
            <a:endParaRPr lang="en-US" sz="1500" dirty="0"/>
          </a:p>
        </p:txBody>
      </p:sp>
      <p:sp>
        <p:nvSpPr>
          <p:cNvPr id="24" name="Link card 7"/>
          <p:cNvSpPr/>
          <p:nvPr/>
        </p:nvSpPr>
        <p:spPr>
          <a:xfrm>
            <a:off x="6217920" y="5029200"/>
            <a:ext cx="5349240" cy="960120"/>
          </a:xfrm>
          <a:prstGeom prst="roundRect">
            <a:avLst>
              <a:gd name="adj" fmla="val 9524"/>
            </a:avLst>
          </a:prstGeom>
          <a:solidFill>
            <a:srgbClr val="3A2680"/>
          </a:solidFill>
          <a:ln w="12700">
            <a:solidFill>
              <a:srgbClr val="3A2680"/>
            </a:solidFill>
            <a:prstDash val="solid"/>
          </a:ln>
        </p:spPr>
        <p:txBody>
          <a:bodyPr/>
          <a:p/>
        </p:txBody>
      </p:sp>
      <p:pic>
        <p:nvPicPr>
          <p:cNvPr id="25" name="Link icon 7" descr="preencoded.png">    </p:cNvPr>
          <p:cNvPicPr>
            <a:picLocks noChangeAspect="1"/>
          </p:cNvPicPr>
          <p:nvPr/>
        </p:nvPicPr>
        <p:blipFill>
          <a:blip r:embed="rId15"/>
          <a:stretch>
            <a:fillRect/>
          </a:stretch>
        </p:blipFill>
        <p:spPr>
          <a:xfrm>
            <a:off x="6446520" y="5303520"/>
            <a:ext cx="411480" cy="411480"/>
          </a:xfrm>
          <a:prstGeom prst="rect">
            <a:avLst/>
          </a:prstGeom>
        </p:spPr>
      </p:pic>
      <p:sp>
        <p:nvSpPr>
          <p:cNvPr id="26" name="Link text 7"/>
          <p:cNvSpPr txBox="1"/>
          <p:nvPr/>
        </p:nvSpPr>
        <p:spPr>
          <a:xfrm>
            <a:off x="7040880" y="5120640"/>
            <a:ext cx="4389120" cy="777240"/>
          </a:xfrm>
          <a:prstGeom prst="rect">
            <a:avLst/>
          </a:prstGeom>
          <a:noFill/>
          <a:ln/>
        </p:spPr>
        <p:txBody>
          <a:bodyPr wrap="square" lIns="0" tIns="0" rIns="0" bIns="0" rtlCol="0" anchor="ctr"/>
          <a:lstStyle/>
          <a:p>
            <a:pPr indent="0" marL="0">
              <a:buNone/>
            </a:pPr>
            <a:r>
              <a:rPr lang="en-US" sz="1500" b="1" dirty="0">
                <a:solidFill>
                  <a:schemeClr val="bg1"/>
                </a:solidFill>
              </a:rPr>
              <a:t>Build your first Aspire app</a:t>
            </a:r>
            <a:endParaRPr lang="en-US" sz="1500" dirty="0"/>
          </a:p>
          <a:p>
            <a:pPr indent="0" marL="0">
              <a:buNone/>
            </a:pPr>
            <a:r>
              <a:rPr lang="en-US" sz="1200" u="sng" dirty="0">
                <a:solidFill>
                  <a:srgbClr val="D9CCFF"/>
                </a:solidFill>
                <a:hlinkClick r:id="rId16" invalidUrl="" action="" tgtFrame="" tooltip="Build your first Aspire app" history="1" highlightClick="0" endSnd="0">
                  <a:extLst>
                    <a:ext uri="{A12FA001-AC4F-418D-AE19-62706E023703}">
                      <ahyp:hlinkClr xmlns:ahyp="http://schemas.microsoft.com/office/drawing/2018/hyperlinkcolor" val="tx"/>
                    </a:ext>
                  </a:extLst>
                </a:hlinkClick>
              </a:rPr>
              <a:t>https://aspire.dev/get-started/first-app/</a:t>
            </a:r>
            <a:endParaRPr lang="en-US" sz="1500" dirty="0"/>
          </a:p>
        </p:txBody>
      </p:sp>
    </p:spTree>
  </p:cSld>
  <p:clrMapOvr>
    <a:masterClrMapping/>
  </p:clrMapOvr>
</p:sld>
</file>

<file path=ppt/theme/theme1.xml><?xml version="1.0" encoding="utf-8"?>
<a:theme xmlns:a="http://schemas.openxmlformats.org/drawingml/2006/main" name="Aspire Violet">
  <a:themeElements>
    <a:clrScheme name="Aspire Violet">
      <a:dk1>
        <a:srgbClr val="17122B"/>
      </a:dk1>
      <a:lt1>
        <a:srgbClr val="FFFFFF"/>
      </a:lt1>
      <a:dk2>
        <a:srgbClr val="2B1A63"/>
      </a:dk2>
      <a:lt2>
        <a:srgbClr val="F2EEFB"/>
      </a:lt2>
      <a:accent1>
        <a:srgbClr val="6B3FE0"/>
      </a:accent1>
      <a:accent2>
        <a:srgbClr val="A78BFA"/>
      </a:accent2>
      <a:accent3>
        <a:srgbClr val="0E9F8E"/>
      </a:accent3>
      <a:accent4>
        <a:srgbClr val="D97706"/>
      </a:accent4>
      <a:accent5>
        <a:srgbClr val="DB2777"/>
      </a:accent5>
      <a:accent6>
        <a:srgbClr val="5B6478"/>
      </a:accent6>
      <a:hlink>
        <a:srgbClr val="5B2FD0"/>
      </a:hlink>
      <a:folHlink>
        <a:srgbClr val="7C5CE0"/>
      </a:folHlink>
    </a:clrScheme>
    <a:fontScheme name="Aspire Viole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Aspire Dashboard — Fundamentals and what's new in Aspire 13.5</dc:title>
  <dc:subject>PptxGenJS Presentation</dc:subject>
  <dc:creator>ching</dc:creator>
  <cp:lastModifiedBy>ching</cp:lastModifiedBy>
  <cp:revision>1</cp:revision>
  <dcterms:created xsi:type="dcterms:W3CDTF">2026-10-04T22:06:00Z</dcterms:created>
  <dcterms:modified xsi:type="dcterms:W3CDTF">2026-10-04T22:06:00Z</dcterms:modified>
</cp:coreProperties>
</file>